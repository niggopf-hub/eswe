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embeddings/Microsoft_Excel_Binary_Worksheet.xlsb" ContentType="application/vnd.ms-excel.sheet.binary.macroEnabled.12"/>
  <Override PartName="/ppt/embeddings/Microsoft_Excel_Binary_Worksheet1.xlsb" ContentType="application/vnd.ms-excel.sheet.binary.macroEnabled.12"/>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26.svg" ContentType="image/svg+xml"/>
  <Override PartName="/ppt/media/image36.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3"/>
  </p:notesMasterIdLst>
  <p:handoutMasterIdLst>
    <p:handoutMasterId r:id="rId24"/>
  </p:handoutMasterIdLst>
  <p:sldIdLst>
    <p:sldId id="281" r:id="rId2"/>
    <p:sldId id="2372" r:id="rId3"/>
    <p:sldId id="2355" r:id="rId4"/>
    <p:sldId id="2348" r:id="rId5"/>
    <p:sldId id="362" r:id="rId6"/>
    <p:sldId id="1979" r:id="rId7"/>
    <p:sldId id="365" r:id="rId8"/>
    <p:sldId id="1997" r:id="rId9"/>
    <p:sldId id="1502" r:id="rId10"/>
    <p:sldId id="2351" r:id="rId11"/>
    <p:sldId id="2374" r:id="rId12"/>
    <p:sldId id="2365" r:id="rId13"/>
    <p:sldId id="2350" r:id="rId14"/>
    <p:sldId id="2352" r:id="rId15"/>
    <p:sldId id="2366" r:id="rId16"/>
    <p:sldId id="2367" r:id="rId17"/>
    <p:sldId id="2368" r:id="rId18"/>
    <p:sldId id="2369" r:id="rId19"/>
    <p:sldId id="2370" r:id="rId20"/>
    <p:sldId id="2371" r:id="rId21"/>
    <p:sldId id="1498" r:id="rId22"/>
  </p:sldIdLst>
  <p:sldSz cx="10693400" cy="7561263"/>
  <p:notesSz cx="6797675" cy="9872663"/>
  <p:custDataLst>
    <p:tags r:id="rId25"/>
  </p:custDataLst>
  <p:defaultTex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4411" userDrawn="1">
          <p15:clr>
            <a:srgbClr val="A4A3A4"/>
          </p15:clr>
        </p15:guide>
        <p15:guide id="2" orient="horz" pos="2382" userDrawn="1">
          <p15:clr>
            <a:srgbClr val="A4A3A4"/>
          </p15:clr>
        </p15:guide>
      </p15:sldGuideLst>
    </p:ext>
    <p:ext uri="{2D200454-40CA-4A62-9FC3-DE9A4176ACB9}">
      <p15:notesGuideLst xmlns:p15="http://schemas.microsoft.com/office/powerpoint/2012/main">
        <p15:guide id="1" orient="horz" pos="3109"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bias Trutz" initials="TT" lastIdx="1" clrIdx="0">
    <p:extLst>
      <p:ext uri="{19B8F6BF-5375-455C-9EA6-DF929625EA0E}">
        <p15:presenceInfo xmlns:p15="http://schemas.microsoft.com/office/powerpoint/2012/main" userId="Tobias Trutz" providerId="None"/>
      </p:ext>
    </p:extLst>
  </p:cmAuthor>
  <p:cmAuthor id="2" name="Janik Peterhansel" initials="JP" lastIdx="5" clrIdx="1">
    <p:extLst>
      <p:ext uri="{19B8F6BF-5375-455C-9EA6-DF929625EA0E}">
        <p15:presenceInfo xmlns:p15="http://schemas.microsoft.com/office/powerpoint/2012/main" userId="Janik Peterhansel" providerId="None"/>
      </p:ext>
    </p:extLst>
  </p:cmAuthor>
  <p:cmAuthor id="3" name="Christoph Lerps" initials="CL" lastIdx="6" clrIdx="2">
    <p:extLst>
      <p:ext uri="{19B8F6BF-5375-455C-9EA6-DF929625EA0E}">
        <p15:presenceInfo xmlns:p15="http://schemas.microsoft.com/office/powerpoint/2012/main" userId="S::Christoph.Lerps@metzler.com::0f5c447a-50d1-4d46-853d-efe4abe587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7A6F9"/>
    <a:srgbClr val="3157E3"/>
    <a:srgbClr val="718BEB"/>
    <a:srgbClr val="C0C0C0"/>
    <a:srgbClr val="FFFFFF"/>
    <a:srgbClr val="A5CAFB"/>
    <a:srgbClr val="FF9900"/>
    <a:srgbClr val="808080"/>
    <a:srgbClr val="FFC56F"/>
    <a:srgbClr val="ECF3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24" autoAdjust="0"/>
    <p:restoredTop sz="96056" autoAdjust="0"/>
  </p:normalViewPr>
  <p:slideViewPr>
    <p:cSldViewPr showGuides="1">
      <p:cViewPr>
        <p:scale>
          <a:sx n="125" d="100"/>
          <a:sy n="125" d="100"/>
        </p:scale>
        <p:origin x="1018" y="-528"/>
      </p:cViewPr>
      <p:guideLst>
        <p:guide pos="4411"/>
        <p:guide orient="horz" pos="2382"/>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howGuides="1">
      <p:cViewPr varScale="1">
        <p:scale>
          <a:sx n="72" d="100"/>
          <a:sy n="72" d="100"/>
        </p:scale>
        <p:origin x="3384" y="90"/>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tags" Target="tags/tag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422037422037424E-2"/>
          <c:y val="3.6236933797909411E-2"/>
          <c:w val="0.92238392238392242"/>
          <c:h val="0.92752613240418114"/>
        </c:manualLayout>
      </c:layout>
      <c:doughnutChart>
        <c:varyColors val="0"/>
        <c:ser>
          <c:idx val="0"/>
          <c:order val="0"/>
          <c:dPt>
            <c:idx val="0"/>
            <c:bubble3D val="0"/>
            <c:spPr>
              <a:solidFill>
                <a:schemeClr val="accent1"/>
              </a:solidFill>
              <a:ln w="12700" cmpd="sng" algn="ctr">
                <a:solidFill>
                  <a:schemeClr val="bg1"/>
                </a:solidFill>
                <a:prstDash val="solid"/>
              </a:ln>
            </c:spPr>
            <c:extLst>
              <c:ext xmlns:c16="http://schemas.microsoft.com/office/drawing/2014/chart" uri="{C3380CC4-5D6E-409C-BE32-E72D297353CC}">
                <c16:uniqueId val="{00000000-2BC9-404F-AD80-FA14F48BC8A3}"/>
              </c:ext>
            </c:extLst>
          </c:dPt>
          <c:dPt>
            <c:idx val="1"/>
            <c:bubble3D val="0"/>
            <c:spPr>
              <a:solidFill>
                <a:schemeClr val="accent2"/>
              </a:solidFill>
              <a:ln w="12700" cmpd="sng" algn="ctr">
                <a:solidFill>
                  <a:schemeClr val="bg1"/>
                </a:solidFill>
                <a:prstDash val="solid"/>
              </a:ln>
            </c:spPr>
            <c:extLst>
              <c:ext xmlns:c16="http://schemas.microsoft.com/office/drawing/2014/chart" uri="{C3380CC4-5D6E-409C-BE32-E72D297353CC}">
                <c16:uniqueId val="{00000001-2BC9-404F-AD80-FA14F48BC8A3}"/>
              </c:ext>
            </c:extLst>
          </c:dPt>
          <c:dPt>
            <c:idx val="2"/>
            <c:bubble3D val="0"/>
            <c:spPr>
              <a:solidFill>
                <a:schemeClr val="accent3"/>
              </a:solidFill>
              <a:ln w="12700" cmpd="sng" algn="ctr">
                <a:solidFill>
                  <a:schemeClr val="bg1"/>
                </a:solidFill>
                <a:prstDash val="solid"/>
              </a:ln>
            </c:spPr>
            <c:extLst>
              <c:ext xmlns:c16="http://schemas.microsoft.com/office/drawing/2014/chart" uri="{C3380CC4-5D6E-409C-BE32-E72D297353CC}">
                <c16:uniqueId val="{00000002-2BC9-404F-AD80-FA14F48BC8A3}"/>
              </c:ext>
            </c:extLst>
          </c:dPt>
          <c:dPt>
            <c:idx val="3"/>
            <c:bubble3D val="0"/>
            <c:spPr>
              <a:solidFill>
                <a:schemeClr val="accent4"/>
              </a:solidFill>
              <a:ln w="12700" cmpd="sng" algn="ctr">
                <a:solidFill>
                  <a:schemeClr val="bg1"/>
                </a:solidFill>
                <a:prstDash val="solid"/>
              </a:ln>
            </c:spPr>
            <c:extLst>
              <c:ext xmlns:c16="http://schemas.microsoft.com/office/drawing/2014/chart" uri="{C3380CC4-5D6E-409C-BE32-E72D297353CC}">
                <c16:uniqueId val="{00000003-2BC9-404F-AD80-FA14F48BC8A3}"/>
              </c:ext>
            </c:extLst>
          </c:dPt>
          <c:dPt>
            <c:idx val="4"/>
            <c:bubble3D val="0"/>
            <c:spPr>
              <a:solidFill>
                <a:schemeClr val="accent6"/>
              </a:solidFill>
              <a:ln w="12700" cmpd="sng" algn="ctr">
                <a:solidFill>
                  <a:schemeClr val="bg1"/>
                </a:solidFill>
                <a:prstDash val="solid"/>
              </a:ln>
            </c:spPr>
            <c:extLst>
              <c:ext xmlns:c16="http://schemas.microsoft.com/office/drawing/2014/chart" uri="{C3380CC4-5D6E-409C-BE32-E72D297353CC}">
                <c16:uniqueId val="{00000004-2BC9-404F-AD80-FA14F48BC8A3}"/>
              </c:ext>
            </c:extLst>
          </c:dPt>
          <c:dLbls>
            <c:dLbl>
              <c:idx val="0"/>
              <c:layout>
                <c:manualLayout>
                  <c:x val="-2.286902286902287E-2"/>
                  <c:y val="-1.6724738675958188E-2"/>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BC9-404F-AD80-FA14F48BC8A3}"/>
                </c:ext>
              </c:extLst>
            </c:dLbl>
            <c:dLbl>
              <c:idx val="1"/>
              <c:layout>
                <c:manualLayout>
                  <c:x val="4.851004851004851E-2"/>
                  <c:y val="3.4843205574912892E-3"/>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BC9-404F-AD80-FA14F48BC8A3}"/>
                </c:ext>
              </c:extLst>
            </c:dLbl>
            <c:dLbl>
              <c:idx val="4"/>
              <c:layout>
                <c:manualLayout>
                  <c:x val="2.1483021483021482E-2"/>
                  <c:y val="2.4390243902439025E-2"/>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BC9-404F-AD80-FA14F48BC8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Sheet1!$A$1:$A$5</c:f>
              <c:numCache>
                <c:formatCode>General</c:formatCode>
                <c:ptCount val="5"/>
                <c:pt idx="0">
                  <c:v>77.049083117068946</c:v>
                </c:pt>
                <c:pt idx="1">
                  <c:v>3.7884003348361617</c:v>
                </c:pt>
                <c:pt idx="2">
                  <c:v>1.3606023689965447</c:v>
                </c:pt>
                <c:pt idx="3">
                  <c:v>0.88221758732728206</c:v>
                </c:pt>
                <c:pt idx="4">
                  <c:v>16.919696591771071</c:v>
                </c:pt>
              </c:numCache>
            </c:numRef>
          </c:val>
          <c:extLst>
            <c:ext xmlns:c16="http://schemas.microsoft.com/office/drawing/2014/chart" uri="{C3380CC4-5D6E-409C-BE32-E72D297353CC}">
              <c16:uniqueId val="{00000005-2BC9-404F-AD80-FA14F48BC8A3}"/>
            </c:ext>
          </c:extLst>
        </c:ser>
        <c:dLbls>
          <c:showLegendKey val="0"/>
          <c:showVal val="0"/>
          <c:showCatName val="0"/>
          <c:showSerName val="0"/>
          <c:showPercent val="0"/>
          <c:showBubbleSize val="0"/>
          <c:showLeaderLines val="1"/>
        </c:dLbls>
        <c:firstSliceAng val="173"/>
        <c:holeSize val="55"/>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468013468013467E-2"/>
          <c:y val="0.24421052631578946"/>
          <c:w val="0.97306397306397308"/>
          <c:h val="0.64631578947368418"/>
        </c:manualLayout>
      </c:layout>
      <c:barChart>
        <c:barDir val="col"/>
        <c:grouping val="stacked"/>
        <c:varyColors val="0"/>
        <c:ser>
          <c:idx val="0"/>
          <c:order val="0"/>
          <c:spPr>
            <a:solidFill>
              <a:schemeClr val="accent1"/>
            </a:solidFill>
            <a:ln>
              <a:noFill/>
            </a:ln>
          </c:spPr>
          <c:invertIfNegative val="0"/>
          <c:dLbls>
            <c:dLbl>
              <c:idx val="0"/>
              <c:layout>
                <c:manualLayout>
                  <c:x val="0"/>
                  <c:y val="-0.3347368421052631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1AF-4611-91EE-5F9BEE9DF572}"/>
                </c:ext>
              </c:extLst>
            </c:dLbl>
            <c:dLbl>
              <c:idx val="1"/>
              <c:layout>
                <c:manualLayout>
                  <c:x val="0"/>
                  <c:y val="-0.32631578947368423"/>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1AF-4611-91EE-5F9BEE9DF572}"/>
                </c:ext>
              </c:extLst>
            </c:dLbl>
            <c:dLbl>
              <c:idx val="2"/>
              <c:layout>
                <c:manualLayout>
                  <c:x val="0"/>
                  <c:y val="-0.3305263157894736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1AF-4611-91EE-5F9BEE9DF572}"/>
                </c:ext>
              </c:extLst>
            </c:dLbl>
            <c:dLbl>
              <c:idx val="3"/>
              <c:layout>
                <c:manualLayout>
                  <c:x val="0"/>
                  <c:y val="-0.44631578947368422"/>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1AF-4611-91EE-5F9BEE9DF572}"/>
                </c:ext>
              </c:extLst>
            </c:dLbl>
            <c:dLbl>
              <c:idx val="4"/>
              <c:layout>
                <c:manualLayout>
                  <c:x val="0"/>
                  <c:y val="-0.4442105263157895"/>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1AF-4611-91EE-5F9BEE9DF5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195.23337758000002</c:v>
                </c:pt>
                <c:pt idx="1">
                  <c:v>186.09758387000005</c:v>
                </c:pt>
                <c:pt idx="2">
                  <c:v>191.01195708</c:v>
                </c:pt>
                <c:pt idx="3">
                  <c:v>299.15324175000001</c:v>
                </c:pt>
                <c:pt idx="4">
                  <c:v>294.66317680999998</c:v>
                </c:pt>
              </c:numCache>
            </c:numRef>
          </c:val>
          <c:extLst>
            <c:ext xmlns:c16="http://schemas.microsoft.com/office/drawing/2014/chart" uri="{C3380CC4-5D6E-409C-BE32-E72D297353CC}">
              <c16:uniqueId val="{00000005-01AF-4611-91EE-5F9BEE9DF572}"/>
            </c:ext>
          </c:extLst>
        </c:ser>
        <c:dLbls>
          <c:showLegendKey val="0"/>
          <c:showVal val="0"/>
          <c:showCatName val="0"/>
          <c:showSerName val="0"/>
          <c:showPercent val="0"/>
          <c:showBubbleSize val="0"/>
        </c:dLbls>
        <c:gapWidth val="80"/>
        <c:overlap val="100"/>
        <c:axId val="1231329984"/>
        <c:axId val="1"/>
      </c:barChart>
      <c:catAx>
        <c:axId val="1231329984"/>
        <c:scaling>
          <c:orientation val="minMax"/>
        </c:scaling>
        <c:delete val="0"/>
        <c:axPos val="b"/>
        <c:majorGridlines>
          <c:spPr>
            <a:ln>
              <a:noFill/>
            </a:ln>
          </c:spPr>
        </c:majorGridlines>
        <c:majorTickMark val="none"/>
        <c:minorTickMark val="none"/>
        <c:tickLblPos val="none"/>
        <c:spPr>
          <a:ln w="9525" cmpd="sng" algn="ctr">
            <a:solidFill>
              <a:srgbClr val="969696"/>
            </a:solidFill>
            <a:prstDash val="solid"/>
          </a:ln>
        </c:spPr>
        <c:crossAx val="1"/>
        <c:crosses val="min"/>
        <c:auto val="0"/>
        <c:lblAlgn val="ctr"/>
        <c:lblOffset val="100"/>
        <c:noMultiLvlLbl val="0"/>
      </c:catAx>
      <c:valAx>
        <c:axId val="1"/>
        <c:scaling>
          <c:orientation val="minMax"/>
          <c:max val="299.15324175000001"/>
          <c:min val="0"/>
        </c:scaling>
        <c:delete val="1"/>
        <c:axPos val="l"/>
        <c:numFmt formatCode="General" sourceLinked="1"/>
        <c:majorTickMark val="out"/>
        <c:minorTickMark val="none"/>
        <c:tickLblPos val="nextTo"/>
        <c:crossAx val="1231329984"/>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sz="quarter" idx="1"/>
          </p:nvPr>
        </p:nvSpPr>
        <p:spPr>
          <a:xfrm>
            <a:off x="3850443" y="8"/>
            <a:ext cx="2945659" cy="493633"/>
          </a:xfrm>
          <a:prstGeom prst="rect">
            <a:avLst/>
          </a:prstGeom>
        </p:spPr>
        <p:txBody>
          <a:bodyPr vert="horz" lIns="94916" tIns="47458" rIns="94916" bIns="47458" rtlCol="0"/>
          <a:lstStyle>
            <a:lvl1pPr algn="r">
              <a:defRPr sz="1200"/>
            </a:lvl1pPr>
          </a:lstStyle>
          <a:p>
            <a:fld id="{A17F8FCB-BA8C-4259-A9C3-0528B4E9710E}" type="datetimeFigureOut">
              <a:rPr lang="de-DE" smtClean="0"/>
              <a:t>25.08.2026</a:t>
            </a:fld>
            <a:endParaRPr lang="de-DE"/>
          </a:p>
        </p:txBody>
      </p:sp>
      <p:sp>
        <p:nvSpPr>
          <p:cNvPr id="4" name="Fußzeilenplatzhalter 3"/>
          <p:cNvSpPr>
            <a:spLocks noGrp="1"/>
          </p:cNvSpPr>
          <p:nvPr>
            <p:ph type="ftr" sz="quarter" idx="2"/>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377339"/>
            <a:ext cx="2945659" cy="493633"/>
          </a:xfrm>
          <a:prstGeom prst="rect">
            <a:avLst/>
          </a:prstGeom>
        </p:spPr>
        <p:txBody>
          <a:bodyPr vert="horz" lIns="94916" tIns="47458" rIns="94916" bIns="47458" rtlCol="0" anchor="b"/>
          <a:lstStyle>
            <a:lvl1pPr algn="r">
              <a:defRPr sz="1200"/>
            </a:lvl1pPr>
          </a:lstStyle>
          <a:p>
            <a:fld id="{4FB70057-716B-4606-9936-AD7AECDF2CEA}" type="slidenum">
              <a:rPr lang="de-DE" smtClean="0"/>
              <a:t>‹#›</a:t>
            </a:fld>
            <a:endParaRPr lang="de-DE"/>
          </a:p>
        </p:txBody>
      </p:sp>
    </p:spTree>
    <p:extLst>
      <p:ext uri="{BB962C8B-B14F-4D97-AF65-F5344CB8AC3E}">
        <p14:creationId xmlns:p14="http://schemas.microsoft.com/office/powerpoint/2010/main" val="39827450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idx="1"/>
          </p:nvPr>
        </p:nvSpPr>
        <p:spPr>
          <a:xfrm>
            <a:off x="3850443" y="8"/>
            <a:ext cx="2945659" cy="493633"/>
          </a:xfrm>
          <a:prstGeom prst="rect">
            <a:avLst/>
          </a:prstGeom>
        </p:spPr>
        <p:txBody>
          <a:bodyPr vert="horz" lIns="94916" tIns="47458" rIns="94916" bIns="47458" rtlCol="0"/>
          <a:lstStyle>
            <a:lvl1pPr algn="r">
              <a:defRPr sz="1200"/>
            </a:lvl1pPr>
          </a:lstStyle>
          <a:p>
            <a:fld id="{7040A06F-91F7-4DC0-AFC7-25CC0C331576}" type="datetimeFigureOut">
              <a:rPr lang="de-DE" smtClean="0"/>
              <a:t>25.08.2026</a:t>
            </a:fld>
            <a:endParaRPr lang="de-DE"/>
          </a:p>
        </p:txBody>
      </p:sp>
      <p:sp>
        <p:nvSpPr>
          <p:cNvPr id="4" name="Folienbildplatzhalter 3"/>
          <p:cNvSpPr>
            <a:spLocks noGrp="1" noRot="1" noChangeAspect="1"/>
          </p:cNvSpPr>
          <p:nvPr>
            <p:ph type="sldImg" idx="2"/>
          </p:nvPr>
        </p:nvSpPr>
        <p:spPr>
          <a:xfrm>
            <a:off x="782638" y="741363"/>
            <a:ext cx="5232400" cy="3700462"/>
          </a:xfrm>
          <a:prstGeom prst="rect">
            <a:avLst/>
          </a:prstGeom>
          <a:noFill/>
          <a:ln w="12700">
            <a:solidFill>
              <a:prstClr val="black"/>
            </a:solidFill>
          </a:ln>
        </p:spPr>
        <p:txBody>
          <a:bodyPr vert="horz" lIns="94916" tIns="47458" rIns="94916" bIns="47458" rtlCol="0" anchor="ctr"/>
          <a:lstStyle/>
          <a:p>
            <a:endParaRPr lang="de-DE"/>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4916" tIns="47458" rIns="94916" bIns="47458"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377339"/>
            <a:ext cx="2945659" cy="493633"/>
          </a:xfrm>
          <a:prstGeom prst="rect">
            <a:avLst/>
          </a:prstGeom>
        </p:spPr>
        <p:txBody>
          <a:bodyPr vert="horz" lIns="94916" tIns="47458" rIns="94916" bIns="47458" rtlCol="0" anchor="b"/>
          <a:lstStyle>
            <a:lvl1pPr algn="r">
              <a:defRPr sz="1200"/>
            </a:lvl1pPr>
          </a:lstStyle>
          <a:p>
            <a:fld id="{3BD49269-D4ED-48C6-8A71-5DC437C6C179}" type="slidenum">
              <a:rPr lang="de-DE" smtClean="0"/>
              <a:t>‹#›</a:t>
            </a:fld>
            <a:endParaRPr lang="de-DE"/>
          </a:p>
        </p:txBody>
      </p:sp>
    </p:spTree>
    <p:extLst>
      <p:ext uri="{BB962C8B-B14F-4D97-AF65-F5344CB8AC3E}">
        <p14:creationId xmlns:p14="http://schemas.microsoft.com/office/powerpoint/2010/main" val="96766892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 JÜ vor Gewinnabführung zeigen anstatt Jahresüberschuss</a:t>
            </a:r>
          </a:p>
          <a:p>
            <a:r>
              <a:rPr lang="de-DE" dirty="0"/>
              <a:t>- Net Debt / EBITDA</a:t>
            </a:r>
          </a:p>
        </p:txBody>
      </p:sp>
    </p:spTree>
    <p:extLst>
      <p:ext uri="{BB962C8B-B14F-4D97-AF65-F5344CB8AC3E}">
        <p14:creationId xmlns:p14="http://schemas.microsoft.com/office/powerpoint/2010/main" val="4012418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Beamer_d">
    <p:bg>
      <p:bgPr>
        <a:solidFill>
          <a:schemeClr val="bg1"/>
        </a:solidFill>
        <a:effectLst/>
      </p:bgPr>
    </p:bg>
    <p:spTree>
      <p:nvGrpSpPr>
        <p:cNvPr id="1" name=""/>
        <p:cNvGrpSpPr/>
        <p:nvPr/>
      </p:nvGrpSpPr>
      <p:grpSpPr>
        <a:xfrm>
          <a:off x="0" y="0"/>
          <a:ext cx="0" cy="0"/>
          <a:chOff x="0" y="0"/>
          <a:chExt cx="0" cy="0"/>
        </a:xfrm>
      </p:grpSpPr>
      <p:pic>
        <p:nvPicPr>
          <p:cNvPr id="5" name="Grafik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1882254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Beamer_e">
    <p:bg>
      <p:bgPr>
        <a:solidFill>
          <a:schemeClr val="bg1"/>
        </a:solidFill>
        <a:effectLst/>
      </p:bgPr>
    </p:bg>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3678571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Tree>
    <p:extLst>
      <p:ext uri="{BB962C8B-B14F-4D97-AF65-F5344CB8AC3E}">
        <p14:creationId xmlns:p14="http://schemas.microsoft.com/office/powerpoint/2010/main" val="429379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en-US" sz="1200" b="1" i="1" noProof="0" dirty="0">
                <a:solidFill>
                  <a:srgbClr val="003D7C"/>
                </a:solidFill>
              </a:rPr>
              <a:t>Strictly confidential</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
        <p:nvSpPr>
          <p:cNvPr id="7" name="Rechteck 6"/>
          <p:cNvSpPr/>
          <p:nvPr userDrawn="1"/>
        </p:nvSpPr>
        <p:spPr>
          <a:xfrm>
            <a:off x="234851" y="7113329"/>
            <a:ext cx="305115"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374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9" name="Textplatzhalter 6"/>
          <p:cNvSpPr>
            <a:spLocks noGrp="1"/>
          </p:cNvSpPr>
          <p:nvPr>
            <p:ph type="body" sz="quarter" idx="14" hasCustomPrompt="1"/>
          </p:nvPr>
        </p:nvSpPr>
        <p:spPr>
          <a:xfrm>
            <a:off x="1674292" y="1767015"/>
            <a:ext cx="7252045" cy="4898897"/>
          </a:xfrm>
        </p:spPr>
        <p:txBody>
          <a:bodyPr/>
          <a:lstStyle>
            <a:lvl1pPr marL="0" marR="0" indent="0" algn="l" defTabSz="1043056" rtl="0" eaLnBrk="1" fontAlgn="auto" latinLnBrk="0" hangingPunct="1">
              <a:lnSpc>
                <a:spcPct val="250000"/>
              </a:lnSpc>
              <a:spcBef>
                <a:spcPts val="0"/>
              </a:spcBef>
              <a:spcAft>
                <a:spcPts val="600"/>
              </a:spcAft>
              <a:buClr>
                <a:schemeClr val="accent1"/>
              </a:buClr>
              <a:buSzTx/>
              <a:buFontTx/>
              <a:buNone/>
              <a:tabLst/>
              <a:defRPr lang="de-DE" sz="1400" b="1" kern="1200" dirty="0" smtClean="0">
                <a:solidFill>
                  <a:srgbClr val="003D7C"/>
                </a:solidFill>
                <a:latin typeface="+mn-lt"/>
                <a:ea typeface="+mn-ea"/>
                <a:cs typeface="+mn-cs"/>
              </a:defRPr>
            </a:lvl1pPr>
          </a:lstStyle>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p:txBody>
      </p:sp>
      <p:sp>
        <p:nvSpPr>
          <p:cNvPr id="20" name="Textplatzhalter 8"/>
          <p:cNvSpPr>
            <a:spLocks noGrp="1"/>
          </p:cNvSpPr>
          <p:nvPr>
            <p:ph type="body" sz="quarter" idx="15" hasCustomPrompt="1"/>
          </p:nvPr>
        </p:nvSpPr>
        <p:spPr>
          <a:xfrm>
            <a:off x="897413" y="191098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1</a:t>
            </a:r>
          </a:p>
        </p:txBody>
      </p:sp>
      <p:sp>
        <p:nvSpPr>
          <p:cNvPr id="16" name="Titel 1"/>
          <p:cNvSpPr>
            <a:spLocks noGrp="1"/>
          </p:cNvSpPr>
          <p:nvPr>
            <p:ph type="title" hasCustomPrompt="1"/>
          </p:nvPr>
        </p:nvSpPr>
        <p:spPr>
          <a:xfrm>
            <a:off x="381618" y="450279"/>
            <a:ext cx="9936000" cy="720000"/>
          </a:xfrm>
        </p:spPr>
        <p:txBody>
          <a:bodyPr/>
          <a:lstStyle>
            <a:lvl1pPr>
              <a:defRPr sz="2000" b="1">
                <a:solidFill>
                  <a:schemeClr val="tx1"/>
                </a:solidFill>
                <a:latin typeface="Univers for Metzler" panose="020B0503030202020203" pitchFamily="34" charset="0"/>
              </a:defRPr>
            </a:lvl1pPr>
          </a:lstStyle>
          <a:p>
            <a:r>
              <a:rPr lang="de-DE" dirty="0"/>
              <a:t>Agenda</a:t>
            </a:r>
          </a:p>
        </p:txBody>
      </p:sp>
      <p:sp>
        <p:nvSpPr>
          <p:cNvPr id="13" name="Textplatzhalter 8"/>
          <p:cNvSpPr>
            <a:spLocks noGrp="1"/>
          </p:cNvSpPr>
          <p:nvPr>
            <p:ph type="body" sz="quarter" idx="22" hasCustomPrompt="1"/>
          </p:nvPr>
        </p:nvSpPr>
        <p:spPr>
          <a:xfrm>
            <a:off x="897413" y="2519543"/>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2</a:t>
            </a:r>
          </a:p>
        </p:txBody>
      </p:sp>
      <p:sp>
        <p:nvSpPr>
          <p:cNvPr id="14" name="Textplatzhalter 8"/>
          <p:cNvSpPr>
            <a:spLocks noGrp="1"/>
          </p:cNvSpPr>
          <p:nvPr>
            <p:ph type="body" sz="quarter" idx="23" hasCustomPrompt="1"/>
          </p:nvPr>
        </p:nvSpPr>
        <p:spPr>
          <a:xfrm>
            <a:off x="897413" y="3128097"/>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3</a:t>
            </a:r>
          </a:p>
        </p:txBody>
      </p:sp>
      <p:sp>
        <p:nvSpPr>
          <p:cNvPr id="17" name="Textplatzhalter 8"/>
          <p:cNvSpPr>
            <a:spLocks noGrp="1"/>
          </p:cNvSpPr>
          <p:nvPr>
            <p:ph type="body" sz="quarter" idx="24" hasCustomPrompt="1"/>
          </p:nvPr>
        </p:nvSpPr>
        <p:spPr>
          <a:xfrm>
            <a:off x="897413" y="3736651"/>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4</a:t>
            </a:r>
          </a:p>
        </p:txBody>
      </p:sp>
      <p:sp>
        <p:nvSpPr>
          <p:cNvPr id="18" name="Textplatzhalter 8"/>
          <p:cNvSpPr>
            <a:spLocks noGrp="1"/>
          </p:cNvSpPr>
          <p:nvPr>
            <p:ph type="body" sz="quarter" idx="25" hasCustomPrompt="1"/>
          </p:nvPr>
        </p:nvSpPr>
        <p:spPr>
          <a:xfrm>
            <a:off x="897413" y="434520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5</a:t>
            </a:r>
          </a:p>
        </p:txBody>
      </p:sp>
      <p:sp>
        <p:nvSpPr>
          <p:cNvPr id="28" name="Textplatzhalter 8"/>
          <p:cNvSpPr>
            <a:spLocks noGrp="1"/>
          </p:cNvSpPr>
          <p:nvPr>
            <p:ph type="body" sz="quarter" idx="26" hasCustomPrompt="1"/>
          </p:nvPr>
        </p:nvSpPr>
        <p:spPr>
          <a:xfrm>
            <a:off x="897413" y="495375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6</a:t>
            </a:r>
          </a:p>
        </p:txBody>
      </p:sp>
      <p:sp>
        <p:nvSpPr>
          <p:cNvPr id="29" name="Textplatzhalter 8"/>
          <p:cNvSpPr>
            <a:spLocks noGrp="1"/>
          </p:cNvSpPr>
          <p:nvPr>
            <p:ph type="body" sz="quarter" idx="27" hasCustomPrompt="1"/>
          </p:nvPr>
        </p:nvSpPr>
        <p:spPr>
          <a:xfrm>
            <a:off x="897413" y="556231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7</a:t>
            </a:r>
          </a:p>
        </p:txBody>
      </p:sp>
      <p:sp>
        <p:nvSpPr>
          <p:cNvPr id="21"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Tree>
    <p:extLst>
      <p:ext uri="{BB962C8B-B14F-4D97-AF65-F5344CB8AC3E}">
        <p14:creationId xmlns:p14="http://schemas.microsoft.com/office/powerpoint/2010/main" val="194767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6" name="Line 825"/>
          <p:cNvSpPr>
            <a:spLocks noChangeShapeType="1"/>
          </p:cNvSpPr>
          <p:nvPr userDrawn="1"/>
        </p:nvSpPr>
        <p:spPr bwMode="auto">
          <a:xfrm>
            <a:off x="381619" y="3240000"/>
            <a:ext cx="9936000" cy="0"/>
          </a:xfrm>
          <a:prstGeom prst="line">
            <a:avLst/>
          </a:prstGeom>
          <a:noFill/>
          <a:ln w="28575">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dirty="0"/>
          </a:p>
        </p:txBody>
      </p:sp>
      <p:sp>
        <p:nvSpPr>
          <p:cNvPr id="7" name="Textplatzhalter 8"/>
          <p:cNvSpPr>
            <a:spLocks noGrp="1"/>
          </p:cNvSpPr>
          <p:nvPr>
            <p:ph type="body" sz="quarter" idx="11"/>
          </p:nvPr>
        </p:nvSpPr>
        <p:spPr>
          <a:xfrm>
            <a:off x="381618" y="3616322"/>
            <a:ext cx="9375156" cy="2525713"/>
          </a:xfrm>
        </p:spPr>
        <p:txBody>
          <a:bodyPr/>
          <a:lstStyle>
            <a:lvl1pPr marL="723900" indent="-723900">
              <a:defRPr sz="2200" b="1">
                <a:solidFill>
                  <a:srgbClr val="003D7C"/>
                </a:solidFill>
              </a:defRPr>
            </a:lvl1pPr>
            <a:lvl2pPr marL="1079500" indent="-355600">
              <a:spcBef>
                <a:spcPts val="1200"/>
              </a:spcBef>
              <a:defRPr sz="2200" b="1">
                <a:solidFill>
                  <a:srgbClr val="003D7C"/>
                </a:solidFill>
              </a:defRPr>
            </a:lvl2pPr>
            <a:lvl3pPr marL="1346200" indent="-266700">
              <a:spcBef>
                <a:spcPts val="1200"/>
              </a:spcBef>
              <a:buClr>
                <a:srgbClr val="003D7C"/>
              </a:buClr>
              <a:defRPr sz="2200" b="1">
                <a:solidFill>
                  <a:srgbClr val="003D7C"/>
                </a:solidFill>
              </a:defRPr>
            </a:lvl3pPr>
            <a:lvl4pPr>
              <a:defRPr sz="2200" b="1">
                <a:solidFill>
                  <a:schemeClr val="accent1"/>
                </a:solidFill>
              </a:defRPr>
            </a:lvl4pPr>
            <a:lvl5pPr>
              <a:defRPr sz="2200" b="1">
                <a:solidFill>
                  <a:schemeClr val="accent1"/>
                </a:solidFill>
              </a:defRPr>
            </a:lvl5pPr>
          </a:lstStyle>
          <a:p>
            <a:pPr lvl="0"/>
            <a:r>
              <a:rPr lang="de-DE" dirty="0"/>
              <a:t>Textmasterformat bearbeiten</a:t>
            </a:r>
          </a:p>
          <a:p>
            <a:pPr lvl="1"/>
            <a:r>
              <a:rPr lang="de-DE" dirty="0"/>
              <a:t>Zweite Ebene</a:t>
            </a:r>
          </a:p>
          <a:p>
            <a:pPr lvl="2"/>
            <a:r>
              <a:rPr lang="de-DE" dirty="0"/>
              <a:t>Dritte Ebene</a:t>
            </a:r>
          </a:p>
        </p:txBody>
      </p:sp>
      <p:sp>
        <p:nvSpPr>
          <p:cNvPr id="8" name="Textplatzhalter 12"/>
          <p:cNvSpPr>
            <a:spLocks noGrp="1"/>
          </p:cNvSpPr>
          <p:nvPr>
            <p:ph type="body" sz="quarter" idx="10" hasCustomPrompt="1"/>
          </p:nvPr>
        </p:nvSpPr>
        <p:spPr>
          <a:xfrm>
            <a:off x="381618" y="3582988"/>
            <a:ext cx="483640" cy="411257"/>
          </a:xfrm>
          <a:solidFill>
            <a:srgbClr val="003D7C"/>
          </a:solidFill>
        </p:spPr>
        <p:txBody>
          <a:bodyPr vert="horz" wrap="none" lIns="72000" tIns="36000" rIns="72000" bIns="36000" rtlCol="0" anchor="t" anchorCtr="0">
            <a:noAutofit/>
          </a:bodyPr>
          <a:lstStyle>
            <a:lvl1pPr marL="0" indent="0" algn="ctr">
              <a:buFontTx/>
              <a:buNone/>
              <a:defRPr lang="de-DE" sz="2200" b="1" dirty="0" smtClean="0">
                <a:solidFill>
                  <a:schemeClr val="bg1"/>
                </a:solidFill>
                <a:latin typeface="+mj-lt"/>
                <a:ea typeface="+mj-ea"/>
                <a:cs typeface="+mj-cs"/>
              </a:defRPr>
            </a:lvl1pPr>
            <a:lvl2pPr marL="195573" indent="0">
              <a:buFontTx/>
              <a:buNone/>
              <a:defRPr lang="de-DE" sz="2100" dirty="0" smtClean="0"/>
            </a:lvl2pPr>
            <a:lvl3pPr marL="782292" indent="0">
              <a:buFontTx/>
              <a:buNone/>
              <a:defRPr lang="de-DE" sz="2100" dirty="0" smtClean="0"/>
            </a:lvl3pPr>
            <a:lvl4pPr marL="1303820" indent="0">
              <a:buFontTx/>
              <a:buNone/>
              <a:defRPr lang="de-DE" sz="2100" dirty="0" smtClean="0"/>
            </a:lvl4pPr>
            <a:lvl5pPr marL="1825348" indent="0">
              <a:buFontTx/>
              <a:buNone/>
              <a:defRPr lang="de-DE" sz="2100" dirty="0"/>
            </a:lvl5pPr>
          </a:lstStyle>
          <a:p>
            <a:pPr marL="0" lvl="0" algn="ctr">
              <a:spcBef>
                <a:spcPct val="0"/>
              </a:spcBef>
              <a:buNone/>
            </a:pPr>
            <a:r>
              <a:rPr lang="de-DE" dirty="0" err="1"/>
              <a:t>Nr</a:t>
            </a:r>
            <a:endParaRPr lang="de-DE" dirty="0"/>
          </a:p>
        </p:txBody>
      </p:sp>
    </p:spTree>
    <p:extLst>
      <p:ext uri="{BB962C8B-B14F-4D97-AF65-F5344CB8AC3E}">
        <p14:creationId xmlns:p14="http://schemas.microsoft.com/office/powerpoint/2010/main" val="4217982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0">
    <p:spTree>
      <p:nvGrpSpPr>
        <p:cNvPr id="1" name=""/>
        <p:cNvGrpSpPr/>
        <p:nvPr/>
      </p:nvGrpSpPr>
      <p:grpSpPr>
        <a:xfrm>
          <a:off x="0" y="0"/>
          <a:ext cx="0" cy="0"/>
          <a:chOff x="0" y="0"/>
          <a:chExt cx="0" cy="0"/>
        </a:xfrm>
      </p:grpSpPr>
      <p:sp>
        <p:nvSpPr>
          <p:cNvPr id="2"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Tree>
    <p:extLst>
      <p:ext uri="{BB962C8B-B14F-4D97-AF65-F5344CB8AC3E}">
        <p14:creationId xmlns:p14="http://schemas.microsoft.com/office/powerpoint/2010/main" val="26644117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7"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8"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33311880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6" name="Textplatzhalter 5"/>
          <p:cNvSpPr>
            <a:spLocks noGrp="1"/>
          </p:cNvSpPr>
          <p:nvPr>
            <p:ph type="body" sz="quarter" idx="22" hasCustomPrompt="1"/>
          </p:nvPr>
        </p:nvSpPr>
        <p:spPr>
          <a:xfrm>
            <a:off x="541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8" name="Inhaltsplatzhalter 3"/>
          <p:cNvSpPr>
            <a:spLocks noGrp="1"/>
          </p:cNvSpPr>
          <p:nvPr>
            <p:ph sz="quarter" idx="24"/>
          </p:nvPr>
        </p:nvSpPr>
        <p:spPr>
          <a:xfrm>
            <a:off x="541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9"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20"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21"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2"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3"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46442920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961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6"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8"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9"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0"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1"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20821261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993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3" name="Inhaltsplatzhalter 3"/>
          <p:cNvSpPr>
            <a:spLocks noGrp="1"/>
          </p:cNvSpPr>
          <p:nvPr>
            <p:ph sz="quarter" idx="10"/>
          </p:nvPr>
        </p:nvSpPr>
        <p:spPr>
          <a:xfrm>
            <a:off x="378700" y="1889371"/>
            <a:ext cx="9936000" cy="4896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2"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4"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5"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6"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7"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55452333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claimer_Englis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en-US" sz="1050" dirty="0">
                <a:latin typeface="+mn-lt"/>
                <a:ea typeface="Times New Roman"/>
                <a:cs typeface="LTUnivers 330 BasicLight"/>
              </a:rPr>
              <a:t>This presentation has been prepared by B. Metzler GmbH (hereinafter “Metzler Corporate Finance”) and is based upon information we believe to be reliable, but we make no representation (expressly or implied) as to the accuracy or completeness of such information. In furnishing this presentation Metzler Corporate Finance is not obligated to provide any additional information, to update or to correct this presentation. Metzler Corporate Finance expressly disclaims any liability for the contents or any omissions regarding this presentation or any other information made available in writing, orally or otherwise. The recipient undertakes to treat this document and the information therein as strictly confidential. This document does not serve as legal or tax advice and can not substitute such an advice.</a:t>
            </a: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1"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302311003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_deutsc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de-DE" sz="1050" dirty="0">
                <a:latin typeface="+mn-lt"/>
                <a:ea typeface="Times New Roman"/>
                <a:cs typeface="LTUnivers 330 BasicLight"/>
              </a:rPr>
              <a:t>Diese Präsentation wurde von der B. Metzler GmbH (nachfolgend Metzler Corporate Finance genannt) erstellt und basiert auf Information, die wir als verlässlich erachten, jedoch werden keine (ausdrücklichen oder stillschweigenden) Zusicherungen über die Richtigkeit oder Vollständigkeit der in dieser Präsentation enthaltenen Aussagen, Projektionen oder Berechnungen abgegeben.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ist nicht verpflichtet, Zugang zu weiteren Informationen zu gewähren oder diese Präsentation zu aktualisieren oder zu korrigieren.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schließt ausdrücklich jede Haftung für eine eventuelle Unrichtigkeit oder Unvollständigkeit dieser Präsentation sowie aller sonstigen Informationen aus, die dem Empfänger schriftlich, mündlich oder in sonstiger Weise übermittelt oder zugänglich gemacht werden. Der Empfänger verpflichtet sich, die Präsentation und die darin enthaltenen Informationen streng vertraulich zu behandeln. Diese Präsentation soll weder als Rechts- oder Steuerberatung dienen, noch kann sie diese ersetzen. </a:t>
            </a:r>
          </a:p>
          <a:p>
            <a:pPr marL="0" marR="0" lvl="0" indent="0" algn="just" defTabSz="914400" rtl="0" eaLnBrk="1" fontAlgn="base" latinLnBrk="0" hangingPunct="1">
              <a:lnSpc>
                <a:spcPct val="150000"/>
              </a:lnSpc>
              <a:spcBef>
                <a:spcPct val="0"/>
              </a:spcBef>
              <a:spcAft>
                <a:spcPts val="600"/>
              </a:spcAft>
              <a:buClrTx/>
              <a:buSzTx/>
              <a:buFontTx/>
              <a:buNone/>
              <a:tabLst/>
            </a:pPr>
            <a:endParaRPr kumimoji="0" lang="de-DE" sz="2000" b="0" i="0" u="none" strike="noStrike" cap="none" normalizeH="0" baseline="0" dirty="0">
              <a:ln>
                <a:noFill/>
              </a:ln>
              <a:solidFill>
                <a:schemeClr val="tx1"/>
              </a:solidFill>
              <a:effectLst/>
              <a:latin typeface="+mn-lt"/>
              <a:cs typeface="Arial" pitchFamily="34" charset="0"/>
            </a:endParaRP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FontTx/>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5"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132147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2.xml"/><Relationship Id="rId16" Type="http://schemas.openxmlformats.org/officeDocument/2006/relationships/oleObject" Target="../embeddings/oleObject1.bin"/><Relationship Id="rId17" Type="http://schemas.openxmlformats.org/officeDocument/2006/relationships/image" Target="../media/image1.emf"/><Relationship Id="rId1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0CA1DC0-A297-4519-AB8F-5E1F0CAA645D}"/>
              </a:ext>
            </a:extLst>
          </p:cNvPr>
          <p:cNvGraphicFramePr>
            <a:graphicFrameLocks noChangeAspect="1"/>
          </p:cNvGraphicFramePr>
          <p:nvPr userDrawn="1">
            <p:custDataLst>
              <p:tags r:id="rId15"/>
            </p:custDataLst>
            <p:extLst>
              <p:ext uri="{D42A27DB-BD31-4B8C-83A1-F6EECF244321}">
                <p14:modId xmlns:p14="http://schemas.microsoft.com/office/powerpoint/2010/main" val="1616693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286" imgH="286" progId="TCLayout.ActiveDocument.1">
                  <p:embed/>
                </p:oleObj>
              </mc:Choice>
              <mc:Fallback>
                <p:oleObj name="think-cell Slide" r:id="rId16" imgW="286" imgH="286"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a:xfrm>
            <a:off x="378700" y="450279"/>
            <a:ext cx="9936000" cy="720000"/>
          </a:xfrm>
          <a:prstGeom prst="rect">
            <a:avLst/>
          </a:prstGeom>
        </p:spPr>
        <p:txBody>
          <a:bodyPr vert="horz" lIns="0" tIns="0" rIns="0" bIns="0" rtlCol="0" anchor="t">
            <a:noAutofit/>
          </a:bodyPr>
          <a:lstStyle/>
          <a:p>
            <a:r>
              <a:rPr lang="de-DE" dirty="0"/>
              <a:t>Titelmasterformat durch Klicken bearbeiten</a:t>
            </a:r>
            <a:br>
              <a:rPr lang="de-DE" dirty="0"/>
            </a:br>
            <a:endParaRPr lang="de-DE" dirty="0"/>
          </a:p>
        </p:txBody>
      </p:sp>
      <p:sp>
        <p:nvSpPr>
          <p:cNvPr id="3" name="Textplatzhalter 2"/>
          <p:cNvSpPr>
            <a:spLocks noGrp="1"/>
          </p:cNvSpPr>
          <p:nvPr>
            <p:ph type="body" idx="1"/>
          </p:nvPr>
        </p:nvSpPr>
        <p:spPr>
          <a:xfrm>
            <a:off x="378700" y="1620000"/>
            <a:ext cx="9936000" cy="504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p:txBody>
      </p:sp>
      <p:pic>
        <p:nvPicPr>
          <p:cNvPr id="8" name="Picture 3" descr="W:\UKOMM\SHARED\LOGOS\Metzler\RGB_Blau\png\MetzlerCF_RGB_Blau (2).pn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sp>
        <p:nvSpPr>
          <p:cNvPr id="9" name="Line 58"/>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0" name="Line 58"/>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6" name="Rechteck 5"/>
          <p:cNvSpPr/>
          <p:nvPr/>
        </p:nvSpPr>
        <p:spPr>
          <a:xfrm>
            <a:off x="8875500" y="7070495"/>
            <a:ext cx="115908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Line 58"/>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2" name="Textfeld 11"/>
          <p:cNvSpPr txBox="1"/>
          <p:nvPr userDrawn="1"/>
        </p:nvSpPr>
        <p:spPr>
          <a:xfrm>
            <a:off x="381619" y="7128798"/>
            <a:ext cx="206788"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fld id="{69DC22A3-4BBA-427E-990E-76363AFABCED}" type="slidenum">
              <a:rPr lang="de-DE" sz="800" kern="0" smtClean="0">
                <a:solidFill>
                  <a:schemeClr val="tx1"/>
                </a:solidFill>
                <a:latin typeface="+mj-lt"/>
              </a:rPr>
              <a:pPr/>
              <a:t>‹#›</a:t>
            </a:fld>
            <a:endParaRPr lang="de-DE" sz="800" kern="0" dirty="0">
              <a:solidFill>
                <a:schemeClr val="tx1"/>
              </a:solidFill>
              <a:latin typeface="+mj-lt"/>
            </a:endParaRPr>
          </a:p>
        </p:txBody>
      </p:sp>
    </p:spTree>
    <p:extLst>
      <p:ext uri="{BB962C8B-B14F-4D97-AF65-F5344CB8AC3E}">
        <p14:creationId xmlns:p14="http://schemas.microsoft.com/office/powerpoint/2010/main" val="1330727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4" r:id="rId3"/>
    <p:sldLayoutId id="2147483690" r:id="rId4"/>
    <p:sldLayoutId id="2147483682" r:id="rId5"/>
    <p:sldLayoutId id="2147483667" r:id="rId6"/>
    <p:sldLayoutId id="2147483679" r:id="rId7"/>
    <p:sldLayoutId id="2147483683" r:id="rId8"/>
    <p:sldLayoutId id="2147483685" r:id="rId9"/>
    <p:sldLayoutId id="2147483687" r:id="rId10"/>
    <p:sldLayoutId id="2147483688" r:id="rId11"/>
    <p:sldLayoutId id="2147483689" r:id="rId12"/>
    <p:sldLayoutId id="2147483684" r:id="rId13"/>
  </p:sldLayoutIdLst>
  <p:txStyles>
    <p:titleStyle>
      <a:lvl1pPr algn="l" defTabSz="1043056" rtl="0" eaLnBrk="1" latinLnBrk="0" hangingPunct="1">
        <a:spcBef>
          <a:spcPct val="0"/>
        </a:spcBef>
        <a:buNone/>
        <a:defRPr sz="2000" b="1" kern="1200">
          <a:solidFill>
            <a:schemeClr val="tx1"/>
          </a:solidFill>
          <a:latin typeface="+mj-lt"/>
          <a:ea typeface="+mj-ea"/>
          <a:cs typeface="+mj-cs"/>
        </a:defRPr>
      </a:lvl1pPr>
    </p:titleStyle>
    <p:body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8" userDrawn="1">
          <p15:clr>
            <a:srgbClr val="F26B43"/>
          </p15:clr>
        </p15:guide>
        <p15:guide id="3" pos="6498" userDrawn="1">
          <p15:clr>
            <a:srgbClr val="F26B43"/>
          </p15:clr>
        </p15:guide>
        <p15:guide id="4" pos="238" userDrawn="1">
          <p15:clr>
            <a:srgbClr val="F26B43"/>
          </p15:clr>
        </p15:guide>
        <p15:guide id="5" orient="horz" pos="4287" userDrawn="1">
          <p15:clr>
            <a:srgbClr val="F26B43"/>
          </p15:clr>
        </p15:guide>
        <p15:guide id="6" orient="horz" pos="102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oleObject" Target="../embeddings/oleObject2.bin"/><Relationship Id="rId4" Type="http://schemas.openxmlformats.org/officeDocument/2006/relationships/image" Target="../media/image5.emf"/><Relationship Id="rId5" Type="http://schemas.openxmlformats.org/officeDocument/2006/relationships/image" Target="../media/image6.jpe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7.xml"/><Relationship Id="rId3" Type="http://schemas.openxmlformats.org/officeDocument/2006/relationships/oleObject" Target="../embeddings/oleObject3.bin"/><Relationship Id="rId4" Type="http://schemas.openxmlformats.org/officeDocument/2006/relationships/image" Target="../media/image9.emf"/><Relationship Id="rId5" Type="http://schemas.openxmlformats.org/officeDocument/2006/relationships/image" Target="../media/image10.tiff"/><Relationship Id="rId6"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5.xml"/><Relationship Id="rId3" Type="http://schemas.openxmlformats.org/officeDocument/2006/relationships/oleObject" Target="../embeddings/oleObject4.bin"/><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6.xml"/><Relationship Id="rId3" Type="http://schemas.openxmlformats.org/officeDocument/2006/relationships/oleObject" Target="../embeddings/oleObject5.bin"/><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7.xml"/><Relationship Id="rId3" Type="http://schemas.openxmlformats.org/officeDocument/2006/relationships/oleObject" Target="../embeddings/oleObject6.bin"/><Relationship Id="rId4" Type="http://schemas.openxmlformats.org/officeDocument/2006/relationships/image" Target="../media/image9.emf"/><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eg"/><Relationship Id="rId7"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sv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image" Target="../media/image30.emf"/><Relationship Id="rId16" Type="http://schemas.openxmlformats.org/officeDocument/2006/relationships/image" Target="../media/image31.png"/><Relationship Id="rId17" Type="http://schemas.openxmlformats.org/officeDocument/2006/relationships/image" Target="../media/image32.png"/><Relationship Id="rId18" Type="http://schemas.openxmlformats.org/officeDocument/2006/relationships/image" Target="../media/image33.png"/><Relationship Id="rId19" Type="http://schemas.openxmlformats.org/officeDocument/2006/relationships/image" Target="../media/image34.png"/><Relationship Id="rId20" Type="http://schemas.openxmlformats.org/officeDocument/2006/relationships/image" Target="../media/image35.png"/><Relationship Id="rId21" Type="http://schemas.openxmlformats.org/officeDocument/2006/relationships/image" Target="../media/image36.svg"/><Relationship Id="rId22" Type="http://schemas.openxmlformats.org/officeDocument/2006/relationships/image" Target="../media/image37.png"/><Relationship Id="rId23" Type="http://schemas.openxmlformats.org/officeDocument/2006/relationships/image" Target="../media/image38.png"/><Relationship Id="rId24" Type="http://schemas.openxmlformats.org/officeDocument/2006/relationships/image" Target="../media/image39.png"/><Relationship Id="rId25" Type="http://schemas.openxmlformats.org/officeDocument/2006/relationships/image" Target="../media/image40.png"/><Relationship Id="rId26" Type="http://schemas.openxmlformats.org/officeDocument/2006/relationships/image" Target="../media/image41.png"/><Relationship Id="rId27" Type="http://schemas.openxmlformats.org/officeDocument/2006/relationships/image" Target="../media/image42.png"/><Relationship Id="rId28" Type="http://schemas.openxmlformats.org/officeDocument/2006/relationships/image" Target="../media/image43.png"/><Relationship Id="rId29" Type="http://schemas.openxmlformats.org/officeDocument/2006/relationships/image" Target="../media/image44.png"/><Relationship Id="rId30"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 Id="rId3" Type="http://schemas.openxmlformats.org/officeDocument/2006/relationships/oleObject" Target="../embeddings/oleObject5.bin"/><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46.emf"/></Relationships>
</file>

<file path=ppt/slides/_rels/slide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10.xml"/><Relationship Id="rId3" Type="http://schemas.openxmlformats.org/officeDocument/2006/relationships/oleObject" Target="../embeddings/oleObject2.bin"/><Relationship Id="rId4" Type="http://schemas.openxmlformats.org/officeDocument/2006/relationships/image" Target="../media/image5.emf"/><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8.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 Id="rId13" Type="http://schemas.openxmlformats.org/officeDocument/2006/relationships/image" Target="../media/image54.png"/><Relationship Id="rId14" Type="http://schemas.openxmlformats.org/officeDocument/2006/relationships/image" Target="../media/image55.png"/><Relationship Id="rId15" Type="http://schemas.openxmlformats.org/officeDocument/2006/relationships/image" Target="../media/image56.png"/><Relationship Id="rId16" Type="http://schemas.openxmlformats.org/officeDocument/2006/relationships/image" Target="../media/image57.png"/><Relationship Id="rId17" Type="http://schemas.openxmlformats.org/officeDocument/2006/relationships/image" Target="../media/image58.png"/><Relationship Id="rId18" Type="http://schemas.openxmlformats.org/officeDocument/2006/relationships/image" Target="../media/image59.png"/></Relationships>
</file>

<file path=ppt/slides/_rels/slide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slideLayout" Target="../slideLayouts/slideLayout10.xml"/><Relationship Id="rId5" Type="http://schemas.openxmlformats.org/officeDocument/2006/relationships/oleObject" Target="../embeddings/oleObject7.bin"/><Relationship Id="rId6" Type="http://schemas.openxmlformats.org/officeDocument/2006/relationships/image" Target="../media/image5.emf"/><Relationship Id="rId7" Type="http://schemas.openxmlformats.org/officeDocument/2006/relationships/image" Target="../media/image8.png"/><Relationship Id="rId8" Type="http://schemas.openxmlformats.org/officeDocument/2006/relationships/image" Target="../media/image53.png"/><Relationship Id="rId9" Type="http://schemas.openxmlformats.org/officeDocument/2006/relationships/image" Target="../media/image60.png"/><Relationship Id="rId10" Type="http://schemas.openxmlformats.org/officeDocument/2006/relationships/image" Target="../media/image57.png"/><Relationship Id="rId11" Type="http://schemas.openxmlformats.org/officeDocument/2006/relationships/image" Target="../media/image54.png"/><Relationship Id="rId12" Type="http://schemas.openxmlformats.org/officeDocument/2006/relationships/image" Target="../media/image59.png"/><Relationship Id="rId13" Type="http://schemas.openxmlformats.org/officeDocument/2006/relationships/image" Target="../media/image55.png"/><Relationship Id="rId14"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 Id="rId8" Type="http://schemas.openxmlformats.org/officeDocument/2006/relationships/slideLayout" Target="../slideLayouts/slideLayout7.xml"/><Relationship Id="rId9" Type="http://schemas.openxmlformats.org/officeDocument/2006/relationships/oleObject" Target="../embeddings/oleObject8.bin"/><Relationship Id="rId10" Type="http://schemas.openxmlformats.org/officeDocument/2006/relationships/image" Target="../media/image46.emf"/><Relationship Id="rId11" Type="http://schemas.openxmlformats.org/officeDocument/2006/relationships/chart" Target="../charts/chart2.xml"/><Relationship Id="rId12" Type="http://schemas.openxmlformats.org/officeDocument/2006/relationships/image" Target="../media/image61.jpeg"/><Relationship Id="rId13" Type="http://schemas.openxmlformats.org/officeDocument/2006/relationships/image" Target="../media/image62.jpeg"/><Relationship Id="rId14" Type="http://schemas.openxmlformats.org/officeDocument/2006/relationships/image" Target="../media/image63.jpeg"/><Relationship Id="rId15" Type="http://schemas.openxmlformats.org/officeDocument/2006/relationships/image" Target="../media/image64.jpeg"/><Relationship Id="rId16" Type="http://schemas.openxmlformats.org/officeDocument/2006/relationships/image" Target="../media/image65.png"/><Relationship Id="rId17" Type="http://schemas.openxmlformats.org/officeDocument/2006/relationships/image" Target="../media/image66.jpeg"/><Relationship Id="rId18" Type="http://schemas.openxmlformats.org/officeDocument/2006/relationships/image" Target="../media/image67.jpeg"/><Relationship Id="rId19" Type="http://schemas.openxmlformats.org/officeDocument/2006/relationships/image" Target="../media/image68.jpeg"/><Relationship Id="rId20" Type="http://schemas.openxmlformats.org/officeDocument/2006/relationships/image" Target="../media/image69.jpeg"/><Relationship Id="rId21" Type="http://schemas.openxmlformats.org/officeDocument/2006/relationships/image" Target="../media/image70.jpeg"/><Relationship Id="rId22" Type="http://schemas.openxmlformats.org/officeDocument/2006/relationships/image" Target="../media/image58.png"/><Relationship Id="rId23" Type="http://schemas.openxmlformats.org/officeDocument/2006/relationships/image" Target="../media/image50.png"/><Relationship Id="rId24" Type="http://schemas.openxmlformats.org/officeDocument/2006/relationships/image" Target="../media/image51.png"/><Relationship Id="rId25" Type="http://schemas.openxmlformats.org/officeDocument/2006/relationships/image" Target="../media/image59.png"/><Relationship Id="rId26" Type="http://schemas.openxmlformats.org/officeDocument/2006/relationships/image" Target="../media/image8.png"/><Relationship Id="rId27" Type="http://schemas.openxmlformats.org/officeDocument/2006/relationships/image" Target="../media/image55.png"/><Relationship Id="rId28" Type="http://schemas.openxmlformats.org/officeDocument/2006/relationships/image" Target="../media/image71.png"/></Relationships>
</file>

<file path=ppt/slides/_rels/slide14.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9.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 Id="rId5" Type="http://schemas.openxmlformats.org/officeDocument/2006/relationships/image" Target="../media/image72.png"/><Relationship Id="rId6" Type="http://schemas.openxmlformats.org/officeDocument/2006/relationships/image" Target="../media/image73.svg"/><Relationship Id="rId7" Type="http://schemas.openxmlformats.org/officeDocument/2006/relationships/image" Target="../media/image74.png"/><Relationship Id="rId8" Type="http://schemas.openxmlformats.org/officeDocument/2006/relationships/image" Target="../media/image75.svg"/><Relationship Id="rId9" Type="http://schemas.openxmlformats.org/officeDocument/2006/relationships/image" Target="../media/image76.png"/><Relationship Id="rId10" Type="http://schemas.openxmlformats.org/officeDocument/2006/relationships/image" Target="../media/image77.svg"/><Relationship Id="rId11" Type="http://schemas.openxmlformats.org/officeDocument/2006/relationships/image" Target="../media/image78.png"/><Relationship Id="rId12" Type="http://schemas.openxmlformats.org/officeDocument/2006/relationships/image" Target="../media/image79.svg"/><Relationship Id="rId13" Type="http://schemas.openxmlformats.org/officeDocument/2006/relationships/image" Target="../media/image80.png"/><Relationship Id="rId14" Type="http://schemas.openxmlformats.org/officeDocument/2006/relationships/image" Target="../media/image81.svg"/></Relationships>
</file>

<file path=ppt/slides/_rels/slide17.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 Id="rId5" Type="http://schemas.openxmlformats.org/officeDocument/2006/relationships/image" Target="../media/image82.png"/><Relationship Id="rId6" Type="http://schemas.openxmlformats.org/officeDocument/2006/relationships/image" Target="../media/image83.svg"/><Relationship Id="rId7" Type="http://schemas.openxmlformats.org/officeDocument/2006/relationships/image" Target="../media/image84.png"/><Relationship Id="rId8" Type="http://schemas.openxmlformats.org/officeDocument/2006/relationships/image" Target="../media/image85.svg"/></Relationships>
</file>

<file path=ppt/slides/_rels/slide18.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7.xml"/><Relationship Id="rId3" Type="http://schemas.openxmlformats.org/officeDocument/2006/relationships/image" Target="../media/image86.png"/><Relationship Id="rId4" Type="http://schemas.openxmlformats.org/officeDocument/2006/relationships/image" Target="../media/image87.svg"/><Relationship Id="rId5" Type="http://schemas.openxmlformats.org/officeDocument/2006/relationships/oleObject" Target="../embeddings/oleObject2.bin"/><Relationship Id="rId6" Type="http://schemas.openxmlformats.org/officeDocument/2006/relationships/image" Target="../media/image9.emf"/></Relationships>
</file>

<file path=ppt/slides/_rels/slide19.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7.xml"/><Relationship Id="rId3" Type="http://schemas.openxmlformats.org/officeDocument/2006/relationships/oleObject" Target="../embeddings/oleObject9.bin"/><Relationship Id="rId4" Type="http://schemas.openxmlformats.org/officeDocument/2006/relationships/image" Target="../media/image9.emf"/><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 Id="rId10" Type="http://schemas.openxmlformats.org/officeDocument/2006/relationships/image" Target="../media/image9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D83D4E5-3E6F-4BED-9E21-4B748A7B1163}"/>
              </a:ext>
            </a:extLst>
          </p:cNvPr>
          <p:cNvGraphicFramePr>
            <a:graphicFrameLocks/>
          </p:cNvGraphicFramePr>
          <p:nvPr>
            <p:custDataLst>
              <p:tags r:id="rId1"/>
            </p:custDataLst>
            <p:extLst>
              <p:ext uri="{D42A27DB-BD31-4B8C-83A1-F6EECF244321}">
                <p14:modId xmlns:p14="http://schemas.microsoft.com/office/powerpoint/2010/main" val="2817520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0D83D4E5-3E6F-4BED-9E21-4B748A7B11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30" name="Picture 6">
            <a:extLst>
              <a:ext uri="{FF2B5EF4-FFF2-40B4-BE49-F238E27FC236}">
                <a16:creationId xmlns:a16="http://schemas.microsoft.com/office/drawing/2014/main" id="{EA063503-A709-2560-CD3D-E2452815CF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758" y="-453770"/>
            <a:ext cx="11678916" cy="846721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3A02EB5-A727-4A81-ABE4-BD603435F791}"/>
              </a:ext>
            </a:extLst>
          </p:cNvPr>
          <p:cNvSpPr/>
          <p:nvPr/>
        </p:nvSpPr>
        <p:spPr>
          <a:xfrm>
            <a:off x="234132" y="776605"/>
            <a:ext cx="10225135" cy="65527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platzhalter 5"/>
          <p:cNvSpPr>
            <a:spLocks noGrp="1"/>
          </p:cNvSpPr>
          <p:nvPr>
            <p:ph type="body" sz="quarter" idx="16"/>
          </p:nvPr>
        </p:nvSpPr>
        <p:spPr>
          <a:xfrm>
            <a:off x="684700" y="6156551"/>
            <a:ext cx="9324000" cy="504000"/>
          </a:xfrm>
        </p:spPr>
        <p:txBody>
          <a:bodyPr/>
          <a:lstStyle/>
          <a:p>
            <a:r>
              <a:rPr lang="de-DE" dirty="0"/>
              <a:t>Duisburg / Frankfurt am Main, 5. März 2024</a:t>
            </a:r>
          </a:p>
        </p:txBody>
      </p:sp>
      <p:sp>
        <p:nvSpPr>
          <p:cNvPr id="14" name="Line 58">
            <a:extLst>
              <a:ext uri="{FF2B5EF4-FFF2-40B4-BE49-F238E27FC236}">
                <a16:creationId xmlns:a16="http://schemas.microsoft.com/office/drawing/2014/main" id="{FF622BBF-3DEF-4009-A4B6-25C364ED217A}"/>
              </a:ext>
            </a:extLst>
          </p:cNvPr>
          <p:cNvSpPr>
            <a:spLocks noChangeShapeType="1"/>
          </p:cNvSpPr>
          <p:nvPr/>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5" name="Titel 1">
            <a:extLst>
              <a:ext uri="{FF2B5EF4-FFF2-40B4-BE49-F238E27FC236}">
                <a16:creationId xmlns:a16="http://schemas.microsoft.com/office/drawing/2014/main" id="{6B75F7FC-2D17-448B-BB18-8BF1E06DB316}"/>
              </a:ext>
            </a:extLst>
          </p:cNvPr>
          <p:cNvSpPr txBox="1">
            <a:spLocks/>
          </p:cNvSpPr>
          <p:nvPr/>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grpSp>
        <p:nvGrpSpPr>
          <p:cNvPr id="16" name="Group 15">
            <a:extLst>
              <a:ext uri="{FF2B5EF4-FFF2-40B4-BE49-F238E27FC236}">
                <a16:creationId xmlns:a16="http://schemas.microsoft.com/office/drawing/2014/main" id="{BE564CB1-4887-4E0E-A7A2-6633293539D9}"/>
              </a:ext>
            </a:extLst>
          </p:cNvPr>
          <p:cNvGrpSpPr/>
          <p:nvPr/>
        </p:nvGrpSpPr>
        <p:grpSpPr>
          <a:xfrm>
            <a:off x="378700" y="6890314"/>
            <a:ext cx="9936000" cy="360362"/>
            <a:chOff x="378700" y="6890314"/>
            <a:chExt cx="9936000" cy="360362"/>
          </a:xfrm>
        </p:grpSpPr>
        <p:sp>
          <p:nvSpPr>
            <p:cNvPr id="17" name="Line 58">
              <a:extLst>
                <a:ext uri="{FF2B5EF4-FFF2-40B4-BE49-F238E27FC236}">
                  <a16:creationId xmlns:a16="http://schemas.microsoft.com/office/drawing/2014/main" id="{49DD9A41-5114-4378-8CED-98124F2ACE04}"/>
                </a:ext>
              </a:extLst>
            </p:cNvPr>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8" name="Line 58">
              <a:extLst>
                <a:ext uri="{FF2B5EF4-FFF2-40B4-BE49-F238E27FC236}">
                  <a16:creationId xmlns:a16="http://schemas.microsoft.com/office/drawing/2014/main" id="{BFDF6FC0-193B-4DF7-AD3E-C7FC49B353F0}"/>
                </a:ext>
              </a:extLst>
            </p:cNvPr>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9" name="Line 58">
              <a:extLst>
                <a:ext uri="{FF2B5EF4-FFF2-40B4-BE49-F238E27FC236}">
                  <a16:creationId xmlns:a16="http://schemas.microsoft.com/office/drawing/2014/main" id="{FC53FD3A-E0BE-4C3D-B716-987501791D11}"/>
                </a:ext>
              </a:extLst>
            </p:cNvPr>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pic>
          <p:nvPicPr>
            <p:cNvPr id="20" name="Picture 3" descr="W:\UKOMM\SHARED\LOGOS\Metzler\RGB_Blau\png\MetzlerCF_RGB_Blau (2).png">
              <a:extLst>
                <a:ext uri="{FF2B5EF4-FFF2-40B4-BE49-F238E27FC236}">
                  <a16:creationId xmlns:a16="http://schemas.microsoft.com/office/drawing/2014/main" id="{5CD5D6AB-D23C-44DD-9B9A-14E9C35C5AC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itle 6">
            <a:extLst>
              <a:ext uri="{FF2B5EF4-FFF2-40B4-BE49-F238E27FC236}">
                <a16:creationId xmlns:a16="http://schemas.microsoft.com/office/drawing/2014/main" id="{85D4A847-C8E9-787D-26FA-2B7B03F9446D}"/>
              </a:ext>
            </a:extLst>
          </p:cNvPr>
          <p:cNvSpPr>
            <a:spLocks noGrp="1"/>
          </p:cNvSpPr>
          <p:nvPr>
            <p:ph type="title"/>
          </p:nvPr>
        </p:nvSpPr>
        <p:spPr>
          <a:xfrm>
            <a:off x="684700" y="1620391"/>
            <a:ext cx="9324000" cy="1801415"/>
          </a:xfrm>
        </p:spPr>
        <p:txBody>
          <a:bodyPr vert="horz"/>
          <a:lstStyle/>
          <a:p>
            <a:r>
              <a:rPr lang="de-DE" dirty="0"/>
              <a:t>Überlegungen zur Kapitalflexibilisierung</a:t>
            </a:r>
            <a:br>
              <a:rPr lang="de-DE" dirty="0"/>
            </a:br>
            <a:br>
              <a:rPr lang="de-DE" dirty="0"/>
            </a:br>
            <a:br>
              <a:rPr lang="de-DE" dirty="0"/>
            </a:br>
            <a:r>
              <a:rPr lang="de-DE" sz="1600" dirty="0"/>
              <a:t>Unterlage für</a:t>
            </a:r>
            <a:br>
              <a:rPr lang="de-DE" sz="1600" dirty="0"/>
            </a:br>
            <a:r>
              <a:rPr lang="de-DE" sz="1600" dirty="0"/>
              <a:t>Herrn Thomas Brauers</a:t>
            </a:r>
            <a:br>
              <a:rPr lang="de-DE" sz="1600" dirty="0"/>
            </a:br>
            <a:r>
              <a:rPr lang="de-DE" sz="1600" dirty="0"/>
              <a:t>Herrn Dennis Schulte im Walde</a:t>
            </a:r>
            <a:br>
              <a:rPr lang="de-DE" sz="1600" i="1" dirty="0">
                <a:highlight>
                  <a:srgbClr val="FFFF00"/>
                </a:highlight>
              </a:rPr>
            </a:br>
            <a:endParaRPr lang="en-US" dirty="0">
              <a:highlight>
                <a:srgbClr val="FFFF00"/>
              </a:highlight>
            </a:endParaRPr>
          </a:p>
        </p:txBody>
      </p:sp>
      <p:pic>
        <p:nvPicPr>
          <p:cNvPr id="1028" name="Picture 4" descr="Duisburger Versorgungs- und Verkehrsgesellschaft – Wikipedia">
            <a:extLst>
              <a:ext uri="{FF2B5EF4-FFF2-40B4-BE49-F238E27FC236}">
                <a16:creationId xmlns:a16="http://schemas.microsoft.com/office/drawing/2014/main" id="{8716D8E1-C12C-D520-A226-4D90613324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700" y="4918578"/>
            <a:ext cx="1923302" cy="87827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C5EC579-3814-E197-8292-19AB4901B04A}"/>
              </a:ext>
            </a:extLst>
          </p:cNvPr>
          <p:cNvPicPr>
            <a:picLocks noChangeAspect="1"/>
          </p:cNvPicPr>
          <p:nvPr/>
        </p:nvPicPr>
        <p:blipFill>
          <a:blip r:embed="rId8"/>
          <a:stretch>
            <a:fillRect/>
          </a:stretch>
        </p:blipFill>
        <p:spPr>
          <a:xfrm>
            <a:off x="2754412" y="4966574"/>
            <a:ext cx="2744856" cy="782285"/>
          </a:xfrm>
          <a:prstGeom prst="rect">
            <a:avLst/>
          </a:prstGeom>
        </p:spPr>
      </p:pic>
    </p:spTree>
    <p:extLst>
      <p:ext uri="{BB962C8B-B14F-4D97-AF65-F5344CB8AC3E}">
        <p14:creationId xmlns:p14="http://schemas.microsoft.com/office/powerpoint/2010/main" val="389157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55D732-2070-442A-AAF4-7FAAEF9686C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8" name="Object 7" hidden="1">
                        <a:extLst>
                          <a:ext uri="{FF2B5EF4-FFF2-40B4-BE49-F238E27FC236}">
                            <a16:creationId xmlns:a16="http://schemas.microsoft.com/office/drawing/2014/main" id="{DC55D732-2070-442A-AAF4-7FAAEF9686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378700" y="450279"/>
            <a:ext cx="9936000" cy="720000"/>
          </a:xfrm>
        </p:spPr>
        <p:txBody>
          <a:bodyPr vert="horz"/>
          <a:lstStyle/>
          <a:p>
            <a:r>
              <a:rPr lang="de-DE" dirty="0"/>
              <a:t>Vorstellung – Ihre Kontaktpersonen</a:t>
            </a:r>
          </a:p>
        </p:txBody>
      </p:sp>
      <p:sp>
        <p:nvSpPr>
          <p:cNvPr id="4" name="Text Placeholder 3"/>
          <p:cNvSpPr>
            <a:spLocks noGrp="1"/>
          </p:cNvSpPr>
          <p:nvPr>
            <p:ph type="body" sz="quarter" idx="13"/>
          </p:nvPr>
        </p:nvSpPr>
        <p:spPr/>
        <p:txBody>
          <a:bodyPr/>
          <a:lstStyle/>
          <a:p>
            <a:endParaRPr lang="de-DE" dirty="0"/>
          </a:p>
        </p:txBody>
      </p:sp>
      <p:sp>
        <p:nvSpPr>
          <p:cNvPr id="5" name="Text Placeholder 4"/>
          <p:cNvSpPr>
            <a:spLocks noGrp="1"/>
          </p:cNvSpPr>
          <p:nvPr>
            <p:ph type="body" sz="quarter" idx="14"/>
          </p:nvPr>
        </p:nvSpPr>
        <p:spPr/>
        <p:txBody>
          <a:bodyPr/>
          <a:lstStyle/>
          <a:p>
            <a:endParaRPr lang="de-DE"/>
          </a:p>
        </p:txBody>
      </p:sp>
      <p:sp>
        <p:nvSpPr>
          <p:cNvPr id="6" name="Text Placeholder 5"/>
          <p:cNvSpPr>
            <a:spLocks noGrp="1"/>
          </p:cNvSpPr>
          <p:nvPr>
            <p:ph type="body" sz="quarter" idx="15"/>
          </p:nvPr>
        </p:nvSpPr>
        <p:spPr/>
        <p:txBody>
          <a:bodyPr/>
          <a:lstStyle/>
          <a:p>
            <a:endParaRPr lang="de-DE" dirty="0"/>
          </a:p>
        </p:txBody>
      </p:sp>
      <p:cxnSp>
        <p:nvCxnSpPr>
          <p:cNvPr id="10" name="Straight Connector 9"/>
          <p:cNvCxnSpPr>
            <a:cxnSpLocks/>
          </p:cNvCxnSpPr>
          <p:nvPr/>
        </p:nvCxnSpPr>
        <p:spPr>
          <a:xfrm>
            <a:off x="-337838" y="1696057"/>
            <a:ext cx="2119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337838" y="6592057"/>
            <a:ext cx="21193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 Box 3">
            <a:extLst>
              <a:ext uri="{FF2B5EF4-FFF2-40B4-BE49-F238E27FC236}">
                <a16:creationId xmlns:a16="http://schemas.microsoft.com/office/drawing/2014/main" id="{1008F276-6EAF-4754-ADD9-6D064816AC23}"/>
              </a:ext>
            </a:extLst>
          </p:cNvPr>
          <p:cNvSpPr txBox="1">
            <a:spLocks noChangeArrowheads="1"/>
          </p:cNvSpPr>
          <p:nvPr/>
        </p:nvSpPr>
        <p:spPr bwMode="gray">
          <a:xfrm>
            <a:off x="1462072" y="1523256"/>
            <a:ext cx="3812628" cy="523420"/>
          </a:xfrm>
          <a:prstGeom prst="rect">
            <a:avLst/>
          </a:prstGeom>
          <a:noFill/>
          <a:ln>
            <a:noFill/>
          </a:ln>
          <a:effectLst/>
          <a:extLst>
            <a:ext uri="{909E8E84-426E-40DD-AFC4-6F175D3DCCD1}">
              <a14:hiddenFill xmlns:a14="http://schemas.microsoft.com/office/drawing/2010/main">
                <a:solidFill>
                  <a:srgbClr val="1736A9"/>
                </a:solidFill>
              </a14:hiddenFill>
            </a:ext>
            <a:ext uri="{91240B29-F687-4F45-9708-019B960494DF}">
              <a14:hiddenLine xmlns:a14="http://schemas.microsoft.com/office/drawing/2010/main" w="19050">
                <a:solidFill>
                  <a:schemeClr val="accent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36000" bIns="36000" numCol="1" anchor="ctr" anchorCtr="0" compatLnSpc="1">
            <a:prstTxWarp prst="textNoShape">
              <a:avLst/>
            </a:prstTxWarp>
          </a:bodyPr>
          <a:lstStyle/>
          <a:p>
            <a:pPr>
              <a:spcAft>
                <a:spcPts val="200"/>
              </a:spcAft>
            </a:pPr>
            <a:r>
              <a:rPr lang="de-DE" sz="1000" b="1" dirty="0">
                <a:solidFill>
                  <a:srgbClr val="003D7C"/>
                </a:solidFill>
                <a:cs typeface="Arial" pitchFamily="34" charset="0"/>
              </a:rPr>
              <a:t>Hans Günter Wolf</a:t>
            </a:r>
          </a:p>
          <a:p>
            <a:pPr>
              <a:spcAft>
                <a:spcPts val="200"/>
              </a:spcAft>
            </a:pPr>
            <a:r>
              <a:rPr lang="en-US" sz="1000" dirty="0">
                <a:solidFill>
                  <a:srgbClr val="003D7C"/>
                </a:solidFill>
                <a:cs typeface="Arial" pitchFamily="34" charset="0"/>
              </a:rPr>
              <a:t>Managing Director / Co-Head Corporate Finance</a:t>
            </a:r>
            <a:endParaRPr lang="de-DE" sz="1000" dirty="0">
              <a:solidFill>
                <a:srgbClr val="003D7C"/>
              </a:solidFill>
              <a:cs typeface="Arial" pitchFamily="34" charset="0"/>
            </a:endParaRPr>
          </a:p>
          <a:p>
            <a:pPr>
              <a:spcAft>
                <a:spcPts val="200"/>
              </a:spcAft>
            </a:pPr>
            <a:r>
              <a:rPr lang="de-DE" sz="1000" i="1" dirty="0">
                <a:solidFill>
                  <a:srgbClr val="003D7C"/>
                </a:solidFill>
                <a:cs typeface="Arial" pitchFamily="34" charset="0"/>
              </a:rPr>
              <a:t>Corporate Finance</a:t>
            </a:r>
          </a:p>
        </p:txBody>
      </p:sp>
      <p:sp>
        <p:nvSpPr>
          <p:cNvPr id="36" name="Parallelogramm 16">
            <a:extLst>
              <a:ext uri="{FF2B5EF4-FFF2-40B4-BE49-F238E27FC236}">
                <a16:creationId xmlns:a16="http://schemas.microsoft.com/office/drawing/2014/main" id="{170AD971-C90D-4F87-9596-E366AEAA1A6D}"/>
              </a:ext>
            </a:extLst>
          </p:cNvPr>
          <p:cNvSpPr/>
          <p:nvPr/>
        </p:nvSpPr>
        <p:spPr>
          <a:xfrm>
            <a:off x="378700" y="1260351"/>
            <a:ext cx="4896000" cy="190500"/>
          </a:xfrm>
          <a:prstGeom prst="parallelogram">
            <a:avLst/>
          </a:prstGeom>
          <a:solidFill>
            <a:srgbClr val="003D7C"/>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37" name="Text Box 4">
            <a:extLst>
              <a:ext uri="{FF2B5EF4-FFF2-40B4-BE49-F238E27FC236}">
                <a16:creationId xmlns:a16="http://schemas.microsoft.com/office/drawing/2014/main" id="{0C671A14-61D4-4AE9-8970-258C179AB7E1}"/>
              </a:ext>
            </a:extLst>
          </p:cNvPr>
          <p:cNvSpPr txBox="1">
            <a:spLocks noChangeArrowheads="1"/>
          </p:cNvSpPr>
          <p:nvPr/>
        </p:nvSpPr>
        <p:spPr bwMode="auto">
          <a:xfrm>
            <a:off x="1469142" y="2153486"/>
            <a:ext cx="2160000" cy="450641"/>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72000" rIns="36000" bIns="72000" numCol="1" anchor="ctr" anchorCtr="0" compatLnSpc="1">
            <a:prstTxWarp prst="textNoShape">
              <a:avLst/>
            </a:prstTxWarp>
          </a:bodyPr>
          <a:lstStyle>
            <a:defPPr>
              <a:defRPr lang="de-DE"/>
            </a:defPPr>
            <a:lvl1pPr marL="176213" lvl="0" indent="-176213" defTabSz="265113">
              <a:spcBef>
                <a:spcPts val="0"/>
              </a:spcBef>
              <a:spcAft>
                <a:spcPts val="200"/>
              </a:spcAft>
              <a:buClrTx/>
              <a:buNone/>
              <a:defRPr sz="900">
                <a:solidFill>
                  <a:srgbClr val="000000"/>
                </a:solidFill>
                <a:cs typeface="Arial" pitchFamily="34" charset="0"/>
              </a:defRPr>
            </a:lvl1pPr>
          </a:lstStyle>
          <a:p>
            <a:r>
              <a:rPr lang="de-DE" sz="800" dirty="0"/>
              <a:t>T:	+49 69 21 04 49 15</a:t>
            </a:r>
          </a:p>
          <a:p>
            <a:r>
              <a:rPr lang="de-DE" sz="800" dirty="0"/>
              <a:t>M:	+49 173 9 24 99 69</a:t>
            </a:r>
          </a:p>
          <a:p>
            <a:r>
              <a:rPr lang="de-DE" sz="800" dirty="0"/>
              <a:t>E:	hwolf@metzler.com</a:t>
            </a:r>
          </a:p>
        </p:txBody>
      </p:sp>
      <p:sp>
        <p:nvSpPr>
          <p:cNvPr id="38" name="Inhaltsplatzhalter 2">
            <a:extLst>
              <a:ext uri="{FF2B5EF4-FFF2-40B4-BE49-F238E27FC236}">
                <a16:creationId xmlns:a16="http://schemas.microsoft.com/office/drawing/2014/main" id="{F4FFCA47-1479-48F9-9212-6F6B51C5FC42}"/>
              </a:ext>
            </a:extLst>
          </p:cNvPr>
          <p:cNvSpPr txBox="1">
            <a:spLocks/>
          </p:cNvSpPr>
          <p:nvPr/>
        </p:nvSpPr>
        <p:spPr>
          <a:xfrm>
            <a:off x="378700" y="2659295"/>
            <a:ext cx="4896000" cy="4140000"/>
          </a:xfrm>
          <a:prstGeom prst="rect">
            <a:avLst/>
          </a:prstGeom>
          <a:solidFill>
            <a:schemeClr val="bg1">
              <a:lumMod val="95000"/>
            </a:schemeClr>
          </a:solidFill>
        </p:spPr>
        <p:txBody>
          <a:bodyPr lIns="72000" tIns="72000" rIns="72000" bIns="72000" anchor="t" anchorCtr="0"/>
          <a:lstStyle>
            <a:lvl1pPr marL="355600" indent="-355600" algn="l" defTabSz="1043056" rtl="0" eaLnBrk="1" latinLnBrk="0" hangingPunct="1">
              <a:spcBef>
                <a:spcPct val="20000"/>
              </a:spcBef>
              <a:buClr>
                <a:schemeClr val="accent1"/>
              </a:buClr>
              <a:buFont typeface="Wingdings" pitchFamily="2" charset="2"/>
              <a:buChar char="n"/>
              <a:tabLst/>
              <a:defRPr sz="16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6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defTabSz="914400" fontAlgn="base">
              <a:spcBef>
                <a:spcPts val="0"/>
              </a:spcBef>
              <a:spcAft>
                <a:spcPts val="600"/>
              </a:spcAft>
              <a:buSzPts val="1000"/>
              <a:buNone/>
            </a:pPr>
            <a:r>
              <a:rPr lang="de-DE" sz="1000" b="1" dirty="0">
                <a:solidFill>
                  <a:srgbClr val="003D7C"/>
                </a:solidFill>
              </a:rPr>
              <a:t>Profil</a:t>
            </a:r>
          </a:p>
          <a:p>
            <a:pPr marL="182563" indent="-182563" defTabSz="914400" fontAlgn="base">
              <a:spcBef>
                <a:spcPts val="0"/>
              </a:spcBef>
              <a:spcAft>
                <a:spcPts val="600"/>
              </a:spcAft>
              <a:buClr>
                <a:srgbClr val="003D7C"/>
              </a:buClr>
              <a:buSzPts val="1000"/>
            </a:pPr>
            <a:r>
              <a:rPr lang="de-DE" sz="1000" dirty="0">
                <a:cs typeface="Arial" pitchFamily="34" charset="0"/>
              </a:rPr>
              <a:t>Über 30 Jahre Erfahrung im Bereich M&amp;A und Strategieberatung, seit 1998 Beratung in der Energiewirtschaft</a:t>
            </a:r>
          </a:p>
          <a:p>
            <a:pPr marL="182563" indent="-182563" defTabSz="914400" fontAlgn="base">
              <a:spcBef>
                <a:spcPts val="0"/>
              </a:spcBef>
              <a:spcAft>
                <a:spcPts val="600"/>
              </a:spcAft>
              <a:buClr>
                <a:srgbClr val="003D7C"/>
              </a:buClr>
              <a:buSzPts val="1000"/>
            </a:pPr>
            <a:r>
              <a:rPr lang="de-DE" altLang="de-DE" sz="1000" dirty="0">
                <a:cs typeface="Arial" pitchFamily="34" charset="0"/>
              </a:rPr>
              <a:t>Seit 2012 bei Metzler als Geschäftsführer Metzler Corporate Finance; Sektor Energy &amp; Infrastructure</a:t>
            </a:r>
          </a:p>
          <a:p>
            <a:pPr marL="182563" indent="-182563" defTabSz="914400" fontAlgn="base">
              <a:spcBef>
                <a:spcPts val="0"/>
              </a:spcBef>
              <a:spcAft>
                <a:spcPts val="600"/>
              </a:spcAft>
              <a:buClr>
                <a:srgbClr val="003D7C"/>
              </a:buClr>
              <a:buSzPts val="1000"/>
            </a:pPr>
            <a:r>
              <a:rPr lang="de-DE" altLang="de-DE" sz="1000" dirty="0">
                <a:cs typeface="Arial" pitchFamily="34" charset="0"/>
              </a:rPr>
              <a:t>Zuvor Partner bei Deloitte, PA Consulting, Arthur Andersen</a:t>
            </a:r>
          </a:p>
          <a:p>
            <a:pPr marL="182563" indent="-182563" defTabSz="914400" fontAlgn="base">
              <a:spcBef>
                <a:spcPts val="0"/>
              </a:spcBef>
              <a:spcAft>
                <a:spcPts val="600"/>
              </a:spcAft>
              <a:buClr>
                <a:srgbClr val="003D7C"/>
              </a:buClr>
              <a:buSzPts val="1000"/>
            </a:pPr>
            <a:r>
              <a:rPr lang="de-DE" altLang="de-DE" sz="1000" dirty="0">
                <a:cs typeface="Arial" pitchFamily="34" charset="0"/>
              </a:rPr>
              <a:t>Bei Deloitte und PA Consulting verantwortlich für die Energiewirtschaft als Industry Leader (Deutschland/Europa)</a:t>
            </a:r>
          </a:p>
          <a:p>
            <a:pPr marL="182563" lvl="0" indent="-182563" defTabSz="914400" fontAlgn="base">
              <a:spcBef>
                <a:spcPts val="0"/>
              </a:spcBef>
              <a:spcAft>
                <a:spcPts val="400"/>
              </a:spcAft>
              <a:buClr>
                <a:srgbClr val="003D7C"/>
              </a:buClr>
              <a:buSzPts val="1000"/>
            </a:pPr>
            <a:r>
              <a:rPr lang="de-DE" altLang="de-DE" sz="1000" dirty="0">
                <a:cs typeface="Arial" pitchFamily="34" charset="0"/>
              </a:rPr>
              <a:t>Ausgewählte Referenzprojekte</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Energieversorgers zu Optionen im Bereich Wärme, Erneuerbare</a:t>
            </a:r>
            <a:br>
              <a:rPr lang="de-DE" sz="1000" spc="-20" dirty="0">
                <a:cs typeface="Arial" pitchFamily="34" charset="0"/>
              </a:rPr>
            </a:br>
            <a:r>
              <a:rPr lang="de-DE" sz="1000" spc="-20" dirty="0">
                <a:cs typeface="Arial" pitchFamily="34" charset="0"/>
              </a:rPr>
              <a:t>Energien, Netze etc.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a:t>
            </a:r>
            <a:r>
              <a:rPr lang="de-DE" sz="1000" spc="-20" dirty="0" err="1">
                <a:cs typeface="Arial" pitchFamily="34" charset="0"/>
              </a:rPr>
              <a:t>Contracting</a:t>
            </a:r>
            <a:r>
              <a:rPr lang="de-DE" sz="1000" spc="-20" dirty="0">
                <a:cs typeface="Arial" pitchFamily="34" charset="0"/>
              </a:rPr>
              <a:t> Geschäfts eines Versorgers (lfd.) </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365 MW </a:t>
            </a:r>
            <a:r>
              <a:rPr lang="de-DE" sz="1000" spc="-20" dirty="0" err="1">
                <a:cs typeface="Arial" pitchFamily="34" charset="0"/>
              </a:rPr>
              <a:t>Norderland</a:t>
            </a:r>
            <a:r>
              <a:rPr lang="de-DE" sz="1000" spc="-20" dirty="0">
                <a:cs typeface="Arial" pitchFamily="34" charset="0"/>
              </a:rPr>
              <a:t>-</a:t>
            </a:r>
            <a:r>
              <a:rPr lang="de-DE" sz="1000" spc="-20" dirty="0" err="1">
                <a:cs typeface="Arial" pitchFamily="34" charset="0"/>
              </a:rPr>
              <a:t>Onshore</a:t>
            </a:r>
            <a:r>
              <a:rPr lang="de-DE" sz="1000" spc="-20" dirty="0">
                <a:cs typeface="Arial" pitchFamily="34" charset="0"/>
              </a:rPr>
              <a:t>-Windpark-Portfolios an </a:t>
            </a:r>
            <a:r>
              <a:rPr lang="de-DE" sz="1000" spc="-20" dirty="0" err="1">
                <a:cs typeface="Arial" pitchFamily="34" charset="0"/>
              </a:rPr>
              <a:t>enercity</a:t>
            </a:r>
            <a:endParaRPr lang="de-DE" sz="1000" spc="-20" dirty="0">
              <a:cs typeface="Arial" pitchFamily="34" charset="0"/>
            </a:endParaRP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a:t>
            </a:r>
            <a:r>
              <a:rPr lang="de-DE" altLang="de-DE" sz="1000" spc="-20" dirty="0" err="1">
                <a:cs typeface="Arial" pitchFamily="34" charset="0"/>
              </a:rPr>
              <a:t>Ventotec</a:t>
            </a:r>
            <a:r>
              <a:rPr lang="de-DE" altLang="de-DE" sz="1000" spc="-20" dirty="0">
                <a:cs typeface="Arial" pitchFamily="34" charset="0"/>
              </a:rPr>
              <a:t>-Gruppe beim Verkauf der Projektpipeline (1 GW), Windparks (50 MW) und Betriebsführungsgesellschaft</a:t>
            </a: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Gesellschafter beim Verkauf eines 188 MW Windpark-Portfolios ("Breeze 4")</a:t>
            </a: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a:t>
            </a:r>
            <a:r>
              <a:rPr lang="de-DE" altLang="de-DE" sz="1000" spc="-20" dirty="0" err="1">
                <a:cs typeface="Arial" pitchFamily="34" charset="0"/>
              </a:rPr>
              <a:t>juwi</a:t>
            </a:r>
            <a:r>
              <a:rPr lang="de-DE" altLang="de-DE" sz="1000" spc="-20" dirty="0">
                <a:cs typeface="Arial" pitchFamily="34" charset="0"/>
              </a:rPr>
              <a:t> AG bei der Aufnahme der MVV Energie AG in den Aktionärskreis und anschließender Kapitalerhöhung (Pipeline 1GW)</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der Steag GmbH bei der Analyse der finanziellen Situation und Entwicklung von M&amp;A-Handlungsoptionen</a:t>
            </a:r>
          </a:p>
        </p:txBody>
      </p:sp>
      <p:pic>
        <p:nvPicPr>
          <p:cNvPr id="35" name="Picture 4" descr="W:\UKOMM\SHARED\FOTOS\MCF\Wolf_Hans_Guenter\Wolf_Feder_121211\Bildausschnitte_Abformate_etc\Wolf_F8288_ppt.tif">
            <a:extLst>
              <a:ext uri="{FF2B5EF4-FFF2-40B4-BE49-F238E27FC236}">
                <a16:creationId xmlns:a16="http://schemas.microsoft.com/office/drawing/2014/main" id="{A25A8F27-F685-44C5-A99B-009DC5FC3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620" y="1516766"/>
            <a:ext cx="809545" cy="106363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6" name="Parallelogramm 16">
            <a:extLst>
              <a:ext uri="{FF2B5EF4-FFF2-40B4-BE49-F238E27FC236}">
                <a16:creationId xmlns:a16="http://schemas.microsoft.com/office/drawing/2014/main" id="{383A0913-C4E7-30A3-AE69-624BFB97102A}"/>
              </a:ext>
            </a:extLst>
          </p:cNvPr>
          <p:cNvSpPr/>
          <p:nvPr/>
        </p:nvSpPr>
        <p:spPr>
          <a:xfrm>
            <a:off x="5418700" y="1260351"/>
            <a:ext cx="4896000" cy="190500"/>
          </a:xfrm>
          <a:prstGeom prst="parallelogram">
            <a:avLst/>
          </a:prstGeom>
          <a:solidFill>
            <a:srgbClr val="003D7C"/>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17" name="Inhaltsplatzhalter 2">
            <a:extLst>
              <a:ext uri="{FF2B5EF4-FFF2-40B4-BE49-F238E27FC236}">
                <a16:creationId xmlns:a16="http://schemas.microsoft.com/office/drawing/2014/main" id="{20ADA5C5-378F-F07D-6582-8C5CE78976FA}"/>
              </a:ext>
            </a:extLst>
          </p:cNvPr>
          <p:cNvSpPr txBox="1">
            <a:spLocks/>
          </p:cNvSpPr>
          <p:nvPr/>
        </p:nvSpPr>
        <p:spPr>
          <a:xfrm>
            <a:off x="5418700" y="2659295"/>
            <a:ext cx="4896000" cy="4140000"/>
          </a:xfrm>
          <a:prstGeom prst="rect">
            <a:avLst/>
          </a:prstGeom>
          <a:solidFill>
            <a:schemeClr val="bg1">
              <a:lumMod val="95000"/>
            </a:schemeClr>
          </a:solidFill>
        </p:spPr>
        <p:txBody>
          <a:bodyPr lIns="72000" tIns="72000" rIns="72000" bIns="72000" anchor="t" anchorCtr="0"/>
          <a:lstStyle>
            <a:lvl1pPr marL="355600" indent="-355600" algn="l" defTabSz="1043056" rtl="0" eaLnBrk="1" latinLnBrk="0" hangingPunct="1">
              <a:spcBef>
                <a:spcPct val="20000"/>
              </a:spcBef>
              <a:buClr>
                <a:schemeClr val="accent1"/>
              </a:buClr>
              <a:buFont typeface="Wingdings" pitchFamily="2" charset="2"/>
              <a:buChar char="n"/>
              <a:tabLst/>
              <a:defRPr sz="16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6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indent="0" defTabSz="914400" fontAlgn="base">
              <a:spcBef>
                <a:spcPts val="0"/>
              </a:spcBef>
              <a:spcAft>
                <a:spcPts val="600"/>
              </a:spcAft>
              <a:buSzPts val="1000"/>
              <a:buNone/>
            </a:pPr>
            <a:r>
              <a:rPr lang="de-DE" sz="1000" b="1" dirty="0">
                <a:solidFill>
                  <a:srgbClr val="003D7C"/>
                </a:solidFill>
              </a:rPr>
              <a:t>Profil</a:t>
            </a:r>
            <a:endParaRPr lang="de-DE" sz="1000" dirty="0">
              <a:cs typeface="Arial" pitchFamily="34" charset="0"/>
            </a:endParaRPr>
          </a:p>
          <a:p>
            <a:pPr marL="182563" indent="-182563" defTabSz="914400" fontAlgn="base">
              <a:spcBef>
                <a:spcPts val="0"/>
              </a:spcBef>
              <a:spcAft>
                <a:spcPts val="600"/>
              </a:spcAft>
              <a:buClr>
                <a:srgbClr val="003D7C"/>
              </a:buClr>
              <a:buSzPts val="1000"/>
            </a:pPr>
            <a:r>
              <a:rPr lang="de-DE" altLang="de-DE" sz="1000" dirty="0">
                <a:cs typeface="Arial" pitchFamily="34" charset="0"/>
              </a:rPr>
              <a:t>Über 25 Jahre Erfahrung im Bereich M&amp;A / Corporate Finance</a:t>
            </a:r>
          </a:p>
          <a:p>
            <a:pPr marL="182563" indent="-182563" defTabSz="914400" fontAlgn="base">
              <a:spcBef>
                <a:spcPts val="0"/>
              </a:spcBef>
              <a:spcAft>
                <a:spcPts val="600"/>
              </a:spcAft>
              <a:buClr>
                <a:srgbClr val="003D7C"/>
              </a:buClr>
              <a:buSzPts val="1000"/>
            </a:pPr>
            <a:r>
              <a:rPr lang="de-DE" altLang="de-DE" sz="1000" dirty="0">
                <a:cs typeface="Arial" pitchFamily="34" charset="0"/>
              </a:rPr>
              <a:t>Umfassende Expertise im Bereich Energie- und Infrastruktur sowie Ver- und Entsorgung und öffentliche Hand</a:t>
            </a:r>
          </a:p>
          <a:p>
            <a:pPr marL="182563" indent="-182563" defTabSz="914400" fontAlgn="base">
              <a:spcBef>
                <a:spcPts val="0"/>
              </a:spcBef>
              <a:spcAft>
                <a:spcPts val="600"/>
              </a:spcAft>
              <a:buClr>
                <a:srgbClr val="003D7C"/>
              </a:buClr>
              <a:buSzPts val="1000"/>
            </a:pPr>
            <a:r>
              <a:rPr lang="de-DE" altLang="de-DE" sz="1000" dirty="0">
                <a:cs typeface="Arial" pitchFamily="34" charset="0"/>
              </a:rPr>
              <a:t>Ausgewählte Referenzprojekte:</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Energieversorgers zu Optionen im Bereich Wärme, Erneuerbare</a:t>
            </a:r>
            <a:br>
              <a:rPr lang="de-DE" sz="1000" spc="-20" dirty="0">
                <a:cs typeface="Arial" pitchFamily="34" charset="0"/>
              </a:rPr>
            </a:br>
            <a:r>
              <a:rPr lang="de-DE" sz="1000" spc="-20" dirty="0">
                <a:cs typeface="Arial" pitchFamily="34" charset="0"/>
              </a:rPr>
              <a:t>Energien, Netze etc.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Infrastrukturfonds beim Kauf einer Datacenter-Beteiligung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365 MW </a:t>
            </a:r>
            <a:r>
              <a:rPr lang="de-DE" sz="1000" spc="-20" dirty="0" err="1">
                <a:cs typeface="Arial" pitchFamily="34" charset="0"/>
              </a:rPr>
              <a:t>Norderland</a:t>
            </a:r>
            <a:r>
              <a:rPr lang="de-DE" sz="1000" spc="-20" dirty="0">
                <a:cs typeface="Arial" pitchFamily="34" charset="0"/>
              </a:rPr>
              <a:t>-</a:t>
            </a:r>
            <a:r>
              <a:rPr lang="de-DE" sz="1000" spc="-20" dirty="0" err="1">
                <a:cs typeface="Arial" pitchFamily="34" charset="0"/>
              </a:rPr>
              <a:t>Onshore</a:t>
            </a:r>
            <a:r>
              <a:rPr lang="de-DE" sz="1000" spc="-20" dirty="0">
                <a:cs typeface="Arial" pitchFamily="34" charset="0"/>
              </a:rPr>
              <a:t>-Windpark-Portfolios an </a:t>
            </a:r>
            <a:r>
              <a:rPr lang="de-DE" sz="1000" spc="-20" dirty="0" err="1">
                <a:cs typeface="Arial" pitchFamily="34" charset="0"/>
              </a:rPr>
              <a:t>enercity</a:t>
            </a:r>
            <a:endParaRPr lang="de-DE" sz="1000" spc="-20" dirty="0">
              <a:cs typeface="Arial" pitchFamily="34" charset="0"/>
            </a:endParaRP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der Steag GmbH bei der Analyse der finanziellen Situation und Entwicklung von M&amp;A-Handlungsoptionen</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von First State beim Erwerb von 48 % an der MVV Energie AG</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Verschiedene M&amp;A-Projekte im Bereich der Ver-/Entsorgungsinfrastruktur, u.a. im Bereich EV-</a:t>
            </a:r>
            <a:r>
              <a:rPr lang="de-DE" sz="1000" spc="-20" dirty="0" err="1">
                <a:cs typeface="Arial" pitchFamily="34" charset="0"/>
              </a:rPr>
              <a:t>Charging</a:t>
            </a:r>
            <a:r>
              <a:rPr lang="de-DE" sz="1000" spc="-20" dirty="0">
                <a:cs typeface="Arial" pitchFamily="34" charset="0"/>
              </a:rPr>
              <a:t>, Abwassernetze und </a:t>
            </a:r>
            <a:r>
              <a:rPr lang="de-DE" sz="1000" spc="-20" dirty="0" err="1">
                <a:cs typeface="Arial" pitchFamily="34" charset="0"/>
              </a:rPr>
              <a:t>Waste</a:t>
            </a:r>
            <a:r>
              <a:rPr lang="de-DE" sz="1000" spc="-20" dirty="0">
                <a:cs typeface="Arial" pitchFamily="34" charset="0"/>
              </a:rPr>
              <a:t>-</a:t>
            </a:r>
            <a:r>
              <a:rPr lang="de-DE" sz="1000" spc="-20" dirty="0" err="1">
                <a:cs typeface="Arial" pitchFamily="34" charset="0"/>
              </a:rPr>
              <a:t>to</a:t>
            </a:r>
            <a:r>
              <a:rPr lang="de-DE" sz="1000" spc="-20" dirty="0">
                <a:cs typeface="Arial" pitchFamily="34" charset="0"/>
              </a:rPr>
              <a:t>-Energy</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Umfassende Erfahrung bei Transaktionen mit öffentlich-rechtlichem Hintergrund</a:t>
            </a:r>
          </a:p>
          <a:p>
            <a:pPr marL="361950" lvl="1" indent="-180975" defTabSz="914400" fontAlgn="base">
              <a:spcBef>
                <a:spcPts val="0"/>
              </a:spcBef>
              <a:spcAft>
                <a:spcPts val="600"/>
              </a:spcAft>
              <a:buClr>
                <a:srgbClr val="003D7C"/>
              </a:buClr>
              <a:buSzPts val="1000"/>
              <a:tabLst>
                <a:tab pos="361950" algn="l"/>
              </a:tabLst>
            </a:pPr>
            <a:endParaRPr lang="de-DE" sz="1000" spc="-20" dirty="0">
              <a:cs typeface="Arial" pitchFamily="34" charset="0"/>
            </a:endParaRPr>
          </a:p>
          <a:p>
            <a:pPr marL="361950" lvl="1" indent="-180975" defTabSz="914400" fontAlgn="base">
              <a:spcBef>
                <a:spcPts val="0"/>
              </a:spcBef>
              <a:spcAft>
                <a:spcPts val="600"/>
              </a:spcAft>
              <a:buClr>
                <a:srgbClr val="003D7C"/>
              </a:buClr>
              <a:buSzPts val="1000"/>
              <a:tabLst>
                <a:tab pos="361950" algn="l"/>
              </a:tabLst>
            </a:pPr>
            <a:endParaRPr lang="de-DE" sz="1000" spc="-20" dirty="0">
              <a:cs typeface="Arial" pitchFamily="34" charset="0"/>
            </a:endParaRPr>
          </a:p>
        </p:txBody>
      </p:sp>
      <p:grpSp>
        <p:nvGrpSpPr>
          <p:cNvPr id="20" name="Group 19">
            <a:extLst>
              <a:ext uri="{FF2B5EF4-FFF2-40B4-BE49-F238E27FC236}">
                <a16:creationId xmlns:a16="http://schemas.microsoft.com/office/drawing/2014/main" id="{8E7B897F-9CB1-87D1-B4EB-EBAC6E54D190}"/>
              </a:ext>
            </a:extLst>
          </p:cNvPr>
          <p:cNvGrpSpPr/>
          <p:nvPr/>
        </p:nvGrpSpPr>
        <p:grpSpPr>
          <a:xfrm>
            <a:off x="6502072" y="1523256"/>
            <a:ext cx="3812628" cy="1080871"/>
            <a:chOff x="4547542" y="1523256"/>
            <a:chExt cx="3812628" cy="1080871"/>
          </a:xfrm>
        </p:grpSpPr>
        <p:sp>
          <p:nvSpPr>
            <p:cNvPr id="18" name="Text Box 3">
              <a:extLst>
                <a:ext uri="{FF2B5EF4-FFF2-40B4-BE49-F238E27FC236}">
                  <a16:creationId xmlns:a16="http://schemas.microsoft.com/office/drawing/2014/main" id="{7EEF77A4-2EA9-EE31-22DD-ED0A6E695DDD}"/>
                </a:ext>
              </a:extLst>
            </p:cNvPr>
            <p:cNvSpPr txBox="1">
              <a:spLocks noChangeArrowheads="1"/>
            </p:cNvSpPr>
            <p:nvPr/>
          </p:nvSpPr>
          <p:spPr bwMode="gray">
            <a:xfrm>
              <a:off x="4547542" y="1523256"/>
              <a:ext cx="3812628" cy="523420"/>
            </a:xfrm>
            <a:prstGeom prst="rect">
              <a:avLst/>
            </a:prstGeom>
            <a:noFill/>
            <a:ln>
              <a:noFill/>
            </a:ln>
            <a:effectLst/>
            <a:extLst>
              <a:ext uri="{909E8E84-426E-40DD-AFC4-6F175D3DCCD1}">
                <a14:hiddenFill xmlns:a14="http://schemas.microsoft.com/office/drawing/2010/main">
                  <a:solidFill>
                    <a:srgbClr val="1736A9"/>
                  </a:solidFill>
                </a14:hiddenFill>
              </a:ext>
              <a:ext uri="{91240B29-F687-4F45-9708-019B960494DF}">
                <a14:hiddenLine xmlns:a14="http://schemas.microsoft.com/office/drawing/2010/main" w="19050">
                  <a:solidFill>
                    <a:schemeClr val="accent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36000" bIns="36000" numCol="1" anchor="ctr" anchorCtr="0" compatLnSpc="1">
              <a:prstTxWarp prst="textNoShape">
                <a:avLst/>
              </a:prstTxWarp>
            </a:bodyPr>
            <a:lstStyle/>
            <a:p>
              <a:pPr>
                <a:spcAft>
                  <a:spcPts val="200"/>
                </a:spcAft>
              </a:pPr>
              <a:r>
                <a:rPr lang="de-DE" sz="1000" b="1" dirty="0">
                  <a:solidFill>
                    <a:srgbClr val="003D7C"/>
                  </a:solidFill>
                  <a:cs typeface="Arial" pitchFamily="34" charset="0"/>
                </a:rPr>
                <a:t>Christiane </a:t>
              </a:r>
              <a:r>
                <a:rPr lang="de-DE" sz="1000" b="1" dirty="0" err="1">
                  <a:solidFill>
                    <a:srgbClr val="003D7C"/>
                  </a:solidFill>
                  <a:cs typeface="Arial" pitchFamily="34" charset="0"/>
                </a:rPr>
                <a:t>Stäcker</a:t>
              </a:r>
              <a:endParaRPr lang="de-DE" sz="1000" b="1" dirty="0">
                <a:solidFill>
                  <a:srgbClr val="003D7C"/>
                </a:solidFill>
                <a:cs typeface="Arial" pitchFamily="34" charset="0"/>
              </a:endParaRPr>
            </a:p>
            <a:p>
              <a:pPr>
                <a:spcAft>
                  <a:spcPts val="200"/>
                </a:spcAft>
              </a:pPr>
              <a:r>
                <a:rPr lang="en-US" sz="1000" dirty="0">
                  <a:solidFill>
                    <a:srgbClr val="003D7C"/>
                  </a:solidFill>
                  <a:cs typeface="Arial" pitchFamily="34" charset="0"/>
                </a:rPr>
                <a:t>Managing Director</a:t>
              </a:r>
              <a:endParaRPr lang="de-DE" sz="1000" dirty="0">
                <a:solidFill>
                  <a:srgbClr val="003D7C"/>
                </a:solidFill>
                <a:cs typeface="Arial" pitchFamily="34" charset="0"/>
              </a:endParaRPr>
            </a:p>
            <a:p>
              <a:pPr>
                <a:spcAft>
                  <a:spcPts val="200"/>
                </a:spcAft>
              </a:pPr>
              <a:r>
                <a:rPr lang="de-DE" sz="1000" i="1" dirty="0">
                  <a:solidFill>
                    <a:srgbClr val="003D7C"/>
                  </a:solidFill>
                  <a:cs typeface="Arial" pitchFamily="34" charset="0"/>
                </a:rPr>
                <a:t>Corporate Finance</a:t>
              </a:r>
            </a:p>
          </p:txBody>
        </p:sp>
        <p:sp>
          <p:nvSpPr>
            <p:cNvPr id="19" name="Text Box 4">
              <a:extLst>
                <a:ext uri="{FF2B5EF4-FFF2-40B4-BE49-F238E27FC236}">
                  <a16:creationId xmlns:a16="http://schemas.microsoft.com/office/drawing/2014/main" id="{B9443F2F-5F3A-EFF1-EB3D-0115AA495E36}"/>
                </a:ext>
              </a:extLst>
            </p:cNvPr>
            <p:cNvSpPr txBox="1">
              <a:spLocks noChangeArrowheads="1"/>
            </p:cNvSpPr>
            <p:nvPr/>
          </p:nvSpPr>
          <p:spPr bwMode="auto">
            <a:xfrm>
              <a:off x="4554612" y="2153486"/>
              <a:ext cx="2160000" cy="450641"/>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72000" rIns="36000" bIns="72000" numCol="1" anchor="ctr" anchorCtr="0" compatLnSpc="1">
              <a:prstTxWarp prst="textNoShape">
                <a:avLst/>
              </a:prstTxWarp>
            </a:bodyPr>
            <a:lstStyle>
              <a:defPPr>
                <a:defRPr lang="de-DE"/>
              </a:defPPr>
              <a:lvl1pPr marL="176213" lvl="0" indent="-176213" defTabSz="265113">
                <a:spcBef>
                  <a:spcPts val="0"/>
                </a:spcBef>
                <a:spcAft>
                  <a:spcPts val="200"/>
                </a:spcAft>
                <a:buClrTx/>
                <a:buNone/>
                <a:defRPr sz="900">
                  <a:solidFill>
                    <a:srgbClr val="000000"/>
                  </a:solidFill>
                  <a:cs typeface="Arial" pitchFamily="34" charset="0"/>
                </a:defRPr>
              </a:lvl1pPr>
            </a:lstStyle>
            <a:p>
              <a:r>
                <a:rPr lang="de-DE" sz="800" dirty="0"/>
                <a:t>T:	+49 69 21 04 49 22</a:t>
              </a:r>
            </a:p>
            <a:p>
              <a:r>
                <a:rPr lang="de-DE" sz="800" dirty="0"/>
                <a:t>M:	+49 172 8 82 57 51</a:t>
              </a:r>
            </a:p>
            <a:p>
              <a:r>
                <a:rPr lang="de-DE" sz="800" dirty="0"/>
                <a:t>E:	cstaecker@metzler.com</a:t>
              </a:r>
            </a:p>
          </p:txBody>
        </p:sp>
      </p:grpSp>
      <p:pic>
        <p:nvPicPr>
          <p:cNvPr id="21" name="Picture 34">
            <a:extLst>
              <a:ext uri="{FF2B5EF4-FFF2-40B4-BE49-F238E27FC236}">
                <a16:creationId xmlns:a16="http://schemas.microsoft.com/office/drawing/2014/main" id="{8AC5F727-6200-0C62-58E2-609D5AD4C622}"/>
              </a:ext>
            </a:extLst>
          </p:cNvPr>
          <p:cNvPicPr>
            <a:picLocks noChangeAspect="1"/>
          </p:cNvPicPr>
          <p:nvPr/>
        </p:nvPicPr>
        <p:blipFill rotWithShape="1">
          <a:blip r:embed="rId6"/>
          <a:srcRect l="10629" r="13166"/>
          <a:stretch/>
        </p:blipFill>
        <p:spPr>
          <a:xfrm>
            <a:off x="5418700" y="1515784"/>
            <a:ext cx="812035" cy="1065600"/>
          </a:xfrm>
          <a:prstGeom prst="rect">
            <a:avLst/>
          </a:prstGeom>
          <a:noFill/>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8573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AE8885B2-4D3F-4431-A111-F6C5F0A8031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AE8885B2-4D3F-4431-A111-F6C5F0A803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BBF7336-3E5E-44A7-8725-58BC1C9D263D}"/>
              </a:ext>
            </a:extLst>
          </p:cNvPr>
          <p:cNvSpPr>
            <a:spLocks noGrp="1"/>
          </p:cNvSpPr>
          <p:nvPr>
            <p:ph type="body" sz="quarter" idx="14"/>
          </p:nvPr>
        </p:nvSpPr>
        <p:spPr>
          <a:xfrm>
            <a:off x="1674292" y="2050086"/>
            <a:ext cx="8643325" cy="4898897"/>
          </a:xfrm>
        </p:spPr>
        <p:txBody>
          <a:bodyPr/>
          <a:lstStyle/>
          <a:p>
            <a:r>
              <a:rPr lang="de-DE" dirty="0"/>
              <a:t>Vorstellung Metzler Corporate Finance – Energy &amp; </a:t>
            </a:r>
            <a:r>
              <a:rPr lang="de-DE" dirty="0" err="1"/>
              <a:t>Renewables</a:t>
            </a:r>
            <a:endParaRPr lang="de-DE" dirty="0"/>
          </a:p>
          <a:p>
            <a:r>
              <a:rPr lang="de-DE" dirty="0"/>
              <a:t>ESWE Versorgungs AG – Übersicht und Herausforderungen</a:t>
            </a:r>
          </a:p>
          <a:p>
            <a:r>
              <a:rPr lang="de-DE" sz="1400" dirty="0"/>
              <a:t>Kapitalflexibilisierung als Option zur Umsetzung zentraler Investitionsthemen</a:t>
            </a:r>
          </a:p>
        </p:txBody>
      </p:sp>
      <p:sp>
        <p:nvSpPr>
          <p:cNvPr id="3" name="Text Placeholder 2">
            <a:extLst>
              <a:ext uri="{FF2B5EF4-FFF2-40B4-BE49-F238E27FC236}">
                <a16:creationId xmlns:a16="http://schemas.microsoft.com/office/drawing/2014/main" id="{81D2BF4D-D769-4E4F-983C-CB6630B2F637}"/>
              </a:ext>
            </a:extLst>
          </p:cNvPr>
          <p:cNvSpPr>
            <a:spLocks noGrp="1"/>
          </p:cNvSpPr>
          <p:nvPr>
            <p:ph type="body" sz="quarter" idx="15"/>
          </p:nvPr>
        </p:nvSpPr>
        <p:spPr>
          <a:xfrm>
            <a:off x="897413" y="2194060"/>
            <a:ext cx="469900" cy="380480"/>
          </a:xfrm>
        </p:spPr>
        <p:txBody>
          <a:bodyPr/>
          <a:lstStyle/>
          <a:p>
            <a:r>
              <a:rPr lang="de-DE" dirty="0"/>
              <a:t>1</a:t>
            </a:r>
          </a:p>
        </p:txBody>
      </p:sp>
      <p:sp>
        <p:nvSpPr>
          <p:cNvPr id="4" name="Title 3">
            <a:extLst>
              <a:ext uri="{FF2B5EF4-FFF2-40B4-BE49-F238E27FC236}">
                <a16:creationId xmlns:a16="http://schemas.microsoft.com/office/drawing/2014/main" id="{1371CAEA-6A41-46B2-B510-14BA12FA7ACC}"/>
              </a:ext>
            </a:extLst>
          </p:cNvPr>
          <p:cNvSpPr>
            <a:spLocks noGrp="1"/>
          </p:cNvSpPr>
          <p:nvPr>
            <p:ph type="title"/>
          </p:nvPr>
        </p:nvSpPr>
        <p:spPr/>
        <p:txBody>
          <a:bodyPr vert="horz"/>
          <a:lstStyle/>
          <a:p>
            <a:r>
              <a:rPr lang="de-DE" dirty="0"/>
              <a:t>Agenda</a:t>
            </a:r>
          </a:p>
        </p:txBody>
      </p:sp>
      <p:sp>
        <p:nvSpPr>
          <p:cNvPr id="5" name="Text Placeholder 4">
            <a:extLst>
              <a:ext uri="{FF2B5EF4-FFF2-40B4-BE49-F238E27FC236}">
                <a16:creationId xmlns:a16="http://schemas.microsoft.com/office/drawing/2014/main" id="{DA1F3027-6E3B-42FC-95A9-469CF6CBFC44}"/>
              </a:ext>
            </a:extLst>
          </p:cNvPr>
          <p:cNvSpPr>
            <a:spLocks noGrp="1"/>
          </p:cNvSpPr>
          <p:nvPr>
            <p:ph type="body" sz="quarter" idx="22"/>
          </p:nvPr>
        </p:nvSpPr>
        <p:spPr>
          <a:xfrm>
            <a:off x="897413" y="2802614"/>
            <a:ext cx="469900" cy="380480"/>
          </a:xfrm>
        </p:spPr>
        <p:txBody>
          <a:bodyPr/>
          <a:lstStyle/>
          <a:p>
            <a:r>
              <a:rPr lang="de-DE" dirty="0"/>
              <a:t>2</a:t>
            </a:r>
          </a:p>
        </p:txBody>
      </p:sp>
      <p:sp>
        <p:nvSpPr>
          <p:cNvPr id="6" name="Text Placeholder 4">
            <a:extLst>
              <a:ext uri="{FF2B5EF4-FFF2-40B4-BE49-F238E27FC236}">
                <a16:creationId xmlns:a16="http://schemas.microsoft.com/office/drawing/2014/main" id="{C108CCFE-A81A-0CA2-DB25-058F06CBB358}"/>
              </a:ext>
            </a:extLst>
          </p:cNvPr>
          <p:cNvSpPr txBox="1">
            <a:spLocks/>
          </p:cNvSpPr>
          <p:nvPr/>
        </p:nvSpPr>
        <p:spPr>
          <a:xfrm>
            <a:off x="897413" y="3408081"/>
            <a:ext cx="469900" cy="380480"/>
          </a:xfrm>
          <a:prstGeom prst="rect">
            <a:avLst/>
          </a:prstGeom>
          <a:solidFill>
            <a:srgbClr val="003D7C"/>
          </a:solidFill>
        </p:spPr>
        <p:txBody>
          <a:bodyPr vert="horz" wrap="square" lIns="36000" tIns="36000" rIns="36000" bIns="36000" rtlCol="0" anchor="t" anchorCtr="0">
            <a:spAutoFit/>
          </a:bodyPr>
          <a:lstStyle>
            <a:lvl1pPr marL="391146" indent="-391146" algn="ctr" defTabSz="1043056" rtl="0" eaLnBrk="1" latinLnBrk="0" hangingPunct="1">
              <a:spcBef>
                <a:spcPct val="20000"/>
              </a:spcBef>
              <a:buClr>
                <a:schemeClr val="accent1"/>
              </a:buClr>
              <a:buFontTx/>
              <a:buNone/>
              <a:tabLst/>
              <a:defRPr lang="de-DE" sz="2000" b="1" kern="1200" dirty="0" smtClean="0">
                <a:solidFill>
                  <a:schemeClr val="bg1"/>
                </a:solidFill>
                <a:latin typeface="+mj-lt"/>
                <a:ea typeface="+mj-ea"/>
                <a:cs typeface="+mj-cs"/>
              </a:defRPr>
            </a:lvl1pPr>
            <a:lvl2pPr marL="723900" indent="-368300" algn="l" defTabSz="1043056" rtl="0" eaLnBrk="1" latinLnBrk="0" hangingPunct="1">
              <a:spcBef>
                <a:spcPct val="20000"/>
              </a:spcBef>
              <a:buClr>
                <a:schemeClr val="accent1"/>
              </a:buClr>
              <a:buFont typeface="Arial" pitchFamily="34" charset="0"/>
              <a:buChar char="–"/>
              <a:defRPr lang="de-DE" sz="1600" b="1" kern="1200" dirty="0" smtClean="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lang="de-DE" sz="1600" b="1" kern="1200" dirty="0" smtClean="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lang="de-DE" sz="1600" b="1" kern="1200" dirty="0" smtClean="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lang="de-DE" sz="1600" b="1"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a:t>3</a:t>
            </a:r>
            <a:endParaRPr lang="en-GB" dirty="0"/>
          </a:p>
        </p:txBody>
      </p:sp>
    </p:spTree>
    <p:extLst>
      <p:ext uri="{BB962C8B-B14F-4D97-AF65-F5344CB8AC3E}">
        <p14:creationId xmlns:p14="http://schemas.microsoft.com/office/powerpoint/2010/main" val="3900190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38B534E2-9A22-4AF9-AEBA-6252401B15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p:txBody>
          <a:bodyPr vert="horz" lIns="0" tIns="0" rIns="0" bIns="0" rtlCol="0">
            <a:noAutofit/>
          </a:bodyPr>
          <a:lstStyle/>
          <a:p>
            <a:r>
              <a:rPr lang="de-DE" dirty="0"/>
              <a:t>Vorstellung Metzler Corporate Finance – Energy &amp; </a:t>
            </a:r>
            <a:r>
              <a:rPr lang="de-DE" dirty="0" err="1"/>
              <a:t>Renewables</a:t>
            </a:r>
            <a:endParaRPr lang="de-DE" dirty="0"/>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1</a:t>
            </a:r>
          </a:p>
        </p:txBody>
      </p:sp>
    </p:spTree>
    <p:extLst>
      <p:ext uri="{BB962C8B-B14F-4D97-AF65-F5344CB8AC3E}">
        <p14:creationId xmlns:p14="http://schemas.microsoft.com/office/powerpoint/2010/main" val="46692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el 13"/>
          <p:cNvSpPr>
            <a:spLocks noGrp="1"/>
          </p:cNvSpPr>
          <p:nvPr>
            <p:ph type="title"/>
          </p:nvPr>
        </p:nvSpPr>
        <p:spPr/>
        <p:txBody>
          <a:bodyPr/>
          <a:lstStyle/>
          <a:p>
            <a:r>
              <a:rPr lang="de-DE" dirty="0"/>
              <a:t>Bankhaus Metzler – Innovative Privatbank, erfolgreich seit 1674</a:t>
            </a:r>
          </a:p>
        </p:txBody>
      </p:sp>
      <p:sp>
        <p:nvSpPr>
          <p:cNvPr id="3" name="Textplatzhalter 2"/>
          <p:cNvSpPr>
            <a:spLocks noGrp="1"/>
          </p:cNvSpPr>
          <p:nvPr>
            <p:ph type="body" sz="quarter" idx="12"/>
          </p:nvPr>
        </p:nvSpPr>
        <p:spPr/>
        <p:txBody>
          <a:bodyPr/>
          <a:lstStyle/>
          <a:p>
            <a:endParaRPr lang="de-DE" dirty="0"/>
          </a:p>
        </p:txBody>
      </p:sp>
      <p:sp>
        <p:nvSpPr>
          <p:cNvPr id="4" name="Textplatzhalt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platzhalter 4"/>
          <p:cNvSpPr>
            <a:spLocks noGrp="1"/>
          </p:cNvSpPr>
          <p:nvPr>
            <p:ph type="body" sz="quarter" idx="14"/>
          </p:nvPr>
        </p:nvSpPr>
        <p:spPr/>
        <p:txBody>
          <a:bodyPr/>
          <a:lstStyle/>
          <a:p>
            <a:endParaRPr lang="de-DE" dirty="0"/>
          </a:p>
        </p:txBody>
      </p:sp>
      <p:sp>
        <p:nvSpPr>
          <p:cNvPr id="6" name="Textplatzhalter 5"/>
          <p:cNvSpPr>
            <a:spLocks noGrp="1"/>
          </p:cNvSpPr>
          <p:nvPr>
            <p:ph type="body" sz="quarter" idx="15"/>
          </p:nvPr>
        </p:nvSpPr>
        <p:spPr/>
        <p:txBody>
          <a:bodyPr/>
          <a:lstStyle/>
          <a:p>
            <a:endParaRPr lang="de-DE" dirty="0"/>
          </a:p>
        </p:txBody>
      </p:sp>
      <p:sp>
        <p:nvSpPr>
          <p:cNvPr id="19" name="Rechteck 25"/>
          <p:cNvSpPr>
            <a:spLocks noChangeArrowheads="1"/>
          </p:cNvSpPr>
          <p:nvPr/>
        </p:nvSpPr>
        <p:spPr bwMode="auto">
          <a:xfrm>
            <a:off x="2659780" y="2317217"/>
            <a:ext cx="7727480" cy="3193012"/>
          </a:xfrm>
          <a:prstGeom prst="rect">
            <a:avLst/>
          </a:prstGeom>
          <a:noFill/>
          <a:ln w="12700" cap="sq">
            <a:noFill/>
            <a:round/>
            <a:headEnd type="none" w="sm" len="sm"/>
            <a:tailEnd type="none" w="sm" len="sm"/>
          </a:ln>
        </p:spPr>
        <p:txBody>
          <a:bodyPr lIns="36000" tIns="36000" rIns="36000" bIns="36000" anchor="ctr" anchorCtr="0"/>
          <a:lstStyle/>
          <a:p>
            <a:pPr marL="261033" lvl="1" indent="-259533">
              <a:spcBef>
                <a:spcPts val="4200"/>
              </a:spcBef>
              <a:buClr>
                <a:srgbClr val="003D7C"/>
              </a:buClr>
              <a:buFont typeface="Wingdings" pitchFamily="2" charset="2"/>
              <a:buChar char="n"/>
            </a:pPr>
            <a:r>
              <a:rPr lang="de-DE" sz="1400" dirty="0"/>
              <a:t>Deutschlands ältestes Bankhaus seit Gründung in ununterbrochenem Familienbesitz</a:t>
            </a:r>
          </a:p>
          <a:p>
            <a:pPr marL="261033" lvl="1" indent="-259533">
              <a:spcBef>
                <a:spcPts val="4200"/>
              </a:spcBef>
              <a:buClr>
                <a:srgbClr val="003D7C"/>
              </a:buClr>
              <a:buFont typeface="Wingdings" pitchFamily="2" charset="2"/>
              <a:buChar char="n"/>
            </a:pPr>
            <a:r>
              <a:rPr lang="de-DE" sz="1400" dirty="0"/>
              <a:t>Einzigartiges Netzwerk zu Eigentümern, Unternehmen, Investoren und Institutionen</a:t>
            </a:r>
          </a:p>
          <a:p>
            <a:pPr marL="261033" lvl="1" indent="-259533">
              <a:spcBef>
                <a:spcPts val="4200"/>
              </a:spcBef>
              <a:buClr>
                <a:srgbClr val="003D7C"/>
              </a:buClr>
              <a:buFont typeface="Wingdings" pitchFamily="2" charset="2"/>
              <a:buChar char="n"/>
            </a:pPr>
            <a:r>
              <a:rPr lang="de-DE" sz="1400" dirty="0"/>
              <a:t>Unabhängigkeit als zentrales Element unseres Geschäftsmodells</a:t>
            </a:r>
          </a:p>
          <a:p>
            <a:pPr marL="261033" lvl="1" indent="-259533">
              <a:spcBef>
                <a:spcPts val="4200"/>
              </a:spcBef>
              <a:buClr>
                <a:srgbClr val="003D7C"/>
              </a:buClr>
              <a:buFont typeface="Wingdings" pitchFamily="2" charset="2"/>
              <a:buChar char="n"/>
            </a:pPr>
            <a:r>
              <a:rPr lang="de-DE" sz="1400" dirty="0"/>
              <a:t>Fokus auf nachhaltige und langfristige Kundenbeziehungen</a:t>
            </a:r>
          </a:p>
          <a:p>
            <a:pPr marL="261033" lvl="1" indent="-259533">
              <a:spcBef>
                <a:spcPts val="4200"/>
              </a:spcBef>
              <a:buClr>
                <a:srgbClr val="003D7C"/>
              </a:buClr>
              <a:buFont typeface="Wingdings" pitchFamily="2" charset="2"/>
              <a:buChar char="n"/>
            </a:pPr>
            <a:r>
              <a:rPr lang="de-DE" sz="1400" dirty="0"/>
              <a:t>Wertorientiertes Handeln geprägt durch Unternehmergeist und Menschlichkeit</a:t>
            </a:r>
          </a:p>
        </p:txBody>
      </p:sp>
      <p:cxnSp>
        <p:nvCxnSpPr>
          <p:cNvPr id="22" name="Gerader Verbinder 21"/>
          <p:cNvCxnSpPr/>
          <p:nvPr/>
        </p:nvCxnSpPr>
        <p:spPr>
          <a:xfrm>
            <a:off x="2538388" y="2183608"/>
            <a:ext cx="0" cy="3460230"/>
          </a:xfrm>
          <a:prstGeom prst="line">
            <a:avLst/>
          </a:prstGeom>
          <a:ln w="15875">
            <a:solidFill>
              <a:srgbClr val="003D7C"/>
            </a:solidFill>
          </a:ln>
        </p:spPr>
        <p:style>
          <a:lnRef idx="1">
            <a:schemeClr val="accent1"/>
          </a:lnRef>
          <a:fillRef idx="0">
            <a:schemeClr val="accent1"/>
          </a:fillRef>
          <a:effectRef idx="0">
            <a:schemeClr val="accent1"/>
          </a:effectRef>
          <a:fontRef idx="minor">
            <a:schemeClr val="tx1"/>
          </a:fontRef>
        </p:style>
      </p:cxnSp>
      <p:pic>
        <p:nvPicPr>
          <p:cNvPr id="1026" name="Picture 2" descr="Ãhnliches Foto"/>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5992" b="35235"/>
          <a:stretch/>
        </p:blipFill>
        <p:spPr bwMode="auto">
          <a:xfrm>
            <a:off x="623386" y="3757974"/>
            <a:ext cx="1661557" cy="311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25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90876F-FAA2-4B61-A6F3-DBFECAEA00E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DF90876F-FAA2-4B61-A6F3-DBFECAEA00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de-DE" dirty="0"/>
              <a:t>Metzler konzentriert sich auf seine Stärken in vier Geschäftsfeldern</a:t>
            </a:r>
          </a:p>
        </p:txBody>
      </p:sp>
      <p:sp>
        <p:nvSpPr>
          <p:cNvPr id="4" name="Textplatzhalter 3"/>
          <p:cNvSpPr>
            <a:spLocks noGrp="1"/>
          </p:cNvSpPr>
          <p:nvPr>
            <p:ph type="body" sz="quarter" idx="12"/>
          </p:nvPr>
        </p:nvSpPr>
        <p:spPr/>
        <p:txBody>
          <a:bodyPr/>
          <a:lstStyle/>
          <a:p>
            <a:endParaRPr lang="de-DE" dirty="0"/>
          </a:p>
        </p:txBody>
      </p:sp>
      <p:sp>
        <p:nvSpPr>
          <p:cNvPr id="8" name="Textplatzhalter 7"/>
          <p:cNvSpPr>
            <a:spLocks noGrp="1"/>
          </p:cNvSpPr>
          <p:nvPr>
            <p:ph type="body" sz="quarter" idx="14"/>
          </p:nvPr>
        </p:nvSpPr>
        <p:spPr/>
        <p:txBody>
          <a:bodyPr/>
          <a:lstStyle/>
          <a:p>
            <a:endParaRPr lang="de-DE" dirty="0"/>
          </a:p>
        </p:txBody>
      </p:sp>
      <p:sp>
        <p:nvSpPr>
          <p:cNvPr id="9" name="Textplatzhalter 8"/>
          <p:cNvSpPr>
            <a:spLocks noGrp="1"/>
          </p:cNvSpPr>
          <p:nvPr>
            <p:ph type="body" sz="quarter" idx="15"/>
          </p:nvPr>
        </p:nvSpPr>
        <p:spPr/>
        <p:txBody>
          <a:bodyPr/>
          <a:lstStyle/>
          <a:p>
            <a:endParaRPr lang="de-DE" dirty="0"/>
          </a:p>
        </p:txBody>
      </p:sp>
      <p:pic>
        <p:nvPicPr>
          <p:cNvPr id="42" name="Grafik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8566" y="1803534"/>
            <a:ext cx="1336269" cy="432000"/>
          </a:xfrm>
          <a:prstGeom prst="rect">
            <a:avLst/>
          </a:prstGeom>
        </p:spPr>
      </p:pic>
      <p:sp>
        <p:nvSpPr>
          <p:cNvPr id="43" name="Rechteck 19"/>
          <p:cNvSpPr>
            <a:spLocks noChangeArrowheads="1"/>
          </p:cNvSpPr>
          <p:nvPr/>
        </p:nvSpPr>
        <p:spPr bwMode="auto">
          <a:xfrm>
            <a:off x="377825" y="2128447"/>
            <a:ext cx="9937750" cy="773112"/>
          </a:xfrm>
          <a:prstGeom prst="rect">
            <a:avLst/>
          </a:prstGeom>
          <a:solidFill>
            <a:schemeClr val="accent1"/>
          </a:solidFill>
          <a:ln w="6350" cap="sq">
            <a:solidFill>
              <a:schemeClr val="accent1"/>
            </a:solidFill>
            <a:miter lim="800000"/>
            <a:headEnd type="none" w="sm" len="sm"/>
            <a:tailEnd type="none" w="sm" len="sm"/>
          </a:ln>
        </p:spPr>
        <p:txBody>
          <a:bodyPr lIns="179968" tIns="39593" rIns="179968" bIns="17997"/>
          <a:lstStyle/>
          <a:p>
            <a:pPr marL="0" marR="0" lvl="0" indent="0" algn="ctr" defTabSz="1043056" rtl="0" eaLnBrk="1" fontAlgn="auto" latinLnBrk="0" hangingPunct="1">
              <a:lnSpc>
                <a:spcPct val="100000"/>
              </a:lnSpc>
              <a:spcBef>
                <a:spcPts val="0"/>
              </a:spcBef>
              <a:spcAft>
                <a:spcPts val="0"/>
              </a:spcAft>
              <a:buClrTx/>
              <a:buSzTx/>
              <a:buFontTx/>
              <a:buNone/>
              <a:tabLst/>
              <a:defRPr/>
            </a:pPr>
            <a:endParaRPr kumimoji="0" lang="de-DE" sz="1400" b="1" i="0" u="none" strike="noStrike" kern="1200" cap="none" spc="0" normalizeH="0" baseline="0" noProof="0" dirty="0">
              <a:ln>
                <a:noFill/>
              </a:ln>
              <a:solidFill>
                <a:srgbClr val="FFFFFF"/>
              </a:solidFill>
              <a:effectLst/>
              <a:uLnTx/>
              <a:uFillTx/>
              <a:latin typeface="Univers for Metzler" pitchFamily="34" charset="0"/>
              <a:ea typeface="+mn-ea"/>
              <a:cs typeface="+mn-cs"/>
            </a:endParaRPr>
          </a:p>
        </p:txBody>
      </p:sp>
      <p:sp>
        <p:nvSpPr>
          <p:cNvPr id="48" name="Rectangle 3"/>
          <p:cNvSpPr>
            <a:spLocks noChangeArrowheads="1"/>
          </p:cNvSpPr>
          <p:nvPr/>
        </p:nvSpPr>
        <p:spPr bwMode="auto">
          <a:xfrm>
            <a:off x="377825" y="5773301"/>
            <a:ext cx="9937750" cy="820738"/>
          </a:xfrm>
          <a:prstGeom prst="rect">
            <a:avLst/>
          </a:prstGeom>
          <a:solidFill>
            <a:schemeClr val="bg1"/>
          </a:solidFill>
          <a:ln w="6350" cap="sq">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26000" rIns="0" bIns="144000" anchor="ctr"/>
          <a:lstStyle/>
          <a:p>
            <a:pPr algn="ctr" defTabSz="863447">
              <a:lnSpc>
                <a:spcPct val="50000"/>
              </a:lnSpc>
            </a:pPr>
            <a:endParaRPr lang="de-DE" sz="1400" dirty="0">
              <a:latin typeface="+mj-lt"/>
            </a:endParaRPr>
          </a:p>
          <a:p>
            <a:pPr algn="ctr" defTabSz="863447">
              <a:lnSpc>
                <a:spcPct val="90000"/>
              </a:lnSpc>
            </a:pPr>
            <a:endParaRPr lang="de-DE" sz="1400" dirty="0">
              <a:latin typeface="+mj-lt"/>
            </a:endParaRPr>
          </a:p>
          <a:p>
            <a:pPr algn="ctr" defTabSz="863447">
              <a:lnSpc>
                <a:spcPct val="90000"/>
              </a:lnSpc>
            </a:pPr>
            <a:r>
              <a:rPr lang="de-DE" sz="1400" dirty="0">
                <a:latin typeface="+mj-lt"/>
              </a:rPr>
              <a:t>Rund 800 Mitarbeiter in Frankfurt am Main</a:t>
            </a:r>
            <a:r>
              <a:rPr lang="de-DE" sz="1300" dirty="0">
                <a:latin typeface="+mj-lt"/>
              </a:rPr>
              <a:t> </a:t>
            </a:r>
            <a:r>
              <a:rPr lang="de-DE" sz="1400" dirty="0">
                <a:latin typeface="+mj-lt"/>
              </a:rPr>
              <a:t>– Hamburg</a:t>
            </a:r>
            <a:r>
              <a:rPr lang="de-DE" sz="1300" dirty="0">
                <a:latin typeface="+mj-lt"/>
              </a:rPr>
              <a:t> </a:t>
            </a:r>
            <a:r>
              <a:rPr lang="de-DE" sz="1400" dirty="0">
                <a:latin typeface="+mj-lt"/>
              </a:rPr>
              <a:t>–</a:t>
            </a:r>
            <a:r>
              <a:rPr lang="de-DE" sz="1300" dirty="0">
                <a:latin typeface="+mj-lt"/>
                <a:sym typeface="Wingdings" pitchFamily="2" charset="2"/>
              </a:rPr>
              <a:t> </a:t>
            </a:r>
            <a:r>
              <a:rPr lang="de-DE" sz="1400" dirty="0">
                <a:latin typeface="+mj-lt"/>
                <a:sym typeface="Wingdings" pitchFamily="2" charset="2"/>
              </a:rPr>
              <a:t>Düsseldorf</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München</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Stuttgart</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p>
          <a:p>
            <a:pPr algn="ctr" defTabSz="863447">
              <a:lnSpc>
                <a:spcPct val="90000"/>
              </a:lnSpc>
            </a:pPr>
            <a:r>
              <a:rPr lang="de-DE" sz="1400" dirty="0">
                <a:latin typeface="+mj-lt"/>
                <a:sym typeface="Wingdings" pitchFamily="2" charset="2"/>
              </a:rPr>
              <a:t>Atlanta</a:t>
            </a:r>
            <a:r>
              <a:rPr lang="de-DE" sz="1300" dirty="0">
                <a:latin typeface="+mj-lt"/>
                <a:sym typeface="Wingdings" pitchFamily="2" charset="2"/>
              </a:rPr>
              <a:t> </a:t>
            </a:r>
            <a:r>
              <a:rPr lang="de-DE" sz="1400" dirty="0">
                <a:latin typeface="+mj-lt"/>
                <a:sym typeface="Wingdings" pitchFamily="2" charset="2"/>
              </a:rPr>
              <a:t>–</a:t>
            </a:r>
            <a:r>
              <a:rPr lang="de-DE" sz="1300" dirty="0">
                <a:solidFill>
                  <a:schemeClr val="bg2"/>
                </a:solidFill>
                <a:latin typeface="+mj-lt"/>
                <a:sym typeface="Wingdings" pitchFamily="2" charset="2"/>
              </a:rPr>
              <a:t> </a:t>
            </a:r>
            <a:r>
              <a:rPr lang="de-DE" sz="1400" dirty="0">
                <a:latin typeface="+mj-lt"/>
                <a:sym typeface="Wingdings" pitchFamily="2" charset="2"/>
              </a:rPr>
              <a:t>Los Angeles</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Seattle</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Tokio</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Peking</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sym typeface="Wingdings" pitchFamily="2" charset="2"/>
            </a:endParaRPr>
          </a:p>
        </p:txBody>
      </p:sp>
      <p:grpSp>
        <p:nvGrpSpPr>
          <p:cNvPr id="13" name="Gruppieren 12"/>
          <p:cNvGrpSpPr/>
          <p:nvPr/>
        </p:nvGrpSpPr>
        <p:grpSpPr>
          <a:xfrm>
            <a:off x="681654" y="2306248"/>
            <a:ext cx="2213270" cy="3727686"/>
            <a:chOff x="795186" y="2429209"/>
            <a:chExt cx="2213270" cy="3562836"/>
          </a:xfrm>
        </p:grpSpPr>
        <p:sp>
          <p:nvSpPr>
            <p:cNvPr id="44" name="Rechteck 20"/>
            <p:cNvSpPr>
              <a:spLocks noChangeArrowheads="1"/>
            </p:cNvSpPr>
            <p:nvPr/>
          </p:nvSpPr>
          <p:spPr bwMode="auto">
            <a:xfrm>
              <a:off x="795186" y="2429209"/>
              <a:ext cx="2213270"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Asset Management</a:t>
              </a:r>
            </a:p>
          </p:txBody>
        </p:sp>
        <p:sp>
          <p:nvSpPr>
            <p:cNvPr id="49" name="Rechteck 25"/>
            <p:cNvSpPr>
              <a:spLocks noChangeArrowheads="1"/>
            </p:cNvSpPr>
            <p:nvPr/>
          </p:nvSpPr>
          <p:spPr bwMode="auto">
            <a:xfrm>
              <a:off x="851746"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36000" bIns="17997"/>
            <a:lstStyle/>
            <a:p>
              <a:pPr marL="179357" indent="-179357">
                <a:spcBef>
                  <a:spcPts val="1200"/>
                </a:spcBef>
                <a:buClr>
                  <a:schemeClr val="accent1"/>
                </a:buClr>
                <a:buSzPct val="85000"/>
                <a:buFont typeface="Wingdings" pitchFamily="2" charset="2"/>
                <a:buChar char="n"/>
              </a:pPr>
              <a:r>
                <a:rPr lang="de-DE" sz="1400" dirty="0"/>
                <a:t>Portfolio-</a:t>
              </a:r>
              <a:br>
                <a:rPr lang="de-DE" sz="1400" dirty="0"/>
              </a:br>
              <a:r>
                <a:rPr lang="de-DE" sz="1400" dirty="0" err="1"/>
                <a:t>management</a:t>
              </a:r>
              <a:endParaRPr lang="de-DE" sz="1400" dirty="0"/>
            </a:p>
            <a:p>
              <a:pPr marL="179357" indent="-179357">
                <a:spcBef>
                  <a:spcPts val="1200"/>
                </a:spcBef>
                <a:buClr>
                  <a:schemeClr val="accent1"/>
                </a:buClr>
                <a:buSzPct val="85000"/>
                <a:buFont typeface="Wingdings" pitchFamily="2" charset="2"/>
                <a:buChar char="n"/>
              </a:pPr>
              <a:r>
                <a:rPr lang="de-DE" sz="1400" dirty="0"/>
                <a:t>ESG-Strategien, Beratung &amp; </a:t>
              </a:r>
              <a:br>
                <a:rPr lang="de-DE" sz="1400" dirty="0"/>
              </a:br>
              <a:r>
                <a:rPr lang="de-DE" sz="1400" dirty="0"/>
                <a:t>Reporting</a:t>
              </a:r>
            </a:p>
            <a:p>
              <a:pPr marL="179357" indent="-179357">
                <a:spcBef>
                  <a:spcPts val="1200"/>
                </a:spcBef>
                <a:buClr>
                  <a:schemeClr val="accent1"/>
                </a:buClr>
                <a:buSzPct val="85000"/>
                <a:buFont typeface="Wingdings" pitchFamily="2" charset="2"/>
                <a:buChar char="n"/>
              </a:pPr>
              <a:r>
                <a:rPr lang="de-DE" sz="1400" dirty="0"/>
                <a:t>Pension </a:t>
              </a:r>
              <a:br>
                <a:rPr lang="de-DE" sz="1400" dirty="0"/>
              </a:br>
              <a:r>
                <a:rPr lang="de-DE" sz="1400" dirty="0"/>
                <a:t>Management</a:t>
              </a:r>
            </a:p>
            <a:p>
              <a:pPr marL="179357" indent="-179357">
                <a:spcBef>
                  <a:spcPts val="1200"/>
                </a:spcBef>
                <a:buClr>
                  <a:schemeClr val="accent1"/>
                </a:buClr>
                <a:buSzPct val="85000"/>
                <a:buFont typeface="Wingdings" pitchFamily="2" charset="2"/>
                <a:buChar char="n"/>
              </a:pPr>
              <a:r>
                <a:rPr lang="de-DE" sz="1400" dirty="0"/>
                <a:t>Immobilienberatung</a:t>
              </a:r>
            </a:p>
            <a:p>
              <a:pPr marL="179357" indent="-179357">
                <a:spcBef>
                  <a:spcPts val="1200"/>
                </a:spcBef>
                <a:buClr>
                  <a:schemeClr val="accent1"/>
                </a:buClr>
                <a:buSzPct val="85000"/>
                <a:buFont typeface="Wingdings" pitchFamily="2" charset="2"/>
                <a:buChar char="n"/>
              </a:pPr>
              <a:r>
                <a:rPr lang="de-DE" sz="1400" dirty="0"/>
                <a:t>Administrations-dienstleistungen</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endParaRPr>
            </a:p>
          </p:txBody>
        </p:sp>
      </p:grpSp>
      <p:grpSp>
        <p:nvGrpSpPr>
          <p:cNvPr id="15" name="Gruppieren 14"/>
          <p:cNvGrpSpPr/>
          <p:nvPr/>
        </p:nvGrpSpPr>
        <p:grpSpPr>
          <a:xfrm>
            <a:off x="5425813" y="2306248"/>
            <a:ext cx="2213659" cy="3727686"/>
            <a:chOff x="5393261" y="2429209"/>
            <a:chExt cx="2213659" cy="3562836"/>
          </a:xfrm>
        </p:grpSpPr>
        <p:sp>
          <p:nvSpPr>
            <p:cNvPr id="45" name="Rechteck 44"/>
            <p:cNvSpPr>
              <a:spLocks noChangeArrowheads="1"/>
            </p:cNvSpPr>
            <p:nvPr/>
          </p:nvSpPr>
          <p:spPr bwMode="auto">
            <a:xfrm>
              <a:off x="5393261" y="2429209"/>
              <a:ext cx="2213659" cy="1079500"/>
            </a:xfrm>
            <a:prstGeom prst="rect">
              <a:avLst/>
            </a:prstGeom>
            <a:solidFill>
              <a:schemeClr val="accent1"/>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FFFFFF"/>
                  </a:solidFill>
                  <a:effectLst/>
                  <a:uLnTx/>
                  <a:uFillTx/>
                  <a:latin typeface="Univers for Metzler" pitchFamily="34" charset="0"/>
                  <a:ea typeface="+mn-ea"/>
                  <a:cs typeface="+mn-cs"/>
                </a:rPr>
                <a:t>Corporate Finance</a:t>
              </a:r>
            </a:p>
          </p:txBody>
        </p:sp>
        <p:sp>
          <p:nvSpPr>
            <p:cNvPr id="50" name="Rechteck 49"/>
            <p:cNvSpPr>
              <a:spLocks noChangeArrowheads="1"/>
            </p:cNvSpPr>
            <p:nvPr/>
          </p:nvSpPr>
          <p:spPr bwMode="auto">
            <a:xfrm>
              <a:off x="5450015" y="2854022"/>
              <a:ext cx="2100150" cy="3138023"/>
            </a:xfrm>
            <a:prstGeom prst="rect">
              <a:avLst/>
            </a:prstGeom>
            <a:solidFill>
              <a:srgbClr val="EBF4FF"/>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Mergers &amp; Acquisitions (M&amp;A)</a:t>
              </a:r>
            </a:p>
            <a:p>
              <a:pPr marL="179357" indent="-179357">
                <a:spcBef>
                  <a:spcPts val="1200"/>
                </a:spcBef>
                <a:buClr>
                  <a:schemeClr val="accent1"/>
                </a:buClr>
                <a:buSzPct val="85000"/>
                <a:buFont typeface="Wingdings" pitchFamily="2" charset="2"/>
                <a:buChar char="n"/>
              </a:pPr>
              <a:r>
                <a:rPr lang="de-DE" sz="1400" dirty="0"/>
                <a:t>Neuordnung von Gesellschafter-</a:t>
              </a:r>
              <a:br>
                <a:rPr lang="de-DE" sz="1400" dirty="0"/>
              </a:br>
              <a:r>
                <a:rPr lang="de-DE" sz="1400" dirty="0" err="1"/>
                <a:t>strukturen</a:t>
              </a:r>
              <a:endParaRPr lang="de-DE" sz="1400" dirty="0"/>
            </a:p>
            <a:p>
              <a:pPr marL="179357" indent="-179357">
                <a:spcBef>
                  <a:spcPts val="1200"/>
                </a:spcBef>
                <a:buClr>
                  <a:schemeClr val="accent1"/>
                </a:buClr>
                <a:buSzPct val="85000"/>
                <a:buFont typeface="Wingdings" pitchFamily="2" charset="2"/>
                <a:buChar char="n"/>
              </a:pPr>
              <a:r>
                <a:rPr lang="de-DE" sz="1400" dirty="0"/>
                <a:t>Transaktionen mit Börsenbezug</a:t>
              </a:r>
            </a:p>
          </p:txBody>
        </p:sp>
      </p:grpSp>
      <p:grpSp>
        <p:nvGrpSpPr>
          <p:cNvPr id="14" name="Gruppieren 13"/>
          <p:cNvGrpSpPr/>
          <p:nvPr/>
        </p:nvGrpSpPr>
        <p:grpSpPr>
          <a:xfrm>
            <a:off x="3053539" y="2306248"/>
            <a:ext cx="2213659" cy="3727686"/>
            <a:chOff x="3094029" y="2429209"/>
            <a:chExt cx="2213659" cy="3562836"/>
          </a:xfrm>
        </p:grpSpPr>
        <p:sp>
          <p:nvSpPr>
            <p:cNvPr id="46" name="Rechteck 23"/>
            <p:cNvSpPr>
              <a:spLocks noChangeArrowheads="1"/>
            </p:cNvSpPr>
            <p:nvPr/>
          </p:nvSpPr>
          <p:spPr bwMode="auto">
            <a:xfrm>
              <a:off x="3094029" y="2429209"/>
              <a:ext cx="2213659"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Capital Markets</a:t>
              </a:r>
            </a:p>
          </p:txBody>
        </p:sp>
        <p:sp>
          <p:nvSpPr>
            <p:cNvPr id="51" name="Rechteck 28"/>
            <p:cNvSpPr>
              <a:spLocks noChangeArrowheads="1"/>
            </p:cNvSpPr>
            <p:nvPr/>
          </p:nvSpPr>
          <p:spPr bwMode="auto">
            <a:xfrm>
              <a:off x="3150783"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Betreuung </a:t>
              </a:r>
              <a:r>
                <a:rPr lang="de-DE" sz="1400" dirty="0" err="1"/>
                <a:t>institu-tioneller</a:t>
              </a:r>
              <a:r>
                <a:rPr lang="de-DE" sz="1400" dirty="0"/>
                <a:t> Kunden im Direktgeschäft</a:t>
              </a:r>
            </a:p>
            <a:p>
              <a:pPr marL="179357" indent="-179357">
                <a:spcBef>
                  <a:spcPts val="1200"/>
                </a:spcBef>
                <a:buClr>
                  <a:schemeClr val="accent1"/>
                </a:buClr>
                <a:buSzPct val="85000"/>
                <a:buFont typeface="Wingdings" pitchFamily="2" charset="2"/>
                <a:buChar char="n"/>
              </a:pPr>
              <a:r>
                <a:rPr lang="de-DE" sz="1400" dirty="0"/>
                <a:t>Currency Management</a:t>
              </a:r>
            </a:p>
            <a:p>
              <a:pPr marL="179357" indent="-179357">
                <a:spcBef>
                  <a:spcPts val="1200"/>
                </a:spcBef>
                <a:buClr>
                  <a:schemeClr val="accent1"/>
                </a:buClr>
                <a:buSzPct val="85000"/>
                <a:buFont typeface="Wingdings" pitchFamily="2" charset="2"/>
                <a:buChar char="n"/>
              </a:pPr>
              <a:r>
                <a:rPr lang="de-DE" sz="1400" dirty="0"/>
                <a:t>Handel in Aktien, Devisen und Zinsen</a:t>
              </a:r>
            </a:p>
            <a:p>
              <a:pPr marL="179357" indent="-179357">
                <a:spcBef>
                  <a:spcPts val="1200"/>
                </a:spcBef>
                <a:buClr>
                  <a:schemeClr val="accent1"/>
                </a:buClr>
                <a:buSzPct val="85000"/>
                <a:buFont typeface="Wingdings" pitchFamily="2" charset="2"/>
                <a:buChar char="n"/>
              </a:pPr>
              <a:r>
                <a:rPr lang="de-DE" sz="1400" dirty="0" err="1"/>
                <a:t>Kapitalmarktfinanzie</a:t>
              </a:r>
              <a:r>
                <a:rPr lang="de-DE" sz="1400" dirty="0"/>
                <a:t>-rungen (ECM/DCM)</a:t>
              </a:r>
            </a:p>
            <a:p>
              <a:pPr marL="179357" indent="-179357">
                <a:spcBef>
                  <a:spcPts val="1200"/>
                </a:spcBef>
                <a:buClr>
                  <a:schemeClr val="accent1"/>
                </a:buClr>
                <a:buSzPct val="85000"/>
                <a:buFont typeface="Wingdings" pitchFamily="2" charset="2"/>
                <a:buChar char="n"/>
              </a:pPr>
              <a:r>
                <a:rPr lang="de-DE" sz="1400" dirty="0"/>
                <a:t>Research in Aktien, Devisen und Renten</a:t>
              </a:r>
              <a:endParaRPr kumimoji="0" lang="de-DE" sz="1400" b="0" i="0" u="none" strike="noStrike" kern="1200" cap="none" spc="-20" normalizeH="0" noProof="0" dirty="0">
                <a:ln>
                  <a:noFill/>
                </a:ln>
                <a:solidFill>
                  <a:srgbClr val="000000"/>
                </a:solidFill>
                <a:effectLst/>
                <a:uLnTx/>
                <a:uFillTx/>
                <a:latin typeface="Univers for Metzler Light"/>
                <a:ea typeface="+mn-ea"/>
                <a:cs typeface="+mn-cs"/>
              </a:endParaRPr>
            </a:p>
          </p:txBody>
        </p:sp>
      </p:grpSp>
      <p:grpSp>
        <p:nvGrpSpPr>
          <p:cNvPr id="16" name="Gruppieren 15"/>
          <p:cNvGrpSpPr/>
          <p:nvPr/>
        </p:nvGrpSpPr>
        <p:grpSpPr>
          <a:xfrm>
            <a:off x="7798087" y="2306248"/>
            <a:ext cx="2213659" cy="3727686"/>
            <a:chOff x="7692493" y="2429209"/>
            <a:chExt cx="2213659" cy="3562836"/>
          </a:xfrm>
        </p:grpSpPr>
        <p:sp>
          <p:nvSpPr>
            <p:cNvPr id="47" name="Rechteck 24"/>
            <p:cNvSpPr>
              <a:spLocks noChangeArrowheads="1"/>
            </p:cNvSpPr>
            <p:nvPr/>
          </p:nvSpPr>
          <p:spPr bwMode="auto">
            <a:xfrm>
              <a:off x="7692493" y="2429209"/>
              <a:ext cx="2213659"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Private Banking</a:t>
              </a:r>
            </a:p>
          </p:txBody>
        </p:sp>
        <p:sp>
          <p:nvSpPr>
            <p:cNvPr id="52" name="Rechteck 29"/>
            <p:cNvSpPr>
              <a:spLocks noChangeArrowheads="1"/>
            </p:cNvSpPr>
            <p:nvPr/>
          </p:nvSpPr>
          <p:spPr bwMode="auto">
            <a:xfrm>
              <a:off x="7749247"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Vermögens-</a:t>
              </a:r>
              <a:br>
                <a:rPr lang="de-DE" sz="1400" dirty="0"/>
              </a:br>
              <a:r>
                <a:rPr lang="de-DE" sz="1400" dirty="0" err="1"/>
                <a:t>verwaltung</a:t>
              </a:r>
              <a:endParaRPr lang="de-DE" sz="1400" dirty="0"/>
            </a:p>
            <a:p>
              <a:pPr marL="179357" indent="-179357">
                <a:spcBef>
                  <a:spcPts val="1200"/>
                </a:spcBef>
                <a:buClr>
                  <a:schemeClr val="accent1"/>
                </a:buClr>
                <a:buSzPct val="85000"/>
                <a:buFont typeface="Wingdings" pitchFamily="2" charset="2"/>
                <a:buChar char="n"/>
              </a:pPr>
              <a:r>
                <a:rPr lang="de-DE" sz="1400" dirty="0"/>
                <a:t>Vermögenstreuhand</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endParaRPr>
            </a:p>
          </p:txBody>
        </p:sp>
      </p:grpSp>
      <p:sp>
        <p:nvSpPr>
          <p:cNvPr id="6" name="Textplatzhalter 5">
            <a:extLst>
              <a:ext uri="{FF2B5EF4-FFF2-40B4-BE49-F238E27FC236}">
                <a16:creationId xmlns:a16="http://schemas.microsoft.com/office/drawing/2014/main" id="{0CDA1ACA-706A-C0D1-CF66-C5FFE6558C5B}"/>
              </a:ext>
            </a:extLst>
          </p:cNvPr>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Tree>
    <p:extLst>
      <p:ext uri="{BB962C8B-B14F-4D97-AF65-F5344CB8AC3E}">
        <p14:creationId xmlns:p14="http://schemas.microsoft.com/office/powerpoint/2010/main" val="1282141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507705" y="4339946"/>
            <a:ext cx="2897114" cy="2438751"/>
            <a:chOff x="3822099" y="1636836"/>
            <a:chExt cx="2897114" cy="2438751"/>
          </a:xfrm>
        </p:grpSpPr>
        <p:sp>
          <p:nvSpPr>
            <p:cNvPr id="11" name="Rechteck 10"/>
            <p:cNvSpPr/>
            <p:nvPr/>
          </p:nvSpPr>
          <p:spPr bwMode="auto">
            <a:xfrm>
              <a:off x="3822099" y="2929143"/>
              <a:ext cx="2818800"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Software - Horizontal und Vertikal</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Lösungen - Plattformen und Innovationen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Services &amp; Beratung</a:t>
              </a:r>
              <a:endParaRPr lang="de-DE" sz="1000" dirty="0">
                <a:solidFill>
                  <a:srgbClr val="000000"/>
                </a:solidFill>
                <a:latin typeface="+mj-lt"/>
              </a:endParaRPr>
            </a:p>
          </p:txBody>
        </p:sp>
        <p:sp>
          <p:nvSpPr>
            <p:cNvPr id="12" name="Parallelogramm 18"/>
            <p:cNvSpPr/>
            <p:nvPr/>
          </p:nvSpPr>
          <p:spPr>
            <a:xfrm>
              <a:off x="3822099" y="163683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Technology</a:t>
              </a:r>
            </a:p>
          </p:txBody>
        </p:sp>
        <p:pic>
          <p:nvPicPr>
            <p:cNvPr id="30" name="Picture 35"/>
            <p:cNvPicPr>
              <a:picLocks noChangeAspect="1"/>
            </p:cNvPicPr>
            <p:nvPr/>
          </p:nvPicPr>
          <p:blipFill rotWithShape="1">
            <a:blip r:embed="rId2">
              <a:extLst>
                <a:ext uri="{28A0092B-C50C-407E-A947-70E740481C1C}">
                  <a14:useLocalDpi xmlns:a14="http://schemas.microsoft.com/office/drawing/2010/main" val="0"/>
                </a:ext>
              </a:extLst>
            </a:blip>
            <a:srcRect t="34537" b="15748"/>
            <a:stretch/>
          </p:blipFill>
          <p:spPr>
            <a:xfrm>
              <a:off x="3822099" y="1976296"/>
              <a:ext cx="2818800" cy="936104"/>
            </a:xfrm>
            <a:prstGeom prst="rect">
              <a:avLst/>
            </a:prstGeom>
          </p:spPr>
        </p:pic>
      </p:grpSp>
      <p:grpSp>
        <p:nvGrpSpPr>
          <p:cNvPr id="24" name="Group 23"/>
          <p:cNvGrpSpPr/>
          <p:nvPr/>
        </p:nvGrpSpPr>
        <p:grpSpPr>
          <a:xfrm>
            <a:off x="3822099" y="4340286"/>
            <a:ext cx="2897114" cy="2438411"/>
            <a:chOff x="507705" y="4340286"/>
            <a:chExt cx="2897114" cy="2438411"/>
          </a:xfrm>
        </p:grpSpPr>
        <p:sp>
          <p:nvSpPr>
            <p:cNvPr id="15" name="Rechteck 14"/>
            <p:cNvSpPr/>
            <p:nvPr/>
          </p:nvSpPr>
          <p:spPr bwMode="auto">
            <a:xfrm>
              <a:off x="507705"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Asset und Fonds-Management</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Bank- und Finanzdienstleistungen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Inkasso- und Zahlungsdienstleistungen</a:t>
              </a:r>
            </a:p>
          </p:txBody>
        </p:sp>
        <p:sp>
          <p:nvSpPr>
            <p:cNvPr id="16" name="Parallelogramm 18"/>
            <p:cNvSpPr/>
            <p:nvPr/>
          </p:nvSpPr>
          <p:spPr>
            <a:xfrm>
              <a:off x="507705"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Financial Services</a:t>
              </a:r>
            </a:p>
          </p:txBody>
        </p:sp>
        <p:pic>
          <p:nvPicPr>
            <p:cNvPr id="40" name="Picture 33"/>
            <p:cNvPicPr>
              <a:picLocks noChangeAspect="1"/>
            </p:cNvPicPr>
            <p:nvPr/>
          </p:nvPicPr>
          <p:blipFill rotWithShape="1">
            <a:blip r:embed="rId3">
              <a:extLst>
                <a:ext uri="{28A0092B-C50C-407E-A947-70E740481C1C}">
                  <a14:useLocalDpi xmlns:a14="http://schemas.microsoft.com/office/drawing/2010/main" val="0"/>
                </a:ext>
              </a:extLst>
            </a:blip>
            <a:srcRect t="30713" b="19573"/>
            <a:stretch/>
          </p:blipFill>
          <p:spPr>
            <a:xfrm>
              <a:off x="507705" y="4679240"/>
              <a:ext cx="2818800" cy="936104"/>
            </a:xfrm>
            <a:prstGeom prst="rect">
              <a:avLst/>
            </a:prstGeom>
          </p:spPr>
        </p:pic>
      </p:grpSp>
      <p:grpSp>
        <p:nvGrpSpPr>
          <p:cNvPr id="23" name="Group 22"/>
          <p:cNvGrpSpPr/>
          <p:nvPr/>
        </p:nvGrpSpPr>
        <p:grpSpPr>
          <a:xfrm>
            <a:off x="7136493" y="1635554"/>
            <a:ext cx="2897114" cy="2438411"/>
            <a:chOff x="3822099" y="4340286"/>
            <a:chExt cx="2897114" cy="2438411"/>
          </a:xfrm>
        </p:grpSpPr>
        <p:sp>
          <p:nvSpPr>
            <p:cNvPr id="13" name="Rechteck 12"/>
            <p:cNvSpPr/>
            <p:nvPr/>
          </p:nvSpPr>
          <p:spPr bwMode="auto">
            <a:xfrm>
              <a:off x="3822102"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OEM</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Zulieferer</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E-Mobility und autonomes Fahren</a:t>
              </a:r>
              <a:endParaRPr lang="de-DE" sz="1000" dirty="0">
                <a:solidFill>
                  <a:srgbClr val="000000"/>
                </a:solidFill>
                <a:latin typeface="+mj-lt"/>
              </a:endParaRPr>
            </a:p>
          </p:txBody>
        </p:sp>
        <p:sp>
          <p:nvSpPr>
            <p:cNvPr id="14" name="Parallelogramm 18"/>
            <p:cNvSpPr/>
            <p:nvPr/>
          </p:nvSpPr>
          <p:spPr>
            <a:xfrm>
              <a:off x="3822099"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Automotive</a:t>
              </a:r>
            </a:p>
          </p:txBody>
        </p:sp>
        <p:pic>
          <p:nvPicPr>
            <p:cNvPr id="41" name="Picture 32"/>
            <p:cNvPicPr>
              <a:picLocks noChangeAspect="1"/>
            </p:cNvPicPr>
            <p:nvPr/>
          </p:nvPicPr>
          <p:blipFill rotWithShape="1">
            <a:blip r:embed="rId4">
              <a:extLst>
                <a:ext uri="{28A0092B-C50C-407E-A947-70E740481C1C}">
                  <a14:useLocalDpi xmlns:a14="http://schemas.microsoft.com/office/drawing/2010/main" val="0"/>
                </a:ext>
              </a:extLst>
            </a:blip>
            <a:srcRect t="22916" b="19227"/>
            <a:stretch/>
          </p:blipFill>
          <p:spPr>
            <a:xfrm>
              <a:off x="3822200" y="4679239"/>
              <a:ext cx="2818800" cy="936105"/>
            </a:xfrm>
            <a:prstGeom prst="rect">
              <a:avLst/>
            </a:prstGeom>
          </p:spPr>
        </p:pic>
      </p:grpSp>
      <p:sp>
        <p:nvSpPr>
          <p:cNvPr id="2" name="Titel 1"/>
          <p:cNvSpPr>
            <a:spLocks noGrp="1"/>
          </p:cNvSpPr>
          <p:nvPr>
            <p:ph type="title"/>
          </p:nvPr>
        </p:nvSpPr>
        <p:spPr/>
        <p:txBody>
          <a:bodyPr/>
          <a:lstStyle/>
          <a:p>
            <a:r>
              <a:rPr lang="de-DE" dirty="0"/>
              <a:t>Umfassende Industriekenntnis in ausgewählten Kernsektoren</a:t>
            </a:r>
          </a:p>
        </p:txBody>
      </p:sp>
      <p:sp>
        <p:nvSpPr>
          <p:cNvPr id="3" name="Textplatzhalter 2"/>
          <p:cNvSpPr>
            <a:spLocks noGrp="1"/>
          </p:cNvSpPr>
          <p:nvPr>
            <p:ph type="body" sz="quarter" idx="12"/>
          </p:nvPr>
        </p:nvSpPr>
        <p:spPr/>
        <p:txBody>
          <a:bodyPr/>
          <a:lstStyle/>
          <a:p>
            <a:endParaRPr lang="de-DE" dirty="0"/>
          </a:p>
        </p:txBody>
      </p:sp>
      <p:sp>
        <p:nvSpPr>
          <p:cNvPr id="4" name="Textplatzhalt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platzhalter 4"/>
          <p:cNvSpPr>
            <a:spLocks noGrp="1"/>
          </p:cNvSpPr>
          <p:nvPr>
            <p:ph type="body" sz="quarter" idx="14"/>
          </p:nvPr>
        </p:nvSpPr>
        <p:spPr/>
        <p:txBody>
          <a:bodyPr/>
          <a:lstStyle/>
          <a:p>
            <a:endParaRPr lang="de-DE" dirty="0"/>
          </a:p>
        </p:txBody>
      </p:sp>
      <p:sp>
        <p:nvSpPr>
          <p:cNvPr id="6" name="Textplatzhalter 5"/>
          <p:cNvSpPr>
            <a:spLocks noGrp="1"/>
          </p:cNvSpPr>
          <p:nvPr>
            <p:ph type="body" sz="quarter" idx="15"/>
          </p:nvPr>
        </p:nvSpPr>
        <p:spPr/>
        <p:txBody>
          <a:bodyPr/>
          <a:lstStyle/>
          <a:p>
            <a:endParaRPr lang="de-DE" dirty="0"/>
          </a:p>
        </p:txBody>
      </p:sp>
      <p:grpSp>
        <p:nvGrpSpPr>
          <p:cNvPr id="19" name="Group 18"/>
          <p:cNvGrpSpPr/>
          <p:nvPr/>
        </p:nvGrpSpPr>
        <p:grpSpPr>
          <a:xfrm>
            <a:off x="3822099" y="1636836"/>
            <a:ext cx="2897114" cy="2440033"/>
            <a:chOff x="507705" y="1635554"/>
            <a:chExt cx="2897114" cy="2440033"/>
          </a:xfrm>
        </p:grpSpPr>
        <p:sp>
          <p:nvSpPr>
            <p:cNvPr id="17" name="Rechteck 16"/>
            <p:cNvSpPr/>
            <p:nvPr/>
          </p:nvSpPr>
          <p:spPr bwMode="auto">
            <a:xfrm>
              <a:off x="507705" y="2929143"/>
              <a:ext cx="2818901"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Automatisierungstechnik</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Elektrotechnik</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Sensorik und Robotik</a:t>
              </a:r>
            </a:p>
          </p:txBody>
        </p:sp>
        <p:sp>
          <p:nvSpPr>
            <p:cNvPr id="18" name="Parallelogramm 18"/>
            <p:cNvSpPr/>
            <p:nvPr/>
          </p:nvSpPr>
          <p:spPr>
            <a:xfrm>
              <a:off x="507705" y="1635554"/>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Industrials</a:t>
              </a:r>
            </a:p>
          </p:txBody>
        </p:sp>
        <p:pic>
          <p:nvPicPr>
            <p:cNvPr id="31" name="Picture 34"/>
            <p:cNvPicPr>
              <a:picLocks noChangeAspect="1"/>
            </p:cNvPicPr>
            <p:nvPr/>
          </p:nvPicPr>
          <p:blipFill rotWithShape="1">
            <a:blip r:embed="rId5">
              <a:extLst>
                <a:ext uri="{28A0092B-C50C-407E-A947-70E740481C1C}">
                  <a14:useLocalDpi xmlns:a14="http://schemas.microsoft.com/office/drawing/2010/main" val="0"/>
                </a:ext>
              </a:extLst>
            </a:blip>
            <a:srcRect t="11956" b="11525"/>
            <a:stretch/>
          </p:blipFill>
          <p:spPr>
            <a:xfrm>
              <a:off x="507705" y="1976296"/>
              <a:ext cx="2818800" cy="936104"/>
            </a:xfrm>
            <a:prstGeom prst="rect">
              <a:avLst/>
            </a:prstGeom>
          </p:spPr>
        </p:pic>
      </p:grpSp>
      <p:cxnSp>
        <p:nvCxnSpPr>
          <p:cNvPr id="33" name="Gerader Verbinder 32"/>
          <p:cNvCxnSpPr/>
          <p:nvPr/>
        </p:nvCxnSpPr>
        <p:spPr>
          <a:xfrm>
            <a:off x="507705" y="-899889"/>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rot="16200000">
            <a:off x="-557956" y="1616256"/>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rot="16200000">
            <a:off x="-557956" y="4319200"/>
            <a:ext cx="0" cy="720080"/>
          </a:xfrm>
          <a:prstGeom prst="line">
            <a:avLst/>
          </a:prstGeom>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507705" y="1636836"/>
            <a:ext cx="2897114" cy="2438751"/>
            <a:chOff x="7136493" y="1636836"/>
            <a:chExt cx="2897114" cy="2438751"/>
          </a:xfrm>
        </p:grpSpPr>
        <p:sp>
          <p:nvSpPr>
            <p:cNvPr id="7" name="Rechteck 6"/>
            <p:cNvSpPr/>
            <p:nvPr/>
          </p:nvSpPr>
          <p:spPr bwMode="auto">
            <a:xfrm>
              <a:off x="7136493" y="2929143"/>
              <a:ext cx="2818800"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Alternative Energien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Energieinfrastruktur</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Ver- und Entsorgungsunternehmen</a:t>
              </a:r>
            </a:p>
          </p:txBody>
        </p:sp>
        <p:sp>
          <p:nvSpPr>
            <p:cNvPr id="8" name="Parallelogramm 18"/>
            <p:cNvSpPr/>
            <p:nvPr/>
          </p:nvSpPr>
          <p:spPr>
            <a:xfrm>
              <a:off x="7136493" y="163683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b="1" dirty="0">
                  <a:solidFill>
                    <a:schemeClr val="bg1"/>
                  </a:solidFill>
                </a:rPr>
                <a:t>Energy &amp; Renewables</a:t>
              </a:r>
              <a:endParaRPr lang="de-DE" sz="1200" b="1" dirty="0">
                <a:solidFill>
                  <a:schemeClr val="bg1"/>
                </a:solidFill>
              </a:endParaRPr>
            </a:p>
          </p:txBody>
        </p:sp>
        <p:pic>
          <p:nvPicPr>
            <p:cNvPr id="36" name="Grafik 35"/>
            <p:cNvPicPr preferRelativeResize="0">
              <a:picLocks/>
            </p:cNvPicPr>
            <p:nvPr/>
          </p:nvPicPr>
          <p:blipFill rotWithShape="1">
            <a:blip r:embed="rId6">
              <a:extLst>
                <a:ext uri="{28A0092B-C50C-407E-A947-70E740481C1C}">
                  <a14:useLocalDpi xmlns:a14="http://schemas.microsoft.com/office/drawing/2010/main" val="0"/>
                </a:ext>
              </a:extLst>
            </a:blip>
            <a:srcRect t="30472" b="19612"/>
            <a:stretch/>
          </p:blipFill>
          <p:spPr>
            <a:xfrm>
              <a:off x="7136493" y="1976296"/>
              <a:ext cx="2818901" cy="936000"/>
            </a:xfrm>
            <a:prstGeom prst="rect">
              <a:avLst/>
            </a:prstGeom>
          </p:spPr>
        </p:pic>
      </p:grpSp>
      <p:cxnSp>
        <p:nvCxnSpPr>
          <p:cNvPr id="37" name="Gerader Verbinder 36"/>
          <p:cNvCxnSpPr/>
          <p:nvPr/>
        </p:nvCxnSpPr>
        <p:spPr>
          <a:xfrm>
            <a:off x="3822099" y="-899889"/>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Gerader Verbinder 37"/>
          <p:cNvCxnSpPr/>
          <p:nvPr/>
        </p:nvCxnSpPr>
        <p:spPr>
          <a:xfrm>
            <a:off x="7136392" y="-899889"/>
            <a:ext cx="0" cy="720080"/>
          </a:xfrm>
          <a:prstGeom prst="line">
            <a:avLst/>
          </a:prstGeom>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7136493" y="4340286"/>
            <a:ext cx="2897114" cy="2438411"/>
            <a:chOff x="7136493" y="4340286"/>
            <a:chExt cx="2897114" cy="2438411"/>
          </a:xfrm>
        </p:grpSpPr>
        <p:sp>
          <p:nvSpPr>
            <p:cNvPr id="9" name="Rechteck 8"/>
            <p:cNvSpPr/>
            <p:nvPr/>
          </p:nvSpPr>
          <p:spPr bwMode="auto">
            <a:xfrm>
              <a:off x="7136494"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Konsumgüter </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Nahrungsmittel</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Einzel- und Großhandel</a:t>
              </a:r>
            </a:p>
          </p:txBody>
        </p:sp>
        <p:sp>
          <p:nvSpPr>
            <p:cNvPr id="10" name="Parallelogramm 18"/>
            <p:cNvSpPr/>
            <p:nvPr/>
          </p:nvSpPr>
          <p:spPr>
            <a:xfrm>
              <a:off x="7136493"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Consumer &amp; Distribution</a:t>
              </a:r>
            </a:p>
          </p:txBody>
        </p:sp>
        <p:pic>
          <p:nvPicPr>
            <p:cNvPr id="42" name="Picture 36"/>
            <p:cNvPicPr>
              <a:picLocks noChangeAspect="1"/>
            </p:cNvPicPr>
            <p:nvPr/>
          </p:nvPicPr>
          <p:blipFill rotWithShape="1">
            <a:blip r:embed="rId7">
              <a:extLst>
                <a:ext uri="{28A0092B-C50C-407E-A947-70E740481C1C}">
                  <a14:useLocalDpi xmlns:a14="http://schemas.microsoft.com/office/drawing/2010/main" val="0"/>
                </a:ext>
              </a:extLst>
            </a:blip>
            <a:srcRect t="15868" b="34417"/>
            <a:stretch/>
          </p:blipFill>
          <p:spPr>
            <a:xfrm>
              <a:off x="7136493" y="4679240"/>
              <a:ext cx="2818800" cy="936104"/>
            </a:xfrm>
            <a:prstGeom prst="rect">
              <a:avLst/>
            </a:prstGeom>
          </p:spPr>
        </p:pic>
      </p:grpSp>
    </p:spTree>
    <p:extLst>
      <p:ext uri="{BB962C8B-B14F-4D97-AF65-F5344CB8AC3E}">
        <p14:creationId xmlns:p14="http://schemas.microsoft.com/office/powerpoint/2010/main" val="1972682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868BC151-DE11-4C8F-89D4-7A87C1836659}"/>
              </a:ext>
            </a:extLst>
          </p:cNvPr>
          <p:cNvGraphicFramePr>
            <a:graphicFrameLocks/>
          </p:cNvGraphicFramePr>
          <p:nvPr>
            <p:custDataLst>
              <p:tags r:id="rId1"/>
            </p:custDataLst>
            <p:extLst>
              <p:ext uri="{D42A27DB-BD31-4B8C-83A1-F6EECF244321}">
                <p14:modId xmlns:p14="http://schemas.microsoft.com/office/powerpoint/2010/main" val="3022625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8" name="Object 7" hidden="1">
                        <a:extLst>
                          <a:ext uri="{FF2B5EF4-FFF2-40B4-BE49-F238E27FC236}">
                            <a16:creationId xmlns:a16="http://schemas.microsoft.com/office/drawing/2014/main" id="{868BC151-DE11-4C8F-89D4-7A87C18366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4B698F34-E460-DF9C-18D0-07494A4D938E}"/>
              </a:ext>
            </a:extLst>
          </p:cNvPr>
          <p:cNvSpPr/>
          <p:nvPr/>
        </p:nvSpPr>
        <p:spPr>
          <a:xfrm>
            <a:off x="388308" y="2662653"/>
            <a:ext cx="4870968" cy="4142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p:cNvSpPr>
            <a:spLocks noGrp="1"/>
          </p:cNvSpPr>
          <p:nvPr>
            <p:ph type="title"/>
          </p:nvPr>
        </p:nvSpPr>
        <p:spPr>
          <a:xfrm>
            <a:off x="378700" y="450279"/>
            <a:ext cx="9936000" cy="720000"/>
          </a:xfrm>
        </p:spPr>
        <p:txBody>
          <a:bodyPr vert="horz"/>
          <a:lstStyle/>
          <a:p>
            <a:r>
              <a:rPr lang="de-DE" altLang="de-DE" dirty="0"/>
              <a:t>Metzler verfügt über umfassendes Know-how aus Transaktionen und langjährige Erfahrung im Bereich Erneuerbare Energien und öffentliche Hand</a:t>
            </a:r>
            <a:endParaRPr lang="en-GB" dirty="0"/>
          </a:p>
        </p:txBody>
      </p:sp>
      <p:sp>
        <p:nvSpPr>
          <p:cNvPr id="3" name="Text Placeholder 2"/>
          <p:cNvSpPr>
            <a:spLocks noGrp="1"/>
          </p:cNvSpPr>
          <p:nvPr>
            <p:ph type="body" sz="quarter" idx="12"/>
          </p:nvPr>
        </p:nvSpPr>
        <p:spPr/>
        <p:txBody>
          <a:bodyPr/>
          <a:lstStyle/>
          <a:p>
            <a:endParaRPr lang="de-DE" dirty="0"/>
          </a:p>
        </p:txBody>
      </p:sp>
      <p:sp>
        <p:nvSpPr>
          <p:cNvPr id="4" name="Text Placehold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 Placeholder 4"/>
          <p:cNvSpPr>
            <a:spLocks noGrp="1"/>
          </p:cNvSpPr>
          <p:nvPr>
            <p:ph type="body" sz="quarter" idx="14"/>
          </p:nvPr>
        </p:nvSpPr>
        <p:spPr/>
        <p:txBody>
          <a:bodyPr/>
          <a:lstStyle/>
          <a:p>
            <a:endParaRPr lang="en-GB"/>
          </a:p>
        </p:txBody>
      </p:sp>
      <p:sp>
        <p:nvSpPr>
          <p:cNvPr id="6" name="Text Placeholder 5"/>
          <p:cNvSpPr>
            <a:spLocks noGrp="1"/>
          </p:cNvSpPr>
          <p:nvPr>
            <p:ph type="body" sz="quarter" idx="15"/>
          </p:nvPr>
        </p:nvSpPr>
        <p:spPr/>
        <p:txBody>
          <a:bodyPr/>
          <a:lstStyle/>
          <a:p>
            <a:endParaRPr lang="en-GB"/>
          </a:p>
        </p:txBody>
      </p:sp>
      <p:pic>
        <p:nvPicPr>
          <p:cNvPr id="12" name="Picture 3" descr="W:\UKOMM\GRAFIK\STYLE\Tombstones\Tombs_PNG\Nordex_BDAG_d_2001-42.png"/>
          <p:cNvPicPr preferRelativeResize="0">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967351" y="4247095"/>
            <a:ext cx="1580051" cy="189606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2" descr="W:\UKOMM\GRAFIK\STYLE\Tombstones\Tombs_PNG\EnergieKontor_d_2013.png"/>
          <p:cNvPicPr preferRelativeResize="0">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821471" y="3933896"/>
            <a:ext cx="1440000"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12" descr="\\fss.metzde.metzler.com\profilep$\mgl\Desktop\Ventotec_d_2017.png"/>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985" y="4933384"/>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Grafik 10">
            <a:extLst>
              <a:ext uri="{FF2B5EF4-FFF2-40B4-BE49-F238E27FC236}">
                <a16:creationId xmlns:a16="http://schemas.microsoft.com/office/drawing/2014/main" id="{4C083C5B-F093-4F39-A66D-1ED6921F4B8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81765" y="2787403"/>
            <a:ext cx="1440000" cy="1728406"/>
          </a:xfrm>
          <a:prstGeom prst="rect">
            <a:avLst/>
          </a:prstGeom>
          <a:effectLst>
            <a:outerShdw blurRad="50800" dist="38100" dir="2700000" algn="tl" rotWithShape="0">
              <a:prstClr val="black">
                <a:alpha val="40000"/>
              </a:prstClr>
            </a:outerShdw>
          </a:effectLst>
        </p:spPr>
      </p:pic>
      <p:pic>
        <p:nvPicPr>
          <p:cNvPr id="22" name="Grafik 11" descr="Ein Bild, das Text enthält.&#10;&#10;Automatisch generierte Beschreibung">
            <a:extLst>
              <a:ext uri="{FF2B5EF4-FFF2-40B4-BE49-F238E27FC236}">
                <a16:creationId xmlns:a16="http://schemas.microsoft.com/office/drawing/2014/main" id="{B6991CFE-DEE2-46F1-AAA6-8BDDDF4ED559}"/>
              </a:ext>
            </a:extLst>
          </p:cNvPr>
          <p:cNvPicPr>
            <a:picLocks noChangeAspect="1"/>
          </p:cNvPicPr>
          <p:nvPr/>
        </p:nvPicPr>
        <p:blipFill>
          <a:blip r:embed="rId9"/>
          <a:stretch>
            <a:fillRect/>
          </a:stretch>
        </p:blipFill>
        <p:spPr>
          <a:xfrm>
            <a:off x="461985" y="2792117"/>
            <a:ext cx="1436072" cy="1723692"/>
          </a:xfrm>
          <a:prstGeom prst="rect">
            <a:avLst/>
          </a:prstGeom>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4E2752C7-B7E7-0276-3FBF-DB676BE7FC93}"/>
              </a:ext>
            </a:extLst>
          </p:cNvPr>
          <p:cNvSpPr/>
          <p:nvPr/>
        </p:nvSpPr>
        <p:spPr>
          <a:xfrm>
            <a:off x="388308" y="1681204"/>
            <a:ext cx="4870968" cy="9588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24" name="Straight Connector 23">
            <a:extLst>
              <a:ext uri="{FF2B5EF4-FFF2-40B4-BE49-F238E27FC236}">
                <a16:creationId xmlns:a16="http://schemas.microsoft.com/office/drawing/2014/main" id="{3FA56499-1131-A3DD-FD5D-0E39C981BC17}"/>
              </a:ext>
            </a:extLst>
          </p:cNvPr>
          <p:cNvCxnSpPr>
            <a:cxnSpLocks/>
          </p:cNvCxnSpPr>
          <p:nvPr/>
        </p:nvCxnSpPr>
        <p:spPr>
          <a:xfrm>
            <a:off x="388308" y="1681204"/>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9C53831-0F2D-E770-ADC6-A86C6A5253BC}"/>
              </a:ext>
            </a:extLst>
          </p:cNvPr>
          <p:cNvCxnSpPr>
            <a:cxnSpLocks/>
          </p:cNvCxnSpPr>
          <p:nvPr/>
        </p:nvCxnSpPr>
        <p:spPr>
          <a:xfrm>
            <a:off x="388308" y="2640018"/>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E7F33F95-1819-43EF-5FFE-1849EEE3970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00101" y="1764407"/>
            <a:ext cx="524323" cy="524323"/>
          </a:xfrm>
          <a:prstGeom prst="rect">
            <a:avLst/>
          </a:prstGeom>
        </p:spPr>
      </p:pic>
      <p:sp>
        <p:nvSpPr>
          <p:cNvPr id="33" name="TextBox 32">
            <a:extLst>
              <a:ext uri="{FF2B5EF4-FFF2-40B4-BE49-F238E27FC236}">
                <a16:creationId xmlns:a16="http://schemas.microsoft.com/office/drawing/2014/main" id="{D5BBAD0C-12E4-C2BA-1582-D3AFF0A6AAE2}"/>
              </a:ext>
            </a:extLst>
          </p:cNvPr>
          <p:cNvSpPr txBox="1"/>
          <p:nvPr/>
        </p:nvSpPr>
        <p:spPr>
          <a:xfrm>
            <a:off x="1427372" y="2323946"/>
            <a:ext cx="2869780" cy="276999"/>
          </a:xfrm>
          <a:prstGeom prst="rect">
            <a:avLst/>
          </a:prstGeom>
          <a:noFill/>
        </p:spPr>
        <p:txBody>
          <a:bodyPr wrap="square" rtlCol="0">
            <a:spAutoFit/>
          </a:bodyPr>
          <a:lstStyle/>
          <a:p>
            <a:pPr algn="ctr"/>
            <a:r>
              <a:rPr lang="de-DE" sz="1200" b="1" dirty="0">
                <a:solidFill>
                  <a:schemeClr val="accent1"/>
                </a:solidFill>
              </a:rPr>
              <a:t>Energie und Infrastruktur</a:t>
            </a:r>
          </a:p>
        </p:txBody>
      </p:sp>
      <p:sp>
        <p:nvSpPr>
          <p:cNvPr id="34" name="Rectangle 33">
            <a:extLst>
              <a:ext uri="{FF2B5EF4-FFF2-40B4-BE49-F238E27FC236}">
                <a16:creationId xmlns:a16="http://schemas.microsoft.com/office/drawing/2014/main" id="{84938949-A256-289E-22DF-89B0D3137E52}"/>
              </a:ext>
            </a:extLst>
          </p:cNvPr>
          <p:cNvSpPr/>
          <p:nvPr/>
        </p:nvSpPr>
        <p:spPr>
          <a:xfrm>
            <a:off x="5444607" y="2662653"/>
            <a:ext cx="4870968" cy="4142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5" name="Rectangle 34">
            <a:extLst>
              <a:ext uri="{FF2B5EF4-FFF2-40B4-BE49-F238E27FC236}">
                <a16:creationId xmlns:a16="http://schemas.microsoft.com/office/drawing/2014/main" id="{5591238E-F1FE-949B-D878-A0CEB1A39C94}"/>
              </a:ext>
            </a:extLst>
          </p:cNvPr>
          <p:cNvSpPr/>
          <p:nvPr/>
        </p:nvSpPr>
        <p:spPr>
          <a:xfrm>
            <a:off x="5444607" y="1681204"/>
            <a:ext cx="4870968" cy="9588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36" name="Straight Connector 35">
            <a:extLst>
              <a:ext uri="{FF2B5EF4-FFF2-40B4-BE49-F238E27FC236}">
                <a16:creationId xmlns:a16="http://schemas.microsoft.com/office/drawing/2014/main" id="{1E9AB932-69CC-7374-62B7-876D0D9F54E6}"/>
              </a:ext>
            </a:extLst>
          </p:cNvPr>
          <p:cNvCxnSpPr>
            <a:cxnSpLocks/>
          </p:cNvCxnSpPr>
          <p:nvPr/>
        </p:nvCxnSpPr>
        <p:spPr>
          <a:xfrm>
            <a:off x="5444607" y="1681204"/>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DADBB6-CDF2-F224-EB08-C9DE062AB652}"/>
              </a:ext>
            </a:extLst>
          </p:cNvPr>
          <p:cNvCxnSpPr>
            <a:cxnSpLocks/>
          </p:cNvCxnSpPr>
          <p:nvPr/>
        </p:nvCxnSpPr>
        <p:spPr>
          <a:xfrm>
            <a:off x="5444607" y="2640018"/>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049783C-2D42-A825-E8F5-4B3C8BF22FD4}"/>
              </a:ext>
            </a:extLst>
          </p:cNvPr>
          <p:cNvSpPr txBox="1"/>
          <p:nvPr/>
        </p:nvSpPr>
        <p:spPr>
          <a:xfrm>
            <a:off x="6483671" y="2323946"/>
            <a:ext cx="2869780" cy="276999"/>
          </a:xfrm>
          <a:prstGeom prst="rect">
            <a:avLst/>
          </a:prstGeom>
          <a:noFill/>
        </p:spPr>
        <p:txBody>
          <a:bodyPr wrap="square" rtlCol="0">
            <a:spAutoFit/>
          </a:bodyPr>
          <a:lstStyle/>
          <a:p>
            <a:pPr algn="ctr"/>
            <a:r>
              <a:rPr lang="de-DE" sz="1200" b="1" dirty="0">
                <a:solidFill>
                  <a:schemeClr val="accent1"/>
                </a:solidFill>
              </a:rPr>
              <a:t>Öffentliche Hand</a:t>
            </a:r>
          </a:p>
        </p:txBody>
      </p:sp>
      <p:pic>
        <p:nvPicPr>
          <p:cNvPr id="40" name="Picture 2" descr="W:\UKOMM\GRAFIK\STYLE\Tombstones\Tombs_PNG\StadtFaM_Biokompost_d_1997.png">
            <a:extLst>
              <a:ext uri="{FF2B5EF4-FFF2-40B4-BE49-F238E27FC236}">
                <a16:creationId xmlns:a16="http://schemas.microsoft.com/office/drawing/2014/main" id="{9FB61AF7-1C5E-7203-0B6A-7A1638766BAF}"/>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2838095" y="3260893"/>
            <a:ext cx="1438057"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8" name="Picture 2" descr="W:\UKOMM\GRAFIK\STYLE\Tombstones\Tombs_PNG\FaM_Rethsmann_d_1997.png">
            <a:extLst>
              <a:ext uri="{FF2B5EF4-FFF2-40B4-BE49-F238E27FC236}">
                <a16:creationId xmlns:a16="http://schemas.microsoft.com/office/drawing/2014/main" id="{94766168-BF18-0434-AE1B-670F04C3562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73706" y="2791409"/>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7" name="Picture 26" descr="\\fss.metzde.metzler.com\profilep$\gbl\Desktop\BGAG_d_1998.png">
            <a:extLst>
              <a:ext uri="{FF2B5EF4-FFF2-40B4-BE49-F238E27FC236}">
                <a16:creationId xmlns:a16="http://schemas.microsoft.com/office/drawing/2014/main" id="{F24394C4-C70D-F238-1F74-6F49D52F5A1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3405026" y="1426530"/>
            <a:ext cx="1438057" cy="17244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38">
            <a:extLst>
              <a:ext uri="{FF2B5EF4-FFF2-40B4-BE49-F238E27FC236}">
                <a16:creationId xmlns:a16="http://schemas.microsoft.com/office/drawing/2014/main" id="{CCFB772C-77E1-C9E0-835A-76F710BD750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76152" y="2895005"/>
            <a:ext cx="1908175" cy="23066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chemeClr val="hlink"/>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3" descr="W:\UKOMM\GRAFIK\STYLE\Tombstones\Tombs_PNG\NassauischeHeimstätten_d_2004.png">
            <a:extLst>
              <a:ext uri="{FF2B5EF4-FFF2-40B4-BE49-F238E27FC236}">
                <a16:creationId xmlns:a16="http://schemas.microsoft.com/office/drawing/2014/main" id="{F4EF18F3-E878-5C65-CE8A-B3616BEE61F2}"/>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1207989" y="3260893"/>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 name="Grafik 5" descr="Ein Bild, das Text enthält.&#10;&#10;Automatisch generierte Beschreibung">
            <a:extLst>
              <a:ext uri="{FF2B5EF4-FFF2-40B4-BE49-F238E27FC236}">
                <a16:creationId xmlns:a16="http://schemas.microsoft.com/office/drawing/2014/main" id="{2D7F91DF-C303-2C9D-8205-7EA1113B8236}"/>
              </a:ext>
            </a:extLst>
          </p:cNvPr>
          <p:cNvPicPr>
            <a:picLocks noChangeAspect="1"/>
          </p:cNvPicPr>
          <p:nvPr/>
        </p:nvPicPr>
        <p:blipFill>
          <a:blip r:embed="rId17"/>
          <a:stretch>
            <a:fillRect/>
          </a:stretch>
        </p:blipFill>
        <p:spPr>
          <a:xfrm>
            <a:off x="11388077" y="196580"/>
            <a:ext cx="1440000" cy="1728406"/>
          </a:xfrm>
          <a:prstGeom prst="rect">
            <a:avLst/>
          </a:prstGeom>
          <a:effectLst>
            <a:outerShdw blurRad="50800" dist="38100" dir="2700000" algn="tl" rotWithShape="0">
              <a:prstClr val="black">
                <a:alpha val="40000"/>
              </a:prstClr>
            </a:outerShdw>
          </a:effectLst>
        </p:spPr>
      </p:pic>
      <p:pic>
        <p:nvPicPr>
          <p:cNvPr id="14" name="Picture 2" descr="W:\UKOMM\GRAFIK\STYLE\Tombstones\Tombs_PNG\juwi_d_2014.png"/>
          <p:cNvPicPr preferRelativeResize="0">
            <a:picLocks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081934" y="4933384"/>
            <a:ext cx="1440000"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2" descr="W:\UKOMM\GRAFIK\STYLE\Tombstones\Tombs_PNG\FaM_SachsenLB_d_1996.png">
            <a:extLst>
              <a:ext uri="{FF2B5EF4-FFF2-40B4-BE49-F238E27FC236}">
                <a16:creationId xmlns:a16="http://schemas.microsoft.com/office/drawing/2014/main" id="{7A3D6D93-194F-4F6C-8586-F45E6331CB4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4466258" y="3258561"/>
            <a:ext cx="1440000" cy="17267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F6519088-4AA7-AE7D-5346-4139E0AF7A09}"/>
              </a:ext>
            </a:extLst>
          </p:cNvPr>
          <p:cNvGrpSpPr/>
          <p:nvPr/>
        </p:nvGrpSpPr>
        <p:grpSpPr>
          <a:xfrm>
            <a:off x="13433183" y="5201642"/>
            <a:ext cx="1436072" cy="1723692"/>
            <a:chOff x="4082937" y="1332359"/>
            <a:chExt cx="1436072" cy="1723692"/>
          </a:xfrm>
        </p:grpSpPr>
        <p:pic>
          <p:nvPicPr>
            <p:cNvPr id="28" name="Grafik 11" descr="Ein Bild, das Text enthält.&#10;&#10;Automatisch generierte Beschreibung">
              <a:extLst>
                <a:ext uri="{FF2B5EF4-FFF2-40B4-BE49-F238E27FC236}">
                  <a16:creationId xmlns:a16="http://schemas.microsoft.com/office/drawing/2014/main" id="{84C88BEE-CC0A-9374-F9BC-E1081376833C}"/>
                </a:ext>
              </a:extLst>
            </p:cNvPr>
            <p:cNvPicPr>
              <a:picLocks noChangeAspect="1"/>
            </p:cNvPicPr>
            <p:nvPr/>
          </p:nvPicPr>
          <p:blipFill>
            <a:blip r:embed="rId9"/>
            <a:stretch>
              <a:fillRect/>
            </a:stretch>
          </p:blipFill>
          <p:spPr>
            <a:xfrm>
              <a:off x="4082937" y="1332359"/>
              <a:ext cx="1436072" cy="1723692"/>
            </a:xfrm>
            <a:prstGeom prst="rect">
              <a:avLst/>
            </a:prstGeom>
            <a:effectLst>
              <a:outerShdw blurRad="50800" dist="38100" dir="2700000" algn="tl" rotWithShape="0">
                <a:prstClr val="black">
                  <a:alpha val="40000"/>
                </a:prstClr>
              </a:outerShdw>
            </a:effectLst>
          </p:spPr>
        </p:pic>
        <p:sp>
          <p:nvSpPr>
            <p:cNvPr id="38" name="Rectangle 37">
              <a:extLst>
                <a:ext uri="{FF2B5EF4-FFF2-40B4-BE49-F238E27FC236}">
                  <a16:creationId xmlns:a16="http://schemas.microsoft.com/office/drawing/2014/main" id="{06A15664-DECC-CF49-7F71-BF0C0EF3724A}"/>
                </a:ext>
              </a:extLst>
            </p:cNvPr>
            <p:cNvSpPr/>
            <p:nvPr/>
          </p:nvSpPr>
          <p:spPr>
            <a:xfrm>
              <a:off x="4143363"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800" b="1" dirty="0">
                  <a:solidFill>
                    <a:schemeClr val="tx1"/>
                  </a:solidFill>
                </a:rPr>
                <a:t>Laufendes Beratungsmandat für einen Energieversorger</a:t>
              </a:r>
            </a:p>
            <a:p>
              <a:pPr algn="ct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r>
                <a:rPr lang="de-DE" sz="800" dirty="0" err="1">
                  <a:solidFill>
                    <a:schemeClr val="tx1"/>
                  </a:solidFill>
                </a:rPr>
                <a:t>Kapitalflexibilsierung</a:t>
              </a:r>
              <a:r>
                <a:rPr lang="de-DE" sz="800" dirty="0">
                  <a:solidFill>
                    <a:schemeClr val="tx1"/>
                  </a:solidFill>
                </a:rPr>
                <a:t>, u.a. Beteiligung von Investoren an einem Erneuerbare Energien-Bestand von </a:t>
              </a:r>
              <a:br>
                <a:rPr lang="de-DE" sz="800" dirty="0">
                  <a:solidFill>
                    <a:schemeClr val="tx1"/>
                  </a:solidFill>
                </a:rPr>
              </a:br>
              <a:r>
                <a:rPr lang="de-DE" sz="800" dirty="0">
                  <a:solidFill>
                    <a:schemeClr val="tx1"/>
                  </a:solidFill>
                </a:rPr>
                <a:t>150 MW und Pipeline</a:t>
              </a:r>
            </a:p>
          </p:txBody>
        </p:sp>
      </p:grpSp>
      <p:grpSp>
        <p:nvGrpSpPr>
          <p:cNvPr id="42" name="Group 41">
            <a:extLst>
              <a:ext uri="{FF2B5EF4-FFF2-40B4-BE49-F238E27FC236}">
                <a16:creationId xmlns:a16="http://schemas.microsoft.com/office/drawing/2014/main" id="{6B158E5B-0F31-378F-C275-25642ACAC952}"/>
              </a:ext>
            </a:extLst>
          </p:cNvPr>
          <p:cNvGrpSpPr/>
          <p:nvPr/>
        </p:nvGrpSpPr>
        <p:grpSpPr>
          <a:xfrm>
            <a:off x="11251356" y="2066853"/>
            <a:ext cx="1436410" cy="1723692"/>
            <a:chOff x="4962061" y="1332359"/>
            <a:chExt cx="1436410" cy="1723692"/>
          </a:xfrm>
        </p:grpSpPr>
        <p:pic>
          <p:nvPicPr>
            <p:cNvPr id="43" name="Picture 12" descr="\\fss.metzde.metzler.com\profilep$\mgl\Desktop\Ventotec_d_2017.png">
              <a:extLst>
                <a:ext uri="{FF2B5EF4-FFF2-40B4-BE49-F238E27FC236}">
                  <a16:creationId xmlns:a16="http://schemas.microsoft.com/office/drawing/2014/main" id="{9672E9AD-5FC9-C83E-1D10-F5CA40F49F49}"/>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2061" y="1332359"/>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43">
              <a:extLst>
                <a:ext uri="{FF2B5EF4-FFF2-40B4-BE49-F238E27FC236}">
                  <a16:creationId xmlns:a16="http://schemas.microsoft.com/office/drawing/2014/main" id="{04365080-8D8B-CE40-EBA6-9B977CD10378}"/>
                </a:ext>
              </a:extLst>
            </p:cNvPr>
            <p:cNvSpPr>
              <a:spLocks noChangeAspect="1"/>
            </p:cNvSpPr>
            <p:nvPr/>
          </p:nvSpPr>
          <p:spPr>
            <a:xfrm>
              <a:off x="5022656"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800" b="1" dirty="0">
                  <a:solidFill>
                    <a:schemeClr val="tx1"/>
                  </a:solidFill>
                </a:rPr>
                <a:t>Laufendes Kaufmandat für einen deutschen Finanzinvestor</a:t>
              </a: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r>
                <a:rPr lang="de-DE" sz="800" dirty="0">
                  <a:solidFill>
                    <a:schemeClr val="tx1"/>
                  </a:solidFill>
                </a:rPr>
                <a:t>Buy-Side für einen deutschen Finanzinvestor für ein </a:t>
              </a:r>
              <a:br>
                <a:rPr lang="de-DE" sz="800" dirty="0">
                  <a:solidFill>
                    <a:schemeClr val="tx1"/>
                  </a:solidFill>
                </a:rPr>
              </a:br>
              <a:r>
                <a:rPr lang="de-DE" sz="800" dirty="0">
                  <a:solidFill>
                    <a:schemeClr val="tx1"/>
                  </a:solidFill>
                </a:rPr>
                <a:t>160 MW-</a:t>
              </a:r>
              <a:r>
                <a:rPr lang="de-DE" sz="800" dirty="0" err="1">
                  <a:solidFill>
                    <a:schemeClr val="tx1"/>
                  </a:solidFill>
                </a:rPr>
                <a:t>Onshore</a:t>
              </a:r>
              <a:r>
                <a:rPr lang="de-DE" sz="800" dirty="0">
                  <a:solidFill>
                    <a:schemeClr val="tx1"/>
                  </a:solidFill>
                </a:rPr>
                <a:t>-Projekt </a:t>
              </a:r>
              <a:br>
                <a:rPr lang="de-DE" sz="800" dirty="0">
                  <a:solidFill>
                    <a:schemeClr val="tx1"/>
                  </a:solidFill>
                </a:rPr>
              </a:br>
              <a:r>
                <a:rPr lang="de-DE" sz="800" dirty="0">
                  <a:solidFill>
                    <a:schemeClr val="tx1"/>
                  </a:solidFill>
                </a:rPr>
                <a:t>in Schleswig-Holstein</a:t>
              </a:r>
            </a:p>
          </p:txBody>
        </p:sp>
      </p:grpSp>
      <p:pic>
        <p:nvPicPr>
          <p:cNvPr id="9" name="Graphic 8">
            <a:extLst>
              <a:ext uri="{FF2B5EF4-FFF2-40B4-BE49-F238E27FC236}">
                <a16:creationId xmlns:a16="http://schemas.microsoft.com/office/drawing/2014/main" id="{416A3364-3545-E06A-EFEC-EE37293BEE6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619730" y="1752776"/>
            <a:ext cx="597663" cy="597663"/>
          </a:xfrm>
          <a:prstGeom prst="rect">
            <a:avLst/>
          </a:prstGeom>
        </p:spPr>
      </p:pic>
      <p:pic>
        <p:nvPicPr>
          <p:cNvPr id="15" name="Picture 32" descr="\\fss.metzde.metzler.com\profilep$\mgl\Desktop\Breeze_d_2017.png">
            <a:extLst>
              <a:ext uri="{FF2B5EF4-FFF2-40B4-BE49-F238E27FC236}">
                <a16:creationId xmlns:a16="http://schemas.microsoft.com/office/drawing/2014/main" id="{D75B197F-B227-B03F-7472-17DB0867D51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05474" y="2790159"/>
            <a:ext cx="1440000" cy="172565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51">
            <a:extLst>
              <a:ext uri="{FF2B5EF4-FFF2-40B4-BE49-F238E27FC236}">
                <a16:creationId xmlns:a16="http://schemas.microsoft.com/office/drawing/2014/main" id="{E6E1C916-BB20-466D-D7C0-CCC2EBAB98D5}"/>
              </a:ext>
            </a:extLst>
          </p:cNvPr>
          <p:cNvPicPr>
            <a:picLocks noChangeAspect="1"/>
          </p:cNvPicPr>
          <p:nvPr/>
        </p:nvPicPr>
        <p:blipFill>
          <a:blip r:embed="rId23"/>
          <a:stretch>
            <a:fillRect/>
          </a:stretch>
        </p:blipFill>
        <p:spPr>
          <a:xfrm>
            <a:off x="5532901" y="2786908"/>
            <a:ext cx="1440000" cy="1728901"/>
          </a:xfrm>
          <a:prstGeom prst="rect">
            <a:avLst/>
          </a:prstGeom>
          <a:effectLst>
            <a:outerShdw blurRad="50800" dist="38100" dir="2700000" algn="tl" rotWithShape="0">
              <a:prstClr val="black">
                <a:alpha val="40000"/>
              </a:prstClr>
            </a:outerShdw>
          </a:effectLst>
        </p:spPr>
      </p:pic>
      <p:pic>
        <p:nvPicPr>
          <p:cNvPr id="11" name="Picture 3" descr="W:\UKOMM\GRAFIK\STYLE\Tombstones\Tombs_PNG\Dusiburg_Oberhausen_d_2001.png">
            <a:extLst>
              <a:ext uri="{FF2B5EF4-FFF2-40B4-BE49-F238E27FC236}">
                <a16:creationId xmlns:a16="http://schemas.microsoft.com/office/drawing/2014/main" id="{0A0E05BF-2EC2-7633-0D37-C07A021ACB54}"/>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7141656"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2" descr="W:\UKOMM\GRAFIK\STYLE\Tombstones\Tombs_PNG\HB_Abwasser_d_1998.png">
            <a:extLst>
              <a:ext uri="{FF2B5EF4-FFF2-40B4-BE49-F238E27FC236}">
                <a16:creationId xmlns:a16="http://schemas.microsoft.com/office/drawing/2014/main" id="{BB1E60CC-E612-C45F-7490-1327D4861D01}"/>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771762"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1" name="Picture 2" descr="W:\UKOMM\GRAFIK\STYLE\Tombstones\Tombs_PNG\NRWWhitehal_d_2008.png">
            <a:extLst>
              <a:ext uri="{FF2B5EF4-FFF2-40B4-BE49-F238E27FC236}">
                <a16:creationId xmlns:a16="http://schemas.microsoft.com/office/drawing/2014/main" id="{87B61A79-CAEF-78DE-133B-66F281A027A2}"/>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5532901"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9" name="Picture 2" descr="W:\UKOMM\GRAFIK\STYLE\Tombstones\Tombs_PNG\BRD_Hessen_FaM_d_2001.png">
            <a:extLst>
              <a:ext uri="{FF2B5EF4-FFF2-40B4-BE49-F238E27FC236}">
                <a16:creationId xmlns:a16="http://schemas.microsoft.com/office/drawing/2014/main" id="{81D74CB7-DB67-0F65-6B77-C826FC6B9CB5}"/>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0940849" y="5944663"/>
            <a:ext cx="1438057"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1" name="Picture 3" descr="W:\UKOMM\GRAFIK\STYLE\Tombstones\Tombs_PNG\FaM_Waldstadion_d_2004.png">
            <a:extLst>
              <a:ext uri="{FF2B5EF4-FFF2-40B4-BE49-F238E27FC236}">
                <a16:creationId xmlns:a16="http://schemas.microsoft.com/office/drawing/2014/main" id="{5E6FB517-0693-EB68-5473-FEFE66D14144}"/>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2549604" y="5944663"/>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2" descr="W:\UKOMM\GRAFIK\STYLE\Tombstones\Tombs_PNG\MA_MVV_d_2013.png">
            <a:extLst>
              <a:ext uri="{FF2B5EF4-FFF2-40B4-BE49-F238E27FC236}">
                <a16:creationId xmlns:a16="http://schemas.microsoft.com/office/drawing/2014/main" id="{58E4E801-0689-A912-B32A-5E9C1EE18763}"/>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7141656" y="2786908"/>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Picture 3" descr="W:\UKOMM\GRAFIK\STYLE\Tombstones\Tombs_PNG\steag_d_2015.png">
            <a:extLst>
              <a:ext uri="{FF2B5EF4-FFF2-40B4-BE49-F238E27FC236}">
                <a16:creationId xmlns:a16="http://schemas.microsoft.com/office/drawing/2014/main" id="{CDC709B5-602A-9680-6CB5-30E643F1C5FF}"/>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705474" y="4931054"/>
            <a:ext cx="1440000" cy="172673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71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extLst>
              <p:ext uri="{D42A27DB-BD31-4B8C-83A1-F6EECF244321}">
                <p14:modId xmlns:p14="http://schemas.microsoft.com/office/powerpoint/2010/main" val="2480509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a:xfrm>
            <a:off x="381618" y="3616322"/>
            <a:ext cx="9789618" cy="2525713"/>
          </a:xfrm>
        </p:spPr>
        <p:txBody>
          <a:bodyPr vert="horz" lIns="0" tIns="0" rIns="0" bIns="0" rtlCol="0">
            <a:noAutofit/>
          </a:bodyPr>
          <a:lstStyle/>
          <a:p>
            <a:r>
              <a:rPr lang="de-DE" dirty="0"/>
              <a:t>ESWE Versorgungs AG – Übersicht und Herausforderungen</a:t>
            </a:r>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2</a:t>
            </a:r>
          </a:p>
        </p:txBody>
      </p:sp>
    </p:spTree>
    <p:extLst>
      <p:ext uri="{BB962C8B-B14F-4D97-AF65-F5344CB8AC3E}">
        <p14:creationId xmlns:p14="http://schemas.microsoft.com/office/powerpoint/2010/main" val="381745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3412401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vert="horz"/>
          <a:lstStyle/>
          <a:p>
            <a:r>
              <a:rPr lang="de-DE" dirty="0"/>
              <a:t>Die Umsetzung der Wiesbadener Wärmewende bis 2045 erfordert erheblich steigende Investitionen – bei vertraglich vollständig gebundenem Jahresergebnis</a:t>
            </a:r>
          </a:p>
        </p:txBody>
      </p:sp>
      <p:sp>
        <p:nvSpPr>
          <p:cNvPr id="6" name="Text Placeholder 5"/>
          <p:cNvSpPr>
            <a:spLocks noGrp="1"/>
          </p:cNvSpPr>
          <p:nvPr>
            <p:ph type="body" sz="quarter" idx="13"/>
          </p:nvPr>
        </p:nvSpPr>
        <p:spPr/>
        <p:txBody>
          <a:bodyPr/>
          <a:lstStyle/>
          <a:p>
            <a:r>
              <a:rPr lang="de-DE" dirty="0"/>
              <a:t>2. ESWE Versorgungs AG – Übersicht und Herausforderungen</a:t>
            </a:r>
          </a:p>
        </p:txBody>
      </p:sp>
      <p:sp>
        <p:nvSpPr>
          <p:cNvPr id="7" name="Text Placeholder 6"/>
          <p:cNvSpPr>
            <a:spLocks noGrp="1"/>
          </p:cNvSpPr>
          <p:nvPr>
            <p:ph type="body" sz="quarter" idx="14"/>
          </p:nvPr>
        </p:nvSpPr>
        <p:spPr/>
        <p:txBody>
          <a:bodyPr/>
          <a:lstStyle/>
          <a:p>
            <a:r>
              <a:rPr lang="de-DE" dirty="0"/>
              <a:t>Quellen: Metzler-Recherche, Jahres- und Tätigkeitsabschlüsse nach EnWG der ESWE Versorgungs AG 2021–2024, Geschäftsbericht 2025, Unternehmenswebsite</a:t>
            </a:r>
          </a:p>
        </p:txBody>
      </p:sp>
      <p:sp>
        <p:nvSpPr>
          <p:cNvPr id="2" name="Text Placeholder 1"/>
          <p:cNvSpPr>
            <a:spLocks noGrp="1"/>
          </p:cNvSpPr>
          <p:nvPr>
            <p:ph type="body" sz="quarter" idx="12"/>
          </p:nvPr>
        </p:nvSpPr>
        <p:spPr>
          <a:xfrm>
            <a:off x="378700" y="1243937"/>
            <a:ext cx="9936000" cy="271120"/>
          </a:xfrm>
        </p:spPr>
        <p:txBody>
          <a:bodyPr/>
          <a:lstStyle/>
          <a:p>
            <a:r>
              <a:rPr lang="de-DE" dirty="0"/>
              <a:t>Unser Verständnis der Ausgangslage</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p:txBody>
          <a:bodyPr/>
          <a:lstStyle/>
          <a:p>
            <a:r>
              <a:rPr lang="de-DE" dirty="0"/>
              <a:t>1) Der Lagebericht 2025 kündigt eine erhebliche Steigerung des Investitionsvolumens an, beziffert jedoch weder Gesamtvolumen noch Planungshorizont; 2) Unternehmensergebnis vor Ertragsteuern lt. Geschäftsbericht 2025; der Jahresabschluss 2024 weist 84,3 Mio. EUR vor sonstigen Steuern aus</a:t>
            </a:r>
            <a:endParaRPr lang="de-DE" dirty="0"/>
          </a:p>
        </p:txBody>
      </p:sp>
      <p:sp>
        <p:nvSpPr>
          <p:cNvPr id="18" name="Rectangle 17">
            <a:extLst>
              <a:ext uri="{FF2B5EF4-FFF2-40B4-BE49-F238E27FC236}">
                <a16:creationId xmlns:a16="http://schemas.microsoft.com/office/drawing/2014/main" id="{AA5EC36B-EA57-4EED-9674-BDBDC9C5B926}"/>
              </a:ext>
            </a:extLst>
          </p:cNvPr>
          <p:cNvSpPr/>
          <p:nvPr/>
        </p:nvSpPr>
        <p:spPr>
          <a:xfrm>
            <a:off x="378149" y="1620837"/>
            <a:ext cx="1241996" cy="4451190"/>
          </a:xfrm>
          <a:prstGeom prst="rect">
            <a:avLst/>
          </a:prstGeom>
          <a:solidFill>
            <a:schemeClr val="accent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540000" rIns="36000" rtlCol="0" anchor="t"/>
          <a:lstStyle/>
          <a:p>
            <a:pPr algn="ctr"/>
            <a:r>
              <a:rPr lang="de-DE" sz="1050" b="1" dirty="0"/>
              <a:t>Ausgangslage</a:t>
            </a:r>
            <a:endParaRPr lang="de-DE" sz="1050" b="1" dirty="0"/>
          </a:p>
        </p:txBody>
      </p:sp>
      <p:grpSp>
        <p:nvGrpSpPr>
          <p:cNvPr id="27" name="Graphic 24">
            <a:extLst>
              <a:ext uri="{FF2B5EF4-FFF2-40B4-BE49-F238E27FC236}">
                <a16:creationId xmlns:a16="http://schemas.microsoft.com/office/drawing/2014/main" id="{C15C8E93-E86D-42EE-9918-FD785C987507}"/>
              </a:ext>
            </a:extLst>
          </p:cNvPr>
          <p:cNvGrpSpPr>
            <a:grpSpLocks noChangeAspect="1"/>
          </p:cNvGrpSpPr>
          <p:nvPr/>
        </p:nvGrpSpPr>
        <p:grpSpPr>
          <a:xfrm>
            <a:off x="711600" y="3792848"/>
            <a:ext cx="575095" cy="707863"/>
            <a:chOff x="3412238" y="1399652"/>
            <a:chExt cx="3868953" cy="4762137"/>
          </a:xfrm>
          <a:solidFill>
            <a:schemeClr val="bg1"/>
          </a:solidFill>
        </p:grpSpPr>
        <p:sp>
          <p:nvSpPr>
            <p:cNvPr id="29" name="Freeform: Shape 28">
              <a:extLst>
                <a:ext uri="{FF2B5EF4-FFF2-40B4-BE49-F238E27FC236}">
                  <a16:creationId xmlns:a16="http://schemas.microsoft.com/office/drawing/2014/main" id="{C7C5F3D8-7F34-4C2D-BE58-A9C954F642E4}"/>
                </a:ext>
              </a:extLst>
            </p:cNvPr>
            <p:cNvSpPr/>
            <p:nvPr/>
          </p:nvSpPr>
          <p:spPr>
            <a:xfrm>
              <a:off x="3412238" y="1399652"/>
              <a:ext cx="3868953" cy="4762137"/>
            </a:xfrm>
            <a:custGeom>
              <a:avLst/>
              <a:gdLst>
                <a:gd name="connsiteX0" fmla="*/ 3866490 w 3868953"/>
                <a:gd name="connsiteY0" fmla="*/ 800549 h 4762137"/>
                <a:gd name="connsiteX1" fmla="*/ 3843698 w 3868953"/>
                <a:gd name="connsiteY1" fmla="*/ 762694 h 4762137"/>
                <a:gd name="connsiteX2" fmla="*/ 2998223 w 3868953"/>
                <a:gd name="connsiteY2" fmla="*/ 18666 h 4762137"/>
                <a:gd name="connsiteX3" fmla="*/ 2998223 w 3868953"/>
                <a:gd name="connsiteY3" fmla="*/ 18690 h 4762137"/>
                <a:gd name="connsiteX4" fmla="*/ 2949069 w 3868953"/>
                <a:gd name="connsiteY4" fmla="*/ 132 h 4762137"/>
                <a:gd name="connsiteX5" fmla="*/ 243523 w 3868953"/>
                <a:gd name="connsiteY5" fmla="*/ 132 h 4762137"/>
                <a:gd name="connsiteX6" fmla="*/ 72903 w 3868953"/>
                <a:gd name="connsiteY6" fmla="*/ 65209 h 4762137"/>
                <a:gd name="connsiteX7" fmla="*/ 0 w 3868953"/>
                <a:gd name="connsiteY7" fmla="*/ 232628 h 4762137"/>
                <a:gd name="connsiteX8" fmla="*/ 0 w 3868953"/>
                <a:gd name="connsiteY8" fmla="*/ 4548030 h 4762137"/>
                <a:gd name="connsiteX9" fmla="*/ 243523 w 3868953"/>
                <a:gd name="connsiteY9" fmla="*/ 4761944 h 4762137"/>
                <a:gd name="connsiteX10" fmla="*/ 3625424 w 3868953"/>
                <a:gd name="connsiteY10" fmla="*/ 4761944 h 4762137"/>
                <a:gd name="connsiteX11" fmla="*/ 3793215 w 3868953"/>
                <a:gd name="connsiteY11" fmla="*/ 4700558 h 4762137"/>
                <a:gd name="connsiteX12" fmla="*/ 3868953 w 3868953"/>
                <a:gd name="connsiteY12" fmla="*/ 4538722 h 4762137"/>
                <a:gd name="connsiteX13" fmla="*/ 3868953 w 3868953"/>
                <a:gd name="connsiteY13" fmla="*/ 818581 h 4762137"/>
                <a:gd name="connsiteX14" fmla="*/ 3866492 w 3868953"/>
                <a:gd name="connsiteY14" fmla="*/ 800588 h 4762137"/>
                <a:gd name="connsiteX15" fmla="*/ 3589023 w 3868953"/>
                <a:gd name="connsiteY15" fmla="*/ 744160 h 4762137"/>
                <a:gd name="connsiteX16" fmla="*/ 3080264 w 3868953"/>
                <a:gd name="connsiteY16" fmla="*/ 744160 h 4762137"/>
                <a:gd name="connsiteX17" fmla="*/ 2976101 w 3868953"/>
                <a:gd name="connsiteY17" fmla="*/ 669751 h 4762137"/>
                <a:gd name="connsiteX18" fmla="*/ 2976101 w 3868953"/>
                <a:gd name="connsiteY18" fmla="*/ 233378 h 4762137"/>
                <a:gd name="connsiteX19" fmla="*/ 3625426 w 3868953"/>
                <a:gd name="connsiteY19" fmla="*/ 4613133 h 4762137"/>
                <a:gd name="connsiteX20" fmla="*/ 243525 w 3868953"/>
                <a:gd name="connsiteY20" fmla="*/ 4613108 h 4762137"/>
                <a:gd name="connsiteX21" fmla="*/ 148814 w 3868953"/>
                <a:gd name="connsiteY21" fmla="*/ 4548006 h 4762137"/>
                <a:gd name="connsiteX22" fmla="*/ 148814 w 3868953"/>
                <a:gd name="connsiteY22" fmla="*/ 232603 h 4762137"/>
                <a:gd name="connsiteX23" fmla="*/ 178375 w 3868953"/>
                <a:gd name="connsiteY23" fmla="*/ 170627 h 4762137"/>
                <a:gd name="connsiteX24" fmla="*/ 243528 w 3868953"/>
                <a:gd name="connsiteY24" fmla="*/ 148918 h 4762137"/>
                <a:gd name="connsiteX25" fmla="*/ 2827337 w 3868953"/>
                <a:gd name="connsiteY25" fmla="*/ 148918 h 4762137"/>
                <a:gd name="connsiteX26" fmla="*/ 2827337 w 3868953"/>
                <a:gd name="connsiteY26" fmla="*/ 669738 h 4762137"/>
                <a:gd name="connsiteX27" fmla="*/ 3080293 w 3868953"/>
                <a:gd name="connsiteY27" fmla="*/ 892959 h 4762137"/>
                <a:gd name="connsiteX28" fmla="*/ 3720165 w 3868953"/>
                <a:gd name="connsiteY28" fmla="*/ 892934 h 4762137"/>
                <a:gd name="connsiteX29" fmla="*/ 3720165 w 3868953"/>
                <a:gd name="connsiteY29" fmla="*/ 4538660 h 4762137"/>
                <a:gd name="connsiteX30" fmla="*/ 3625454 w 3868953"/>
                <a:gd name="connsiteY30" fmla="*/ 4613069 h 476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68953" h="4762137">
                  <a:moveTo>
                    <a:pt x="3866490" y="800549"/>
                  </a:moveTo>
                  <a:cubicBezTo>
                    <a:pt x="3862749" y="785978"/>
                    <a:pt x="3854823" y="772810"/>
                    <a:pt x="3843698" y="762694"/>
                  </a:cubicBezTo>
                  <a:lnTo>
                    <a:pt x="2998223" y="18666"/>
                  </a:lnTo>
                  <a:lnTo>
                    <a:pt x="2998223" y="18690"/>
                  </a:lnTo>
                  <a:cubicBezTo>
                    <a:pt x="2984636" y="6728"/>
                    <a:pt x="2967160" y="132"/>
                    <a:pt x="2949069" y="132"/>
                  </a:cubicBezTo>
                  <a:lnTo>
                    <a:pt x="243523" y="132"/>
                  </a:lnTo>
                  <a:cubicBezTo>
                    <a:pt x="180216" y="-1985"/>
                    <a:pt x="118706" y="21472"/>
                    <a:pt x="72903" y="65209"/>
                  </a:cubicBezTo>
                  <a:cubicBezTo>
                    <a:pt x="27101" y="108947"/>
                    <a:pt x="813" y="169302"/>
                    <a:pt x="0" y="232628"/>
                  </a:cubicBezTo>
                  <a:lnTo>
                    <a:pt x="0" y="4548030"/>
                  </a:lnTo>
                  <a:cubicBezTo>
                    <a:pt x="0" y="4663982"/>
                    <a:pt x="111522" y="4761944"/>
                    <a:pt x="243523" y="4761944"/>
                  </a:cubicBezTo>
                  <a:lnTo>
                    <a:pt x="3625424" y="4761944"/>
                  </a:lnTo>
                  <a:cubicBezTo>
                    <a:pt x="3687278" y="4764455"/>
                    <a:pt x="3747583" y="4742377"/>
                    <a:pt x="3793215" y="4700558"/>
                  </a:cubicBezTo>
                  <a:cubicBezTo>
                    <a:pt x="3838848" y="4658740"/>
                    <a:pt x="3866068" y="4600554"/>
                    <a:pt x="3868953" y="4538722"/>
                  </a:cubicBezTo>
                  <a:lnTo>
                    <a:pt x="3868953" y="818581"/>
                  </a:lnTo>
                  <a:cubicBezTo>
                    <a:pt x="3868904" y="812501"/>
                    <a:pt x="3868092" y="806471"/>
                    <a:pt x="3866492" y="800588"/>
                  </a:cubicBezTo>
                  <a:close/>
                  <a:moveTo>
                    <a:pt x="3589023" y="744160"/>
                  </a:moveTo>
                  <a:lnTo>
                    <a:pt x="3080264" y="744160"/>
                  </a:lnTo>
                  <a:cubicBezTo>
                    <a:pt x="3023800" y="744160"/>
                    <a:pt x="2976101" y="710070"/>
                    <a:pt x="2976101" y="669751"/>
                  </a:cubicBezTo>
                  <a:lnTo>
                    <a:pt x="2976101" y="233378"/>
                  </a:lnTo>
                  <a:close/>
                  <a:moveTo>
                    <a:pt x="3625426" y="4613133"/>
                  </a:moveTo>
                  <a:lnTo>
                    <a:pt x="243525" y="4613108"/>
                  </a:lnTo>
                  <a:cubicBezTo>
                    <a:pt x="191049" y="4613108"/>
                    <a:pt x="148814" y="4577493"/>
                    <a:pt x="148814" y="4548006"/>
                  </a:cubicBezTo>
                  <a:lnTo>
                    <a:pt x="148814" y="232603"/>
                  </a:lnTo>
                  <a:cubicBezTo>
                    <a:pt x="149823" y="208802"/>
                    <a:pt x="160506" y="186404"/>
                    <a:pt x="178375" y="170627"/>
                  </a:cubicBezTo>
                  <a:cubicBezTo>
                    <a:pt x="196244" y="154825"/>
                    <a:pt x="219750" y="146998"/>
                    <a:pt x="243528" y="148918"/>
                  </a:cubicBezTo>
                  <a:lnTo>
                    <a:pt x="2827337" y="148918"/>
                  </a:lnTo>
                  <a:lnTo>
                    <a:pt x="2827337" y="669738"/>
                  </a:lnTo>
                  <a:cubicBezTo>
                    <a:pt x="2827337" y="792829"/>
                    <a:pt x="2940832" y="892959"/>
                    <a:pt x="3080293" y="892959"/>
                  </a:cubicBezTo>
                  <a:lnTo>
                    <a:pt x="3720165" y="892934"/>
                  </a:lnTo>
                  <a:lnTo>
                    <a:pt x="3720165" y="4538660"/>
                  </a:lnTo>
                  <a:cubicBezTo>
                    <a:pt x="3713347" y="4584688"/>
                    <a:pt x="3671775" y="4617348"/>
                    <a:pt x="3625454" y="4613069"/>
                  </a:cubicBezTo>
                  <a:close/>
                </a:path>
              </a:pathLst>
            </a:custGeom>
            <a:grpFill/>
            <a:ln w="6294" cap="flat">
              <a:noFill/>
              <a:prstDash val="solid"/>
              <a:miter/>
            </a:ln>
          </p:spPr>
          <p:txBody>
            <a:bodyPr rtlCol="0" anchor="ctr"/>
            <a:lstStyle/>
            <a:p>
              <a:endParaRPr lang="de-DE"/>
            </a:p>
          </p:txBody>
        </p:sp>
        <p:sp>
          <p:nvSpPr>
            <p:cNvPr id="30" name="Freeform: Shape 29">
              <a:extLst>
                <a:ext uri="{FF2B5EF4-FFF2-40B4-BE49-F238E27FC236}">
                  <a16:creationId xmlns:a16="http://schemas.microsoft.com/office/drawing/2014/main" id="{595B8A8F-AF3B-4BC6-9534-24EF2387E0E2}"/>
                </a:ext>
              </a:extLst>
            </p:cNvPr>
            <p:cNvSpPr/>
            <p:nvPr/>
          </p:nvSpPr>
          <p:spPr>
            <a:xfrm>
              <a:off x="3858649" y="1883359"/>
              <a:ext cx="1785705" cy="148793"/>
            </a:xfrm>
            <a:custGeom>
              <a:avLst/>
              <a:gdLst>
                <a:gd name="connsiteX0" fmla="*/ 74409 w 1785705"/>
                <a:gd name="connsiteY0" fmla="*/ 148793 h 148793"/>
                <a:gd name="connsiteX1" fmla="*/ 1711297 w 1785705"/>
                <a:gd name="connsiteY1" fmla="*/ 148793 h 148793"/>
                <a:gd name="connsiteX2" fmla="*/ 1785706 w 1785705"/>
                <a:gd name="connsiteY2" fmla="*/ 74384 h 148793"/>
                <a:gd name="connsiteX3" fmla="*/ 1711297 w 1785705"/>
                <a:gd name="connsiteY3" fmla="*/ 0 h 148793"/>
                <a:gd name="connsiteX4" fmla="*/ 74409 w 1785705"/>
                <a:gd name="connsiteY4" fmla="*/ 0 h 148793"/>
                <a:gd name="connsiteX5" fmla="*/ 0 w 1785705"/>
                <a:gd name="connsiteY5" fmla="*/ 74384 h 148793"/>
                <a:gd name="connsiteX6" fmla="*/ 74409 w 1785705"/>
                <a:gd name="connsiteY6" fmla="*/ 148793 h 14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5705" h="148793">
                  <a:moveTo>
                    <a:pt x="74409" y="148793"/>
                  </a:moveTo>
                  <a:lnTo>
                    <a:pt x="1711297" y="148793"/>
                  </a:lnTo>
                  <a:cubicBezTo>
                    <a:pt x="1752376" y="148793"/>
                    <a:pt x="1785706" y="115491"/>
                    <a:pt x="1785706" y="74384"/>
                  </a:cubicBezTo>
                  <a:cubicBezTo>
                    <a:pt x="1785706" y="33304"/>
                    <a:pt x="1752379" y="0"/>
                    <a:pt x="1711297" y="0"/>
                  </a:cubicBezTo>
                  <a:lnTo>
                    <a:pt x="74409" y="0"/>
                  </a:lnTo>
                  <a:cubicBezTo>
                    <a:pt x="33329" y="0"/>
                    <a:pt x="0" y="33302"/>
                    <a:pt x="0" y="74384"/>
                  </a:cubicBezTo>
                  <a:cubicBezTo>
                    <a:pt x="0" y="115488"/>
                    <a:pt x="33327" y="148793"/>
                    <a:pt x="74409" y="148793"/>
                  </a:cubicBezTo>
                  <a:close/>
                </a:path>
              </a:pathLst>
            </a:custGeom>
            <a:grpFill/>
            <a:ln w="6294" cap="flat">
              <a:noFill/>
              <a:prstDash val="solid"/>
              <a:miter/>
            </a:ln>
          </p:spPr>
          <p:txBody>
            <a:bodyPr rtlCol="0" anchor="ctr"/>
            <a:lstStyle/>
            <a:p>
              <a:endParaRPr lang="de-DE"/>
            </a:p>
          </p:txBody>
        </p:sp>
        <p:sp>
          <p:nvSpPr>
            <p:cNvPr id="32" name="Freeform: Shape 31">
              <a:extLst>
                <a:ext uri="{FF2B5EF4-FFF2-40B4-BE49-F238E27FC236}">
                  <a16:creationId xmlns:a16="http://schemas.microsoft.com/office/drawing/2014/main" id="{D464D5A4-98C2-4360-83CB-720EFCA30D8A}"/>
                </a:ext>
              </a:extLst>
            </p:cNvPr>
            <p:cNvSpPr/>
            <p:nvPr/>
          </p:nvSpPr>
          <p:spPr>
            <a:xfrm>
              <a:off x="3858686" y="4115392"/>
              <a:ext cx="520861" cy="371329"/>
            </a:xfrm>
            <a:custGeom>
              <a:avLst/>
              <a:gdLst>
                <a:gd name="connsiteX0" fmla="*/ 399380 w 520861"/>
                <a:gd name="connsiteY0" fmla="*/ 16774 h 371329"/>
                <a:gd name="connsiteX1" fmla="*/ 183985 w 520861"/>
                <a:gd name="connsiteY1" fmla="*/ 192290 h 371329"/>
                <a:gd name="connsiteX2" fmla="*/ 132715 w 520861"/>
                <a:gd name="connsiteY2" fmla="*/ 127509 h 371329"/>
                <a:gd name="connsiteX3" fmla="*/ 132740 w 520861"/>
                <a:gd name="connsiteY3" fmla="*/ 127509 h 371329"/>
                <a:gd name="connsiteX4" fmla="*/ 28256 w 520861"/>
                <a:gd name="connsiteY4" fmla="*/ 115301 h 371329"/>
                <a:gd name="connsiteX5" fmla="*/ 16047 w 520861"/>
                <a:gd name="connsiteY5" fmla="*/ 219785 h 371329"/>
                <a:gd name="connsiteX6" fmla="*/ 114104 w 520861"/>
                <a:gd name="connsiteY6" fmla="*/ 343789 h 371329"/>
                <a:gd name="connsiteX7" fmla="*/ 114080 w 520861"/>
                <a:gd name="connsiteY7" fmla="*/ 343789 h 371329"/>
                <a:gd name="connsiteX8" fmla="*/ 219452 w 520861"/>
                <a:gd name="connsiteY8" fmla="*/ 355333 h 371329"/>
                <a:gd name="connsiteX9" fmla="*/ 493422 w 520861"/>
                <a:gd name="connsiteY9" fmla="*/ 132112 h 371329"/>
                <a:gd name="connsiteX10" fmla="*/ 493397 w 520861"/>
                <a:gd name="connsiteY10" fmla="*/ 132112 h 371329"/>
                <a:gd name="connsiteX11" fmla="*/ 520472 w 520861"/>
                <a:gd name="connsiteY11" fmla="*/ 81975 h 371329"/>
                <a:gd name="connsiteX12" fmla="*/ 504129 w 520861"/>
                <a:gd name="connsiteY12" fmla="*/ 27381 h 371329"/>
                <a:gd name="connsiteX13" fmla="*/ 453967 w 520861"/>
                <a:gd name="connsiteY13" fmla="*/ 380 h 371329"/>
                <a:gd name="connsiteX14" fmla="*/ 399398 w 520861"/>
                <a:gd name="connsiteY14" fmla="*/ 16773 h 371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329">
                  <a:moveTo>
                    <a:pt x="399380" y="16774"/>
                  </a:moveTo>
                  <a:lnTo>
                    <a:pt x="183985" y="192290"/>
                  </a:lnTo>
                  <a:lnTo>
                    <a:pt x="132715" y="127509"/>
                  </a:lnTo>
                  <a:lnTo>
                    <a:pt x="132740" y="127509"/>
                  </a:lnTo>
                  <a:cubicBezTo>
                    <a:pt x="107240" y="95290"/>
                    <a:pt x="60473" y="89825"/>
                    <a:pt x="28256" y="115301"/>
                  </a:cubicBezTo>
                  <a:cubicBezTo>
                    <a:pt x="-3964" y="140776"/>
                    <a:pt x="-9452" y="187568"/>
                    <a:pt x="16047" y="219785"/>
                  </a:cubicBezTo>
                  <a:lnTo>
                    <a:pt x="114104" y="343789"/>
                  </a:lnTo>
                  <a:lnTo>
                    <a:pt x="114080" y="343789"/>
                  </a:lnTo>
                  <a:cubicBezTo>
                    <a:pt x="140343" y="375418"/>
                    <a:pt x="186958" y="380537"/>
                    <a:pt x="219452" y="355333"/>
                  </a:cubicBezTo>
                  <a:lnTo>
                    <a:pt x="493422" y="132112"/>
                  </a:lnTo>
                  <a:lnTo>
                    <a:pt x="493397" y="132112"/>
                  </a:lnTo>
                  <a:cubicBezTo>
                    <a:pt x="508732" y="119657"/>
                    <a:pt x="518454" y="101616"/>
                    <a:pt x="520472" y="81975"/>
                  </a:cubicBezTo>
                  <a:cubicBezTo>
                    <a:pt x="522491" y="62333"/>
                    <a:pt x="516608" y="42691"/>
                    <a:pt x="504129" y="27381"/>
                  </a:cubicBezTo>
                  <a:cubicBezTo>
                    <a:pt x="491649" y="12096"/>
                    <a:pt x="473608" y="2374"/>
                    <a:pt x="453967" y="380"/>
                  </a:cubicBezTo>
                  <a:cubicBezTo>
                    <a:pt x="434300" y="-1614"/>
                    <a:pt x="414683" y="4294"/>
                    <a:pt x="399398" y="16773"/>
                  </a:cubicBezTo>
                  <a:close/>
                </a:path>
              </a:pathLst>
            </a:custGeom>
            <a:grpFill/>
            <a:ln w="6294" cap="flat">
              <a:noFill/>
              <a:prstDash val="solid"/>
              <a:miter/>
            </a:ln>
          </p:spPr>
          <p:txBody>
            <a:bodyPr rtlCol="0" anchor="ctr"/>
            <a:lstStyle/>
            <a:p>
              <a:endParaRPr lang="de-DE"/>
            </a:p>
          </p:txBody>
        </p:sp>
        <p:sp>
          <p:nvSpPr>
            <p:cNvPr id="48" name="Freeform: Shape 47">
              <a:extLst>
                <a:ext uri="{FF2B5EF4-FFF2-40B4-BE49-F238E27FC236}">
                  <a16:creationId xmlns:a16="http://schemas.microsoft.com/office/drawing/2014/main" id="{29F96764-916E-433A-8619-8094CA3B62D8}"/>
                </a:ext>
              </a:extLst>
            </p:cNvPr>
            <p:cNvSpPr/>
            <p:nvPr/>
          </p:nvSpPr>
          <p:spPr>
            <a:xfrm>
              <a:off x="3858686" y="4710652"/>
              <a:ext cx="520861" cy="371511"/>
            </a:xfrm>
            <a:custGeom>
              <a:avLst/>
              <a:gdLst>
                <a:gd name="connsiteX0" fmla="*/ 399380 w 520861"/>
                <a:gd name="connsiteY0" fmla="*/ 16775 h 371511"/>
                <a:gd name="connsiteX1" fmla="*/ 183985 w 520861"/>
                <a:gd name="connsiteY1" fmla="*/ 192291 h 371511"/>
                <a:gd name="connsiteX2" fmla="*/ 132715 w 520861"/>
                <a:gd name="connsiteY2" fmla="*/ 127510 h 371511"/>
                <a:gd name="connsiteX3" fmla="*/ 132740 w 520861"/>
                <a:gd name="connsiteY3" fmla="*/ 127510 h 371511"/>
                <a:gd name="connsiteX4" fmla="*/ 28256 w 520861"/>
                <a:gd name="connsiteY4" fmla="*/ 115301 h 371511"/>
                <a:gd name="connsiteX5" fmla="*/ 16047 w 520861"/>
                <a:gd name="connsiteY5" fmla="*/ 219786 h 371511"/>
                <a:gd name="connsiteX6" fmla="*/ 114104 w 520861"/>
                <a:gd name="connsiteY6" fmla="*/ 343790 h 371511"/>
                <a:gd name="connsiteX7" fmla="*/ 114080 w 520861"/>
                <a:gd name="connsiteY7" fmla="*/ 343790 h 371511"/>
                <a:gd name="connsiteX8" fmla="*/ 219452 w 520861"/>
                <a:gd name="connsiteY8" fmla="*/ 355334 h 371511"/>
                <a:gd name="connsiteX9" fmla="*/ 493422 w 520861"/>
                <a:gd name="connsiteY9" fmla="*/ 132113 h 371511"/>
                <a:gd name="connsiteX10" fmla="*/ 493397 w 520861"/>
                <a:gd name="connsiteY10" fmla="*/ 132113 h 371511"/>
                <a:gd name="connsiteX11" fmla="*/ 520472 w 520861"/>
                <a:gd name="connsiteY11" fmla="*/ 81975 h 371511"/>
                <a:gd name="connsiteX12" fmla="*/ 504129 w 520861"/>
                <a:gd name="connsiteY12" fmla="*/ 27382 h 371511"/>
                <a:gd name="connsiteX13" fmla="*/ 453967 w 520861"/>
                <a:gd name="connsiteY13" fmla="*/ 381 h 371511"/>
                <a:gd name="connsiteX14" fmla="*/ 399398 w 520861"/>
                <a:gd name="connsiteY14" fmla="*/ 16774 h 371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511">
                  <a:moveTo>
                    <a:pt x="399380" y="16775"/>
                  </a:moveTo>
                  <a:lnTo>
                    <a:pt x="183985" y="192291"/>
                  </a:lnTo>
                  <a:lnTo>
                    <a:pt x="132715" y="127510"/>
                  </a:lnTo>
                  <a:lnTo>
                    <a:pt x="132740" y="127510"/>
                  </a:lnTo>
                  <a:cubicBezTo>
                    <a:pt x="107240" y="95291"/>
                    <a:pt x="60473" y="89802"/>
                    <a:pt x="28256" y="115301"/>
                  </a:cubicBezTo>
                  <a:cubicBezTo>
                    <a:pt x="-3964" y="140777"/>
                    <a:pt x="-9452" y="187568"/>
                    <a:pt x="16047" y="219786"/>
                  </a:cubicBezTo>
                  <a:lnTo>
                    <a:pt x="114104" y="343790"/>
                  </a:lnTo>
                  <a:lnTo>
                    <a:pt x="114080" y="343790"/>
                  </a:lnTo>
                  <a:cubicBezTo>
                    <a:pt x="140219" y="375665"/>
                    <a:pt x="187033" y="380784"/>
                    <a:pt x="219452" y="355334"/>
                  </a:cubicBezTo>
                  <a:lnTo>
                    <a:pt x="493422" y="132113"/>
                  </a:lnTo>
                  <a:lnTo>
                    <a:pt x="493397" y="132113"/>
                  </a:lnTo>
                  <a:cubicBezTo>
                    <a:pt x="508732" y="119658"/>
                    <a:pt x="518454" y="101617"/>
                    <a:pt x="520472" y="81975"/>
                  </a:cubicBezTo>
                  <a:cubicBezTo>
                    <a:pt x="522491" y="62334"/>
                    <a:pt x="516608" y="42692"/>
                    <a:pt x="504129" y="27382"/>
                  </a:cubicBezTo>
                  <a:cubicBezTo>
                    <a:pt x="491649" y="12072"/>
                    <a:pt x="473608" y="2375"/>
                    <a:pt x="453967" y="381"/>
                  </a:cubicBezTo>
                  <a:cubicBezTo>
                    <a:pt x="434300" y="-1613"/>
                    <a:pt x="414683" y="4270"/>
                    <a:pt x="399398" y="16774"/>
                  </a:cubicBezTo>
                  <a:close/>
                </a:path>
              </a:pathLst>
            </a:custGeom>
            <a:grpFill/>
            <a:ln w="6294" cap="flat">
              <a:noFill/>
              <a:prstDash val="solid"/>
              <a:miter/>
            </a:ln>
          </p:spPr>
          <p:txBody>
            <a:bodyPr rtlCol="0" anchor="ctr"/>
            <a:lstStyle/>
            <a:p>
              <a:endParaRPr lang="de-DE"/>
            </a:p>
          </p:txBody>
        </p:sp>
        <p:sp>
          <p:nvSpPr>
            <p:cNvPr id="50" name="Freeform: Shape 49">
              <a:extLst>
                <a:ext uri="{FF2B5EF4-FFF2-40B4-BE49-F238E27FC236}">
                  <a16:creationId xmlns:a16="http://schemas.microsoft.com/office/drawing/2014/main" id="{77947B76-9174-4D63-9C69-7712F841197D}"/>
                </a:ext>
              </a:extLst>
            </p:cNvPr>
            <p:cNvSpPr/>
            <p:nvPr/>
          </p:nvSpPr>
          <p:spPr>
            <a:xfrm>
              <a:off x="4602740" y="5305927"/>
              <a:ext cx="2232072" cy="148818"/>
            </a:xfrm>
            <a:custGeom>
              <a:avLst/>
              <a:gdLst>
                <a:gd name="connsiteX0" fmla="*/ 2157663 w 2232072"/>
                <a:gd name="connsiteY0" fmla="*/ 0 h 148818"/>
                <a:gd name="connsiteX1" fmla="*/ 74409 w 2232072"/>
                <a:gd name="connsiteY1" fmla="*/ 0 h 148818"/>
                <a:gd name="connsiteX2" fmla="*/ 0 w 2232072"/>
                <a:gd name="connsiteY2" fmla="*/ 74409 h 148818"/>
                <a:gd name="connsiteX3" fmla="*/ 74409 w 2232072"/>
                <a:gd name="connsiteY3" fmla="*/ 148818 h 148818"/>
                <a:gd name="connsiteX4" fmla="*/ 2157663 w 2232072"/>
                <a:gd name="connsiteY4" fmla="*/ 148818 h 148818"/>
                <a:gd name="connsiteX5" fmla="*/ 2232072 w 2232072"/>
                <a:gd name="connsiteY5" fmla="*/ 74409 h 148818"/>
                <a:gd name="connsiteX6" fmla="*/ 2157663 w 2232072"/>
                <a:gd name="connsiteY6"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2072" h="148818">
                  <a:moveTo>
                    <a:pt x="2157663" y="0"/>
                  </a:moveTo>
                  <a:lnTo>
                    <a:pt x="74409" y="0"/>
                  </a:lnTo>
                  <a:cubicBezTo>
                    <a:pt x="33305" y="0"/>
                    <a:pt x="0" y="33302"/>
                    <a:pt x="0" y="74409"/>
                  </a:cubicBezTo>
                  <a:cubicBezTo>
                    <a:pt x="0" y="115489"/>
                    <a:pt x="33302" y="148818"/>
                    <a:pt x="74409" y="148818"/>
                  </a:cubicBezTo>
                  <a:lnTo>
                    <a:pt x="2157663" y="148818"/>
                  </a:lnTo>
                  <a:cubicBezTo>
                    <a:pt x="2198743" y="148818"/>
                    <a:pt x="2232072" y="115491"/>
                    <a:pt x="2232072" y="74409"/>
                  </a:cubicBezTo>
                  <a:cubicBezTo>
                    <a:pt x="2232072" y="33305"/>
                    <a:pt x="2198745" y="0"/>
                    <a:pt x="2157663" y="0"/>
                  </a:cubicBezTo>
                  <a:close/>
                </a:path>
              </a:pathLst>
            </a:custGeom>
            <a:grpFill/>
            <a:ln w="6294" cap="flat">
              <a:noFill/>
              <a:prstDash val="solid"/>
              <a:miter/>
            </a:ln>
          </p:spPr>
          <p:txBody>
            <a:bodyPr rtlCol="0" anchor="ctr"/>
            <a:lstStyle/>
            <a:p>
              <a:endParaRPr lang="de-DE"/>
            </a:p>
          </p:txBody>
        </p:sp>
        <p:sp>
          <p:nvSpPr>
            <p:cNvPr id="51" name="Freeform: Shape 50">
              <a:extLst>
                <a:ext uri="{FF2B5EF4-FFF2-40B4-BE49-F238E27FC236}">
                  <a16:creationId xmlns:a16="http://schemas.microsoft.com/office/drawing/2014/main" id="{88EF27B2-1F6D-4CB0-B34D-EB233E940B77}"/>
                </a:ext>
              </a:extLst>
            </p:cNvPr>
            <p:cNvSpPr/>
            <p:nvPr/>
          </p:nvSpPr>
          <p:spPr>
            <a:xfrm>
              <a:off x="3858686" y="5305850"/>
              <a:ext cx="520861" cy="371821"/>
            </a:xfrm>
            <a:custGeom>
              <a:avLst/>
              <a:gdLst>
                <a:gd name="connsiteX0" fmla="*/ 399380 w 520861"/>
                <a:gd name="connsiteY0" fmla="*/ 16775 h 371821"/>
                <a:gd name="connsiteX1" fmla="*/ 183985 w 520861"/>
                <a:gd name="connsiteY1" fmla="*/ 192291 h 371821"/>
                <a:gd name="connsiteX2" fmla="*/ 132715 w 520861"/>
                <a:gd name="connsiteY2" fmla="*/ 127510 h 371821"/>
                <a:gd name="connsiteX3" fmla="*/ 132740 w 520861"/>
                <a:gd name="connsiteY3" fmla="*/ 127510 h 371821"/>
                <a:gd name="connsiteX4" fmla="*/ 28256 w 520861"/>
                <a:gd name="connsiteY4" fmla="*/ 115301 h 371821"/>
                <a:gd name="connsiteX5" fmla="*/ 16047 w 520861"/>
                <a:gd name="connsiteY5" fmla="*/ 219785 h 371821"/>
                <a:gd name="connsiteX6" fmla="*/ 114104 w 520861"/>
                <a:gd name="connsiteY6" fmla="*/ 343790 h 371821"/>
                <a:gd name="connsiteX7" fmla="*/ 114080 w 520861"/>
                <a:gd name="connsiteY7" fmla="*/ 343790 h 371821"/>
                <a:gd name="connsiteX8" fmla="*/ 219452 w 520861"/>
                <a:gd name="connsiteY8" fmla="*/ 355334 h 371821"/>
                <a:gd name="connsiteX9" fmla="*/ 493422 w 520861"/>
                <a:gd name="connsiteY9" fmla="*/ 132112 h 371821"/>
                <a:gd name="connsiteX10" fmla="*/ 493397 w 520861"/>
                <a:gd name="connsiteY10" fmla="*/ 132112 h 371821"/>
                <a:gd name="connsiteX11" fmla="*/ 520472 w 520861"/>
                <a:gd name="connsiteY11" fmla="*/ 81975 h 371821"/>
                <a:gd name="connsiteX12" fmla="*/ 504129 w 520861"/>
                <a:gd name="connsiteY12" fmla="*/ 27382 h 371821"/>
                <a:gd name="connsiteX13" fmla="*/ 453967 w 520861"/>
                <a:gd name="connsiteY13" fmla="*/ 381 h 371821"/>
                <a:gd name="connsiteX14" fmla="*/ 399374 w 520861"/>
                <a:gd name="connsiteY14" fmla="*/ 16774 h 37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821">
                  <a:moveTo>
                    <a:pt x="399380" y="16775"/>
                  </a:moveTo>
                  <a:lnTo>
                    <a:pt x="183985" y="192291"/>
                  </a:lnTo>
                  <a:lnTo>
                    <a:pt x="132715" y="127510"/>
                  </a:lnTo>
                  <a:lnTo>
                    <a:pt x="132740" y="127510"/>
                  </a:lnTo>
                  <a:cubicBezTo>
                    <a:pt x="107240" y="95266"/>
                    <a:pt x="60473" y="89801"/>
                    <a:pt x="28256" y="115301"/>
                  </a:cubicBezTo>
                  <a:cubicBezTo>
                    <a:pt x="-3964" y="140776"/>
                    <a:pt x="-9452" y="187543"/>
                    <a:pt x="16047" y="219785"/>
                  </a:cubicBezTo>
                  <a:lnTo>
                    <a:pt x="114104" y="343790"/>
                  </a:lnTo>
                  <a:lnTo>
                    <a:pt x="114080" y="343790"/>
                  </a:lnTo>
                  <a:cubicBezTo>
                    <a:pt x="139998" y="376059"/>
                    <a:pt x="187159" y="381227"/>
                    <a:pt x="219452" y="355334"/>
                  </a:cubicBezTo>
                  <a:lnTo>
                    <a:pt x="493422" y="132112"/>
                  </a:lnTo>
                  <a:lnTo>
                    <a:pt x="493397" y="132112"/>
                  </a:lnTo>
                  <a:cubicBezTo>
                    <a:pt x="508732" y="119658"/>
                    <a:pt x="518454" y="101617"/>
                    <a:pt x="520472" y="81975"/>
                  </a:cubicBezTo>
                  <a:cubicBezTo>
                    <a:pt x="522491" y="62334"/>
                    <a:pt x="516608" y="42692"/>
                    <a:pt x="504129" y="27382"/>
                  </a:cubicBezTo>
                  <a:cubicBezTo>
                    <a:pt x="491649" y="12072"/>
                    <a:pt x="473608" y="2350"/>
                    <a:pt x="453967" y="381"/>
                  </a:cubicBezTo>
                  <a:cubicBezTo>
                    <a:pt x="434300" y="-1613"/>
                    <a:pt x="414683" y="4270"/>
                    <a:pt x="399374" y="16774"/>
                  </a:cubicBezTo>
                  <a:close/>
                </a:path>
              </a:pathLst>
            </a:custGeom>
            <a:grpFill/>
            <a:ln w="6294" cap="flat">
              <a:noFill/>
              <a:prstDash val="solid"/>
              <a:miter/>
            </a:ln>
          </p:spPr>
          <p:txBody>
            <a:bodyPr rtlCol="0" anchor="ctr"/>
            <a:lstStyle/>
            <a:p>
              <a:endParaRPr lang="de-DE"/>
            </a:p>
          </p:txBody>
        </p:sp>
        <p:sp>
          <p:nvSpPr>
            <p:cNvPr id="52" name="Freeform: Shape 51">
              <a:extLst>
                <a:ext uri="{FF2B5EF4-FFF2-40B4-BE49-F238E27FC236}">
                  <a16:creationId xmlns:a16="http://schemas.microsoft.com/office/drawing/2014/main" id="{EE5E53CA-89DB-4107-8A85-F6D1BEDF7DF8}"/>
                </a:ext>
              </a:extLst>
            </p:cNvPr>
            <p:cNvSpPr/>
            <p:nvPr/>
          </p:nvSpPr>
          <p:spPr>
            <a:xfrm>
              <a:off x="4602696" y="4710685"/>
              <a:ext cx="1144056" cy="148818"/>
            </a:xfrm>
            <a:custGeom>
              <a:avLst/>
              <a:gdLst>
                <a:gd name="connsiteX0" fmla="*/ 74390 w 1144056"/>
                <a:gd name="connsiteY0" fmla="*/ 148812 h 148818"/>
                <a:gd name="connsiteX1" fmla="*/ 1144057 w 1144056"/>
                <a:gd name="connsiteY1" fmla="*/ 148812 h 148818"/>
                <a:gd name="connsiteX2" fmla="*/ 995245 w 1144056"/>
                <a:gd name="connsiteY2" fmla="*/ 0 h 148818"/>
                <a:gd name="connsiteX3" fmla="*/ 74409 w 1144056"/>
                <a:gd name="connsiteY3" fmla="*/ 0 h 148818"/>
                <a:gd name="connsiteX4" fmla="*/ 0 w 1144056"/>
                <a:gd name="connsiteY4" fmla="*/ 74409 h 148818"/>
                <a:gd name="connsiteX5" fmla="*/ 74409 w 1144056"/>
                <a:gd name="connsiteY5" fmla="*/ 148818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4056" h="148818">
                  <a:moveTo>
                    <a:pt x="74390" y="148812"/>
                  </a:moveTo>
                  <a:lnTo>
                    <a:pt x="1144057" y="148812"/>
                  </a:lnTo>
                  <a:lnTo>
                    <a:pt x="995245" y="0"/>
                  </a:lnTo>
                  <a:lnTo>
                    <a:pt x="74409" y="0"/>
                  </a:lnTo>
                  <a:cubicBezTo>
                    <a:pt x="33305" y="0"/>
                    <a:pt x="0" y="33327"/>
                    <a:pt x="0" y="74409"/>
                  </a:cubicBezTo>
                  <a:cubicBezTo>
                    <a:pt x="0" y="115489"/>
                    <a:pt x="33302" y="148818"/>
                    <a:pt x="74409" y="148818"/>
                  </a:cubicBezTo>
                  <a:close/>
                </a:path>
              </a:pathLst>
            </a:custGeom>
            <a:grpFill/>
            <a:ln w="6294" cap="flat">
              <a:noFill/>
              <a:prstDash val="solid"/>
              <a:miter/>
            </a:ln>
          </p:spPr>
          <p:txBody>
            <a:bodyPr rtlCol="0" anchor="ctr"/>
            <a:lstStyle/>
            <a:p>
              <a:endParaRPr lang="de-DE"/>
            </a:p>
          </p:txBody>
        </p:sp>
        <p:sp>
          <p:nvSpPr>
            <p:cNvPr id="53" name="Freeform: Shape 52">
              <a:extLst>
                <a:ext uri="{FF2B5EF4-FFF2-40B4-BE49-F238E27FC236}">
                  <a16:creationId xmlns:a16="http://schemas.microsoft.com/office/drawing/2014/main" id="{0FA08784-B9D7-4898-8E17-12E9B7E2B353}"/>
                </a:ext>
              </a:extLst>
            </p:cNvPr>
            <p:cNvSpPr/>
            <p:nvPr/>
          </p:nvSpPr>
          <p:spPr>
            <a:xfrm>
              <a:off x="6601176" y="4710660"/>
              <a:ext cx="233631" cy="148818"/>
            </a:xfrm>
            <a:custGeom>
              <a:avLst/>
              <a:gdLst>
                <a:gd name="connsiteX0" fmla="*/ 159227 w 233631"/>
                <a:gd name="connsiteY0" fmla="*/ 6 h 148818"/>
                <a:gd name="connsiteX1" fmla="*/ 0 w 233631"/>
                <a:gd name="connsiteY1" fmla="*/ 6 h 148818"/>
                <a:gd name="connsiteX2" fmla="*/ 1526 w 233631"/>
                <a:gd name="connsiteY2" fmla="*/ 148818 h 148818"/>
                <a:gd name="connsiteX3" fmla="*/ 159222 w 233631"/>
                <a:gd name="connsiteY3" fmla="*/ 148818 h 148818"/>
                <a:gd name="connsiteX4" fmla="*/ 233632 w 233631"/>
                <a:gd name="connsiteY4" fmla="*/ 74409 h 148818"/>
                <a:gd name="connsiteX5" fmla="*/ 159222 w 233631"/>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631" h="148818">
                  <a:moveTo>
                    <a:pt x="159227" y="6"/>
                  </a:moveTo>
                  <a:lnTo>
                    <a:pt x="0" y="6"/>
                  </a:lnTo>
                  <a:cubicBezTo>
                    <a:pt x="13341" y="48643"/>
                    <a:pt x="13857" y="99910"/>
                    <a:pt x="1526" y="148818"/>
                  </a:cubicBezTo>
                  <a:lnTo>
                    <a:pt x="159222" y="148818"/>
                  </a:lnTo>
                  <a:cubicBezTo>
                    <a:pt x="200302" y="148818"/>
                    <a:pt x="233632" y="115491"/>
                    <a:pt x="233632" y="74409"/>
                  </a:cubicBezTo>
                  <a:cubicBezTo>
                    <a:pt x="233632" y="33329"/>
                    <a:pt x="200305" y="0"/>
                    <a:pt x="159222" y="0"/>
                  </a:cubicBezTo>
                  <a:close/>
                </a:path>
              </a:pathLst>
            </a:custGeom>
            <a:grpFill/>
            <a:ln w="6294" cap="flat">
              <a:noFill/>
              <a:prstDash val="solid"/>
              <a:miter/>
            </a:ln>
          </p:spPr>
          <p:txBody>
            <a:bodyPr rtlCol="0" anchor="ctr"/>
            <a:lstStyle/>
            <a:p>
              <a:endParaRPr lang="de-DE"/>
            </a:p>
          </p:txBody>
        </p:sp>
        <p:sp>
          <p:nvSpPr>
            <p:cNvPr id="54" name="Freeform: Shape 53">
              <a:extLst>
                <a:ext uri="{FF2B5EF4-FFF2-40B4-BE49-F238E27FC236}">
                  <a16:creationId xmlns:a16="http://schemas.microsoft.com/office/drawing/2014/main" id="{ADE4F821-4E52-4891-90DB-C6BDC8F209C1}"/>
                </a:ext>
              </a:extLst>
            </p:cNvPr>
            <p:cNvSpPr/>
            <p:nvPr/>
          </p:nvSpPr>
          <p:spPr>
            <a:xfrm>
              <a:off x="6062751" y="4115462"/>
              <a:ext cx="772055" cy="148818"/>
            </a:xfrm>
            <a:custGeom>
              <a:avLst/>
              <a:gdLst>
                <a:gd name="connsiteX0" fmla="*/ 697652 w 772055"/>
                <a:gd name="connsiteY0" fmla="*/ 7 h 148818"/>
                <a:gd name="connsiteX1" fmla="*/ 0 w 772055"/>
                <a:gd name="connsiteY1" fmla="*/ 7 h 148818"/>
                <a:gd name="connsiteX2" fmla="*/ 148812 w 772055"/>
                <a:gd name="connsiteY2" fmla="*/ 148819 h 148818"/>
                <a:gd name="connsiteX3" fmla="*/ 697646 w 772055"/>
                <a:gd name="connsiteY3" fmla="*/ 148819 h 148818"/>
                <a:gd name="connsiteX4" fmla="*/ 772055 w 772055"/>
                <a:gd name="connsiteY4" fmla="*/ 74409 h 148818"/>
                <a:gd name="connsiteX5" fmla="*/ 697646 w 772055"/>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055" h="148818">
                  <a:moveTo>
                    <a:pt x="697652" y="7"/>
                  </a:moveTo>
                  <a:lnTo>
                    <a:pt x="0" y="7"/>
                  </a:lnTo>
                  <a:lnTo>
                    <a:pt x="148812" y="148819"/>
                  </a:lnTo>
                  <a:lnTo>
                    <a:pt x="697646" y="148819"/>
                  </a:lnTo>
                  <a:cubicBezTo>
                    <a:pt x="738726" y="148819"/>
                    <a:pt x="772055" y="115516"/>
                    <a:pt x="772055" y="74409"/>
                  </a:cubicBezTo>
                  <a:cubicBezTo>
                    <a:pt x="772055" y="33330"/>
                    <a:pt x="738728" y="0"/>
                    <a:pt x="697646" y="0"/>
                  </a:cubicBezTo>
                  <a:close/>
                </a:path>
              </a:pathLst>
            </a:custGeom>
            <a:grpFill/>
            <a:ln w="6294" cap="flat">
              <a:noFill/>
              <a:prstDash val="solid"/>
              <a:miter/>
            </a:ln>
          </p:spPr>
          <p:txBody>
            <a:bodyPr rtlCol="0" anchor="ctr"/>
            <a:lstStyle/>
            <a:p>
              <a:endParaRPr lang="de-DE"/>
            </a:p>
          </p:txBody>
        </p:sp>
        <p:sp>
          <p:nvSpPr>
            <p:cNvPr id="55" name="Freeform: Shape 54">
              <a:extLst>
                <a:ext uri="{FF2B5EF4-FFF2-40B4-BE49-F238E27FC236}">
                  <a16:creationId xmlns:a16="http://schemas.microsoft.com/office/drawing/2014/main" id="{7A03B239-387F-48A8-B64F-C023DEE84850}"/>
                </a:ext>
              </a:extLst>
            </p:cNvPr>
            <p:cNvSpPr/>
            <p:nvPr/>
          </p:nvSpPr>
          <p:spPr>
            <a:xfrm>
              <a:off x="4602679" y="4115201"/>
              <a:ext cx="548832" cy="149039"/>
            </a:xfrm>
            <a:custGeom>
              <a:avLst/>
              <a:gdLst>
                <a:gd name="connsiteX0" fmla="*/ 74407 w 548832"/>
                <a:gd name="connsiteY0" fmla="*/ 149036 h 149039"/>
                <a:gd name="connsiteX1" fmla="*/ 548833 w 548832"/>
                <a:gd name="connsiteY1" fmla="*/ 149036 h 149039"/>
                <a:gd name="connsiteX2" fmla="*/ 456825 w 548832"/>
                <a:gd name="connsiteY2" fmla="*/ 224 h 149039"/>
                <a:gd name="connsiteX3" fmla="*/ 83563 w 548832"/>
                <a:gd name="connsiteY3" fmla="*/ 224 h 149039"/>
                <a:gd name="connsiteX4" fmla="*/ 25967 w 548832"/>
                <a:gd name="connsiteY4" fmla="*/ 19668 h 149039"/>
                <a:gd name="connsiteX5" fmla="*/ 0 w 548832"/>
                <a:gd name="connsiteY5" fmla="*/ 74631 h 149039"/>
                <a:gd name="connsiteX6" fmla="*/ 74409 w 548832"/>
                <a:gd name="connsiteY6" fmla="*/ 149040 h 14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832" h="149039">
                  <a:moveTo>
                    <a:pt x="74407" y="149036"/>
                  </a:moveTo>
                  <a:lnTo>
                    <a:pt x="548833" y="149036"/>
                  </a:lnTo>
                  <a:cubicBezTo>
                    <a:pt x="505266" y="108670"/>
                    <a:pt x="473466" y="57230"/>
                    <a:pt x="456825" y="224"/>
                  </a:cubicBezTo>
                  <a:lnTo>
                    <a:pt x="83563" y="224"/>
                  </a:lnTo>
                  <a:cubicBezTo>
                    <a:pt x="62518" y="-1376"/>
                    <a:pt x="41720" y="5639"/>
                    <a:pt x="25967" y="19668"/>
                  </a:cubicBezTo>
                  <a:cubicBezTo>
                    <a:pt x="10215" y="33698"/>
                    <a:pt x="837" y="53537"/>
                    <a:pt x="0" y="74631"/>
                  </a:cubicBezTo>
                  <a:cubicBezTo>
                    <a:pt x="0" y="115735"/>
                    <a:pt x="33302" y="149040"/>
                    <a:pt x="74409" y="149040"/>
                  </a:cubicBezTo>
                  <a:close/>
                </a:path>
              </a:pathLst>
            </a:custGeom>
            <a:grpFill/>
            <a:ln w="6294" cap="flat">
              <a:noFill/>
              <a:prstDash val="solid"/>
              <a:miter/>
            </a:ln>
          </p:spPr>
          <p:txBody>
            <a:bodyPr rtlCol="0" anchor="ctr"/>
            <a:lstStyle/>
            <a:p>
              <a:endParaRPr lang="de-DE"/>
            </a:p>
          </p:txBody>
        </p:sp>
        <p:sp>
          <p:nvSpPr>
            <p:cNvPr id="56" name="Freeform: Shape 55">
              <a:extLst>
                <a:ext uri="{FF2B5EF4-FFF2-40B4-BE49-F238E27FC236}">
                  <a16:creationId xmlns:a16="http://schemas.microsoft.com/office/drawing/2014/main" id="{7A1A7D43-603A-46D1-9E16-27C9DF4C38FF}"/>
                </a:ext>
              </a:extLst>
            </p:cNvPr>
            <p:cNvSpPr/>
            <p:nvPr/>
          </p:nvSpPr>
          <p:spPr>
            <a:xfrm>
              <a:off x="5410212" y="3520205"/>
              <a:ext cx="1424574" cy="148818"/>
            </a:xfrm>
            <a:custGeom>
              <a:avLst/>
              <a:gdLst>
                <a:gd name="connsiteX0" fmla="*/ 1350191 w 1424574"/>
                <a:gd name="connsiteY0" fmla="*/ 3 h 148818"/>
                <a:gd name="connsiteX1" fmla="*/ 55577 w 1424574"/>
                <a:gd name="connsiteY1" fmla="*/ 3 h 148818"/>
                <a:gd name="connsiteX2" fmla="*/ 0 w 1424574"/>
                <a:gd name="connsiteY2" fmla="*/ 115344 h 148818"/>
                <a:gd name="connsiteX3" fmla="*/ 45092 w 1424574"/>
                <a:gd name="connsiteY3" fmla="*/ 111628 h 148818"/>
                <a:gd name="connsiteX4" fmla="*/ 189448 w 1424574"/>
                <a:gd name="connsiteY4" fmla="*/ 148819 h 148818"/>
                <a:gd name="connsiteX5" fmla="*/ 1350166 w 1424574"/>
                <a:gd name="connsiteY5" fmla="*/ 148819 h 148818"/>
                <a:gd name="connsiteX6" fmla="*/ 1424575 w 1424574"/>
                <a:gd name="connsiteY6" fmla="*/ 74409 h 148818"/>
                <a:gd name="connsiteX7" fmla="*/ 1350166 w 1424574"/>
                <a:gd name="connsiteY7"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4574" h="148818">
                  <a:moveTo>
                    <a:pt x="1350191" y="3"/>
                  </a:moveTo>
                  <a:lnTo>
                    <a:pt x="55577" y="3"/>
                  </a:lnTo>
                  <a:cubicBezTo>
                    <a:pt x="39628" y="39632"/>
                    <a:pt x="21069" y="78174"/>
                    <a:pt x="0" y="115344"/>
                  </a:cubicBezTo>
                  <a:cubicBezTo>
                    <a:pt x="14916" y="112981"/>
                    <a:pt x="29979" y="111726"/>
                    <a:pt x="45092" y="111628"/>
                  </a:cubicBezTo>
                  <a:cubicBezTo>
                    <a:pt x="95574" y="111554"/>
                    <a:pt x="145266" y="124353"/>
                    <a:pt x="189448" y="148819"/>
                  </a:cubicBezTo>
                  <a:lnTo>
                    <a:pt x="1350166" y="148819"/>
                  </a:lnTo>
                  <a:cubicBezTo>
                    <a:pt x="1391245" y="148819"/>
                    <a:pt x="1424575" y="115516"/>
                    <a:pt x="1424575" y="74409"/>
                  </a:cubicBezTo>
                  <a:cubicBezTo>
                    <a:pt x="1424575" y="33330"/>
                    <a:pt x="1391248" y="0"/>
                    <a:pt x="1350166" y="0"/>
                  </a:cubicBezTo>
                  <a:close/>
                </a:path>
              </a:pathLst>
            </a:custGeom>
            <a:grpFill/>
            <a:ln w="6294" cap="flat">
              <a:noFill/>
              <a:prstDash val="solid"/>
              <a:miter/>
            </a:ln>
          </p:spPr>
          <p:txBody>
            <a:bodyPr rtlCol="0" anchor="ctr"/>
            <a:lstStyle/>
            <a:p>
              <a:endParaRPr lang="de-DE"/>
            </a:p>
          </p:txBody>
        </p:sp>
        <p:sp>
          <p:nvSpPr>
            <p:cNvPr id="57" name="Freeform: Shape 56">
              <a:extLst>
                <a:ext uri="{FF2B5EF4-FFF2-40B4-BE49-F238E27FC236}">
                  <a16:creationId xmlns:a16="http://schemas.microsoft.com/office/drawing/2014/main" id="{7BD36BB3-9198-477B-8617-DB542C59F6C7}"/>
                </a:ext>
              </a:extLst>
            </p:cNvPr>
            <p:cNvSpPr/>
            <p:nvPr/>
          </p:nvSpPr>
          <p:spPr>
            <a:xfrm>
              <a:off x="5514496" y="2925005"/>
              <a:ext cx="1320291" cy="148792"/>
            </a:xfrm>
            <a:custGeom>
              <a:avLst/>
              <a:gdLst>
                <a:gd name="connsiteX0" fmla="*/ 1245907 w 1320291"/>
                <a:gd name="connsiteY0" fmla="*/ 6 h 148792"/>
                <a:gd name="connsiteX1" fmla="*/ 0 w 1320291"/>
                <a:gd name="connsiteY1" fmla="*/ 6 h 148792"/>
                <a:gd name="connsiteX2" fmla="*/ 22029 w 1320291"/>
                <a:gd name="connsiteY2" fmla="*/ 148793 h 148792"/>
                <a:gd name="connsiteX3" fmla="*/ 1245882 w 1320291"/>
                <a:gd name="connsiteY3" fmla="*/ 148793 h 148792"/>
                <a:gd name="connsiteX4" fmla="*/ 1320292 w 1320291"/>
                <a:gd name="connsiteY4" fmla="*/ 74384 h 148792"/>
                <a:gd name="connsiteX5" fmla="*/ 1245882 w 1320291"/>
                <a:gd name="connsiteY5" fmla="*/ 0 h 1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291" h="148792">
                  <a:moveTo>
                    <a:pt x="1245907" y="6"/>
                  </a:moveTo>
                  <a:lnTo>
                    <a:pt x="0" y="6"/>
                  </a:lnTo>
                  <a:cubicBezTo>
                    <a:pt x="11076" y="48987"/>
                    <a:pt x="18436" y="98706"/>
                    <a:pt x="22029" y="148793"/>
                  </a:cubicBezTo>
                  <a:lnTo>
                    <a:pt x="1245882" y="148793"/>
                  </a:lnTo>
                  <a:cubicBezTo>
                    <a:pt x="1286962" y="148793"/>
                    <a:pt x="1320292" y="115491"/>
                    <a:pt x="1320292" y="74384"/>
                  </a:cubicBezTo>
                  <a:cubicBezTo>
                    <a:pt x="1320292" y="33304"/>
                    <a:pt x="1286965" y="0"/>
                    <a:pt x="1245882" y="0"/>
                  </a:cubicBezTo>
                  <a:close/>
                </a:path>
              </a:pathLst>
            </a:custGeom>
            <a:grpFill/>
            <a:ln w="6294" cap="flat">
              <a:noFill/>
              <a:prstDash val="solid"/>
              <a:miter/>
            </a:ln>
          </p:spPr>
          <p:txBody>
            <a:bodyPr rtlCol="0" anchor="ctr"/>
            <a:lstStyle/>
            <a:p>
              <a:endParaRPr lang="de-DE"/>
            </a:p>
          </p:txBody>
        </p:sp>
        <p:sp>
          <p:nvSpPr>
            <p:cNvPr id="58" name="Freeform: Shape 57">
              <a:extLst>
                <a:ext uri="{FF2B5EF4-FFF2-40B4-BE49-F238E27FC236}">
                  <a16:creationId xmlns:a16="http://schemas.microsoft.com/office/drawing/2014/main" id="{E6CBD6AA-6033-4E61-A162-BB639BFDD687}"/>
                </a:ext>
              </a:extLst>
            </p:cNvPr>
            <p:cNvSpPr/>
            <p:nvPr/>
          </p:nvSpPr>
          <p:spPr>
            <a:xfrm>
              <a:off x="4995163" y="2255348"/>
              <a:ext cx="946789" cy="148818"/>
            </a:xfrm>
            <a:custGeom>
              <a:avLst/>
              <a:gdLst>
                <a:gd name="connsiteX0" fmla="*/ 214677 w 946789"/>
                <a:gd name="connsiteY0" fmla="*/ 148818 h 148818"/>
                <a:gd name="connsiteX1" fmla="*/ 872380 w 946789"/>
                <a:gd name="connsiteY1" fmla="*/ 148818 h 148818"/>
                <a:gd name="connsiteX2" fmla="*/ 946790 w 946789"/>
                <a:gd name="connsiteY2" fmla="*/ 74409 h 148818"/>
                <a:gd name="connsiteX3" fmla="*/ 872380 w 946789"/>
                <a:gd name="connsiteY3" fmla="*/ 0 h 148818"/>
                <a:gd name="connsiteX4" fmla="*/ 0 w 946789"/>
                <a:gd name="connsiteY4" fmla="*/ 0 h 148818"/>
                <a:gd name="connsiteX5" fmla="*/ 214727 w 946789"/>
                <a:gd name="connsiteY5" fmla="*/ 148812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6789" h="148818">
                  <a:moveTo>
                    <a:pt x="214677" y="148818"/>
                  </a:moveTo>
                  <a:lnTo>
                    <a:pt x="872380" y="148818"/>
                  </a:lnTo>
                  <a:cubicBezTo>
                    <a:pt x="913485" y="148818"/>
                    <a:pt x="946790" y="115491"/>
                    <a:pt x="946790" y="74409"/>
                  </a:cubicBezTo>
                  <a:cubicBezTo>
                    <a:pt x="946790" y="33305"/>
                    <a:pt x="913487" y="0"/>
                    <a:pt x="872380" y="0"/>
                  </a:cubicBezTo>
                  <a:lnTo>
                    <a:pt x="0" y="0"/>
                  </a:lnTo>
                  <a:cubicBezTo>
                    <a:pt x="77755" y="40022"/>
                    <a:pt x="149946" y="90036"/>
                    <a:pt x="214727" y="148812"/>
                  </a:cubicBezTo>
                  <a:close/>
                </a:path>
              </a:pathLst>
            </a:custGeom>
            <a:grpFill/>
            <a:ln w="6294" cap="flat">
              <a:noFill/>
              <a:prstDash val="solid"/>
              <a:miter/>
            </a:ln>
          </p:spPr>
          <p:txBody>
            <a:bodyPr rtlCol="0" anchor="ctr"/>
            <a:lstStyle/>
            <a:p>
              <a:endParaRPr lang="de-DE"/>
            </a:p>
          </p:txBody>
        </p:sp>
        <p:sp>
          <p:nvSpPr>
            <p:cNvPr id="59" name="Freeform: Shape 58">
              <a:extLst>
                <a:ext uri="{FF2B5EF4-FFF2-40B4-BE49-F238E27FC236}">
                  <a16:creationId xmlns:a16="http://schemas.microsoft.com/office/drawing/2014/main" id="{56888D54-0F9B-445A-83F5-1986AF0D9B00}"/>
                </a:ext>
              </a:extLst>
            </p:cNvPr>
            <p:cNvSpPr/>
            <p:nvPr/>
          </p:nvSpPr>
          <p:spPr>
            <a:xfrm>
              <a:off x="3858634" y="2255398"/>
              <a:ext cx="223657" cy="133774"/>
            </a:xfrm>
            <a:custGeom>
              <a:avLst/>
              <a:gdLst>
                <a:gd name="connsiteX0" fmla="*/ 30001 w 223657"/>
                <a:gd name="connsiteY0" fmla="*/ 133772 h 133774"/>
                <a:gd name="connsiteX1" fmla="*/ 223658 w 223657"/>
                <a:gd name="connsiteY1" fmla="*/ 0 h 133774"/>
                <a:gd name="connsiteX2" fmla="*/ 74398 w 223657"/>
                <a:gd name="connsiteY2" fmla="*/ 0 h 133774"/>
                <a:gd name="connsiteX3" fmla="*/ 3783 w 223657"/>
                <a:gd name="connsiteY3" fmla="*/ 50827 h 133774"/>
                <a:gd name="connsiteX4" fmla="*/ 29996 w 223657"/>
                <a:gd name="connsiteY4" fmla="*/ 133774 h 133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57" h="133774">
                  <a:moveTo>
                    <a:pt x="30001" y="133772"/>
                  </a:moveTo>
                  <a:cubicBezTo>
                    <a:pt x="88852" y="81443"/>
                    <a:pt x="153905" y="36521"/>
                    <a:pt x="223658" y="0"/>
                  </a:cubicBezTo>
                  <a:lnTo>
                    <a:pt x="74398" y="0"/>
                  </a:lnTo>
                  <a:cubicBezTo>
                    <a:pt x="42352" y="-98"/>
                    <a:pt x="13874" y="20405"/>
                    <a:pt x="3783" y="50827"/>
                  </a:cubicBezTo>
                  <a:cubicBezTo>
                    <a:pt x="-6309" y="81225"/>
                    <a:pt x="4250" y="114701"/>
                    <a:pt x="29996" y="133774"/>
                  </a:cubicBezTo>
                  <a:close/>
                </a:path>
              </a:pathLst>
            </a:custGeom>
            <a:grpFill/>
            <a:ln w="6294" cap="flat">
              <a:noFill/>
              <a:prstDash val="solid"/>
              <a:miter/>
            </a:ln>
          </p:spPr>
          <p:txBody>
            <a:bodyPr rtlCol="0" anchor="ctr"/>
            <a:lstStyle/>
            <a:p>
              <a:endParaRPr lang="de-DE"/>
            </a:p>
          </p:txBody>
        </p:sp>
        <p:sp>
          <p:nvSpPr>
            <p:cNvPr id="60" name="Freeform: Shape 59">
              <a:extLst>
                <a:ext uri="{FF2B5EF4-FFF2-40B4-BE49-F238E27FC236}">
                  <a16:creationId xmlns:a16="http://schemas.microsoft.com/office/drawing/2014/main" id="{D298BDC8-C327-45DD-A20E-310B6FE2D739}"/>
                </a:ext>
              </a:extLst>
            </p:cNvPr>
            <p:cNvSpPr/>
            <p:nvPr/>
          </p:nvSpPr>
          <p:spPr>
            <a:xfrm>
              <a:off x="3707454" y="2290261"/>
              <a:ext cx="2755282" cy="2755242"/>
            </a:xfrm>
            <a:custGeom>
              <a:avLst/>
              <a:gdLst>
                <a:gd name="connsiteX0" fmla="*/ 1535403 w 2755282"/>
                <a:gd name="connsiteY0" fmla="*/ 1640587 h 2755242"/>
                <a:gd name="connsiteX1" fmla="*/ 1534419 w 2755282"/>
                <a:gd name="connsiteY1" fmla="*/ 1641571 h 2755242"/>
                <a:gd name="connsiteX2" fmla="*/ 1534419 w 2755282"/>
                <a:gd name="connsiteY2" fmla="*/ 1641547 h 2755242"/>
                <a:gd name="connsiteX3" fmla="*/ 1490434 w 2755282"/>
                <a:gd name="connsiteY3" fmla="*/ 1747751 h 2755242"/>
                <a:gd name="connsiteX4" fmla="*/ 1534419 w 2755282"/>
                <a:gd name="connsiteY4" fmla="*/ 1853936 h 2755242"/>
                <a:gd name="connsiteX5" fmla="*/ 2391740 w 2755282"/>
                <a:gd name="connsiteY5" fmla="*/ 2711257 h 2755242"/>
                <a:gd name="connsiteX6" fmla="*/ 2497925 w 2755282"/>
                <a:gd name="connsiteY6" fmla="*/ 2755242 h 2755242"/>
                <a:gd name="connsiteX7" fmla="*/ 2604129 w 2755282"/>
                <a:gd name="connsiteY7" fmla="*/ 2711257 h 2755242"/>
                <a:gd name="connsiteX8" fmla="*/ 2711298 w 2755282"/>
                <a:gd name="connsiteY8" fmla="*/ 2604115 h 2755242"/>
                <a:gd name="connsiteX9" fmla="*/ 2711298 w 2755282"/>
                <a:gd name="connsiteY9" fmla="*/ 2604090 h 2755242"/>
                <a:gd name="connsiteX10" fmla="*/ 2755282 w 2755282"/>
                <a:gd name="connsiteY10" fmla="*/ 2497904 h 2755242"/>
                <a:gd name="connsiteX11" fmla="*/ 2711298 w 2755282"/>
                <a:gd name="connsiteY11" fmla="*/ 2391700 h 2755242"/>
                <a:gd name="connsiteX12" fmla="*/ 1853977 w 2755282"/>
                <a:gd name="connsiteY12" fmla="*/ 1534379 h 2755242"/>
                <a:gd name="connsiteX13" fmla="*/ 1747791 w 2755282"/>
                <a:gd name="connsiteY13" fmla="*/ 1490395 h 2755242"/>
                <a:gd name="connsiteX14" fmla="*/ 1641587 w 2755282"/>
                <a:gd name="connsiteY14" fmla="*/ 1534379 h 2755242"/>
                <a:gd name="connsiteX15" fmla="*/ 1640603 w 2755282"/>
                <a:gd name="connsiteY15" fmla="*/ 1535364 h 2755242"/>
                <a:gd name="connsiteX16" fmla="*/ 1481205 w 2755282"/>
                <a:gd name="connsiteY16" fmla="*/ 1375940 h 2755242"/>
                <a:gd name="connsiteX17" fmla="*/ 1481205 w 2755282"/>
                <a:gd name="connsiteY17" fmla="*/ 1375965 h 2755242"/>
                <a:gd name="connsiteX18" fmla="*/ 1633615 w 2755282"/>
                <a:gd name="connsiteY18" fmla="*/ 573715 h 2755242"/>
                <a:gd name="connsiteX19" fmla="*/ 1031076 w 2755282"/>
                <a:gd name="connsiteY19" fmla="*/ 22499 h 2755242"/>
                <a:gd name="connsiteX20" fmla="*/ 245524 w 2755282"/>
                <a:gd name="connsiteY20" fmla="*/ 245525 h 2755242"/>
                <a:gd name="connsiteX21" fmla="*/ 22498 w 2755282"/>
                <a:gd name="connsiteY21" fmla="*/ 1031140 h 2755242"/>
                <a:gd name="connsiteX22" fmla="*/ 573740 w 2755282"/>
                <a:gd name="connsiteY22" fmla="*/ 1633653 h 2755242"/>
                <a:gd name="connsiteX23" fmla="*/ 1375990 w 2755282"/>
                <a:gd name="connsiteY23" fmla="*/ 1481224 h 2755242"/>
                <a:gd name="connsiteX24" fmla="*/ 1748776 w 2755282"/>
                <a:gd name="connsiteY24" fmla="*/ 1639627 h 2755242"/>
                <a:gd name="connsiteX25" fmla="*/ 2606097 w 2755282"/>
                <a:gd name="connsiteY25" fmla="*/ 2496948 h 2755242"/>
                <a:gd name="connsiteX26" fmla="*/ 2606072 w 2755282"/>
                <a:gd name="connsiteY26" fmla="*/ 2496948 h 2755242"/>
                <a:gd name="connsiteX27" fmla="*/ 2606072 w 2755282"/>
                <a:gd name="connsiteY27" fmla="*/ 2498868 h 2755242"/>
                <a:gd name="connsiteX28" fmla="*/ 2496938 w 2755282"/>
                <a:gd name="connsiteY28" fmla="*/ 2606036 h 2755242"/>
                <a:gd name="connsiteX29" fmla="*/ 1639680 w 2755282"/>
                <a:gd name="connsiteY29" fmla="*/ 1746762 h 2755242"/>
                <a:gd name="connsiteX30" fmla="*/ 839408 w 2755282"/>
                <a:gd name="connsiteY30" fmla="*/ 1527613 h 2755242"/>
                <a:gd name="connsiteX31" fmla="*/ 352752 w 2755282"/>
                <a:gd name="connsiteY31" fmla="*/ 1326030 h 2755242"/>
                <a:gd name="connsiteX32" fmla="*/ 151169 w 2755282"/>
                <a:gd name="connsiteY32" fmla="*/ 839374 h 2755242"/>
                <a:gd name="connsiteX33" fmla="*/ 352752 w 2755282"/>
                <a:gd name="connsiteY33" fmla="*/ 352744 h 2755242"/>
                <a:gd name="connsiteX34" fmla="*/ 839408 w 2755282"/>
                <a:gd name="connsiteY34" fmla="*/ 151161 h 2755242"/>
                <a:gd name="connsiteX35" fmla="*/ 1326038 w 2755282"/>
                <a:gd name="connsiteY35" fmla="*/ 352744 h 2755242"/>
                <a:gd name="connsiteX36" fmla="*/ 1527621 w 2755282"/>
                <a:gd name="connsiteY36" fmla="*/ 839374 h 2755242"/>
                <a:gd name="connsiteX37" fmla="*/ 1325818 w 2755282"/>
                <a:gd name="connsiteY37" fmla="*/ 1325809 h 2755242"/>
                <a:gd name="connsiteX38" fmla="*/ 839408 w 2755282"/>
                <a:gd name="connsiteY38" fmla="*/ 1527613 h 275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755282" h="2755242">
                  <a:moveTo>
                    <a:pt x="1535403" y="1640587"/>
                  </a:moveTo>
                  <a:lnTo>
                    <a:pt x="1534419" y="1641571"/>
                  </a:lnTo>
                  <a:lnTo>
                    <a:pt x="1534419" y="1641547"/>
                  </a:lnTo>
                  <a:cubicBezTo>
                    <a:pt x="1506261" y="1669705"/>
                    <a:pt x="1490434" y="1707903"/>
                    <a:pt x="1490434" y="1747751"/>
                  </a:cubicBezTo>
                  <a:cubicBezTo>
                    <a:pt x="1490434" y="1787576"/>
                    <a:pt x="1506261" y="1825777"/>
                    <a:pt x="1534419" y="1853936"/>
                  </a:cubicBezTo>
                  <a:lnTo>
                    <a:pt x="2391740" y="2711257"/>
                  </a:lnTo>
                  <a:cubicBezTo>
                    <a:pt x="2419898" y="2739416"/>
                    <a:pt x="2458097" y="2755242"/>
                    <a:pt x="2497925" y="2755242"/>
                  </a:cubicBezTo>
                  <a:cubicBezTo>
                    <a:pt x="2537750" y="2755242"/>
                    <a:pt x="2575951" y="2739416"/>
                    <a:pt x="2604129" y="2711257"/>
                  </a:cubicBezTo>
                  <a:lnTo>
                    <a:pt x="2711298" y="2604115"/>
                  </a:lnTo>
                  <a:lnTo>
                    <a:pt x="2711298" y="2604090"/>
                  </a:lnTo>
                  <a:cubicBezTo>
                    <a:pt x="2739456" y="2575932"/>
                    <a:pt x="2755282" y="2537734"/>
                    <a:pt x="2755282" y="2497904"/>
                  </a:cubicBezTo>
                  <a:cubicBezTo>
                    <a:pt x="2755282" y="2458055"/>
                    <a:pt x="2739456" y="2419853"/>
                    <a:pt x="2711298" y="2391700"/>
                  </a:cubicBezTo>
                  <a:lnTo>
                    <a:pt x="1853977" y="1534379"/>
                  </a:lnTo>
                  <a:cubicBezTo>
                    <a:pt x="1825818" y="1506221"/>
                    <a:pt x="1787620" y="1490395"/>
                    <a:pt x="1747791" y="1490395"/>
                  </a:cubicBezTo>
                  <a:cubicBezTo>
                    <a:pt x="1707967" y="1490395"/>
                    <a:pt x="1669765" y="1506221"/>
                    <a:pt x="1641587" y="1534379"/>
                  </a:cubicBezTo>
                  <a:lnTo>
                    <a:pt x="1640603" y="1535364"/>
                  </a:lnTo>
                  <a:lnTo>
                    <a:pt x="1481205" y="1375940"/>
                  </a:lnTo>
                  <a:lnTo>
                    <a:pt x="1481205" y="1375965"/>
                  </a:lnTo>
                  <a:cubicBezTo>
                    <a:pt x="1667653" y="1153040"/>
                    <a:pt x="1725320" y="849437"/>
                    <a:pt x="1633615" y="573715"/>
                  </a:cubicBezTo>
                  <a:cubicBezTo>
                    <a:pt x="1541903" y="297943"/>
                    <a:pt x="1313887" y="89372"/>
                    <a:pt x="1031076" y="22499"/>
                  </a:cubicBezTo>
                  <a:cubicBezTo>
                    <a:pt x="748266" y="-44349"/>
                    <a:pt x="450989" y="40024"/>
                    <a:pt x="245524" y="245525"/>
                  </a:cubicBezTo>
                  <a:cubicBezTo>
                    <a:pt x="40028" y="451021"/>
                    <a:pt x="-44349" y="748305"/>
                    <a:pt x="22498" y="1031140"/>
                  </a:cubicBezTo>
                  <a:cubicBezTo>
                    <a:pt x="89372" y="1313950"/>
                    <a:pt x="297974" y="1541941"/>
                    <a:pt x="573740" y="1633653"/>
                  </a:cubicBezTo>
                  <a:cubicBezTo>
                    <a:pt x="849486" y="1725340"/>
                    <a:pt x="1153090" y="1667669"/>
                    <a:pt x="1375990" y="1481224"/>
                  </a:cubicBezTo>
                  <a:close/>
                  <a:moveTo>
                    <a:pt x="1748776" y="1639627"/>
                  </a:moveTo>
                  <a:lnTo>
                    <a:pt x="2606097" y="2496948"/>
                  </a:lnTo>
                  <a:lnTo>
                    <a:pt x="2606072" y="2496948"/>
                  </a:lnTo>
                  <a:cubicBezTo>
                    <a:pt x="2606540" y="2497490"/>
                    <a:pt x="2606540" y="2498302"/>
                    <a:pt x="2606072" y="2498868"/>
                  </a:cubicBezTo>
                  <a:lnTo>
                    <a:pt x="2496938" y="2606036"/>
                  </a:lnTo>
                  <a:lnTo>
                    <a:pt x="1639680" y="1746762"/>
                  </a:lnTo>
                  <a:close/>
                  <a:moveTo>
                    <a:pt x="839408" y="1527613"/>
                  </a:moveTo>
                  <a:cubicBezTo>
                    <a:pt x="656873" y="1527613"/>
                    <a:pt x="481823" y="1455100"/>
                    <a:pt x="352752" y="1326030"/>
                  </a:cubicBezTo>
                  <a:cubicBezTo>
                    <a:pt x="223682" y="1196959"/>
                    <a:pt x="151169" y="1021903"/>
                    <a:pt x="151169" y="839374"/>
                  </a:cubicBezTo>
                  <a:cubicBezTo>
                    <a:pt x="151169" y="656864"/>
                    <a:pt x="223682" y="481790"/>
                    <a:pt x="352752" y="352744"/>
                  </a:cubicBezTo>
                  <a:cubicBezTo>
                    <a:pt x="481823" y="223673"/>
                    <a:pt x="656879" y="151161"/>
                    <a:pt x="839408" y="151161"/>
                  </a:cubicBezTo>
                  <a:cubicBezTo>
                    <a:pt x="1021937" y="151161"/>
                    <a:pt x="1196993" y="223673"/>
                    <a:pt x="1326038" y="352744"/>
                  </a:cubicBezTo>
                  <a:cubicBezTo>
                    <a:pt x="1455109" y="481790"/>
                    <a:pt x="1527621" y="656871"/>
                    <a:pt x="1527621" y="839374"/>
                  </a:cubicBezTo>
                  <a:cubicBezTo>
                    <a:pt x="1527424" y="1021859"/>
                    <a:pt x="1454838" y="1196789"/>
                    <a:pt x="1325818" y="1325809"/>
                  </a:cubicBezTo>
                  <a:cubicBezTo>
                    <a:pt x="1196791" y="1454836"/>
                    <a:pt x="1021867" y="1527418"/>
                    <a:pt x="839408" y="1527613"/>
                  </a:cubicBezTo>
                  <a:close/>
                </a:path>
              </a:pathLst>
            </a:custGeom>
            <a:grpFill/>
            <a:ln w="6294" cap="flat">
              <a:noFill/>
              <a:prstDash val="solid"/>
              <a:miter/>
            </a:ln>
          </p:spPr>
          <p:txBody>
            <a:bodyPr rtlCol="0" anchor="ctr"/>
            <a:lstStyle/>
            <a:p>
              <a:endParaRPr lang="de-DE"/>
            </a:p>
          </p:txBody>
        </p:sp>
        <p:sp>
          <p:nvSpPr>
            <p:cNvPr id="61" name="Freeform: Shape 60">
              <a:extLst>
                <a:ext uri="{FF2B5EF4-FFF2-40B4-BE49-F238E27FC236}">
                  <a16:creationId xmlns:a16="http://schemas.microsoft.com/office/drawing/2014/main" id="{1FEDA82D-C08A-413D-9C28-3A50B183ADB0}"/>
                </a:ext>
              </a:extLst>
            </p:cNvPr>
            <p:cNvSpPr/>
            <p:nvPr/>
          </p:nvSpPr>
          <p:spPr>
            <a:xfrm>
              <a:off x="4267855" y="2925034"/>
              <a:ext cx="669641" cy="445795"/>
            </a:xfrm>
            <a:custGeom>
              <a:avLst/>
              <a:gdLst>
                <a:gd name="connsiteX0" fmla="*/ 654783 w 669641"/>
                <a:gd name="connsiteY0" fmla="*/ 29782 h 445795"/>
                <a:gd name="connsiteX1" fmla="*/ 550620 w 669641"/>
                <a:gd name="connsiteY1" fmla="*/ 14841 h 445795"/>
                <a:gd name="connsiteX2" fmla="*/ 217918 w 669641"/>
                <a:gd name="connsiteY2" fmla="*/ 264123 h 445795"/>
                <a:gd name="connsiteX3" fmla="*/ 137334 w 669641"/>
                <a:gd name="connsiteY3" fmla="*/ 136502 h 445795"/>
                <a:gd name="connsiteX4" fmla="*/ 34721 w 669641"/>
                <a:gd name="connsiteY4" fmla="*/ 113291 h 445795"/>
                <a:gd name="connsiteX5" fmla="*/ 11486 w 669641"/>
                <a:gd name="connsiteY5" fmla="*/ 215904 h 445795"/>
                <a:gd name="connsiteX6" fmla="*/ 135069 w 669641"/>
                <a:gd name="connsiteY6" fmla="*/ 411703 h 445795"/>
                <a:gd name="connsiteX7" fmla="*/ 135094 w 669641"/>
                <a:gd name="connsiteY7" fmla="*/ 411703 h 445795"/>
                <a:gd name="connsiteX8" fmla="*/ 184616 w 669641"/>
                <a:gd name="connsiteY8" fmla="*/ 444537 h 445795"/>
                <a:gd name="connsiteX9" fmla="*/ 242630 w 669641"/>
                <a:gd name="connsiteY9" fmla="*/ 431541 h 445795"/>
                <a:gd name="connsiteX10" fmla="*/ 639867 w 669641"/>
                <a:gd name="connsiteY10" fmla="*/ 133942 h 445795"/>
                <a:gd name="connsiteX11" fmla="*/ 639842 w 669641"/>
                <a:gd name="connsiteY11" fmla="*/ 133942 h 445795"/>
                <a:gd name="connsiteX12" fmla="*/ 654783 w 669641"/>
                <a:gd name="connsiteY12" fmla="*/ 29780 h 44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9641" h="445795">
                  <a:moveTo>
                    <a:pt x="654783" y="29782"/>
                  </a:moveTo>
                  <a:cubicBezTo>
                    <a:pt x="630144" y="-3077"/>
                    <a:pt x="583524" y="-9772"/>
                    <a:pt x="550620" y="14841"/>
                  </a:cubicBezTo>
                  <a:lnTo>
                    <a:pt x="217918" y="264123"/>
                  </a:lnTo>
                  <a:lnTo>
                    <a:pt x="137334" y="136502"/>
                  </a:lnTo>
                  <a:cubicBezTo>
                    <a:pt x="115403" y="101748"/>
                    <a:pt x="69453" y="91360"/>
                    <a:pt x="34721" y="113291"/>
                  </a:cubicBezTo>
                  <a:cubicBezTo>
                    <a:pt x="-33" y="135197"/>
                    <a:pt x="-10445" y="181154"/>
                    <a:pt x="11486" y="215904"/>
                  </a:cubicBezTo>
                  <a:lnTo>
                    <a:pt x="135069" y="411703"/>
                  </a:lnTo>
                  <a:lnTo>
                    <a:pt x="135094" y="411703"/>
                  </a:lnTo>
                  <a:cubicBezTo>
                    <a:pt x="146440" y="428932"/>
                    <a:pt x="164334" y="440796"/>
                    <a:pt x="184616" y="444537"/>
                  </a:cubicBezTo>
                  <a:cubicBezTo>
                    <a:pt x="204922" y="448278"/>
                    <a:pt x="225868" y="443602"/>
                    <a:pt x="242630" y="431541"/>
                  </a:cubicBezTo>
                  <a:lnTo>
                    <a:pt x="639867" y="133942"/>
                  </a:lnTo>
                  <a:lnTo>
                    <a:pt x="639842" y="133942"/>
                  </a:lnTo>
                  <a:cubicBezTo>
                    <a:pt x="672726" y="109279"/>
                    <a:pt x="679421" y="62665"/>
                    <a:pt x="654783" y="29780"/>
                  </a:cubicBezTo>
                  <a:close/>
                </a:path>
              </a:pathLst>
            </a:custGeom>
            <a:grpFill/>
            <a:ln w="6294" cap="flat">
              <a:noFill/>
              <a:prstDash val="solid"/>
              <a:miter/>
            </a:ln>
          </p:spPr>
          <p:txBody>
            <a:bodyPr rtlCol="0" anchor="ctr"/>
            <a:lstStyle/>
            <a:p>
              <a:endParaRPr lang="de-DE"/>
            </a:p>
          </p:txBody>
        </p:sp>
      </p:grpSp>
      <p:sp>
        <p:nvSpPr>
          <p:cNvPr id="14" name="Rectangle 13">
            <a:extLst>
              <a:ext uri="{FF2B5EF4-FFF2-40B4-BE49-F238E27FC236}">
                <a16:creationId xmlns:a16="http://schemas.microsoft.com/office/drawing/2014/main" id="{E044495C-BE75-CDA4-6731-43B6857C9C76}"/>
              </a:ext>
            </a:extLst>
          </p:cNvPr>
          <p:cNvSpPr/>
          <p:nvPr/>
        </p:nvSpPr>
        <p:spPr>
          <a:xfrm>
            <a:off x="377825" y="6280799"/>
            <a:ext cx="9937750" cy="524168"/>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Die Umsetzung eines deutlich steigenden Investitionsprogramms bei zeitgleicher Wahrung finanzieller und strategischer Flexibilität ist eine zentrale Herausforderung der ESWE Versorgungs AG</a:t>
            </a:r>
          </a:p>
        </p:txBody>
      </p:sp>
      <p:sp>
        <p:nvSpPr>
          <p:cNvPr id="15" name="Isosceles Triangle 14">
            <a:extLst>
              <a:ext uri="{FF2B5EF4-FFF2-40B4-BE49-F238E27FC236}">
                <a16:creationId xmlns:a16="http://schemas.microsoft.com/office/drawing/2014/main" id="{82CFABD1-C537-A228-6083-819B1288A754}"/>
              </a:ext>
            </a:extLst>
          </p:cNvPr>
          <p:cNvSpPr/>
          <p:nvPr/>
        </p:nvSpPr>
        <p:spPr>
          <a:xfrm rot="5400000">
            <a:off x="335782" y="6396706"/>
            <a:ext cx="474356" cy="2923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37">
            <a:extLst>
              <a:ext uri="{FF2B5EF4-FFF2-40B4-BE49-F238E27FC236}">
                <a16:creationId xmlns:a16="http://schemas.microsoft.com/office/drawing/2014/main" id="{5EDDB9ED-77BF-8302-E63C-47086EDBF38D}"/>
              </a:ext>
            </a:extLst>
          </p:cNvPr>
          <p:cNvSpPr txBox="1"/>
          <p:nvPr/>
        </p:nvSpPr>
        <p:spPr>
          <a:xfrm>
            <a:off x="1767431" y="1620837"/>
            <a:ext cx="8548144" cy="4451190"/>
          </a:xfrm>
          <a:prstGeom prst="rect">
            <a:avLst/>
          </a:prstGeom>
          <a:solidFill>
            <a:srgbClr val="EBF4FF"/>
          </a:solidFill>
          <a:ln>
            <a:solidFill>
              <a:schemeClr val="bg1">
                <a:lumMod val="85000"/>
              </a:schemeClr>
            </a:solidFill>
          </a:ln>
          <a:effectLst>
            <a:outerShdw blurRad="50800" dist="38100" dir="2700000" algn="tl" rotWithShape="0">
              <a:prstClr val="black">
                <a:alpha val="40000"/>
              </a:prstClr>
            </a:outerShdw>
          </a:effectLst>
        </p:spPr>
        <p:txBody>
          <a:bodyPr wrap="square" lIns="144000" rtlCol="0" anchor="ctr">
            <a:noAutofit/>
          </a:bodyPr>
          <a:lstStyle/>
          <a:p>
            <a:pPr marL="360000" lvl="1" indent="-360000" defTabSz="447675">
              <a:spcBef>
                <a:spcPts val="0"/>
              </a:spcBef>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ESWE Versorgungs AG ist der kommunale Energie- und Infrastrukturdienstleister der Landeshauptstadt Wiesbaden und versorgt nahezu 200.000 Kundinnen und Kunden mit Strom, Gas und Wärme – in Wiesbaden und deutschlandweit</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Das Geschäftsmodell verbindet Vertrieb, Netzbetrieb, eigene Erzeugung und energienahe Dienstleistungen: ESWE betreibt die Gas-, Wasser- und Wärmenetze Wiesbadens, das Stromnetz liegt bei der 100 %-Tochter Stadtwerke Wiesbaden Netz GmbH, das Wassernetz wird für den städtischen Eigenbetrieb WLW betriebsgeführt und verpachtet</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Mit Umsatzerlösen von 473,8 Mio. EUR und einem Unternehmensergebnis vor Ertragsteuern von 52,4 Mio. EUR übertraf ESWE 2025 den Planansatz von 35,7 Mio. EUR deutlich – nach dem durch Rückstellungsauflösungen geprägten Rekordjahr 2024 (83,8 Mio. EUR)2)</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Wiesbaden strebt Klimaneutralität bis 2045 an; ESWE hat dafür das Projekt Wärmewende mit den Teilprojekten Transformation Fernwärmenetz, Transformation Gasnetz, Energieentwicklungsplan und Daten aufgesetzt</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Kommunale Wärmeplanung der Landeshauptstadt soll bis spätestens 30. Juni 2026 von den städtischen Gremien beschlossen werden – ESWE ist darin als Umsetzungspartner benannt</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Gesamtinvestitionen sind 2025 auf 37,0 Mio. EUR gestiegen (Vorjahr 27,5 Mio. EUR); laut Lagebericht wird sich das Investitionsvolumen in den nächsten Jahren nochmals erheblich steigern1)</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Das Unternehmensergebnis wird über den Ergebnisabführungsvertrag mit der WVV Wiesbaden Holding GmbH und die Ausgleichszahlung an die Thüga AG vollständig abgeführt (2024: 48,5 bzw. 29,8 Mio. EUR); zur Sicherung der Eigenkapitalquote von über 25 % haben die Gesellschafter 2025 10 Mio. EUR in die Kapitalrücklage eingezahlt</a:t>
            </a:r>
          </a:p>
        </p:txBody>
      </p:sp>
    </p:spTree>
    <p:extLst>
      <p:ext uri="{BB962C8B-B14F-4D97-AF65-F5344CB8AC3E}">
        <p14:creationId xmlns:p14="http://schemas.microsoft.com/office/powerpoint/2010/main" val="27846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F42BD70-4C56-4ABC-A4E6-CB3CCDC5EF5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1F42BD70-4C56-4ABC-A4E6-CB3CCDC5EF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9" name="Freeform: Shape 228">
            <a:extLst>
              <a:ext uri="{FF2B5EF4-FFF2-40B4-BE49-F238E27FC236}">
                <a16:creationId xmlns:a16="http://schemas.microsoft.com/office/drawing/2014/main" id="{5B4980E9-A88E-4D62-367E-D8AFD001549D}"/>
              </a:ext>
            </a:extLst>
          </p:cNvPr>
          <p:cNvSpPr/>
          <p:nvPr/>
        </p:nvSpPr>
        <p:spPr>
          <a:xfrm flipH="1">
            <a:off x="313561" y="2638007"/>
            <a:ext cx="10044000" cy="4140000"/>
          </a:xfrm>
          <a:custGeom>
            <a:avLst/>
            <a:gdLst>
              <a:gd name="connsiteX0" fmla="*/ 0 w 9929531"/>
              <a:gd name="connsiteY0" fmla="*/ 0 h 4103495"/>
              <a:gd name="connsiteX1" fmla="*/ 2385562 w 9929531"/>
              <a:gd name="connsiteY1" fmla="*/ 0 h 4103495"/>
              <a:gd name="connsiteX2" fmla="*/ 2385562 w 9929531"/>
              <a:gd name="connsiteY2" fmla="*/ 1728192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0" fmla="*/ 0 w 9929531"/>
              <a:gd name="connsiteY0" fmla="*/ 0 h 4103495"/>
              <a:gd name="connsiteX1" fmla="*/ 2385562 w 9929531"/>
              <a:gd name="connsiteY1" fmla="*/ 0 h 4103495"/>
              <a:gd name="connsiteX2" fmla="*/ 1763557 w 9929531"/>
              <a:gd name="connsiteY2" fmla="*/ 1950725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863078 w 9929531"/>
              <a:gd name="connsiteY1" fmla="*/ 198690 h 4103495"/>
              <a:gd name="connsiteX2" fmla="*/ 1763557 w 9929531"/>
              <a:gd name="connsiteY2" fmla="*/ 1950725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39738 h 4143233"/>
              <a:gd name="connsiteX1" fmla="*/ 2012359 w 9929531"/>
              <a:gd name="connsiteY1" fmla="*/ 0 h 4143233"/>
              <a:gd name="connsiteX2" fmla="*/ 1763557 w 9929531"/>
              <a:gd name="connsiteY2" fmla="*/ 1990463 h 4143233"/>
              <a:gd name="connsiteX3" fmla="*/ 9929531 w 9929531"/>
              <a:gd name="connsiteY3" fmla="*/ 1767930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847406 h 4143233"/>
              <a:gd name="connsiteX3" fmla="*/ 9929531 w 9929531"/>
              <a:gd name="connsiteY3" fmla="*/ 1767930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847406 h 4143233"/>
              <a:gd name="connsiteX3" fmla="*/ 9929531 w 9929531"/>
              <a:gd name="connsiteY3" fmla="*/ 1887144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903040 h 4143233"/>
              <a:gd name="connsiteX3" fmla="*/ 9929531 w 9929531"/>
              <a:gd name="connsiteY3" fmla="*/ 1887144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0 h 4103495"/>
              <a:gd name="connsiteX1" fmla="*/ 2012359 w 9929531"/>
              <a:gd name="connsiteY1" fmla="*/ 0 h 4103495"/>
              <a:gd name="connsiteX2" fmla="*/ 1995772 w 9929531"/>
              <a:gd name="connsiteY2" fmla="*/ 1863302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2012359 w 9929531"/>
              <a:gd name="connsiteY1" fmla="*/ 0 h 4103495"/>
              <a:gd name="connsiteX2" fmla="*/ 1937719 w 9929531"/>
              <a:gd name="connsiteY2" fmla="*/ 1863303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37719 w 9929531"/>
              <a:gd name="connsiteY2" fmla="*/ 1863303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8459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50299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50300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19491 w 9929531"/>
              <a:gd name="connsiteY3" fmla="*/ 1999505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8184 w 9929531"/>
              <a:gd name="connsiteY3" fmla="*/ 1990931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29531" h="4103495">
                <a:moveTo>
                  <a:pt x="0" y="0"/>
                </a:moveTo>
                <a:lnTo>
                  <a:pt x="1954305" y="7948"/>
                </a:lnTo>
                <a:lnTo>
                  <a:pt x="1929026" y="1966196"/>
                </a:lnTo>
                <a:lnTo>
                  <a:pt x="9928184" y="1990931"/>
                </a:lnTo>
                <a:cubicBezTo>
                  <a:pt x="9931531" y="2692261"/>
                  <a:pt x="9926184" y="3402165"/>
                  <a:pt x="9929531" y="4103495"/>
                </a:cubicBezTo>
                <a:lnTo>
                  <a:pt x="0" y="4103495"/>
                </a:lnTo>
                <a:lnTo>
                  <a:pt x="0" y="1773093"/>
                </a:lnTo>
                <a:lnTo>
                  <a:pt x="0" y="1728192"/>
                </a:lnTo>
                <a:lnTo>
                  <a:pt x="0" y="0"/>
                </a:lnTo>
                <a:close/>
              </a:path>
            </a:pathLst>
          </a:custGeom>
          <a:solidFill>
            <a:schemeClr val="accent6">
              <a:lumMod val="20000"/>
              <a:lumOff val="80000"/>
            </a:schemeClr>
          </a:solidFill>
          <a:ln>
            <a:solidFill>
              <a:srgbClr val="EF664B"/>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cxnSp>
        <p:nvCxnSpPr>
          <p:cNvPr id="29" name="Straight Connector 28">
            <a:extLst>
              <a:ext uri="{FF2B5EF4-FFF2-40B4-BE49-F238E27FC236}">
                <a16:creationId xmlns:a16="http://schemas.microsoft.com/office/drawing/2014/main" id="{52BA2E5A-B9E1-4450-D4F0-B14C00519E46}"/>
              </a:ext>
            </a:extLst>
          </p:cNvPr>
          <p:cNvCxnSpPr>
            <a:cxnSpLocks/>
          </p:cNvCxnSpPr>
          <p:nvPr/>
        </p:nvCxnSpPr>
        <p:spPr>
          <a:xfrm flipV="1">
            <a:off x="1948344" y="2568055"/>
            <a:ext cx="0" cy="34848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8DC0FF-B024-8163-B9F8-FADF4DC0CDE0}"/>
              </a:ext>
            </a:extLst>
          </p:cNvPr>
          <p:cNvCxnSpPr>
            <a:cxnSpLocks/>
          </p:cNvCxnSpPr>
          <p:nvPr/>
        </p:nvCxnSpPr>
        <p:spPr>
          <a:xfrm flipV="1">
            <a:off x="7349527" y="2561992"/>
            <a:ext cx="0" cy="30856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D68971-A0F1-440E-745D-D6486EB67240}"/>
              </a:ext>
            </a:extLst>
          </p:cNvPr>
          <p:cNvCxnSpPr>
            <a:cxnSpLocks/>
          </p:cNvCxnSpPr>
          <p:nvPr/>
        </p:nvCxnSpPr>
        <p:spPr>
          <a:xfrm flipV="1">
            <a:off x="5328580" y="2600359"/>
            <a:ext cx="0" cy="324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AD727B-6DD3-A68C-AB28-684BB2B79563}"/>
              </a:ext>
            </a:extLst>
          </p:cNvPr>
          <p:cNvCxnSpPr>
            <a:cxnSpLocks/>
          </p:cNvCxnSpPr>
          <p:nvPr/>
        </p:nvCxnSpPr>
        <p:spPr>
          <a:xfrm flipV="1">
            <a:off x="3308704" y="2577119"/>
            <a:ext cx="0" cy="33941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BD6BF1-7F54-DE6C-54F6-2EA750A85230}"/>
              </a:ext>
            </a:extLst>
          </p:cNvPr>
          <p:cNvCxnSpPr>
            <a:cxnSpLocks/>
          </p:cNvCxnSpPr>
          <p:nvPr/>
        </p:nvCxnSpPr>
        <p:spPr>
          <a:xfrm flipV="1">
            <a:off x="8826990" y="2600359"/>
            <a:ext cx="0" cy="324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35A27D69-3764-4384-9556-3EBA70F9EE35}"/>
              </a:ext>
            </a:extLst>
          </p:cNvPr>
          <p:cNvSpPr>
            <a:spLocks noGrp="1"/>
          </p:cNvSpPr>
          <p:nvPr>
            <p:ph type="body" sz="quarter" idx="14"/>
          </p:nvPr>
        </p:nvSpPr>
        <p:spPr>
          <a:xfrm>
            <a:off x="603250" y="7133281"/>
            <a:ext cx="8150225" cy="168344"/>
          </a:xfrm>
        </p:spPr>
        <p:txBody>
          <a:bodyPr/>
          <a:lstStyle/>
          <a:p>
            <a:r>
              <a:rPr lang="de-DE" dirty="0"/>
              <a:t>Quellen: Metzler-Recherche, Jahres- und Tätigkeitsabschlüsse nach EnWG der ESWE Versorgungs AG 2021–2024, Geschäftsbericht 2025, Unternehmenswebsite</a:t>
            </a:r>
          </a:p>
        </p:txBody>
      </p:sp>
      <p:sp>
        <p:nvSpPr>
          <p:cNvPr id="11" name="Title 10">
            <a:extLst>
              <a:ext uri="{FF2B5EF4-FFF2-40B4-BE49-F238E27FC236}">
                <a16:creationId xmlns:a16="http://schemas.microsoft.com/office/drawing/2014/main" id="{DB333E89-82AE-49B4-BC8C-6F320156F447}"/>
              </a:ext>
            </a:extLst>
          </p:cNvPr>
          <p:cNvSpPr>
            <a:spLocks noGrp="1"/>
          </p:cNvSpPr>
          <p:nvPr>
            <p:ph type="title"/>
          </p:nvPr>
        </p:nvSpPr>
        <p:spPr/>
        <p:txBody>
          <a:bodyPr vert="horz"/>
          <a:lstStyle/>
          <a:p>
            <a:r>
              <a:rPr lang="de-DE" kern="200" spc="-30" dirty="0"/>
              <a:t>Die ESWE Versorgungs AG ist kommunal und strategisch verankert – privates Kapital ist über die Thüga AG bereits Teil der Gesellschafterstruktur</a:t>
            </a:r>
          </a:p>
        </p:txBody>
      </p:sp>
      <p:sp>
        <p:nvSpPr>
          <p:cNvPr id="6" name="Text Placeholder 5">
            <a:extLst>
              <a:ext uri="{FF2B5EF4-FFF2-40B4-BE49-F238E27FC236}">
                <a16:creationId xmlns:a16="http://schemas.microsoft.com/office/drawing/2014/main" id="{E145D6E6-65A9-4CDB-B352-D64184ACF701}"/>
              </a:ext>
            </a:extLst>
          </p:cNvPr>
          <p:cNvSpPr>
            <a:spLocks noGrp="1"/>
          </p:cNvSpPr>
          <p:nvPr>
            <p:ph type="body" sz="quarter" idx="13"/>
          </p:nvPr>
        </p:nvSpPr>
        <p:spPr/>
        <p:txBody>
          <a:bodyPr/>
          <a:lstStyle/>
          <a:p>
            <a:r>
              <a:rPr lang="de-DE" dirty="0"/>
              <a:t>2. ESWE Versorgungs AG – Übersicht und Herausforderungen</a:t>
            </a:r>
          </a:p>
        </p:txBody>
      </p:sp>
      <p:sp>
        <p:nvSpPr>
          <p:cNvPr id="8" name="Text Placeholder 7">
            <a:extLst>
              <a:ext uri="{FF2B5EF4-FFF2-40B4-BE49-F238E27FC236}">
                <a16:creationId xmlns:a16="http://schemas.microsoft.com/office/drawing/2014/main" id="{72753FA4-3524-40F1-9EE7-54C4604A36AA}"/>
              </a:ext>
            </a:extLst>
          </p:cNvPr>
          <p:cNvSpPr>
            <a:spLocks noGrp="1"/>
          </p:cNvSpPr>
          <p:nvPr>
            <p:ph type="body" sz="quarter" idx="15"/>
          </p:nvPr>
        </p:nvSpPr>
        <p:spPr>
          <a:xfrm>
            <a:off x="378700" y="6915600"/>
            <a:ext cx="8371857" cy="168344"/>
          </a:xfrm>
        </p:spPr>
        <p:txBody>
          <a:bodyPr/>
          <a:lstStyle/>
          <a:p>
            <a:pPr>
              <a:spcBef>
                <a:spcPts val="0"/>
              </a:spcBef>
              <a:spcAft>
                <a:spcPts val="100"/>
              </a:spcAft>
            </a:pPr>
            <a:r>
              <a:rPr lang="de-DE" dirty="0"/>
              <a:t>1) Unmittelbare Beteiligungsquoten der ESWE Versorgungs AG gemäß Anteilsbesitz nach § 285 Nr. 11 HGB zum 31. Dezember 2024, Eigenkapital und Jahresergebnis zum bzw. für das Geschäftsjahr 2024; 2) Jahresergebnis 0,0 Mio. EUR aufgrund Ergebnisabführungsvertrag bzw. freiwilliger Ergebnisübernahme; 3) 2024 wurde zudem das Gemeinschaftsunternehmen WRT Infrastruktur GmbH (Tief- und Rohrleitungsbau) gegründet; es ist in der Anteilsbesitzliste zum 31.12.2024 nicht enthalten</a:t>
            </a:r>
          </a:p>
        </p:txBody>
      </p:sp>
      <p:sp>
        <p:nvSpPr>
          <p:cNvPr id="140" name="Textplatzhalter 2">
            <a:extLst>
              <a:ext uri="{FF2B5EF4-FFF2-40B4-BE49-F238E27FC236}">
                <a16:creationId xmlns:a16="http://schemas.microsoft.com/office/drawing/2014/main" id="{3ECE8F61-7C81-83DE-003A-63BA77E02941}"/>
              </a:ext>
            </a:extLst>
          </p:cNvPr>
          <p:cNvSpPr txBox="1">
            <a:spLocks/>
          </p:cNvSpPr>
          <p:nvPr/>
        </p:nvSpPr>
        <p:spPr>
          <a:xfrm>
            <a:off x="378700" y="1243937"/>
            <a:ext cx="9936000" cy="271120"/>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1400" b="1" kern="1200">
                <a:solidFill>
                  <a:schemeClr val="tx2"/>
                </a:solidFill>
                <a:latin typeface="Univers for Metzler" panose="020B0503030202020203" pitchFamily="34" charset="0"/>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Beteiligungsstruktur zum 31. Dezember 20241)</a:t>
            </a:r>
          </a:p>
        </p:txBody>
      </p:sp>
      <p:cxnSp>
        <p:nvCxnSpPr>
          <p:cNvPr id="227" name="Straight Connector 226">
            <a:extLst>
              <a:ext uri="{FF2B5EF4-FFF2-40B4-BE49-F238E27FC236}">
                <a16:creationId xmlns:a16="http://schemas.microsoft.com/office/drawing/2014/main" id="{5A98CE7A-58D9-BC7A-5CD5-88901CE3B75E}"/>
              </a:ext>
            </a:extLst>
          </p:cNvPr>
          <p:cNvCxnSpPr>
            <a:cxnSpLocks/>
          </p:cNvCxnSpPr>
          <p:nvPr/>
        </p:nvCxnSpPr>
        <p:spPr>
          <a:xfrm flipV="1">
            <a:off x="4697949" y="1833300"/>
            <a:ext cx="0" cy="19159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35" name="Rectangle 131">
            <a:extLst>
              <a:ext uri="{FF2B5EF4-FFF2-40B4-BE49-F238E27FC236}">
                <a16:creationId xmlns:a16="http://schemas.microsoft.com/office/drawing/2014/main" id="{514C3C70-DE76-2C72-E8A4-E51E6E344C73}"/>
              </a:ext>
            </a:extLst>
          </p:cNvPr>
          <p:cNvSpPr/>
          <p:nvPr/>
        </p:nvSpPr>
        <p:spPr>
          <a:xfrm>
            <a:off x="8458723"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Beteiligungen</a:t>
            </a:r>
            <a:endParaRPr lang="de-DE" sz="900" b="1" dirty="0">
              <a:solidFill>
                <a:schemeClr val="bg1"/>
              </a:solidFill>
            </a:endParaRPr>
          </a:p>
        </p:txBody>
      </p:sp>
      <p:sp>
        <p:nvSpPr>
          <p:cNvPr id="248" name="Rectangle 247">
            <a:extLst>
              <a:ext uri="{FF2B5EF4-FFF2-40B4-BE49-F238E27FC236}">
                <a16:creationId xmlns:a16="http://schemas.microsoft.com/office/drawing/2014/main" id="{F9D50416-1E93-953D-0203-69C106818392}"/>
              </a:ext>
            </a:extLst>
          </p:cNvPr>
          <p:cNvSpPr/>
          <p:nvPr/>
        </p:nvSpPr>
        <p:spPr>
          <a:xfrm>
            <a:off x="378148" y="1577432"/>
            <a:ext cx="7956356" cy="255868"/>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rgbClr val="003D7C"/>
                </a:solidFill>
              </a:rPr>
              <a:t>Aktionäre: WVV Wiesbaden Holding GmbH (Landeshauptstadt Wiesbaden) 50,62 %  │  Thüga AG, München 49,38 %</a:t>
            </a:r>
          </a:p>
        </p:txBody>
      </p:sp>
      <p:sp>
        <p:nvSpPr>
          <p:cNvPr id="249" name="Rectangle 248">
            <a:extLst>
              <a:ext uri="{FF2B5EF4-FFF2-40B4-BE49-F238E27FC236}">
                <a16:creationId xmlns:a16="http://schemas.microsoft.com/office/drawing/2014/main" id="{5924F8B6-6C88-7DCF-B269-AD756866C125}"/>
              </a:ext>
            </a:extLst>
          </p:cNvPr>
          <p:cNvSpPr/>
          <p:nvPr/>
        </p:nvSpPr>
        <p:spPr>
          <a:xfrm>
            <a:off x="1848827" y="2041108"/>
            <a:ext cx="7314295" cy="28080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800" b="1" dirty="0">
                <a:solidFill>
                  <a:srgbClr val="003D7C"/>
                </a:solidFill>
              </a:rPr>
              <a:t>ESWE Versorgungs AG, Wiesbaden</a:t>
            </a:r>
            <a:endParaRPr lang="de-DE" sz="800" b="1" dirty="0">
              <a:solidFill>
                <a:schemeClr val="accent1"/>
              </a:solidFill>
            </a:endParaRPr>
          </a:p>
        </p:txBody>
      </p:sp>
      <p:sp>
        <p:nvSpPr>
          <p:cNvPr id="2050" name="Rechteck 26">
            <a:extLst>
              <a:ext uri="{FF2B5EF4-FFF2-40B4-BE49-F238E27FC236}">
                <a16:creationId xmlns:a16="http://schemas.microsoft.com/office/drawing/2014/main" id="{A29DFC45-24A2-8594-C0D0-D6AFA4A3FD71}"/>
              </a:ext>
            </a:extLst>
          </p:cNvPr>
          <p:cNvSpPr/>
          <p:nvPr/>
        </p:nvSpPr>
        <p:spPr>
          <a:xfrm>
            <a:off x="8459147"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Nicht beherrschende Beteiligungen an Erzeugungs- und Windgesellschaften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Finanzanlagen 31.12.2024: 165,2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Beteiligungsergebnis 2024: 17,8 Mio. EUR</a:t>
            </a:r>
          </a:p>
        </p:txBody>
      </p:sp>
      <p:sp>
        <p:nvSpPr>
          <p:cNvPr id="2068" name="TextBox 2067">
            <a:extLst>
              <a:ext uri="{FF2B5EF4-FFF2-40B4-BE49-F238E27FC236}">
                <a16:creationId xmlns:a16="http://schemas.microsoft.com/office/drawing/2014/main" id="{71B096F5-D4B2-56C8-B446-5B5566862031}"/>
              </a:ext>
            </a:extLst>
          </p:cNvPr>
          <p:cNvSpPr txBox="1"/>
          <p:nvPr/>
        </p:nvSpPr>
        <p:spPr>
          <a:xfrm>
            <a:off x="1920349" y="2674488"/>
            <a:ext cx="617661" cy="153888"/>
          </a:xfrm>
          <a:prstGeom prst="rect">
            <a:avLst/>
          </a:prstGeom>
          <a:noFill/>
        </p:spPr>
        <p:txBody>
          <a:bodyPr wrap="square" lIns="72000" tIns="0" rIns="72000" bIns="0" rtlCol="0">
            <a:spAutoFit/>
          </a:bodyPr>
          <a:lstStyle/>
          <a:p>
            <a:r>
              <a:rPr lang="de-DE" sz="1000" dirty="0"/>
              <a:t>100 %</a:t>
            </a:r>
            <a:endParaRPr lang="de-DE" sz="1000" dirty="0"/>
          </a:p>
        </p:txBody>
      </p:sp>
      <p:sp>
        <p:nvSpPr>
          <p:cNvPr id="2073" name="TextBox 2072">
            <a:extLst>
              <a:ext uri="{FF2B5EF4-FFF2-40B4-BE49-F238E27FC236}">
                <a16:creationId xmlns:a16="http://schemas.microsoft.com/office/drawing/2014/main" id="{0ED176AA-FDFF-2A55-D4CE-FB12203F912F}"/>
              </a:ext>
            </a:extLst>
          </p:cNvPr>
          <p:cNvSpPr txBox="1"/>
          <p:nvPr/>
        </p:nvSpPr>
        <p:spPr>
          <a:xfrm>
            <a:off x="1170887" y="4716735"/>
            <a:ext cx="617661" cy="153888"/>
          </a:xfrm>
          <a:prstGeom prst="rect">
            <a:avLst/>
          </a:prstGeom>
          <a:noFill/>
        </p:spPr>
        <p:txBody>
          <a:bodyPr wrap="square" lIns="72000" tIns="0" rIns="72000" bIns="0" rtlCol="0">
            <a:spAutoFit/>
          </a:bodyPr>
          <a:lstStyle/>
          <a:p>
            <a:r>
              <a:rPr lang="de-DE" sz="1000" dirty="0"/>
              <a:t>50,0 %</a:t>
            </a:r>
          </a:p>
        </p:txBody>
      </p:sp>
      <p:sp>
        <p:nvSpPr>
          <p:cNvPr id="22" name="TextBox 21">
            <a:extLst>
              <a:ext uri="{FF2B5EF4-FFF2-40B4-BE49-F238E27FC236}">
                <a16:creationId xmlns:a16="http://schemas.microsoft.com/office/drawing/2014/main" id="{3E359B79-AC9B-6D69-9515-3CF51CDA0C0E}"/>
              </a:ext>
            </a:extLst>
          </p:cNvPr>
          <p:cNvSpPr txBox="1"/>
          <p:nvPr/>
        </p:nvSpPr>
        <p:spPr>
          <a:xfrm>
            <a:off x="4894947" y="1864455"/>
            <a:ext cx="617661" cy="153888"/>
          </a:xfrm>
          <a:prstGeom prst="rect">
            <a:avLst/>
          </a:prstGeom>
          <a:noFill/>
        </p:spPr>
        <p:txBody>
          <a:bodyPr wrap="square" lIns="72000" tIns="0" rIns="72000" bIns="0" rtlCol="0">
            <a:spAutoFit/>
          </a:bodyPr>
          <a:lstStyle/>
          <a:p>
            <a:r>
              <a:rPr lang="de-DE" sz="1000" dirty="0"/>
              <a:t/>
            </a:r>
          </a:p>
        </p:txBody>
      </p:sp>
      <p:sp>
        <p:nvSpPr>
          <p:cNvPr id="251" name="Rectangle 131">
            <a:extLst>
              <a:ext uri="{FF2B5EF4-FFF2-40B4-BE49-F238E27FC236}">
                <a16:creationId xmlns:a16="http://schemas.microsoft.com/office/drawing/2014/main" id="{C924BA0D-CBE1-8AB8-1DFA-1EE1B10C9533}"/>
              </a:ext>
            </a:extLst>
          </p:cNvPr>
          <p:cNvSpPr/>
          <p:nvPr/>
        </p:nvSpPr>
        <p:spPr>
          <a:xfrm>
            <a:off x="4417900"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ESWE BioEnergie GmbH</a:t>
            </a:r>
            <a:endParaRPr lang="de-DE" sz="900" b="1" dirty="0">
              <a:solidFill>
                <a:schemeClr val="bg1"/>
              </a:solidFill>
            </a:endParaRPr>
          </a:p>
        </p:txBody>
      </p:sp>
      <p:sp>
        <p:nvSpPr>
          <p:cNvPr id="252" name="Rechteck 26">
            <a:extLst>
              <a:ext uri="{FF2B5EF4-FFF2-40B4-BE49-F238E27FC236}">
                <a16:creationId xmlns:a16="http://schemas.microsoft.com/office/drawing/2014/main" id="{8BC1AD70-8993-2948-E017-0564F797F99F}"/>
              </a:ext>
            </a:extLst>
          </p:cNvPr>
          <p:cNvSpPr/>
          <p:nvPr/>
        </p:nvSpPr>
        <p:spPr>
          <a:xfrm>
            <a:off x="4417900"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Biomasseheizkraftwerk – Strom und Wärme überwiegend aus Altholz</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18,5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4,6 Mio. EUR</a:t>
            </a:r>
          </a:p>
        </p:txBody>
      </p:sp>
      <p:sp>
        <p:nvSpPr>
          <p:cNvPr id="253" name="Rectangle 131">
            <a:extLst>
              <a:ext uri="{FF2B5EF4-FFF2-40B4-BE49-F238E27FC236}">
                <a16:creationId xmlns:a16="http://schemas.microsoft.com/office/drawing/2014/main" id="{95D68F48-00E1-E193-F06D-6FF45E7DB7AD}"/>
              </a:ext>
            </a:extLst>
          </p:cNvPr>
          <p:cNvSpPr/>
          <p:nvPr/>
        </p:nvSpPr>
        <p:spPr>
          <a:xfrm>
            <a:off x="2398024"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WiTCOM GmbH</a:t>
            </a:r>
            <a:endParaRPr lang="de-DE" sz="900" b="1" dirty="0">
              <a:solidFill>
                <a:schemeClr val="bg1"/>
              </a:solidFill>
            </a:endParaRPr>
          </a:p>
        </p:txBody>
      </p:sp>
      <p:sp>
        <p:nvSpPr>
          <p:cNvPr id="254" name="Rechteck 26">
            <a:extLst>
              <a:ext uri="{FF2B5EF4-FFF2-40B4-BE49-F238E27FC236}">
                <a16:creationId xmlns:a16="http://schemas.microsoft.com/office/drawing/2014/main" id="{2C7A8F2B-1691-A914-B638-AD8B52678214}"/>
              </a:ext>
            </a:extLst>
          </p:cNvPr>
          <p:cNvSpPr/>
          <p:nvPr/>
        </p:nvSpPr>
        <p:spPr>
          <a:xfrm>
            <a:off x="2398024"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Telekommunikation, Glasfaser- und Rechenzentrumsdienste in Wiesbaden und der Region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8,7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0,0 Mio. EUR2)</a:t>
            </a:r>
          </a:p>
        </p:txBody>
      </p:sp>
      <p:sp>
        <p:nvSpPr>
          <p:cNvPr id="255" name="Rechteck 26">
            <a:extLst>
              <a:ext uri="{FF2B5EF4-FFF2-40B4-BE49-F238E27FC236}">
                <a16:creationId xmlns:a16="http://schemas.microsoft.com/office/drawing/2014/main" id="{ABBF9F40-AEB0-795F-84C4-8B1FC29A063E}"/>
              </a:ext>
            </a:extLst>
          </p:cNvPr>
          <p:cNvSpPr/>
          <p:nvPr/>
        </p:nvSpPr>
        <p:spPr>
          <a:xfrm>
            <a:off x="6437776" y="3240711"/>
            <a:ext cx="1857600"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ESWE Taunuswind GmbH, ESWE Windpark GmbH und ESWE Windpark Uettingen GmbH &amp; Co. KG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3,8 Mio. EUR (Summe)</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0,0 Mio. EUR2)</a:t>
            </a:r>
          </a:p>
        </p:txBody>
      </p:sp>
      <p:sp>
        <p:nvSpPr>
          <p:cNvPr id="2052" name="Rechteck 26">
            <a:extLst>
              <a:ext uri="{FF2B5EF4-FFF2-40B4-BE49-F238E27FC236}">
                <a16:creationId xmlns:a16="http://schemas.microsoft.com/office/drawing/2014/main" id="{94FA27F8-1819-4F69-0E60-149B948954FC}"/>
              </a:ext>
            </a:extLst>
          </p:cNvPr>
          <p:cNvSpPr/>
          <p:nvPr/>
        </p:nvSpPr>
        <p:spPr>
          <a:xfrm>
            <a:off x="378148"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Betrieb der Strom- und Straßenbeleuchtungsnetze in Wiesbaden und Taunusstein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64,6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FF0000"/>
                </a:solidFill>
              </a:rPr>
              <a:t>Jahresergebnis 2024: 0,0 Mio. EUR2)</a:t>
            </a:r>
          </a:p>
        </p:txBody>
      </p:sp>
      <p:sp>
        <p:nvSpPr>
          <p:cNvPr id="288" name="Rectangle 131">
            <a:extLst>
              <a:ext uri="{FF2B5EF4-FFF2-40B4-BE49-F238E27FC236}">
                <a16:creationId xmlns:a16="http://schemas.microsoft.com/office/drawing/2014/main" id="{CBD9B0BB-5F51-450B-DDAB-68EDE941DFB7}"/>
              </a:ext>
            </a:extLst>
          </p:cNvPr>
          <p:cNvSpPr/>
          <p:nvPr/>
        </p:nvSpPr>
        <p:spPr>
          <a:xfrm>
            <a:off x="378193"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Stadtwerke Wiesbaden Netz GmbH</a:t>
            </a:r>
            <a:endParaRPr lang="de-DE" sz="900" b="1" dirty="0">
              <a:solidFill>
                <a:schemeClr val="bg1"/>
              </a:solidFill>
            </a:endParaRPr>
          </a:p>
        </p:txBody>
      </p:sp>
      <p:sp>
        <p:nvSpPr>
          <p:cNvPr id="289" name="Rectangle 131">
            <a:extLst>
              <a:ext uri="{FF2B5EF4-FFF2-40B4-BE49-F238E27FC236}">
                <a16:creationId xmlns:a16="http://schemas.microsoft.com/office/drawing/2014/main" id="{82B573E8-6374-7447-A144-2C93ADAEAA53}"/>
              </a:ext>
            </a:extLst>
          </p:cNvPr>
          <p:cNvSpPr/>
          <p:nvPr/>
        </p:nvSpPr>
        <p:spPr>
          <a:xfrm>
            <a:off x="378229"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Kraftwerke Mainz-Wiesbaden AG</a:t>
            </a:r>
            <a:endParaRPr lang="de-DE" sz="900" b="1" dirty="0">
              <a:solidFill>
                <a:schemeClr val="bg1"/>
              </a:solidFill>
            </a:endParaRPr>
          </a:p>
        </p:txBody>
      </p:sp>
      <p:sp>
        <p:nvSpPr>
          <p:cNvPr id="290" name="Rechteck 26">
            <a:extLst>
              <a:ext uri="{FF2B5EF4-FFF2-40B4-BE49-F238E27FC236}">
                <a16:creationId xmlns:a16="http://schemas.microsoft.com/office/drawing/2014/main" id="{9B86B3A1-304F-2E97-6EEC-FD5577FCC065}"/>
              </a:ext>
            </a:extLst>
          </p:cNvPr>
          <p:cNvSpPr/>
          <p:nvPr/>
        </p:nvSpPr>
        <p:spPr>
          <a:xfrm>
            <a:off x="378148"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Strom- und Wärmeerzeugung für Mainz und Wiesbaden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385,2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56,9 Mio. EUR</a:t>
            </a:r>
          </a:p>
        </p:txBody>
      </p:sp>
      <p:sp>
        <p:nvSpPr>
          <p:cNvPr id="294" name="Rectangle 131">
            <a:extLst>
              <a:ext uri="{FF2B5EF4-FFF2-40B4-BE49-F238E27FC236}">
                <a16:creationId xmlns:a16="http://schemas.microsoft.com/office/drawing/2014/main" id="{B9F62067-A3D0-C99D-3BBC-160C5C4040BF}"/>
              </a:ext>
            </a:extLst>
          </p:cNvPr>
          <p:cNvSpPr/>
          <p:nvPr/>
        </p:nvSpPr>
        <p:spPr>
          <a:xfrm>
            <a:off x="2058920"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MHKW Wiesbaden GmbH</a:t>
            </a:r>
            <a:endParaRPr lang="de-DE" sz="900" b="1" dirty="0">
              <a:solidFill>
                <a:schemeClr val="bg1"/>
              </a:solidFill>
            </a:endParaRPr>
          </a:p>
        </p:txBody>
      </p:sp>
      <p:sp>
        <p:nvSpPr>
          <p:cNvPr id="295" name="Rechteck 26">
            <a:extLst>
              <a:ext uri="{FF2B5EF4-FFF2-40B4-BE49-F238E27FC236}">
                <a16:creationId xmlns:a16="http://schemas.microsoft.com/office/drawing/2014/main" id="{1547DE56-6BB2-306A-8315-13AE557D568E}"/>
              </a:ext>
            </a:extLst>
          </p:cNvPr>
          <p:cNvSpPr/>
          <p:nvPr/>
        </p:nvSpPr>
        <p:spPr>
          <a:xfrm>
            <a:off x="2058839"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Müllheizkraftwerk kurz vor Fertigstellung – künftige Wärmequelle des Fernwärmenetzes</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30,8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–3,7 Mio. EUR</a:t>
            </a:r>
          </a:p>
        </p:txBody>
      </p:sp>
      <p:sp>
        <p:nvSpPr>
          <p:cNvPr id="304" name="Rectangle 131">
            <a:extLst>
              <a:ext uri="{FF2B5EF4-FFF2-40B4-BE49-F238E27FC236}">
                <a16:creationId xmlns:a16="http://schemas.microsoft.com/office/drawing/2014/main" id="{CBBB2355-2033-13A9-A2B3-07376197E224}"/>
              </a:ext>
            </a:extLst>
          </p:cNvPr>
          <p:cNvSpPr/>
          <p:nvPr/>
        </p:nvSpPr>
        <p:spPr>
          <a:xfrm>
            <a:off x="3739611"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THEE ESWE Windparkbeteiligungs GmbH &amp; Co. KG</a:t>
            </a:r>
            <a:endParaRPr lang="de-DE" sz="900" b="1" dirty="0">
              <a:solidFill>
                <a:schemeClr val="bg1"/>
              </a:solidFill>
            </a:endParaRPr>
          </a:p>
        </p:txBody>
      </p:sp>
      <p:sp>
        <p:nvSpPr>
          <p:cNvPr id="307" name="Rechteck 26">
            <a:extLst>
              <a:ext uri="{FF2B5EF4-FFF2-40B4-BE49-F238E27FC236}">
                <a16:creationId xmlns:a16="http://schemas.microsoft.com/office/drawing/2014/main" id="{3C6E2CA4-7E3A-45BB-E77B-CC1DD5439245}"/>
              </a:ext>
            </a:extLst>
          </p:cNvPr>
          <p:cNvSpPr/>
          <p:nvPr/>
        </p:nvSpPr>
        <p:spPr>
          <a:xfrm>
            <a:off x="3739530"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Windparkportfolio gemeinsam mit Thüga Erneuerbare Energien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12,4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–0,6 Mio. EUR</a:t>
            </a:r>
          </a:p>
        </p:txBody>
      </p:sp>
      <p:sp>
        <p:nvSpPr>
          <p:cNvPr id="311" name="Rectangle 131">
            <a:extLst>
              <a:ext uri="{FF2B5EF4-FFF2-40B4-BE49-F238E27FC236}">
                <a16:creationId xmlns:a16="http://schemas.microsoft.com/office/drawing/2014/main" id="{DA259E0C-62D2-8ED0-CF13-4B1A9306E82A}"/>
              </a:ext>
            </a:extLst>
          </p:cNvPr>
          <p:cNvSpPr/>
          <p:nvPr/>
        </p:nvSpPr>
        <p:spPr>
          <a:xfrm>
            <a:off x="5420302"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Windpark Bad Camberg GmbH &amp; Co. KG</a:t>
            </a:r>
            <a:endParaRPr lang="de-DE" sz="900" b="1" dirty="0">
              <a:solidFill>
                <a:schemeClr val="bg1"/>
              </a:solidFill>
            </a:endParaRPr>
          </a:p>
        </p:txBody>
      </p:sp>
      <p:sp>
        <p:nvSpPr>
          <p:cNvPr id="313" name="Rechteck 26">
            <a:extLst>
              <a:ext uri="{FF2B5EF4-FFF2-40B4-BE49-F238E27FC236}">
                <a16:creationId xmlns:a16="http://schemas.microsoft.com/office/drawing/2014/main" id="{6949270C-63F6-2C5B-18E4-02CE5BCD1727}"/>
              </a:ext>
            </a:extLst>
          </p:cNvPr>
          <p:cNvSpPr/>
          <p:nvPr/>
        </p:nvSpPr>
        <p:spPr>
          <a:xfrm>
            <a:off x="5420221"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Onshore-Windpark</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3,3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–0,2 Mio. EUR</a:t>
            </a:r>
          </a:p>
        </p:txBody>
      </p:sp>
      <p:sp>
        <p:nvSpPr>
          <p:cNvPr id="4" name="Rectangle 131">
            <a:extLst>
              <a:ext uri="{FF2B5EF4-FFF2-40B4-BE49-F238E27FC236}">
                <a16:creationId xmlns:a16="http://schemas.microsoft.com/office/drawing/2014/main" id="{D7C92EDB-AD88-1705-E602-8257BEA399A0}"/>
              </a:ext>
            </a:extLst>
          </p:cNvPr>
          <p:cNvSpPr/>
          <p:nvPr/>
        </p:nvSpPr>
        <p:spPr>
          <a:xfrm>
            <a:off x="7100993"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Windkraft Kahlenberg GmbH &amp; Co. KG</a:t>
            </a:r>
            <a:endParaRPr lang="de-DE" sz="900" b="1" dirty="0">
              <a:solidFill>
                <a:schemeClr val="bg1"/>
              </a:solidFill>
            </a:endParaRPr>
          </a:p>
        </p:txBody>
      </p:sp>
      <p:sp>
        <p:nvSpPr>
          <p:cNvPr id="10" name="Rechteck 26">
            <a:extLst>
              <a:ext uri="{FF2B5EF4-FFF2-40B4-BE49-F238E27FC236}">
                <a16:creationId xmlns:a16="http://schemas.microsoft.com/office/drawing/2014/main" id="{190CBE79-A563-FFF9-D3AC-3C3EE91F11BF}"/>
              </a:ext>
            </a:extLst>
          </p:cNvPr>
          <p:cNvSpPr/>
          <p:nvPr/>
        </p:nvSpPr>
        <p:spPr>
          <a:xfrm>
            <a:off x="7100912"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Onshore-Windpark</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2,8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0,1 Mio. EUR</a:t>
            </a:r>
          </a:p>
        </p:txBody>
      </p:sp>
      <p:sp>
        <p:nvSpPr>
          <p:cNvPr id="13" name="Rectangle 131">
            <a:extLst>
              <a:ext uri="{FF2B5EF4-FFF2-40B4-BE49-F238E27FC236}">
                <a16:creationId xmlns:a16="http://schemas.microsoft.com/office/drawing/2014/main" id="{815EB8A5-E090-8AE0-23FD-004ED321740B}"/>
              </a:ext>
            </a:extLst>
          </p:cNvPr>
          <p:cNvSpPr/>
          <p:nvPr/>
        </p:nvSpPr>
        <p:spPr>
          <a:xfrm>
            <a:off x="8781685"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THEE ESWE Windparkbeteiligungs Verwaltungs GmbH</a:t>
            </a:r>
            <a:endParaRPr lang="de-DE" sz="900" b="1" dirty="0">
              <a:solidFill>
                <a:schemeClr val="bg1"/>
              </a:solidFill>
            </a:endParaRPr>
          </a:p>
        </p:txBody>
      </p:sp>
      <p:sp>
        <p:nvSpPr>
          <p:cNvPr id="14" name="Rechteck 26">
            <a:extLst>
              <a:ext uri="{FF2B5EF4-FFF2-40B4-BE49-F238E27FC236}">
                <a16:creationId xmlns:a16="http://schemas.microsoft.com/office/drawing/2014/main" id="{67BB9B38-5AFF-6325-6925-E7E527936FCA}"/>
              </a:ext>
            </a:extLst>
          </p:cNvPr>
          <p:cNvSpPr/>
          <p:nvPr/>
        </p:nvSpPr>
        <p:spPr>
          <a:xfrm>
            <a:off x="8781604"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Komplementärin der THEE ESWE Windparkbeteiligungs GmbH &amp; Co. KG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31.12.2024: 0,1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0,0 Mio. EUR</a:t>
            </a:r>
          </a:p>
        </p:txBody>
      </p:sp>
      <p:sp>
        <p:nvSpPr>
          <p:cNvPr id="9" name="Rectangle 131">
            <a:extLst>
              <a:ext uri="{FF2B5EF4-FFF2-40B4-BE49-F238E27FC236}">
                <a16:creationId xmlns:a16="http://schemas.microsoft.com/office/drawing/2014/main" id="{8F25F0CC-E856-6E24-B634-5403D9A9F9B0}"/>
              </a:ext>
            </a:extLst>
          </p:cNvPr>
          <p:cNvSpPr/>
          <p:nvPr/>
        </p:nvSpPr>
        <p:spPr>
          <a:xfrm>
            <a:off x="6438847"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900" b="1" dirty="0">
                <a:solidFill>
                  <a:srgbClr val="003D7C"/>
                </a:solidFill>
              </a:rPr>
              <a:t>ESWE Windgesellschaften</a:t>
            </a:r>
            <a:endParaRPr lang="de-DE" sz="900" b="1" dirty="0">
              <a:solidFill>
                <a:schemeClr val="bg1"/>
              </a:solidFill>
            </a:endParaRPr>
          </a:p>
        </p:txBody>
      </p:sp>
      <p:sp>
        <p:nvSpPr>
          <p:cNvPr id="31" name="TextBox 30">
            <a:extLst>
              <a:ext uri="{FF2B5EF4-FFF2-40B4-BE49-F238E27FC236}">
                <a16:creationId xmlns:a16="http://schemas.microsoft.com/office/drawing/2014/main" id="{1DC51CC2-9B34-0843-7D30-8E1F07F520BA}"/>
              </a:ext>
            </a:extLst>
          </p:cNvPr>
          <p:cNvSpPr txBox="1"/>
          <p:nvPr/>
        </p:nvSpPr>
        <p:spPr>
          <a:xfrm>
            <a:off x="3288501" y="2674488"/>
            <a:ext cx="617661" cy="153888"/>
          </a:xfrm>
          <a:prstGeom prst="rect">
            <a:avLst/>
          </a:prstGeom>
          <a:noFill/>
        </p:spPr>
        <p:txBody>
          <a:bodyPr wrap="square" lIns="72000" tIns="0" rIns="72000" bIns="0" rtlCol="0">
            <a:spAutoFit/>
          </a:bodyPr>
          <a:lstStyle/>
          <a:p>
            <a:r>
              <a:rPr lang="de-DE" sz="1000" dirty="0"/>
              <a:t>100 %</a:t>
            </a:r>
          </a:p>
        </p:txBody>
      </p:sp>
      <p:sp>
        <p:nvSpPr>
          <p:cNvPr id="224" name="TextBox 223">
            <a:extLst>
              <a:ext uri="{FF2B5EF4-FFF2-40B4-BE49-F238E27FC236}">
                <a16:creationId xmlns:a16="http://schemas.microsoft.com/office/drawing/2014/main" id="{F49295C3-58C5-3FD5-1F70-D18FD646342C}"/>
              </a:ext>
            </a:extLst>
          </p:cNvPr>
          <p:cNvSpPr txBox="1"/>
          <p:nvPr/>
        </p:nvSpPr>
        <p:spPr>
          <a:xfrm>
            <a:off x="5304725" y="2674488"/>
            <a:ext cx="617661" cy="153888"/>
          </a:xfrm>
          <a:prstGeom prst="rect">
            <a:avLst/>
          </a:prstGeom>
          <a:noFill/>
        </p:spPr>
        <p:txBody>
          <a:bodyPr wrap="square" lIns="72000" tIns="0" rIns="72000" bIns="0" rtlCol="0">
            <a:spAutoFit/>
          </a:bodyPr>
          <a:lstStyle/>
          <a:p>
            <a:r>
              <a:rPr lang="de-DE" sz="1000" dirty="0"/>
              <a:t>90 %</a:t>
            </a:r>
          </a:p>
        </p:txBody>
      </p:sp>
      <p:sp>
        <p:nvSpPr>
          <p:cNvPr id="225" name="TextBox 224">
            <a:extLst>
              <a:ext uri="{FF2B5EF4-FFF2-40B4-BE49-F238E27FC236}">
                <a16:creationId xmlns:a16="http://schemas.microsoft.com/office/drawing/2014/main" id="{24EBFE4C-FCA5-9A7B-971A-8C99CD41AD3B}"/>
              </a:ext>
            </a:extLst>
          </p:cNvPr>
          <p:cNvSpPr txBox="1"/>
          <p:nvPr/>
        </p:nvSpPr>
        <p:spPr>
          <a:xfrm>
            <a:off x="7351882" y="2674488"/>
            <a:ext cx="617661" cy="153888"/>
          </a:xfrm>
          <a:prstGeom prst="rect">
            <a:avLst/>
          </a:prstGeom>
          <a:noFill/>
        </p:spPr>
        <p:txBody>
          <a:bodyPr wrap="square" lIns="72000" tIns="0" rIns="72000" bIns="0" rtlCol="0">
            <a:spAutoFit/>
          </a:bodyPr>
          <a:lstStyle/>
          <a:p>
            <a:r>
              <a:rPr lang="de-DE" sz="1000" dirty="0"/>
              <a:t>100 %</a:t>
            </a:r>
          </a:p>
        </p:txBody>
      </p:sp>
      <p:cxnSp>
        <p:nvCxnSpPr>
          <p:cNvPr id="230" name="Connector: Elbow 229">
            <a:extLst>
              <a:ext uri="{FF2B5EF4-FFF2-40B4-BE49-F238E27FC236}">
                <a16:creationId xmlns:a16="http://schemas.microsoft.com/office/drawing/2014/main" id="{20B2E3B0-AF1D-6975-2E8D-CDD4AD119856}"/>
              </a:ext>
            </a:extLst>
          </p:cNvPr>
          <p:cNvCxnSpPr>
            <a:cxnSpLocks/>
            <a:stCxn id="2050" idx="2"/>
            <a:endCxn id="13" idx="0"/>
          </p:cNvCxnSpPr>
          <p:nvPr/>
        </p:nvCxnSpPr>
        <p:spPr>
          <a:xfrm rot="16200000" flipH="1">
            <a:off x="9264447" y="4623464"/>
            <a:ext cx="407153" cy="16164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2" name="Connector: Elbow 231">
            <a:extLst>
              <a:ext uri="{FF2B5EF4-FFF2-40B4-BE49-F238E27FC236}">
                <a16:creationId xmlns:a16="http://schemas.microsoft.com/office/drawing/2014/main" id="{B680E03E-ADD1-1D04-E2E3-3B18E87567F1}"/>
              </a:ext>
            </a:extLst>
          </p:cNvPr>
          <p:cNvCxnSpPr>
            <a:stCxn id="2050" idx="2"/>
            <a:endCxn id="4" idx="0"/>
          </p:cNvCxnSpPr>
          <p:nvPr/>
        </p:nvCxnSpPr>
        <p:spPr>
          <a:xfrm rot="5400000">
            <a:off x="8424101" y="3944764"/>
            <a:ext cx="407153" cy="151904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31B7603F-6CE1-26AB-3C73-412AE216B085}"/>
              </a:ext>
            </a:extLst>
          </p:cNvPr>
          <p:cNvCxnSpPr>
            <a:stCxn id="2050" idx="2"/>
            <a:endCxn id="311" idx="0"/>
          </p:cNvCxnSpPr>
          <p:nvPr/>
        </p:nvCxnSpPr>
        <p:spPr>
          <a:xfrm rot="5400000">
            <a:off x="7583756" y="3104419"/>
            <a:ext cx="407153" cy="319973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7" name="Connector: Elbow 236">
            <a:extLst>
              <a:ext uri="{FF2B5EF4-FFF2-40B4-BE49-F238E27FC236}">
                <a16:creationId xmlns:a16="http://schemas.microsoft.com/office/drawing/2014/main" id="{62672F44-97EC-D749-3104-11F5A49F0EC8}"/>
              </a:ext>
            </a:extLst>
          </p:cNvPr>
          <p:cNvCxnSpPr>
            <a:stCxn id="2050" idx="2"/>
            <a:endCxn id="304" idx="0"/>
          </p:cNvCxnSpPr>
          <p:nvPr/>
        </p:nvCxnSpPr>
        <p:spPr>
          <a:xfrm rot="5400000">
            <a:off x="6743410" y="2264073"/>
            <a:ext cx="407153" cy="488042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9" name="Connector: Elbow 238">
            <a:extLst>
              <a:ext uri="{FF2B5EF4-FFF2-40B4-BE49-F238E27FC236}">
                <a16:creationId xmlns:a16="http://schemas.microsoft.com/office/drawing/2014/main" id="{3C81A59C-21BB-4309-DE4D-F3B8B6CA95F3}"/>
              </a:ext>
            </a:extLst>
          </p:cNvPr>
          <p:cNvCxnSpPr>
            <a:stCxn id="2050" idx="2"/>
            <a:endCxn id="297" idx="0"/>
          </p:cNvCxnSpPr>
          <p:nvPr/>
        </p:nvCxnSpPr>
        <p:spPr>
          <a:xfrm rot="5400000">
            <a:off x="5902204" y="1424589"/>
            <a:ext cx="408875" cy="656111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2" name="Connector: Elbow 241">
            <a:extLst>
              <a:ext uri="{FF2B5EF4-FFF2-40B4-BE49-F238E27FC236}">
                <a16:creationId xmlns:a16="http://schemas.microsoft.com/office/drawing/2014/main" id="{80576C1F-BB78-2399-FDEE-72AA209543AC}"/>
              </a:ext>
            </a:extLst>
          </p:cNvPr>
          <p:cNvCxnSpPr>
            <a:stCxn id="2050" idx="2"/>
            <a:endCxn id="289" idx="0"/>
          </p:cNvCxnSpPr>
          <p:nvPr/>
        </p:nvCxnSpPr>
        <p:spPr>
          <a:xfrm rot="5400000">
            <a:off x="5062719" y="583382"/>
            <a:ext cx="407153" cy="824181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44" name="TextBox 243">
            <a:extLst>
              <a:ext uri="{FF2B5EF4-FFF2-40B4-BE49-F238E27FC236}">
                <a16:creationId xmlns:a16="http://schemas.microsoft.com/office/drawing/2014/main" id="{D54FE0E6-C904-1A4A-088F-4810B8F0CA8A}"/>
              </a:ext>
            </a:extLst>
          </p:cNvPr>
          <p:cNvSpPr txBox="1"/>
          <p:nvPr/>
        </p:nvSpPr>
        <p:spPr>
          <a:xfrm>
            <a:off x="2848114" y="4716735"/>
            <a:ext cx="617661" cy="153888"/>
          </a:xfrm>
          <a:prstGeom prst="rect">
            <a:avLst/>
          </a:prstGeom>
          <a:noFill/>
        </p:spPr>
        <p:txBody>
          <a:bodyPr wrap="square" lIns="72000" tIns="0" rIns="72000" bIns="0" rtlCol="0">
            <a:spAutoFit/>
          </a:bodyPr>
          <a:lstStyle/>
          <a:p>
            <a:r>
              <a:rPr lang="de-DE" sz="1000" dirty="0"/>
              <a:t>24,5 %</a:t>
            </a:r>
          </a:p>
        </p:txBody>
      </p:sp>
      <p:sp>
        <p:nvSpPr>
          <p:cNvPr id="245" name="TextBox 244">
            <a:extLst>
              <a:ext uri="{FF2B5EF4-FFF2-40B4-BE49-F238E27FC236}">
                <a16:creationId xmlns:a16="http://schemas.microsoft.com/office/drawing/2014/main" id="{7259865B-6545-D80E-E12B-372021B57FA4}"/>
              </a:ext>
            </a:extLst>
          </p:cNvPr>
          <p:cNvSpPr txBox="1"/>
          <p:nvPr/>
        </p:nvSpPr>
        <p:spPr>
          <a:xfrm>
            <a:off x="4525341" y="4716735"/>
            <a:ext cx="617661" cy="153888"/>
          </a:xfrm>
          <a:prstGeom prst="rect">
            <a:avLst/>
          </a:prstGeom>
          <a:noFill/>
        </p:spPr>
        <p:txBody>
          <a:bodyPr wrap="square" lIns="72000" tIns="0" rIns="72000" bIns="0" rtlCol="0">
            <a:spAutoFit/>
          </a:bodyPr>
          <a:lstStyle/>
          <a:p>
            <a:r>
              <a:rPr lang="de-DE" sz="1000" dirty="0"/>
              <a:t>33,33 %</a:t>
            </a:r>
          </a:p>
        </p:txBody>
      </p:sp>
      <p:sp>
        <p:nvSpPr>
          <p:cNvPr id="246" name="TextBox 245">
            <a:extLst>
              <a:ext uri="{FF2B5EF4-FFF2-40B4-BE49-F238E27FC236}">
                <a16:creationId xmlns:a16="http://schemas.microsoft.com/office/drawing/2014/main" id="{1DDADE13-E838-2899-4AE0-D520B9EB7B1A}"/>
              </a:ext>
            </a:extLst>
          </p:cNvPr>
          <p:cNvSpPr txBox="1"/>
          <p:nvPr/>
        </p:nvSpPr>
        <p:spPr>
          <a:xfrm>
            <a:off x="6219346" y="4716735"/>
            <a:ext cx="617661" cy="153888"/>
          </a:xfrm>
          <a:prstGeom prst="rect">
            <a:avLst/>
          </a:prstGeom>
          <a:noFill/>
        </p:spPr>
        <p:txBody>
          <a:bodyPr wrap="square" lIns="72000" tIns="0" rIns="72000" bIns="0" rtlCol="0">
            <a:spAutoFit/>
          </a:bodyPr>
          <a:lstStyle/>
          <a:p>
            <a:r>
              <a:rPr lang="de-DE" sz="1000" dirty="0"/>
              <a:t>33,33 %</a:t>
            </a:r>
          </a:p>
        </p:txBody>
      </p:sp>
      <p:sp>
        <p:nvSpPr>
          <p:cNvPr id="247" name="TextBox 246">
            <a:extLst>
              <a:ext uri="{FF2B5EF4-FFF2-40B4-BE49-F238E27FC236}">
                <a16:creationId xmlns:a16="http://schemas.microsoft.com/office/drawing/2014/main" id="{726DDF01-7AE5-D3EB-93F2-C72F48224FBF}"/>
              </a:ext>
            </a:extLst>
          </p:cNvPr>
          <p:cNvSpPr txBox="1"/>
          <p:nvPr/>
        </p:nvSpPr>
        <p:spPr>
          <a:xfrm>
            <a:off x="7896573" y="4716735"/>
            <a:ext cx="617661" cy="153888"/>
          </a:xfrm>
          <a:prstGeom prst="rect">
            <a:avLst/>
          </a:prstGeom>
          <a:noFill/>
        </p:spPr>
        <p:txBody>
          <a:bodyPr wrap="square" lIns="72000" tIns="0" rIns="72000" bIns="0" rtlCol="0">
            <a:spAutoFit/>
          </a:bodyPr>
          <a:lstStyle/>
          <a:p>
            <a:r>
              <a:rPr lang="de-DE" sz="1000" dirty="0"/>
              <a:t>50,0 %</a:t>
            </a:r>
            <a:endParaRPr lang="de-DE" sz="1000" dirty="0"/>
          </a:p>
        </p:txBody>
      </p:sp>
      <p:sp>
        <p:nvSpPr>
          <p:cNvPr id="2048" name="TextBox 2047">
            <a:extLst>
              <a:ext uri="{FF2B5EF4-FFF2-40B4-BE49-F238E27FC236}">
                <a16:creationId xmlns:a16="http://schemas.microsoft.com/office/drawing/2014/main" id="{DD217991-5BEF-C8DA-370A-83C4FEA08925}"/>
              </a:ext>
            </a:extLst>
          </p:cNvPr>
          <p:cNvSpPr txBox="1"/>
          <p:nvPr/>
        </p:nvSpPr>
        <p:spPr>
          <a:xfrm>
            <a:off x="9573802" y="4716735"/>
            <a:ext cx="617661" cy="153888"/>
          </a:xfrm>
          <a:prstGeom prst="rect">
            <a:avLst/>
          </a:prstGeom>
          <a:noFill/>
        </p:spPr>
        <p:txBody>
          <a:bodyPr wrap="square" lIns="72000" tIns="0" rIns="72000" bIns="0" rtlCol="0">
            <a:spAutoFit/>
          </a:bodyPr>
          <a:lstStyle/>
          <a:p>
            <a:r>
              <a:rPr lang="de-DE" sz="1000" dirty="0"/>
              <a:t>33,33 %</a:t>
            </a:r>
            <a:endParaRPr lang="de-DE" sz="1000" dirty="0"/>
          </a:p>
        </p:txBody>
      </p:sp>
      <p:sp>
        <p:nvSpPr>
          <p:cNvPr id="28" name="Rechteck 26">
            <a:extLst>
              <a:ext uri="{FF2B5EF4-FFF2-40B4-BE49-F238E27FC236}">
                <a16:creationId xmlns:a16="http://schemas.microsoft.com/office/drawing/2014/main" id="{BFFA3184-B03B-F673-87E5-5E1ACE0BA8C0}"/>
              </a:ext>
            </a:extLst>
          </p:cNvPr>
          <p:cNvSpPr/>
          <p:nvPr/>
        </p:nvSpPr>
        <p:spPr>
          <a:xfrm>
            <a:off x="1848827" y="2374515"/>
            <a:ext cx="7314293" cy="22443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numCol="2"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Umsatzerlöse 2025: 473,8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Unternehmensergebnis 2025: 48,9 Mio. EUR</a:t>
            </a:r>
          </a:p>
        </p:txBody>
      </p:sp>
    </p:spTree>
    <p:extLst>
      <p:ext uri="{BB962C8B-B14F-4D97-AF65-F5344CB8AC3E}">
        <p14:creationId xmlns:p14="http://schemas.microsoft.com/office/powerpoint/2010/main" val="470085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F42BD70-4C56-4ABC-A4E6-CB3CCDC5EF52}"/>
              </a:ext>
            </a:extLst>
          </p:cNvPr>
          <p:cNvGraphicFramePr>
            <a:graphicFrameLocks/>
          </p:cNvGraphicFramePr>
          <p:nvPr>
            <p:custDataLst>
              <p:tags r:id="rId1"/>
            </p:custDataLst>
            <p:extLst>
              <p:ext uri="{D42A27DB-BD31-4B8C-83A1-F6EECF244321}">
                <p14:modId xmlns:p14="http://schemas.microsoft.com/office/powerpoint/2010/main" val="3027791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a:extLst>
                          <a:ext uri="{FF2B5EF4-FFF2-40B4-BE49-F238E27FC236}">
                            <a16:creationId xmlns:a16="http://schemas.microsoft.com/office/drawing/2014/main" id="{1F42BD70-4C56-4ABC-A4E6-CB3CCDC5EF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35A27D69-3764-4384-9556-3EBA70F9EE35}"/>
              </a:ext>
            </a:extLst>
          </p:cNvPr>
          <p:cNvSpPr>
            <a:spLocks noGrp="1"/>
          </p:cNvSpPr>
          <p:nvPr>
            <p:ph type="body" sz="quarter" idx="14"/>
          </p:nvPr>
        </p:nvSpPr>
        <p:spPr/>
        <p:txBody>
          <a:bodyPr/>
          <a:lstStyle/>
          <a:p>
            <a:r>
              <a:rPr lang="de-DE" dirty="0"/>
              <a:t>Quellen: Metzler-Recherche, Jahres- und Tätigkeitsabschlüsse nach EnWG der ESWE Versorgungs AG 2021–2024, Geschäftsbericht 2025, Unternehmenswebsite</a:t>
            </a:r>
          </a:p>
        </p:txBody>
      </p:sp>
      <p:sp>
        <p:nvSpPr>
          <p:cNvPr id="9" name="Text Placeholder 8">
            <a:extLst>
              <a:ext uri="{FF2B5EF4-FFF2-40B4-BE49-F238E27FC236}">
                <a16:creationId xmlns:a16="http://schemas.microsoft.com/office/drawing/2014/main" id="{74E357C4-DDD7-4CB5-B994-3F4A07617F1B}"/>
              </a:ext>
            </a:extLst>
          </p:cNvPr>
          <p:cNvSpPr>
            <a:spLocks noGrp="1"/>
          </p:cNvSpPr>
          <p:nvPr>
            <p:ph type="body" sz="quarter" idx="16"/>
          </p:nvPr>
        </p:nvSpPr>
        <p:spPr>
          <a:xfrm>
            <a:off x="378700" y="1623075"/>
            <a:ext cx="3194479" cy="252000"/>
          </a:xfrm>
        </p:spPr>
        <p:txBody>
          <a:bodyPr lIns="54000" rIns="0"/>
          <a:lstStyle/>
          <a:p>
            <a:r>
              <a:rPr lang="de-DE" dirty="0"/>
              <a:t>Überblick ESWE Versorgungs AG</a:t>
            </a:r>
            <a:endParaRPr lang="de-DE" baseline="30000" dirty="0"/>
          </a:p>
        </p:txBody>
      </p:sp>
      <p:sp>
        <p:nvSpPr>
          <p:cNvPr id="17" name="Text Placeholder 16">
            <a:extLst>
              <a:ext uri="{FF2B5EF4-FFF2-40B4-BE49-F238E27FC236}">
                <a16:creationId xmlns:a16="http://schemas.microsoft.com/office/drawing/2014/main" id="{42D4E154-1047-4F9A-BF3C-851BB0D8445A}"/>
              </a:ext>
            </a:extLst>
          </p:cNvPr>
          <p:cNvSpPr>
            <a:spLocks noGrp="1"/>
          </p:cNvSpPr>
          <p:nvPr>
            <p:ph type="body" sz="quarter" idx="21"/>
          </p:nvPr>
        </p:nvSpPr>
        <p:spPr>
          <a:xfrm>
            <a:off x="378700" y="4680759"/>
            <a:ext cx="3194479" cy="252000"/>
          </a:xfrm>
          <a:noFill/>
        </p:spPr>
        <p:txBody>
          <a:bodyPr/>
          <a:lstStyle/>
          <a:p>
            <a:r>
              <a:rPr lang="de-DE" dirty="0"/>
              <a:t>Netzinfrastruktur 20254)</a:t>
            </a:r>
            <a:endParaRPr lang="de-DE" b="0" i="1" baseline="30000" dirty="0"/>
          </a:p>
        </p:txBody>
      </p:sp>
      <p:sp>
        <p:nvSpPr>
          <p:cNvPr id="11" name="Title 10">
            <a:extLst>
              <a:ext uri="{FF2B5EF4-FFF2-40B4-BE49-F238E27FC236}">
                <a16:creationId xmlns:a16="http://schemas.microsoft.com/office/drawing/2014/main" id="{DB333E89-82AE-49B4-BC8C-6F320156F447}"/>
              </a:ext>
            </a:extLst>
          </p:cNvPr>
          <p:cNvSpPr>
            <a:spLocks noGrp="1"/>
          </p:cNvSpPr>
          <p:nvPr>
            <p:ph type="title"/>
          </p:nvPr>
        </p:nvSpPr>
        <p:spPr/>
        <p:txBody>
          <a:bodyPr vert="horz"/>
          <a:lstStyle/>
          <a:p>
            <a:r>
              <a:rPr lang="de-DE" kern="200" spc="-30" dirty="0"/>
              <a:t>Die ESWE Versorgungs AG erwirtschaftet rund 73 % ihrer Umsatzerlöse mit Strom und Gas und betreibt die Gas-, Wasser- und Wärmenetze Wiesbadens</a:t>
            </a:r>
            <a:endParaRPr lang="de-DE" dirty="0"/>
          </a:p>
        </p:txBody>
      </p:sp>
      <p:sp>
        <p:nvSpPr>
          <p:cNvPr id="5" name="Text Placeholder 4">
            <a:extLst>
              <a:ext uri="{FF2B5EF4-FFF2-40B4-BE49-F238E27FC236}">
                <a16:creationId xmlns:a16="http://schemas.microsoft.com/office/drawing/2014/main" id="{E6080802-BBE8-47C3-BD6D-F0956D6DBFE0}"/>
              </a:ext>
            </a:extLst>
          </p:cNvPr>
          <p:cNvSpPr>
            <a:spLocks noGrp="1"/>
          </p:cNvSpPr>
          <p:nvPr>
            <p:ph type="body" sz="quarter" idx="12"/>
          </p:nvPr>
        </p:nvSpPr>
        <p:spPr/>
        <p:txBody>
          <a:bodyPr/>
          <a:lstStyle/>
          <a:p>
            <a:r>
              <a:rPr lang="de-DE" dirty="0"/>
              <a:t>Kunden und Infrastruktur</a:t>
            </a:r>
            <a:endParaRPr lang="de-DE" dirty="0"/>
          </a:p>
        </p:txBody>
      </p:sp>
      <p:sp>
        <p:nvSpPr>
          <p:cNvPr id="6" name="Text Placeholder 5">
            <a:extLst>
              <a:ext uri="{FF2B5EF4-FFF2-40B4-BE49-F238E27FC236}">
                <a16:creationId xmlns:a16="http://schemas.microsoft.com/office/drawing/2014/main" id="{E145D6E6-65A9-4CDB-B352-D64184ACF701}"/>
              </a:ext>
            </a:extLst>
          </p:cNvPr>
          <p:cNvSpPr>
            <a:spLocks noGrp="1"/>
          </p:cNvSpPr>
          <p:nvPr>
            <p:ph type="body" sz="quarter" idx="13"/>
          </p:nvPr>
        </p:nvSpPr>
        <p:spPr/>
        <p:txBody>
          <a:bodyPr/>
          <a:lstStyle/>
          <a:p>
            <a:r>
              <a:rPr lang="de-DE" dirty="0"/>
              <a:t>2. ESWE Versorgungs AG – Übersicht und Herausforderungen</a:t>
            </a:r>
          </a:p>
        </p:txBody>
      </p:sp>
      <p:sp>
        <p:nvSpPr>
          <p:cNvPr id="8" name="Text Placeholder 7">
            <a:extLst>
              <a:ext uri="{FF2B5EF4-FFF2-40B4-BE49-F238E27FC236}">
                <a16:creationId xmlns:a16="http://schemas.microsoft.com/office/drawing/2014/main" id="{72753FA4-3524-40F1-9EE7-54C4604A36AA}"/>
              </a:ext>
            </a:extLst>
          </p:cNvPr>
          <p:cNvSpPr>
            <a:spLocks noGrp="1"/>
          </p:cNvSpPr>
          <p:nvPr>
            <p:ph type="body" sz="quarter" idx="15"/>
          </p:nvPr>
        </p:nvSpPr>
        <p:spPr>
          <a:xfrm>
            <a:off x="378700" y="6913910"/>
            <a:ext cx="8371857" cy="168344"/>
          </a:xfrm>
        </p:spPr>
        <p:txBody>
          <a:bodyPr/>
          <a:lstStyle/>
          <a:p>
            <a:pPr>
              <a:spcBef>
                <a:spcPts val="0"/>
              </a:spcBef>
              <a:spcAft>
                <a:spcPts val="100"/>
              </a:spcAft>
            </a:pPr>
            <a:r>
              <a:rPr lang="de-DE" dirty="0"/>
              <a:t>1) 663 Beschäftigte zum 31.12.2025 lt. Geschäftsbericht (534 Vollzeit, 73 Teilzeit, 56 Auszubildende); der Jahresabschluss 2024 weist im Durchschnitt 608 Beschäftigte aus; 2) Unternehmensergebnis vor Ertragsteuern lt. Geschäftsbericht 2025 – der Jahresabschluss 2024 weist 84,3 Mio. EUR vor sonstigen Steuern aus; 3) Ergebnis nach Steuern, vor Ausgleichszahlung und Ergebnisabführung; 4) Netzlängen zum 31.12.2025; Stromnetz der Stadtwerke Wiesbaden Netz GmbH (Hoch-, Mittel- und Niederspannung)</a:t>
            </a:r>
          </a:p>
        </p:txBody>
      </p:sp>
      <p:grpSp>
        <p:nvGrpSpPr>
          <p:cNvPr id="2" name="Group 1">
            <a:extLst>
              <a:ext uri="{FF2B5EF4-FFF2-40B4-BE49-F238E27FC236}">
                <a16:creationId xmlns:a16="http://schemas.microsoft.com/office/drawing/2014/main" id="{749B9059-88CD-78D2-553E-5BFD792E69B2}"/>
              </a:ext>
            </a:extLst>
          </p:cNvPr>
          <p:cNvGrpSpPr/>
          <p:nvPr/>
        </p:nvGrpSpPr>
        <p:grpSpPr>
          <a:xfrm>
            <a:off x="378700" y="2054454"/>
            <a:ext cx="1494062" cy="648051"/>
            <a:chOff x="378700" y="2712273"/>
            <a:chExt cx="1494062" cy="648051"/>
          </a:xfrm>
        </p:grpSpPr>
        <p:sp>
          <p:nvSpPr>
            <p:cNvPr id="23" name="Text Box 29">
              <a:extLst>
                <a:ext uri="{FF2B5EF4-FFF2-40B4-BE49-F238E27FC236}">
                  <a16:creationId xmlns:a16="http://schemas.microsoft.com/office/drawing/2014/main" id="{21B330D4-63DA-41FE-B73D-5885FC7C68CA}"/>
                </a:ext>
              </a:extLst>
            </p:cNvPr>
            <p:cNvSpPr txBox="1">
              <a:spLocks noChangeArrowheads="1"/>
            </p:cNvSpPr>
            <p:nvPr/>
          </p:nvSpPr>
          <p:spPr bwMode="gray">
            <a:xfrm>
              <a:off x="378700"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473,8 Mio. EUR</a:t>
              </a:r>
            </a:p>
            <a:p>
              <a:r>
                <a:rPr lang="de-DE" dirty="0"/>
                <a:t>534,7 Mio. EUR (2024)</a:t>
              </a:r>
            </a:p>
          </p:txBody>
        </p:sp>
        <p:sp>
          <p:nvSpPr>
            <p:cNvPr id="24" name="Text Box 29">
              <a:extLst>
                <a:ext uri="{FF2B5EF4-FFF2-40B4-BE49-F238E27FC236}">
                  <a16:creationId xmlns:a16="http://schemas.microsoft.com/office/drawing/2014/main" id="{7C6E6D21-E2FD-4DFB-8768-46FF5BB4B4AE}"/>
                </a:ext>
              </a:extLst>
            </p:cNvPr>
            <p:cNvSpPr txBox="1">
              <a:spLocks noChangeArrowheads="1"/>
            </p:cNvSpPr>
            <p:nvPr/>
          </p:nvSpPr>
          <p:spPr bwMode="gray">
            <a:xfrm>
              <a:off x="746256" y="2712273"/>
              <a:ext cx="75901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Umsatzerlöse 2025</a:t>
              </a:r>
            </a:p>
          </p:txBody>
        </p:sp>
      </p:grpSp>
      <p:sp>
        <p:nvSpPr>
          <p:cNvPr id="26" name="Text Box 29">
            <a:extLst>
              <a:ext uri="{FF2B5EF4-FFF2-40B4-BE49-F238E27FC236}">
                <a16:creationId xmlns:a16="http://schemas.microsoft.com/office/drawing/2014/main" id="{377DBC01-34C0-4024-B89A-1B21C237BD44}"/>
              </a:ext>
            </a:extLst>
          </p:cNvPr>
          <p:cNvSpPr txBox="1">
            <a:spLocks noChangeArrowheads="1"/>
          </p:cNvSpPr>
          <p:nvPr/>
        </p:nvSpPr>
        <p:spPr bwMode="gray">
          <a:xfrm>
            <a:off x="378148" y="3937557"/>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663</a:t>
            </a:r>
          </a:p>
          <a:p>
            <a:pPr>
              <a:lnSpc>
                <a:spcPct val="100000"/>
              </a:lnSpc>
              <a:spcAft>
                <a:spcPts val="0"/>
              </a:spcAft>
            </a:pPr>
            <a:r>
              <a:rPr lang="de-DE" sz="900" dirty="0">
                <a:solidFill>
                  <a:srgbClr val="003D7C"/>
                </a:solidFill>
              </a:rPr>
              <a:t>Ø 608 (2024)</a:t>
            </a:r>
          </a:p>
        </p:txBody>
      </p:sp>
      <p:sp>
        <p:nvSpPr>
          <p:cNvPr id="27" name="Text Box 29">
            <a:extLst>
              <a:ext uri="{FF2B5EF4-FFF2-40B4-BE49-F238E27FC236}">
                <a16:creationId xmlns:a16="http://schemas.microsoft.com/office/drawing/2014/main" id="{2E1290A3-9326-4A39-BF8F-6695FB738D29}"/>
              </a:ext>
            </a:extLst>
          </p:cNvPr>
          <p:cNvSpPr txBox="1">
            <a:spLocks noChangeArrowheads="1"/>
          </p:cNvSpPr>
          <p:nvPr/>
        </p:nvSpPr>
        <p:spPr bwMode="gray">
          <a:xfrm>
            <a:off x="437977" y="3852660"/>
            <a:ext cx="1374404" cy="201127"/>
          </a:xfrm>
          <a:prstGeom prst="rect">
            <a:avLst/>
          </a:prstGeom>
          <a:solidFill>
            <a:schemeClr val="bg1"/>
          </a:solidFill>
          <a:ln>
            <a:noFill/>
          </a:ln>
          <a:effectLst/>
        </p:spPr>
        <p:txBody>
          <a:bodyPr vert="horz" wrap="square" lIns="0" tIns="36000" rIns="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Beschäftigte 31.12.20251)</a:t>
            </a:r>
          </a:p>
        </p:txBody>
      </p:sp>
      <p:grpSp>
        <p:nvGrpSpPr>
          <p:cNvPr id="14" name="Group 13">
            <a:extLst>
              <a:ext uri="{FF2B5EF4-FFF2-40B4-BE49-F238E27FC236}">
                <a16:creationId xmlns:a16="http://schemas.microsoft.com/office/drawing/2014/main" id="{B18A2D58-D174-8BF2-8416-F0ABC8989DF8}"/>
              </a:ext>
            </a:extLst>
          </p:cNvPr>
          <p:cNvGrpSpPr/>
          <p:nvPr/>
        </p:nvGrpSpPr>
        <p:grpSpPr>
          <a:xfrm>
            <a:off x="2079669" y="2054454"/>
            <a:ext cx="1494062" cy="648051"/>
            <a:chOff x="2079669" y="2712273"/>
            <a:chExt cx="1494062" cy="648051"/>
          </a:xfrm>
        </p:grpSpPr>
        <p:sp>
          <p:nvSpPr>
            <p:cNvPr id="32" name="Text Box 29">
              <a:extLst>
                <a:ext uri="{FF2B5EF4-FFF2-40B4-BE49-F238E27FC236}">
                  <a16:creationId xmlns:a16="http://schemas.microsoft.com/office/drawing/2014/main" id="{63788926-8EF7-486D-B8D3-EC7F78D6F036}"/>
                </a:ext>
              </a:extLst>
            </p:cNvPr>
            <p:cNvSpPr txBox="1">
              <a:spLocks noChangeArrowheads="1"/>
            </p:cNvSpPr>
            <p:nvPr/>
          </p:nvSpPr>
          <p:spPr bwMode="gray">
            <a:xfrm>
              <a:off x="2079669"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52,4 Mio. EUR</a:t>
              </a:r>
            </a:p>
            <a:p>
              <a:r>
                <a:rPr lang="de-DE" dirty="0"/>
                <a:t>83,8 Mio. EUR (2024)</a:t>
              </a:r>
            </a:p>
          </p:txBody>
        </p:sp>
        <p:sp>
          <p:nvSpPr>
            <p:cNvPr id="33" name="Text Box 29">
              <a:extLst>
                <a:ext uri="{FF2B5EF4-FFF2-40B4-BE49-F238E27FC236}">
                  <a16:creationId xmlns:a16="http://schemas.microsoft.com/office/drawing/2014/main" id="{DF9C6057-5085-47A3-BD82-1102164E3C4B}"/>
                </a:ext>
              </a:extLst>
            </p:cNvPr>
            <p:cNvSpPr txBox="1">
              <a:spLocks noChangeArrowheads="1"/>
            </p:cNvSpPr>
            <p:nvPr/>
          </p:nvSpPr>
          <p:spPr bwMode="gray">
            <a:xfrm>
              <a:off x="2415781" y="2712273"/>
              <a:ext cx="821900"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EBT 20252)</a:t>
              </a:r>
              <a:endParaRPr lang="de-DE" sz="900" baseline="30000" dirty="0">
                <a:cs typeface="Arial" pitchFamily="34" charset="0"/>
              </a:endParaRPr>
            </a:p>
          </p:txBody>
        </p:sp>
      </p:grpSp>
      <p:grpSp>
        <p:nvGrpSpPr>
          <p:cNvPr id="21" name="Group 20">
            <a:extLst>
              <a:ext uri="{FF2B5EF4-FFF2-40B4-BE49-F238E27FC236}">
                <a16:creationId xmlns:a16="http://schemas.microsoft.com/office/drawing/2014/main" id="{BBA21037-A061-63C2-FDB8-8320FEF4BCC1}"/>
              </a:ext>
            </a:extLst>
          </p:cNvPr>
          <p:cNvGrpSpPr/>
          <p:nvPr/>
        </p:nvGrpSpPr>
        <p:grpSpPr>
          <a:xfrm>
            <a:off x="2079117" y="2953557"/>
            <a:ext cx="1494062" cy="648051"/>
            <a:chOff x="2079117" y="3487560"/>
            <a:chExt cx="1494062" cy="648051"/>
          </a:xfrm>
        </p:grpSpPr>
        <p:sp>
          <p:nvSpPr>
            <p:cNvPr id="35" name="Text Box 29">
              <a:extLst>
                <a:ext uri="{FF2B5EF4-FFF2-40B4-BE49-F238E27FC236}">
                  <a16:creationId xmlns:a16="http://schemas.microsoft.com/office/drawing/2014/main" id="{B9471182-8A03-4C21-BA60-005B9D96CA86}"/>
                </a:ext>
              </a:extLst>
            </p:cNvPr>
            <p:cNvSpPr txBox="1">
              <a:spLocks noChangeArrowheads="1"/>
            </p:cNvSpPr>
            <p:nvPr/>
          </p:nvSpPr>
          <p:spPr bwMode="gray">
            <a:xfrm>
              <a:off x="2079117" y="3572457"/>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37,0 Mio. EUR</a:t>
              </a:r>
            </a:p>
            <a:p>
              <a:r>
                <a:rPr lang="de-DE" dirty="0"/>
                <a:t>27,5 Mio. EUR (2024)</a:t>
              </a:r>
            </a:p>
          </p:txBody>
        </p:sp>
        <p:sp>
          <p:nvSpPr>
            <p:cNvPr id="36" name="Text Box 29">
              <a:extLst>
                <a:ext uri="{FF2B5EF4-FFF2-40B4-BE49-F238E27FC236}">
                  <a16:creationId xmlns:a16="http://schemas.microsoft.com/office/drawing/2014/main" id="{FE16F227-1C15-4F2D-A4E9-369DAF5614FB}"/>
                </a:ext>
              </a:extLst>
            </p:cNvPr>
            <p:cNvSpPr txBox="1">
              <a:spLocks noChangeArrowheads="1"/>
            </p:cNvSpPr>
            <p:nvPr/>
          </p:nvSpPr>
          <p:spPr bwMode="gray">
            <a:xfrm>
              <a:off x="2415907" y="3487560"/>
              <a:ext cx="820483"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Investitionen 2025</a:t>
              </a:r>
            </a:p>
          </p:txBody>
        </p:sp>
      </p:grpSp>
      <p:grpSp>
        <p:nvGrpSpPr>
          <p:cNvPr id="15" name="Group 14">
            <a:extLst>
              <a:ext uri="{FF2B5EF4-FFF2-40B4-BE49-F238E27FC236}">
                <a16:creationId xmlns:a16="http://schemas.microsoft.com/office/drawing/2014/main" id="{C2992F3A-49F1-2689-CFF3-E9EE4FB705CC}"/>
              </a:ext>
            </a:extLst>
          </p:cNvPr>
          <p:cNvGrpSpPr/>
          <p:nvPr/>
        </p:nvGrpSpPr>
        <p:grpSpPr>
          <a:xfrm>
            <a:off x="378700" y="2953557"/>
            <a:ext cx="1494062" cy="648051"/>
            <a:chOff x="3780638" y="2712273"/>
            <a:chExt cx="1494062" cy="648051"/>
          </a:xfrm>
        </p:grpSpPr>
        <p:sp>
          <p:nvSpPr>
            <p:cNvPr id="47" name="Text Box 29">
              <a:extLst>
                <a:ext uri="{FF2B5EF4-FFF2-40B4-BE49-F238E27FC236}">
                  <a16:creationId xmlns:a16="http://schemas.microsoft.com/office/drawing/2014/main" id="{555098C0-81A3-4E3C-94C1-58FE85C18930}"/>
                </a:ext>
              </a:extLst>
            </p:cNvPr>
            <p:cNvSpPr txBox="1">
              <a:spLocks noChangeArrowheads="1"/>
            </p:cNvSpPr>
            <p:nvPr/>
          </p:nvSpPr>
          <p:spPr bwMode="gray">
            <a:xfrm>
              <a:off x="3780638"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48,9 Mio. EUR</a:t>
              </a:r>
            </a:p>
            <a:p>
              <a:r>
                <a:rPr lang="de-DE" dirty="0"/>
                <a:t>78,3 Mio. EUR (2024)</a:t>
              </a:r>
            </a:p>
          </p:txBody>
        </p:sp>
        <p:sp>
          <p:nvSpPr>
            <p:cNvPr id="48" name="Text Box 29">
              <a:extLst>
                <a:ext uri="{FF2B5EF4-FFF2-40B4-BE49-F238E27FC236}">
                  <a16:creationId xmlns:a16="http://schemas.microsoft.com/office/drawing/2014/main" id="{A52F1800-09D2-4CB1-A36E-83400C31F2FA}"/>
                </a:ext>
              </a:extLst>
            </p:cNvPr>
            <p:cNvSpPr txBox="1">
              <a:spLocks noChangeArrowheads="1"/>
            </p:cNvSpPr>
            <p:nvPr/>
          </p:nvSpPr>
          <p:spPr bwMode="gray">
            <a:xfrm>
              <a:off x="4154109" y="2712273"/>
              <a:ext cx="74718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Unternehmensergebnis 20253)</a:t>
              </a:r>
            </a:p>
          </p:txBody>
        </p:sp>
      </p:grpSp>
      <p:grpSp>
        <p:nvGrpSpPr>
          <p:cNvPr id="16" name="Group 15">
            <a:extLst>
              <a:ext uri="{FF2B5EF4-FFF2-40B4-BE49-F238E27FC236}">
                <a16:creationId xmlns:a16="http://schemas.microsoft.com/office/drawing/2014/main" id="{1251ED95-0B42-B853-8BA8-589179553E1D}"/>
              </a:ext>
            </a:extLst>
          </p:cNvPr>
          <p:cNvGrpSpPr/>
          <p:nvPr/>
        </p:nvGrpSpPr>
        <p:grpSpPr>
          <a:xfrm>
            <a:off x="2078841" y="3852660"/>
            <a:ext cx="1494062" cy="648051"/>
            <a:chOff x="3780086" y="3487560"/>
            <a:chExt cx="1494062" cy="648051"/>
          </a:xfrm>
        </p:grpSpPr>
        <p:sp>
          <p:nvSpPr>
            <p:cNvPr id="50" name="Text Box 29">
              <a:extLst>
                <a:ext uri="{FF2B5EF4-FFF2-40B4-BE49-F238E27FC236}">
                  <a16:creationId xmlns:a16="http://schemas.microsoft.com/office/drawing/2014/main" id="{2DA28B3F-11F9-4643-BF94-3DF95D25DCE4}"/>
                </a:ext>
              </a:extLst>
            </p:cNvPr>
            <p:cNvSpPr txBox="1">
              <a:spLocks noChangeArrowheads="1"/>
            </p:cNvSpPr>
            <p:nvPr/>
          </p:nvSpPr>
          <p:spPr bwMode="gray">
            <a:xfrm>
              <a:off x="3780086" y="3572457"/>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28,5 %</a:t>
              </a:r>
            </a:p>
            <a:p>
              <a:pPr>
                <a:lnSpc>
                  <a:spcPct val="100000"/>
                </a:lnSpc>
                <a:spcAft>
                  <a:spcPts val="0"/>
                </a:spcAft>
              </a:pPr>
              <a:r>
                <a:rPr lang="de-DE" sz="900" dirty="0">
                  <a:solidFill>
                    <a:srgbClr val="003D7C"/>
                  </a:solidFill>
                </a:rPr>
                <a:t>27,6 % (2024)</a:t>
              </a:r>
            </a:p>
          </p:txBody>
        </p:sp>
        <p:sp>
          <p:nvSpPr>
            <p:cNvPr id="51" name="Text Box 29">
              <a:extLst>
                <a:ext uri="{FF2B5EF4-FFF2-40B4-BE49-F238E27FC236}">
                  <a16:creationId xmlns:a16="http://schemas.microsoft.com/office/drawing/2014/main" id="{BDC86E9A-E958-432C-ACBA-E44D25927225}"/>
                </a:ext>
              </a:extLst>
            </p:cNvPr>
            <p:cNvSpPr txBox="1">
              <a:spLocks noChangeArrowheads="1"/>
            </p:cNvSpPr>
            <p:nvPr/>
          </p:nvSpPr>
          <p:spPr bwMode="gray">
            <a:xfrm>
              <a:off x="3975357" y="3487560"/>
              <a:ext cx="1103520"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Eigenkapitalquote 2025</a:t>
              </a:r>
            </a:p>
          </p:txBody>
        </p:sp>
      </p:grpSp>
      <p:sp>
        <p:nvSpPr>
          <p:cNvPr id="178" name="Text Placeholder 8">
            <a:extLst>
              <a:ext uri="{FF2B5EF4-FFF2-40B4-BE49-F238E27FC236}">
                <a16:creationId xmlns:a16="http://schemas.microsoft.com/office/drawing/2014/main" id="{F205CB61-B562-4FBE-A9D6-A4FFDF4C6F28}"/>
              </a:ext>
            </a:extLst>
          </p:cNvPr>
          <p:cNvSpPr txBox="1">
            <a:spLocks/>
          </p:cNvSpPr>
          <p:nvPr/>
        </p:nvSpPr>
        <p:spPr>
          <a:xfrm>
            <a:off x="5424111" y="1624272"/>
            <a:ext cx="4896000" cy="252000"/>
          </a:xfrm>
          <a:prstGeom prst="rect">
            <a:avLst/>
          </a:prstGeom>
          <a:solidFill>
            <a:schemeClr val="bg1">
              <a:lumMod val="95000"/>
            </a:schemeClr>
          </a:solidFill>
          <a:ln w="25400" cap="flat" cmpd="sng" algn="ctr">
            <a:noFill/>
            <a:prstDash val="solid"/>
          </a:ln>
          <a:effectLst/>
        </p:spPr>
        <p:txBody>
          <a:bodyPr vert="horz" lIns="90000" tIns="46800" rIns="90000" bIns="46800" rtlCol="0" anchor="ctr">
            <a:noAutofit/>
          </a:bodyPr>
          <a:lstStyle>
            <a:lvl1pPr marL="0" indent="0" algn="l" defTabSz="1043056" rtl="0" eaLnBrk="1" latinLnBrk="0" hangingPunct="1">
              <a:spcBef>
                <a:spcPts val="0"/>
              </a:spcBef>
              <a:buClr>
                <a:schemeClr val="accent1"/>
              </a:buClr>
              <a:buFont typeface="Arial" panose="020B0604020202020204" pitchFamily="34" charset="0"/>
              <a:buNone/>
              <a:tabLst/>
              <a:defRPr lang="de-DE" sz="1000" b="1" kern="1200" dirty="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lt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lt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lt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lt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9pPr>
          </a:lstStyle>
          <a:p>
            <a:r>
              <a:rPr lang="de-DE" dirty="0"/>
              <a:t>Geschäftsmodell</a:t>
            </a:r>
          </a:p>
        </p:txBody>
      </p:sp>
      <p:sp>
        <p:nvSpPr>
          <p:cNvPr id="4" name="Text Placeholder 3">
            <a:extLst>
              <a:ext uri="{FF2B5EF4-FFF2-40B4-BE49-F238E27FC236}">
                <a16:creationId xmlns:a16="http://schemas.microsoft.com/office/drawing/2014/main" id="{37A505EA-7C70-4AD6-AF80-4F53E2A49AF8}"/>
              </a:ext>
            </a:extLst>
          </p:cNvPr>
          <p:cNvSpPr>
            <a:spLocks noGrp="1"/>
          </p:cNvSpPr>
          <p:nvPr>
            <p:ph type="body" sz="quarter" idx="19"/>
          </p:nvPr>
        </p:nvSpPr>
        <p:spPr>
          <a:xfrm>
            <a:off x="3779534" y="1623075"/>
            <a:ext cx="6535166" cy="252000"/>
          </a:xfrm>
          <a:ln>
            <a:noFill/>
          </a:ln>
        </p:spPr>
        <p:txBody>
          <a:bodyPr/>
          <a:lstStyle/>
          <a:p>
            <a:r>
              <a:rPr lang="de-DE" dirty="0"/>
              <a:t>Geschäftsfelder der ESWE Versorgungs AG</a:t>
            </a:r>
            <a:endParaRPr lang="en-GB" baseline="30000" dirty="0"/>
          </a:p>
        </p:txBody>
      </p:sp>
      <p:sp>
        <p:nvSpPr>
          <p:cNvPr id="25" name="Text Box 29">
            <a:extLst>
              <a:ext uri="{FF2B5EF4-FFF2-40B4-BE49-F238E27FC236}">
                <a16:creationId xmlns:a16="http://schemas.microsoft.com/office/drawing/2014/main" id="{33261C6D-EBB4-4CFB-9BD8-1A8374334AE5}"/>
              </a:ext>
            </a:extLst>
          </p:cNvPr>
          <p:cNvSpPr txBox="1">
            <a:spLocks noChangeArrowheads="1"/>
          </p:cNvSpPr>
          <p:nvPr/>
        </p:nvSpPr>
        <p:spPr bwMode="gray">
          <a:xfrm>
            <a:off x="378148" y="6025768"/>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738 km</a:t>
            </a:r>
          </a:p>
        </p:txBody>
      </p:sp>
      <p:sp>
        <p:nvSpPr>
          <p:cNvPr id="31" name="Text Box 29">
            <a:extLst>
              <a:ext uri="{FF2B5EF4-FFF2-40B4-BE49-F238E27FC236}">
                <a16:creationId xmlns:a16="http://schemas.microsoft.com/office/drawing/2014/main" id="{95792CFD-397E-1FFD-968E-2B9141CAD97F}"/>
              </a:ext>
            </a:extLst>
          </p:cNvPr>
          <p:cNvSpPr txBox="1">
            <a:spLocks noChangeArrowheads="1"/>
          </p:cNvSpPr>
          <p:nvPr/>
        </p:nvSpPr>
        <p:spPr bwMode="gray">
          <a:xfrm>
            <a:off x="655811" y="5940871"/>
            <a:ext cx="938736"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Wassernetz</a:t>
            </a:r>
          </a:p>
        </p:txBody>
      </p:sp>
      <p:sp>
        <p:nvSpPr>
          <p:cNvPr id="41" name="Text Box 29">
            <a:extLst>
              <a:ext uri="{FF2B5EF4-FFF2-40B4-BE49-F238E27FC236}">
                <a16:creationId xmlns:a16="http://schemas.microsoft.com/office/drawing/2014/main" id="{9E386528-9D4D-2402-2996-EEAB4E41A1D3}"/>
              </a:ext>
            </a:extLst>
          </p:cNvPr>
          <p:cNvSpPr txBox="1">
            <a:spLocks noChangeArrowheads="1"/>
          </p:cNvSpPr>
          <p:nvPr/>
        </p:nvSpPr>
        <p:spPr bwMode="gray">
          <a:xfrm>
            <a:off x="378700" y="5089664"/>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3.285 km</a:t>
            </a:r>
            <a:endParaRPr lang="de-DE" baseline="30000" dirty="0"/>
          </a:p>
        </p:txBody>
      </p:sp>
      <p:sp>
        <p:nvSpPr>
          <p:cNvPr id="43" name="Text Box 29">
            <a:extLst>
              <a:ext uri="{FF2B5EF4-FFF2-40B4-BE49-F238E27FC236}">
                <a16:creationId xmlns:a16="http://schemas.microsoft.com/office/drawing/2014/main" id="{0D115CE2-1F06-93C3-AE2C-5B9AC4D9CDA9}"/>
              </a:ext>
            </a:extLst>
          </p:cNvPr>
          <p:cNvSpPr txBox="1">
            <a:spLocks noChangeArrowheads="1"/>
          </p:cNvSpPr>
          <p:nvPr/>
        </p:nvSpPr>
        <p:spPr bwMode="gray">
          <a:xfrm>
            <a:off x="752171" y="5004767"/>
            <a:ext cx="74718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Stromnetz4)</a:t>
            </a:r>
          </a:p>
        </p:txBody>
      </p:sp>
      <p:sp>
        <p:nvSpPr>
          <p:cNvPr id="45" name="Text Box 29">
            <a:extLst>
              <a:ext uri="{FF2B5EF4-FFF2-40B4-BE49-F238E27FC236}">
                <a16:creationId xmlns:a16="http://schemas.microsoft.com/office/drawing/2014/main" id="{4F8B014C-95AC-39B9-80A9-689585236881}"/>
              </a:ext>
            </a:extLst>
          </p:cNvPr>
          <p:cNvSpPr txBox="1">
            <a:spLocks noChangeArrowheads="1"/>
          </p:cNvSpPr>
          <p:nvPr/>
        </p:nvSpPr>
        <p:spPr bwMode="gray">
          <a:xfrm>
            <a:off x="2078841" y="6025768"/>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132,9 km</a:t>
            </a:r>
          </a:p>
        </p:txBody>
      </p:sp>
      <p:sp>
        <p:nvSpPr>
          <p:cNvPr id="46" name="Text Box 29">
            <a:extLst>
              <a:ext uri="{FF2B5EF4-FFF2-40B4-BE49-F238E27FC236}">
                <a16:creationId xmlns:a16="http://schemas.microsoft.com/office/drawing/2014/main" id="{3670C91B-63EC-0F07-6E8C-9CEE2D9719A0}"/>
              </a:ext>
            </a:extLst>
          </p:cNvPr>
          <p:cNvSpPr txBox="1">
            <a:spLocks noChangeArrowheads="1"/>
          </p:cNvSpPr>
          <p:nvPr/>
        </p:nvSpPr>
        <p:spPr bwMode="gray">
          <a:xfrm>
            <a:off x="2201143" y="5940871"/>
            <a:ext cx="1249458"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Fernwärmenetz</a:t>
            </a:r>
          </a:p>
        </p:txBody>
      </p:sp>
      <p:sp>
        <p:nvSpPr>
          <p:cNvPr id="52" name="Text Box 29">
            <a:extLst>
              <a:ext uri="{FF2B5EF4-FFF2-40B4-BE49-F238E27FC236}">
                <a16:creationId xmlns:a16="http://schemas.microsoft.com/office/drawing/2014/main" id="{418CE6C9-86A1-C27C-048B-72ED89861019}"/>
              </a:ext>
            </a:extLst>
          </p:cNvPr>
          <p:cNvSpPr txBox="1">
            <a:spLocks noChangeArrowheads="1"/>
          </p:cNvSpPr>
          <p:nvPr/>
        </p:nvSpPr>
        <p:spPr bwMode="gray">
          <a:xfrm>
            <a:off x="2078841" y="5089664"/>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847 km</a:t>
            </a:r>
            <a:endParaRPr lang="de-DE" baseline="30000" dirty="0"/>
          </a:p>
        </p:txBody>
      </p:sp>
      <p:sp>
        <p:nvSpPr>
          <p:cNvPr id="53" name="Text Box 29">
            <a:extLst>
              <a:ext uri="{FF2B5EF4-FFF2-40B4-BE49-F238E27FC236}">
                <a16:creationId xmlns:a16="http://schemas.microsoft.com/office/drawing/2014/main" id="{5FE17C65-0763-F5D9-594E-9925F3A7A791}"/>
              </a:ext>
            </a:extLst>
          </p:cNvPr>
          <p:cNvSpPr txBox="1">
            <a:spLocks noChangeArrowheads="1"/>
          </p:cNvSpPr>
          <p:nvPr/>
        </p:nvSpPr>
        <p:spPr bwMode="gray">
          <a:xfrm>
            <a:off x="2328654" y="5004767"/>
            <a:ext cx="994499"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Gasnetz</a:t>
            </a:r>
          </a:p>
        </p:txBody>
      </p:sp>
      <p:sp>
        <p:nvSpPr>
          <p:cNvPr id="38" name="Rectangle 37">
            <a:extLst>
              <a:ext uri="{FF2B5EF4-FFF2-40B4-BE49-F238E27FC236}">
                <a16:creationId xmlns:a16="http://schemas.microsoft.com/office/drawing/2014/main" id="{D6DD787B-7AEB-428A-DEDB-0C0E0CB27A54}"/>
              </a:ext>
            </a:extLst>
          </p:cNvPr>
          <p:cNvSpPr/>
          <p:nvPr/>
        </p:nvSpPr>
        <p:spPr>
          <a:xfrm>
            <a:off x="3786188" y="1923675"/>
            <a:ext cx="6534150" cy="4881938"/>
          </a:xfrm>
          <a:prstGeom prst="rect">
            <a:avLst/>
          </a:prstGeom>
          <a:solidFill>
            <a:srgbClr val="EBF4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sp>
        <p:nvSpPr>
          <p:cNvPr id="247" name="Rectangle 246">
            <a:extLst>
              <a:ext uri="{FF2B5EF4-FFF2-40B4-BE49-F238E27FC236}">
                <a16:creationId xmlns:a16="http://schemas.microsoft.com/office/drawing/2014/main" id="{8997114C-9549-948C-5A99-85990E6F7FE6}"/>
              </a:ext>
            </a:extLst>
          </p:cNvPr>
          <p:cNvSpPr/>
          <p:nvPr/>
        </p:nvSpPr>
        <p:spPr>
          <a:xfrm>
            <a:off x="3872630" y="1982019"/>
            <a:ext cx="6355319" cy="1069968"/>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Vertrieb an Privat-, Gewerbe- und Geschäftskunden in Wiesbaden und deutschlandweit – der überregionale Vertrieb wurde 2025 wieder forciert</a:t>
            </a:r>
          </a:p>
          <a:p>
            <a:pPr marL="174625" indent="-174625">
              <a:spcAft>
                <a:spcPts val="600"/>
              </a:spcAft>
              <a:buClr>
                <a:srgbClr val="003D7C"/>
              </a:buClr>
              <a:buFont typeface="Wingdings" pitchFamily="2" charset="2"/>
              <a:buChar char="n"/>
            </a:pPr>
            <a:r>
              <a:rPr lang="de-DE" sz="900" dirty="0">
                <a:solidFill>
                  <a:schemeClr val="tx1"/>
                </a:solidFill>
              </a:rPr>
              <a:t>Stromabsatz 2025: 604.839 MWh an 207.431 Verbrauchsstellen; Netzbetrieb über die Stadtwerke Wiesbaden Netz GmbH</a:t>
            </a:r>
          </a:p>
        </p:txBody>
      </p:sp>
      <p:sp>
        <p:nvSpPr>
          <p:cNvPr id="248" name="Rectangle 247">
            <a:extLst>
              <a:ext uri="{FF2B5EF4-FFF2-40B4-BE49-F238E27FC236}">
                <a16:creationId xmlns:a16="http://schemas.microsoft.com/office/drawing/2014/main" id="{11E69820-5564-5735-6AAF-B2FF065FBDEF}"/>
              </a:ext>
            </a:extLst>
          </p:cNvPr>
          <p:cNvSpPr/>
          <p:nvPr/>
        </p:nvSpPr>
        <p:spPr>
          <a:xfrm>
            <a:off x="3872631" y="1982019"/>
            <a:ext cx="6355319" cy="180975"/>
          </a:xfrm>
          <a:prstGeom prst="rect">
            <a:avLst/>
          </a:prstGeom>
          <a:solidFill>
            <a:srgbClr val="003D7C"/>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Strom</a:t>
            </a:r>
          </a:p>
        </p:txBody>
      </p:sp>
      <p:sp>
        <p:nvSpPr>
          <p:cNvPr id="61" name="TextBox 60">
            <a:extLst>
              <a:ext uri="{FF2B5EF4-FFF2-40B4-BE49-F238E27FC236}">
                <a16:creationId xmlns:a16="http://schemas.microsoft.com/office/drawing/2014/main" id="{A2AC385B-691E-6A49-6770-B3BEB68BE4E6}"/>
              </a:ext>
            </a:extLst>
          </p:cNvPr>
          <p:cNvSpPr txBox="1"/>
          <p:nvPr/>
        </p:nvSpPr>
        <p:spPr>
          <a:xfrm>
            <a:off x="6160522" y="3178003"/>
            <a:ext cx="1781907" cy="246063"/>
          </a:xfrm>
          <a:prstGeom prst="rect">
            <a:avLst/>
          </a:prstGeom>
          <a:noFill/>
        </p:spPr>
        <p:txBody>
          <a:bodyPr wrap="square" rtlCol="0">
            <a:spAutoFit/>
          </a:bodyPr>
          <a:lstStyle/>
          <a:p>
            <a:pPr algn="ctr"/>
            <a:r>
              <a:rPr lang="de-DE" sz="1000" b="1" i="1" dirty="0">
                <a:solidFill>
                  <a:schemeClr val="accent1"/>
                </a:solidFill>
              </a:rPr>
              <a:t>Umsatzerlöse 2025</a:t>
            </a:r>
          </a:p>
        </p:txBody>
      </p:sp>
      <p:sp>
        <p:nvSpPr>
          <p:cNvPr id="254" name="Rectangle 253">
            <a:extLst>
              <a:ext uri="{FF2B5EF4-FFF2-40B4-BE49-F238E27FC236}">
                <a16:creationId xmlns:a16="http://schemas.microsoft.com/office/drawing/2014/main" id="{91068A60-0721-2B9E-52C0-F0A0E8FC98D2}"/>
              </a:ext>
            </a:extLst>
          </p:cNvPr>
          <p:cNvSpPr/>
          <p:nvPr/>
        </p:nvSpPr>
        <p:spPr>
          <a:xfrm>
            <a:off x="3872632" y="3178003"/>
            <a:ext cx="1512000" cy="2358794"/>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Konzerninterne Dienstleistungen (20,2 Mio. EUR)</a:t>
            </a:r>
          </a:p>
          <a:p>
            <a:pPr marL="174625" indent="-174625">
              <a:spcAft>
                <a:spcPts val="600"/>
              </a:spcAft>
              <a:buClr>
                <a:srgbClr val="003D7C"/>
              </a:buClr>
              <a:buFont typeface="Wingdings" pitchFamily="2" charset="2"/>
              <a:buChar char="n"/>
            </a:pPr>
            <a:r>
              <a:rPr lang="de-DE" sz="900" dirty="0">
                <a:solidFill>
                  <a:schemeClr val="tx1"/>
                </a:solidFill>
              </a:rPr>
              <a:t>Energienahe Dienstleistungen, Photovoltaik und Ladeinfrastruktur</a:t>
            </a:r>
          </a:p>
          <a:p>
            <a:pPr marL="174625" indent="-174625">
              <a:spcAft>
                <a:spcPts val="600"/>
              </a:spcAft>
              <a:buClr>
                <a:srgbClr val="003D7C"/>
              </a:buClr>
              <a:buFont typeface="Wingdings" pitchFamily="2" charset="2"/>
              <a:buChar char="n"/>
            </a:pPr>
            <a:r>
              <a:rPr lang="de-DE" sz="900" dirty="0">
                <a:solidFill>
                  <a:schemeClr val="tx1"/>
                </a:solidFill>
              </a:rPr>
              <a:t>Übrige Umsatzerlöse (14,7 Mio. EUR)</a:t>
            </a:r>
          </a:p>
        </p:txBody>
      </p:sp>
      <p:sp>
        <p:nvSpPr>
          <p:cNvPr id="249" name="Rectangle 248">
            <a:extLst>
              <a:ext uri="{FF2B5EF4-FFF2-40B4-BE49-F238E27FC236}">
                <a16:creationId xmlns:a16="http://schemas.microsoft.com/office/drawing/2014/main" id="{BDA7AD5D-896F-0279-04DD-5B37ADB1C650}"/>
              </a:ext>
            </a:extLst>
          </p:cNvPr>
          <p:cNvSpPr/>
          <p:nvPr/>
        </p:nvSpPr>
        <p:spPr>
          <a:xfrm>
            <a:off x="3872632" y="3178003"/>
            <a:ext cx="1512000" cy="179388"/>
          </a:xfrm>
          <a:prstGeom prst="rect">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Sonstiges</a:t>
            </a:r>
          </a:p>
        </p:txBody>
      </p:sp>
      <p:grpSp>
        <p:nvGrpSpPr>
          <p:cNvPr id="79" name="Group 78">
            <a:extLst>
              <a:ext uri="{FF2B5EF4-FFF2-40B4-BE49-F238E27FC236}">
                <a16:creationId xmlns:a16="http://schemas.microsoft.com/office/drawing/2014/main" id="{EBF86ECC-6E53-6DCD-43DC-AF4C03577653}"/>
              </a:ext>
            </a:extLst>
          </p:cNvPr>
          <p:cNvGrpSpPr/>
          <p:nvPr/>
        </p:nvGrpSpPr>
        <p:grpSpPr>
          <a:xfrm>
            <a:off x="8715952" y="3178003"/>
            <a:ext cx="1512000" cy="2358795"/>
            <a:chOff x="8715952" y="3187650"/>
            <a:chExt cx="1512000" cy="2358795"/>
          </a:xfrm>
        </p:grpSpPr>
        <p:sp>
          <p:nvSpPr>
            <p:cNvPr id="232" name="Rectangle 231">
              <a:extLst>
                <a:ext uri="{FF2B5EF4-FFF2-40B4-BE49-F238E27FC236}">
                  <a16:creationId xmlns:a16="http://schemas.microsoft.com/office/drawing/2014/main" id="{27695B0F-C476-B927-D464-511E44FD8183}"/>
                </a:ext>
              </a:extLst>
            </p:cNvPr>
            <p:cNvSpPr/>
            <p:nvPr/>
          </p:nvSpPr>
          <p:spPr>
            <a:xfrm>
              <a:off x="8715952" y="3187650"/>
              <a:ext cx="1512000" cy="2358795"/>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Vertrieb sowie Betrieb der Gasnetze in Wiesbaden, Taunusstein, Walluf und Schlangenbad</a:t>
              </a:r>
            </a:p>
            <a:p>
              <a:pPr marL="174625" indent="-174625">
                <a:spcAft>
                  <a:spcPts val="600"/>
                </a:spcAft>
                <a:buClr>
                  <a:srgbClr val="003D7C"/>
                </a:buClr>
                <a:buFont typeface="Wingdings" pitchFamily="2" charset="2"/>
                <a:buChar char="n"/>
              </a:pPr>
              <a:r>
                <a:rPr lang="de-DE" sz="900" dirty="0">
                  <a:solidFill>
                    <a:schemeClr val="tx1"/>
                  </a:solidFill>
                </a:rPr>
                <a:t>Gasabsatz 2025: 1.445.018 MWh an 53.323 Verbrauchsstellen</a:t>
              </a:r>
            </a:p>
          </p:txBody>
        </p:sp>
        <p:sp>
          <p:nvSpPr>
            <p:cNvPr id="234" name="Rectangle 233">
              <a:extLst>
                <a:ext uri="{FF2B5EF4-FFF2-40B4-BE49-F238E27FC236}">
                  <a16:creationId xmlns:a16="http://schemas.microsoft.com/office/drawing/2014/main" id="{C7E79931-DF30-5958-A14C-717778650C51}"/>
                </a:ext>
              </a:extLst>
            </p:cNvPr>
            <p:cNvSpPr/>
            <p:nvPr/>
          </p:nvSpPr>
          <p:spPr>
            <a:xfrm>
              <a:off x="8715952" y="3187650"/>
              <a:ext cx="1512000" cy="179388"/>
            </a:xfrm>
            <a:prstGeom prst="rect">
              <a:avLst/>
            </a:prstGeom>
            <a:solidFill>
              <a:srgbClr val="718B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Gas</a:t>
              </a:r>
            </a:p>
          </p:txBody>
        </p:sp>
      </p:grpSp>
      <p:grpSp>
        <p:nvGrpSpPr>
          <p:cNvPr id="63" name="Group 62">
            <a:extLst>
              <a:ext uri="{FF2B5EF4-FFF2-40B4-BE49-F238E27FC236}">
                <a16:creationId xmlns:a16="http://schemas.microsoft.com/office/drawing/2014/main" id="{7CF3D652-BEC6-CBEA-9923-EF688258D3BB}"/>
              </a:ext>
            </a:extLst>
          </p:cNvPr>
          <p:cNvGrpSpPr/>
          <p:nvPr/>
        </p:nvGrpSpPr>
        <p:grpSpPr>
          <a:xfrm>
            <a:off x="3872631" y="5663583"/>
            <a:ext cx="3128400" cy="1069200"/>
            <a:chOff x="7101512" y="5148783"/>
            <a:chExt cx="1512000" cy="1069200"/>
          </a:xfrm>
        </p:grpSpPr>
        <p:sp>
          <p:nvSpPr>
            <p:cNvPr id="218" name="Rectangle 217">
              <a:extLst>
                <a:ext uri="{FF2B5EF4-FFF2-40B4-BE49-F238E27FC236}">
                  <a16:creationId xmlns:a16="http://schemas.microsoft.com/office/drawing/2014/main" id="{9CFCE555-9AC2-784A-9478-15BCD9EA7A07}"/>
                </a:ext>
              </a:extLst>
            </p:cNvPr>
            <p:cNvSpPr/>
            <p:nvPr/>
          </p:nvSpPr>
          <p:spPr>
            <a:xfrm>
              <a:off x="7101512" y="5148783"/>
              <a:ext cx="1512000" cy="1069200"/>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400"/>
                </a:spcAft>
                <a:buClr>
                  <a:srgbClr val="003D7C"/>
                </a:buClr>
                <a:buFont typeface="Wingdings" pitchFamily="2" charset="2"/>
                <a:buChar char="n"/>
              </a:pPr>
              <a:r>
                <a:rPr lang="de-DE" sz="900" dirty="0">
                  <a:solidFill>
                    <a:schemeClr val="tx1"/>
                  </a:solidFill>
                </a:rPr>
                <a:t>Fernwärmeversorgung Wiesbadens, gedeckt vor allem aus dem Biomasseheizkraftwerk; das MHKW steht kurz vor der Inbetriebnahme</a:t>
              </a:r>
            </a:p>
            <a:p>
              <a:pPr marL="174625" indent="-174625">
                <a:spcAft>
                  <a:spcPts val="400"/>
                </a:spcAft>
                <a:buClr>
                  <a:srgbClr val="003D7C"/>
                </a:buClr>
                <a:buFont typeface="Wingdings" pitchFamily="2" charset="2"/>
                <a:buChar char="n"/>
              </a:pPr>
              <a:r>
                <a:rPr lang="de-DE" sz="900" dirty="0">
                  <a:solidFill>
                    <a:schemeClr val="tx1"/>
                  </a:solidFill>
                </a:rPr>
                <a:t>Wärmeabsatz 2025: 270.523 MWh über 1.979 Anschlüsse</a:t>
              </a:r>
            </a:p>
          </p:txBody>
        </p:sp>
        <p:sp>
          <p:nvSpPr>
            <p:cNvPr id="224" name="Rectangle 223">
              <a:extLst>
                <a:ext uri="{FF2B5EF4-FFF2-40B4-BE49-F238E27FC236}">
                  <a16:creationId xmlns:a16="http://schemas.microsoft.com/office/drawing/2014/main" id="{ADEAE608-4D4C-A803-7293-0868B76927B8}"/>
                </a:ext>
              </a:extLst>
            </p:cNvPr>
            <p:cNvSpPr/>
            <p:nvPr/>
          </p:nvSpPr>
          <p:spPr>
            <a:xfrm>
              <a:off x="7101512" y="5148783"/>
              <a:ext cx="1512000" cy="180000"/>
            </a:xfrm>
            <a:prstGeom prst="rect">
              <a:avLst/>
            </a:prstGeom>
            <a:solidFill>
              <a:srgbClr val="A5CA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Wärme</a:t>
              </a:r>
            </a:p>
          </p:txBody>
        </p:sp>
      </p:grpSp>
      <p:grpSp>
        <p:nvGrpSpPr>
          <p:cNvPr id="72" name="Group 71">
            <a:extLst>
              <a:ext uri="{FF2B5EF4-FFF2-40B4-BE49-F238E27FC236}">
                <a16:creationId xmlns:a16="http://schemas.microsoft.com/office/drawing/2014/main" id="{DEC14433-388D-CA28-2DE5-7A9E939CD30E}"/>
              </a:ext>
            </a:extLst>
          </p:cNvPr>
          <p:cNvGrpSpPr/>
          <p:nvPr/>
        </p:nvGrpSpPr>
        <p:grpSpPr>
          <a:xfrm>
            <a:off x="7101511" y="5662814"/>
            <a:ext cx="3126440" cy="1069969"/>
            <a:chOff x="7101511" y="1980431"/>
            <a:chExt cx="3126440" cy="1069969"/>
          </a:xfrm>
        </p:grpSpPr>
        <p:sp>
          <p:nvSpPr>
            <p:cNvPr id="73" name="Rectangle 72">
              <a:extLst>
                <a:ext uri="{FF2B5EF4-FFF2-40B4-BE49-F238E27FC236}">
                  <a16:creationId xmlns:a16="http://schemas.microsoft.com/office/drawing/2014/main" id="{DD6BD73D-F7A9-ADB9-3DFF-201ABEDA74D4}"/>
                </a:ext>
              </a:extLst>
            </p:cNvPr>
            <p:cNvSpPr/>
            <p:nvPr/>
          </p:nvSpPr>
          <p:spPr>
            <a:xfrm>
              <a:off x="7101511" y="1980431"/>
              <a:ext cx="3126440" cy="1069969"/>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Betriebsführung und Verpachtung des Wassernetzes für den städtischen Eigenbetrieb WLW</a:t>
              </a:r>
            </a:p>
            <a:p>
              <a:pPr marL="174625" indent="-174625">
                <a:spcAft>
                  <a:spcPts val="600"/>
                </a:spcAft>
                <a:buClr>
                  <a:srgbClr val="003D7C"/>
                </a:buClr>
                <a:buFont typeface="Wingdings" pitchFamily="2" charset="2"/>
                <a:buChar char="n"/>
              </a:pPr>
              <a:r>
                <a:rPr lang="de-DE" sz="900" dirty="0">
                  <a:solidFill>
                    <a:schemeClr val="tx1"/>
                  </a:solidFill>
                </a:rPr>
                <a:t>Netzausspeisung 2025: 14,7 Mio. m³; Umsatzerlöse 2025: 49,5 Mio. EUR aus Betriebsführung und Wasserverkauf</a:t>
              </a:r>
            </a:p>
          </p:txBody>
        </p:sp>
        <p:sp>
          <p:nvSpPr>
            <p:cNvPr id="74" name="Rectangle 73">
              <a:extLst>
                <a:ext uri="{FF2B5EF4-FFF2-40B4-BE49-F238E27FC236}">
                  <a16:creationId xmlns:a16="http://schemas.microsoft.com/office/drawing/2014/main" id="{6040B9F6-4F69-F0A4-6E85-67BB20B8099D}"/>
                </a:ext>
              </a:extLst>
            </p:cNvPr>
            <p:cNvSpPr/>
            <p:nvPr/>
          </p:nvSpPr>
          <p:spPr>
            <a:xfrm>
              <a:off x="7101512" y="1982019"/>
              <a:ext cx="3126438" cy="179388"/>
            </a:xfrm>
            <a:prstGeom prst="rect">
              <a:avLst/>
            </a:prstGeom>
            <a:solidFill>
              <a:srgbClr val="718B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Wasser</a:t>
              </a:r>
            </a:p>
          </p:txBody>
        </p:sp>
      </p:grpSp>
      <p:sp>
        <p:nvSpPr>
          <p:cNvPr id="92" name="Rectangle 91">
            <a:extLst>
              <a:ext uri="{FF2B5EF4-FFF2-40B4-BE49-F238E27FC236}">
                <a16:creationId xmlns:a16="http://schemas.microsoft.com/office/drawing/2014/main" id="{8CD7260B-2D29-D61F-6F2A-CD0145D346A4}"/>
              </a:ext>
            </a:extLst>
          </p:cNvPr>
          <p:cNvSpPr/>
          <p:nvPr/>
        </p:nvSpPr>
        <p:spPr>
          <a:xfrm>
            <a:off x="6500813" y="4103688"/>
            <a:ext cx="1106488" cy="754063"/>
          </a:xfrm>
          <a:prstGeom prst="rect">
            <a:avLst/>
          </a:prstGeom>
          <a:solidFill>
            <a:srgbClr val="EB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100 % ≙</a:t>
            </a:r>
          </a:p>
          <a:p>
            <a:pPr algn="ctr"/>
            <a:r>
              <a:rPr lang="de-DE" sz="900" b="1" dirty="0">
                <a:solidFill>
                  <a:schemeClr val="accent1"/>
                </a:solidFill>
              </a:rPr>
              <a:t>473,8 Mio. EUR</a:t>
            </a:r>
          </a:p>
        </p:txBody>
      </p:sp>
      <p:graphicFrame>
        <p:nvGraphicFramePr>
          <p:cNvPr id="242" name="Chart 241">
            <a:extLst>
              <a:ext uri="{FF2B5EF4-FFF2-40B4-BE49-F238E27FC236}">
                <a16:creationId xmlns:a16="http://schemas.microsoft.com/office/drawing/2014/main" id="{2C6418FD-D80B-EC18-C042-D23C238ED9CD}"/>
              </a:ext>
            </a:extLst>
          </p:cNvPr>
          <p:cNvGraphicFramePr/>
          <p:nvPr>
            <p:custDataLst>
              <p:tags r:id="rId2"/>
            </p:custDataLst>
            <p:extLst>
              <p:ext uri="{D42A27DB-BD31-4B8C-83A1-F6EECF244321}">
                <p14:modId xmlns:p14="http://schemas.microsoft.com/office/powerpoint/2010/main" val="4279220201"/>
              </p:ext>
            </p:extLst>
          </p:nvPr>
        </p:nvGraphicFramePr>
        <p:xfrm>
          <a:off x="5911850" y="3341688"/>
          <a:ext cx="2290763" cy="2278062"/>
        </p:xfrm>
        <a:graphic>
          <a:graphicData uri="http://schemas.openxmlformats.org/drawingml/2006/chart">
            <c:chart xmlns:c="http://schemas.openxmlformats.org/drawingml/2006/chart" xmlns:r="http://schemas.openxmlformats.org/officeDocument/2006/relationships" r:id="rId14"/>
          </a:graphicData>
        </a:graphic>
      </p:graphicFrame>
      <p:sp>
        <p:nvSpPr>
          <p:cNvPr id="238" name="Textplatzhalter 2">
            <a:extLst>
              <a:ext uri="{FF2B5EF4-FFF2-40B4-BE49-F238E27FC236}">
                <a16:creationId xmlns:a16="http://schemas.microsoft.com/office/drawing/2014/main" id="{ABD3E78A-B212-094C-28E5-FD4C4261A096}"/>
              </a:ext>
            </a:extLst>
          </p:cNvPr>
          <p:cNvSpPr>
            <a:spLocks/>
          </p:cNvSpPr>
          <p:nvPr>
            <p:custDataLst>
              <p:tags r:id="rId3"/>
            </p:custDataLst>
          </p:nvPr>
        </p:nvSpPr>
        <p:spPr bwMode="gray">
          <a:xfrm>
            <a:off x="7645400" y="4608513"/>
            <a:ext cx="231775" cy="152400"/>
          </a:xfrm>
          <a:prstGeom prst="rect">
            <a:avLst/>
          </a:prstGeom>
          <a:solidFill>
            <a:schemeClr val="accent3"/>
          </a:solidFill>
          <a:ln>
            <a:noFill/>
          </a:ln>
          <a:effectLst/>
        </p:spPr>
        <p:txBody>
          <a:bodyPr vert="horz" wrap="none" lIns="17463" tIns="0" rIns="17463"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F64EAFB5-E3B7-4BB6-B548-45D1C8F95102}" type="datetime'''''''''''''''''''''''''1%'''">
              <a:rPr lang="de-DE" altLang="en-US" sz="1000" b="1" smtClean="0">
                <a:solidFill>
                  <a:schemeClr val="bg1"/>
                </a:solidFill>
                <a:effectLst/>
              </a:rPr>
              <a:pPr marL="0" lvl="0" indent="0" algn="ctr">
                <a:spcBef>
                  <a:spcPct val="0"/>
                </a:spcBef>
                <a:spcAft>
                  <a:spcPct val="0"/>
                </a:spcAft>
                <a:buNone/>
              </a:pPr>
              <a:t>1%</a:t>
            </a:fld>
            <a:endParaRPr lang="de-DE" sz="1000" b="1" dirty="0">
              <a:solidFill>
                <a:schemeClr val="bg1"/>
              </a:solidFill>
            </a:endParaRPr>
          </a:p>
        </p:txBody>
      </p:sp>
      <p:sp>
        <p:nvSpPr>
          <p:cNvPr id="235" name="Rectangle 234">
            <a:extLst>
              <a:ext uri="{FF2B5EF4-FFF2-40B4-BE49-F238E27FC236}">
                <a16:creationId xmlns:a16="http://schemas.microsoft.com/office/drawing/2014/main" id="{31A78ED4-1554-5DE6-FD53-BFBD275876AF}"/>
              </a:ext>
            </a:extLst>
          </p:cNvPr>
          <p:cNvSpPr/>
          <p:nvPr/>
        </p:nvSpPr>
        <p:spPr>
          <a:xfrm>
            <a:off x="7650956" y="4779366"/>
            <a:ext cx="230981" cy="153393"/>
          </a:xfrm>
          <a:prstGeom prst="rect">
            <a:avLst/>
          </a:prstGeom>
          <a:solidFill>
            <a:srgbClr val="67A6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t/>
            </a:r>
          </a:p>
        </p:txBody>
      </p:sp>
    </p:spTree>
    <p:extLst>
      <p:ext uri="{BB962C8B-B14F-4D97-AF65-F5344CB8AC3E}">
        <p14:creationId xmlns:p14="http://schemas.microsoft.com/office/powerpoint/2010/main" val="83510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2883246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286" imgH="286" progId="TCLayout.ActiveDocument.1">
                  <p:embed/>
                </p:oleObj>
              </mc:Choice>
              <mc:Fallback>
                <p:oleObj name="think-cell Slide" r:id="rId9"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378700" y="450279"/>
            <a:ext cx="9936000" cy="720000"/>
          </a:xfrm>
        </p:spPr>
        <p:txBody>
          <a:bodyPr vert="horz"/>
          <a:lstStyle/>
          <a:p>
            <a:r>
              <a:rPr lang="de-DE" spc="-30" dirty="0"/>
              <a:t>ESWE ist finanziell solide aufgestellt – der Investitionsbedarf steigt, während die Innenfinanzierung vertraglich gebunden bleibt</a:t>
            </a:r>
          </a:p>
        </p:txBody>
      </p:sp>
      <p:sp>
        <p:nvSpPr>
          <p:cNvPr id="6" name="Text Placeholder 5"/>
          <p:cNvSpPr>
            <a:spLocks noGrp="1"/>
          </p:cNvSpPr>
          <p:nvPr>
            <p:ph type="body" sz="quarter" idx="13"/>
          </p:nvPr>
        </p:nvSpPr>
        <p:spPr>
          <a:xfrm>
            <a:off x="378700" y="233868"/>
            <a:ext cx="9936000" cy="216000"/>
          </a:xfrm>
        </p:spPr>
        <p:txBody>
          <a:bodyPr/>
          <a:lstStyle/>
          <a:p>
            <a:r>
              <a:rPr lang="de-DE" dirty="0"/>
              <a:t>2. ESWE Versorgungs AG – Übersicht und Herausforderungen</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a:xfrm>
            <a:off x="378699" y="6924655"/>
            <a:ext cx="8532000" cy="168344"/>
          </a:xfrm>
        </p:spPr>
        <p:txBody>
          <a:bodyPr/>
          <a:lstStyle/>
          <a:p>
            <a:r>
              <a:rPr lang="de-DE" dirty="0"/>
              <a:t>1) Gesamtinvestitionen inkl. Finanzanlagen lt. Geschäftsbericht 2025 (37,0 Mio. EUR; Vorjahr 27,5 Mio. EUR); 2) Der Lagebericht 2025 beziffert weder Gesamtvolumen noch Planungshorizont des künftigen Investitionsprogramms; 3) Net Debt = Verbindlichkeiten gegenüber Kreditinstituten</a:t>
            </a:r>
          </a:p>
          <a:p>
            <a:r>
              <a:rPr lang="de-DE" dirty="0"/>
              <a:t>+ Rückstellungen für Pensionen – Kassenbestand und Guthaben bei Kreditinstituten; 4) EBITDA = Betriebsergebnis + Abschreibungen</a:t>
            </a:r>
          </a:p>
        </p:txBody>
      </p:sp>
      <p:sp>
        <p:nvSpPr>
          <p:cNvPr id="58" name="Rectangle 57">
            <a:extLst>
              <a:ext uri="{FF2B5EF4-FFF2-40B4-BE49-F238E27FC236}">
                <a16:creationId xmlns:a16="http://schemas.microsoft.com/office/drawing/2014/main" id="{E1DF4BED-7EEA-02E9-0A3A-11890CA70F0E}"/>
              </a:ext>
            </a:extLst>
          </p:cNvPr>
          <p:cNvSpPr/>
          <p:nvPr/>
        </p:nvSpPr>
        <p:spPr>
          <a:xfrm>
            <a:off x="378700" y="1465984"/>
            <a:ext cx="9936000" cy="252000"/>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Investitionsbedarf ESWE Versorgungs AG</a:t>
            </a:r>
          </a:p>
        </p:txBody>
      </p:sp>
      <p:sp>
        <p:nvSpPr>
          <p:cNvPr id="2" name="Rectangle 1">
            <a:extLst>
              <a:ext uri="{FF2B5EF4-FFF2-40B4-BE49-F238E27FC236}">
                <a16:creationId xmlns:a16="http://schemas.microsoft.com/office/drawing/2014/main" id="{B8D5EB07-C9F9-44FD-036B-0945B0752B10}"/>
              </a:ext>
            </a:extLst>
          </p:cNvPr>
          <p:cNvSpPr/>
          <p:nvPr/>
        </p:nvSpPr>
        <p:spPr>
          <a:xfrm>
            <a:off x="1089040" y="1797202"/>
            <a:ext cx="9226535" cy="1038673"/>
          </a:xfrm>
          <a:prstGeom prst="rect">
            <a:avLst/>
          </a:prstGeom>
          <a:solidFill>
            <a:srgbClr val="E1ED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000" b="1" dirty="0">
              <a:solidFill>
                <a:schemeClr val="accent1"/>
              </a:solidFill>
              <a:highlight>
                <a:srgbClr val="FFFF00"/>
              </a:highlight>
            </a:endParaRPr>
          </a:p>
        </p:txBody>
      </p:sp>
      <p:sp>
        <p:nvSpPr>
          <p:cNvPr id="29" name="Rectangle 28">
            <a:extLst>
              <a:ext uri="{FF2B5EF4-FFF2-40B4-BE49-F238E27FC236}">
                <a16:creationId xmlns:a16="http://schemas.microsoft.com/office/drawing/2014/main" id="{8FB00587-00A2-043B-1D9E-744FE95D84F0}"/>
              </a:ext>
            </a:extLst>
          </p:cNvPr>
          <p:cNvSpPr/>
          <p:nvPr/>
        </p:nvSpPr>
        <p:spPr>
          <a:xfrm>
            <a:off x="1089039" y="3225777"/>
            <a:ext cx="9226800" cy="140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highlight>
                <a:srgbClr val="FFFF00"/>
              </a:highlight>
              <a:latin typeface="+mj-lt"/>
            </a:endParaRPr>
          </a:p>
        </p:txBody>
      </p:sp>
      <p:sp>
        <p:nvSpPr>
          <p:cNvPr id="72" name="Rectangle 71">
            <a:extLst>
              <a:ext uri="{FF2B5EF4-FFF2-40B4-BE49-F238E27FC236}">
                <a16:creationId xmlns:a16="http://schemas.microsoft.com/office/drawing/2014/main" id="{9037B3D3-0E4D-18FE-7F5D-547AB1349580}"/>
              </a:ext>
            </a:extLst>
          </p:cNvPr>
          <p:cNvSpPr/>
          <p:nvPr/>
        </p:nvSpPr>
        <p:spPr>
          <a:xfrm>
            <a:off x="378702" y="5049838"/>
            <a:ext cx="9936000" cy="168275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108000" tIns="18000" rIns="18000" bIns="18000" rtlCol="0" anchor="ctr"/>
          <a:lstStyle/>
          <a:p>
            <a:pPr algn="ctr">
              <a:spcAft>
                <a:spcPts val="200"/>
              </a:spcAft>
            </a:pPr>
            <a:endParaRPr lang="de-DE" sz="800" dirty="0">
              <a:solidFill>
                <a:schemeClr val="accent1"/>
              </a:solidFill>
              <a:highlight>
                <a:srgbClr val="FFFF00"/>
              </a:highlight>
            </a:endParaRPr>
          </a:p>
        </p:txBody>
      </p:sp>
      <p:sp>
        <p:nvSpPr>
          <p:cNvPr id="73" name="Rectangle 72">
            <a:extLst>
              <a:ext uri="{FF2B5EF4-FFF2-40B4-BE49-F238E27FC236}">
                <a16:creationId xmlns:a16="http://schemas.microsoft.com/office/drawing/2014/main" id="{5CC55A12-8DF9-5267-4975-710818C54327}"/>
              </a:ext>
            </a:extLst>
          </p:cNvPr>
          <p:cNvSpPr/>
          <p:nvPr/>
        </p:nvSpPr>
        <p:spPr>
          <a:xfrm>
            <a:off x="378702" y="5041900"/>
            <a:ext cx="9936000" cy="25082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Entwicklung der Verschuldung (in Mio. EUR)</a:t>
            </a:r>
          </a:p>
        </p:txBody>
      </p:sp>
      <p:grpSp>
        <p:nvGrpSpPr>
          <p:cNvPr id="75" name="Group 74">
            <a:extLst>
              <a:ext uri="{FF2B5EF4-FFF2-40B4-BE49-F238E27FC236}">
                <a16:creationId xmlns:a16="http://schemas.microsoft.com/office/drawing/2014/main" id="{584A62D4-DD64-9505-05A5-1AA0525E12C5}"/>
              </a:ext>
            </a:extLst>
          </p:cNvPr>
          <p:cNvGrpSpPr/>
          <p:nvPr/>
        </p:nvGrpSpPr>
        <p:grpSpPr>
          <a:xfrm>
            <a:off x="450156" y="5348649"/>
            <a:ext cx="733609" cy="123111"/>
            <a:chOff x="558827" y="1963983"/>
            <a:chExt cx="733609" cy="121349"/>
          </a:xfrm>
        </p:grpSpPr>
        <p:sp>
          <p:nvSpPr>
            <p:cNvPr id="76" name="Textfeld 56">
              <a:extLst>
                <a:ext uri="{FF2B5EF4-FFF2-40B4-BE49-F238E27FC236}">
                  <a16:creationId xmlns:a16="http://schemas.microsoft.com/office/drawing/2014/main" id="{4E33ACE9-66C2-6E49-D4CC-278DADCFB07F}"/>
                </a:ext>
              </a:extLst>
            </p:cNvPr>
            <p:cNvSpPr txBox="1"/>
            <p:nvPr/>
          </p:nvSpPr>
          <p:spPr>
            <a:xfrm>
              <a:off x="716390" y="1963983"/>
              <a:ext cx="576046" cy="121349"/>
            </a:xfrm>
            <a:prstGeom prst="rect">
              <a:avLst/>
            </a:prstGeom>
            <a:noFill/>
            <a:ln>
              <a:noFill/>
            </a:ln>
          </p:spPr>
          <p:txBody>
            <a:bodyPr wrap="none" lIns="72000" tIns="0" rIns="0" bIns="0" rtlCol="0" anchor="ctr" anchorCtr="0">
              <a:spAutoFit/>
            </a:bodyPr>
            <a:lstStyle/>
            <a:p>
              <a:r>
                <a:rPr lang="de-DE" sz="800" dirty="0"/>
                <a:t> Net Debt3)</a:t>
              </a:r>
              <a:endParaRPr lang="de-DE" sz="900" baseline="30000" dirty="0"/>
            </a:p>
          </p:txBody>
        </p:sp>
        <p:sp>
          <p:nvSpPr>
            <p:cNvPr id="77" name="Rechteck 55">
              <a:extLst>
                <a:ext uri="{FF2B5EF4-FFF2-40B4-BE49-F238E27FC236}">
                  <a16:creationId xmlns:a16="http://schemas.microsoft.com/office/drawing/2014/main" id="{59CDF9C9-14F9-F9A9-C2C3-BFB50F9C64FE}"/>
                </a:ext>
              </a:extLst>
            </p:cNvPr>
            <p:cNvSpPr/>
            <p:nvPr/>
          </p:nvSpPr>
          <p:spPr>
            <a:xfrm>
              <a:off x="558827" y="1965007"/>
              <a:ext cx="209920" cy="11931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grpSp>
        <p:nvGrpSpPr>
          <p:cNvPr id="78" name="Group 77">
            <a:extLst>
              <a:ext uri="{FF2B5EF4-FFF2-40B4-BE49-F238E27FC236}">
                <a16:creationId xmlns:a16="http://schemas.microsoft.com/office/drawing/2014/main" id="{A131CDCF-16A6-27BA-5BB2-2EBAC24FBC95}"/>
              </a:ext>
            </a:extLst>
          </p:cNvPr>
          <p:cNvGrpSpPr/>
          <p:nvPr/>
        </p:nvGrpSpPr>
        <p:grpSpPr>
          <a:xfrm>
            <a:off x="1474551" y="5348288"/>
            <a:ext cx="1124742" cy="123825"/>
            <a:chOff x="558827" y="1963631"/>
            <a:chExt cx="1124742" cy="122053"/>
          </a:xfrm>
        </p:grpSpPr>
        <p:sp>
          <p:nvSpPr>
            <p:cNvPr id="79" name="Textfeld 56">
              <a:extLst>
                <a:ext uri="{FF2B5EF4-FFF2-40B4-BE49-F238E27FC236}">
                  <a16:creationId xmlns:a16="http://schemas.microsoft.com/office/drawing/2014/main" id="{256B1B6B-F926-B90C-D947-3003800B0227}"/>
                </a:ext>
              </a:extLst>
            </p:cNvPr>
            <p:cNvSpPr txBox="1"/>
            <p:nvPr/>
          </p:nvSpPr>
          <p:spPr>
            <a:xfrm>
              <a:off x="716390" y="1963631"/>
              <a:ext cx="967179" cy="122053"/>
            </a:xfrm>
            <a:prstGeom prst="rect">
              <a:avLst/>
            </a:prstGeom>
            <a:noFill/>
            <a:ln>
              <a:noFill/>
            </a:ln>
          </p:spPr>
          <p:txBody>
            <a:bodyPr wrap="none" lIns="72000" tIns="0" rIns="0" bIns="0" rtlCol="0" anchor="ctr" anchorCtr="0">
              <a:spAutoFit/>
            </a:bodyPr>
            <a:lstStyle/>
            <a:p>
              <a:r>
                <a:rPr lang="de-DE" sz="800" dirty="0"/>
                <a:t> Net Debt / EBITDA4)</a:t>
              </a:r>
              <a:endParaRPr lang="de-DE" sz="900" baseline="30000" dirty="0"/>
            </a:p>
          </p:txBody>
        </p:sp>
        <p:sp>
          <p:nvSpPr>
            <p:cNvPr id="80" name="Rechteck 55">
              <a:extLst>
                <a:ext uri="{FF2B5EF4-FFF2-40B4-BE49-F238E27FC236}">
                  <a16:creationId xmlns:a16="http://schemas.microsoft.com/office/drawing/2014/main" id="{324ED9EF-65A4-97FB-F548-5B689F580FF8}"/>
                </a:ext>
              </a:extLst>
            </p:cNvPr>
            <p:cNvSpPr/>
            <p:nvPr/>
          </p:nvSpPr>
          <p:spPr>
            <a:xfrm>
              <a:off x="558827" y="1965007"/>
              <a:ext cx="209920" cy="11931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sp>
        <p:nvSpPr>
          <p:cNvPr id="81" name="Rechteck 55">
            <a:extLst>
              <a:ext uri="{FF2B5EF4-FFF2-40B4-BE49-F238E27FC236}">
                <a16:creationId xmlns:a16="http://schemas.microsoft.com/office/drawing/2014/main" id="{DCFB99B8-9D82-038A-5335-F68F55000D16}"/>
              </a:ext>
            </a:extLst>
          </p:cNvPr>
          <p:cNvSpPr/>
          <p:nvPr/>
        </p:nvSpPr>
        <p:spPr>
          <a:xfrm>
            <a:off x="2009902" y="5673536"/>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2,4x</a:t>
            </a:r>
          </a:p>
        </p:txBody>
      </p:sp>
      <p:sp>
        <p:nvSpPr>
          <p:cNvPr id="82" name="Rechteck 55">
            <a:extLst>
              <a:ext uri="{FF2B5EF4-FFF2-40B4-BE49-F238E27FC236}">
                <a16:creationId xmlns:a16="http://schemas.microsoft.com/office/drawing/2014/main" id="{C43755F0-F41A-5825-001C-7D46DD103266}"/>
              </a:ext>
            </a:extLst>
          </p:cNvPr>
          <p:cNvSpPr/>
          <p:nvPr/>
        </p:nvSpPr>
        <p:spPr>
          <a:xfrm>
            <a:off x="3202113" y="5724847"/>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1,5x</a:t>
            </a:r>
          </a:p>
        </p:txBody>
      </p:sp>
      <p:sp>
        <p:nvSpPr>
          <p:cNvPr id="83" name="Rechteck 55">
            <a:extLst>
              <a:ext uri="{FF2B5EF4-FFF2-40B4-BE49-F238E27FC236}">
                <a16:creationId xmlns:a16="http://schemas.microsoft.com/office/drawing/2014/main" id="{3890B706-E086-D5DC-29A5-17194FD5221C}"/>
              </a:ext>
            </a:extLst>
          </p:cNvPr>
          <p:cNvSpPr/>
          <p:nvPr/>
        </p:nvSpPr>
        <p:spPr>
          <a:xfrm>
            <a:off x="4394324" y="5508823"/>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1,3x</a:t>
            </a:r>
          </a:p>
        </p:txBody>
      </p:sp>
      <p:sp>
        <p:nvSpPr>
          <p:cNvPr id="84" name="Rechteck 55">
            <a:extLst>
              <a:ext uri="{FF2B5EF4-FFF2-40B4-BE49-F238E27FC236}">
                <a16:creationId xmlns:a16="http://schemas.microsoft.com/office/drawing/2014/main" id="{DDF8EF4D-42B6-A0BC-2753-976758DAD30D}"/>
              </a:ext>
            </a:extLst>
          </p:cNvPr>
          <p:cNvSpPr/>
          <p:nvPr/>
        </p:nvSpPr>
        <p:spPr>
          <a:xfrm>
            <a:off x="5586536" y="5580831"/>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1,2x</a:t>
            </a:r>
          </a:p>
        </p:txBody>
      </p:sp>
      <p:sp>
        <p:nvSpPr>
          <p:cNvPr id="85" name="Rechteck 55">
            <a:extLst>
              <a:ext uri="{FF2B5EF4-FFF2-40B4-BE49-F238E27FC236}">
                <a16:creationId xmlns:a16="http://schemas.microsoft.com/office/drawing/2014/main" id="{37E472DD-A9A0-2ED9-BAA9-67815C7E318B}"/>
              </a:ext>
            </a:extLst>
          </p:cNvPr>
          <p:cNvSpPr/>
          <p:nvPr/>
        </p:nvSpPr>
        <p:spPr>
          <a:xfrm>
            <a:off x="817691" y="5673536"/>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2,0x</a:t>
            </a:r>
          </a:p>
        </p:txBody>
      </p:sp>
      <p:sp>
        <p:nvSpPr>
          <p:cNvPr id="20" name="Text Placeholder 6">
            <a:extLst>
              <a:ext uri="{FF2B5EF4-FFF2-40B4-BE49-F238E27FC236}">
                <a16:creationId xmlns:a16="http://schemas.microsoft.com/office/drawing/2014/main" id="{8321C599-9661-B88C-C2AA-0B00B3F245A0}"/>
              </a:ext>
            </a:extLst>
          </p:cNvPr>
          <p:cNvSpPr txBox="1">
            <a:spLocks/>
          </p:cNvSpPr>
          <p:nvPr/>
        </p:nvSpPr>
        <p:spPr>
          <a:xfrm>
            <a:off x="603250" y="7133281"/>
            <a:ext cx="8150225" cy="168344"/>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800" b="0" kern="1200">
                <a:solidFill>
                  <a:schemeClr val="tx1"/>
                </a:solidFill>
                <a:latin typeface="+mn-lt"/>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Quellen: Metzler-Recherche, Jahres- und Tätigkeitsabschlüsse nach EnWG der ESWE Versorgungs AG 2021–2024, Geschäftsbericht 2025, Unternehmenswebsite</a:t>
            </a:r>
          </a:p>
        </p:txBody>
      </p:sp>
      <p:graphicFrame>
        <p:nvGraphicFramePr>
          <p:cNvPr id="50" name="Chart 49">
            <a:extLst>
              <a:ext uri="{FF2B5EF4-FFF2-40B4-BE49-F238E27FC236}">
                <a16:creationId xmlns:a16="http://schemas.microsoft.com/office/drawing/2014/main" id="{6D6520B1-C95E-00BD-36CA-EF4B0C0FC494}"/>
              </a:ext>
            </a:extLst>
          </p:cNvPr>
          <p:cNvGraphicFramePr/>
          <p:nvPr>
            <p:custDataLst>
              <p:tags r:id="rId2"/>
            </p:custDataLst>
            <p:extLst>
              <p:ext uri="{D42A27DB-BD31-4B8C-83A1-F6EECF244321}">
                <p14:modId xmlns:p14="http://schemas.microsoft.com/office/powerpoint/2010/main" val="864127511"/>
              </p:ext>
            </p:extLst>
          </p:nvPr>
        </p:nvGraphicFramePr>
        <p:xfrm>
          <a:off x="404813" y="5834063"/>
          <a:ext cx="6129337" cy="754062"/>
        </p:xfrm>
        <a:graphic>
          <a:graphicData uri="http://schemas.openxmlformats.org/drawingml/2006/chart">
            <c:chart xmlns:c="http://schemas.openxmlformats.org/drawingml/2006/chart" xmlns:r="http://schemas.openxmlformats.org/officeDocument/2006/relationships" r:id="rId11"/>
          </a:graphicData>
        </a:graphic>
      </p:graphicFrame>
      <p:sp>
        <p:nvSpPr>
          <p:cNvPr id="12" name="Textplatzhalter 2">
            <a:extLst>
              <a:ext uri="{FF2B5EF4-FFF2-40B4-BE49-F238E27FC236}">
                <a16:creationId xmlns:a16="http://schemas.microsoft.com/office/drawing/2014/main" id="{716F403D-85BD-0DB8-1B4C-0D2056E6A4D0}"/>
              </a:ext>
            </a:extLst>
          </p:cNvPr>
          <p:cNvSpPr>
            <a:spLocks/>
          </p:cNvSpPr>
          <p:nvPr>
            <p:custDataLst>
              <p:tags r:id="rId3"/>
            </p:custDataLst>
          </p:nvPr>
        </p:nvSpPr>
        <p:spPr bwMode="auto">
          <a:xfrm>
            <a:off x="949325"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EAC3B14-5F49-4B47-A587-3E557E99BC67}" type="datetime'''''''''20''1''8'''''''''''''''''''''''">
              <a:rPr lang="de-DE" altLang="en-US" sz="900" smtClean="0"/>
              <a:pPr/>
              <a:t>2018</a:t>
            </a:fld>
            <a:endParaRPr lang="de-DE" sz="900" dirty="0"/>
          </a:p>
        </p:txBody>
      </p:sp>
      <p:sp>
        <p:nvSpPr>
          <p:cNvPr id="87" name="Textplatzhalter 2">
            <a:extLst>
              <a:ext uri="{FF2B5EF4-FFF2-40B4-BE49-F238E27FC236}">
                <a16:creationId xmlns:a16="http://schemas.microsoft.com/office/drawing/2014/main" id="{577D77E2-B599-A128-C132-1C3E98036614}"/>
              </a:ext>
            </a:extLst>
          </p:cNvPr>
          <p:cNvSpPr>
            <a:spLocks/>
          </p:cNvSpPr>
          <p:nvPr>
            <p:custDataLst>
              <p:tags r:id="rId4"/>
            </p:custDataLst>
          </p:nvPr>
        </p:nvSpPr>
        <p:spPr bwMode="auto">
          <a:xfrm>
            <a:off x="2143125"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8C164950-677D-48D8-8A9D-3441E9A3A712}" type="datetime'''''''''''2''''''''''''0''''''''''''''''19'''''''''''''''">
              <a:rPr lang="de-DE" altLang="en-US" sz="900" smtClean="0"/>
              <a:pPr/>
              <a:t>2019</a:t>
            </a:fld>
            <a:endParaRPr lang="de-DE" sz="900" dirty="0"/>
          </a:p>
        </p:txBody>
      </p:sp>
      <p:sp>
        <p:nvSpPr>
          <p:cNvPr id="90" name="Textplatzhalter 2">
            <a:extLst>
              <a:ext uri="{FF2B5EF4-FFF2-40B4-BE49-F238E27FC236}">
                <a16:creationId xmlns:a16="http://schemas.microsoft.com/office/drawing/2014/main" id="{DA160627-D049-2144-68FE-E918F80BF956}"/>
              </a:ext>
            </a:extLst>
          </p:cNvPr>
          <p:cNvSpPr>
            <a:spLocks/>
          </p:cNvSpPr>
          <p:nvPr>
            <p:custDataLst>
              <p:tags r:id="rId5"/>
            </p:custDataLst>
          </p:nvPr>
        </p:nvSpPr>
        <p:spPr bwMode="auto">
          <a:xfrm>
            <a:off x="3335338"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C8EC0FE9-78FE-419B-B7E9-992EE5EC73E4}" type="datetime'''''''''''2''''''''''''0''''''''''''2''''''''0'''''''''''''''">
              <a:rPr lang="de-DE" altLang="en-US" sz="900" smtClean="0"/>
              <a:pPr/>
              <a:t>2020</a:t>
            </a:fld>
            <a:endParaRPr lang="de-DE" sz="900" dirty="0"/>
          </a:p>
        </p:txBody>
      </p:sp>
      <p:sp>
        <p:nvSpPr>
          <p:cNvPr id="93" name="Textplatzhalter 2">
            <a:extLst>
              <a:ext uri="{FF2B5EF4-FFF2-40B4-BE49-F238E27FC236}">
                <a16:creationId xmlns:a16="http://schemas.microsoft.com/office/drawing/2014/main" id="{4E6BC9E2-683C-203E-6814-1679658ACE90}"/>
              </a:ext>
            </a:extLst>
          </p:cNvPr>
          <p:cNvSpPr>
            <a:spLocks/>
          </p:cNvSpPr>
          <p:nvPr>
            <p:custDataLst>
              <p:tags r:id="rId6"/>
            </p:custDataLst>
          </p:nvPr>
        </p:nvSpPr>
        <p:spPr bwMode="auto">
          <a:xfrm>
            <a:off x="4529138"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CCEA9D9-3931-4DE4-93B5-175459BB2CA4}" type="datetime'''''2''''0''''2''''''''''''''''''''''1'''''''''''''''">
              <a:rPr lang="de-DE" altLang="en-US" sz="900" smtClean="0"/>
              <a:pPr/>
              <a:t>2021</a:t>
            </a:fld>
            <a:endParaRPr lang="de-DE" sz="900" dirty="0"/>
          </a:p>
        </p:txBody>
      </p:sp>
      <p:sp>
        <p:nvSpPr>
          <p:cNvPr id="2080" name="Textplatzhalter 2">
            <a:extLst>
              <a:ext uri="{FF2B5EF4-FFF2-40B4-BE49-F238E27FC236}">
                <a16:creationId xmlns:a16="http://schemas.microsoft.com/office/drawing/2014/main" id="{18D50374-FCE0-3CA2-ED71-53BA57D44E01}"/>
              </a:ext>
            </a:extLst>
          </p:cNvPr>
          <p:cNvSpPr>
            <a:spLocks/>
          </p:cNvSpPr>
          <p:nvPr>
            <p:custDataLst>
              <p:tags r:id="rId7"/>
            </p:custDataLst>
          </p:nvPr>
        </p:nvSpPr>
        <p:spPr bwMode="auto">
          <a:xfrm>
            <a:off x="5721350"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54B37B9D-9235-4939-952C-C709DF9D925E}" type="datetime'''''''2''''''''''''''0''''''''22'''''''''''''''">
              <a:rPr lang="de-DE" altLang="en-US" sz="900" smtClean="0"/>
              <a:pPr/>
              <a:t>2022</a:t>
            </a:fld>
            <a:endParaRPr lang="de-DE" sz="900" dirty="0"/>
          </a:p>
        </p:txBody>
      </p:sp>
      <p:sp>
        <p:nvSpPr>
          <p:cNvPr id="28" name="Rectangle 27">
            <a:extLst>
              <a:ext uri="{FF2B5EF4-FFF2-40B4-BE49-F238E27FC236}">
                <a16:creationId xmlns:a16="http://schemas.microsoft.com/office/drawing/2014/main" id="{4F682898-B2FF-201E-C794-D4FCB8EE2586}"/>
              </a:ext>
            </a:extLst>
          </p:cNvPr>
          <p:cNvSpPr/>
          <p:nvPr/>
        </p:nvSpPr>
        <p:spPr>
          <a:xfrm>
            <a:off x="1089039" y="2850826"/>
            <a:ext cx="9226800" cy="36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sp>
        <p:nvSpPr>
          <p:cNvPr id="3" name="Rectangle 2">
            <a:extLst>
              <a:ext uri="{FF2B5EF4-FFF2-40B4-BE49-F238E27FC236}">
                <a16:creationId xmlns:a16="http://schemas.microsoft.com/office/drawing/2014/main" id="{1675956D-8F03-73EE-0197-5CC89598B89E}"/>
              </a:ext>
            </a:extLst>
          </p:cNvPr>
          <p:cNvSpPr/>
          <p:nvPr/>
        </p:nvSpPr>
        <p:spPr>
          <a:xfrm>
            <a:off x="378701" y="1797202"/>
            <a:ext cx="702000" cy="10386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Segment</a:t>
            </a:r>
          </a:p>
        </p:txBody>
      </p:sp>
      <p:sp>
        <p:nvSpPr>
          <p:cNvPr id="26" name="Rectangle 25">
            <a:extLst>
              <a:ext uri="{FF2B5EF4-FFF2-40B4-BE49-F238E27FC236}">
                <a16:creationId xmlns:a16="http://schemas.microsoft.com/office/drawing/2014/main" id="{E5042515-9A71-E6EE-B89D-B203B9234344}"/>
              </a:ext>
            </a:extLst>
          </p:cNvPr>
          <p:cNvSpPr/>
          <p:nvPr/>
        </p:nvSpPr>
        <p:spPr>
          <a:xfrm>
            <a:off x="378701" y="3225777"/>
            <a:ext cx="702000" cy="1404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Geplante Projekte</a:t>
            </a:r>
          </a:p>
        </p:txBody>
      </p:sp>
      <p:sp>
        <p:nvSpPr>
          <p:cNvPr id="25" name="Rectangle 24">
            <a:extLst>
              <a:ext uri="{FF2B5EF4-FFF2-40B4-BE49-F238E27FC236}">
                <a16:creationId xmlns:a16="http://schemas.microsoft.com/office/drawing/2014/main" id="{2B33F99B-BFF5-B846-C204-8983ED714791}"/>
              </a:ext>
            </a:extLst>
          </p:cNvPr>
          <p:cNvSpPr/>
          <p:nvPr/>
        </p:nvSpPr>
        <p:spPr>
          <a:xfrm>
            <a:off x="378701" y="2850826"/>
            <a:ext cx="702000" cy="360000"/>
          </a:xfrm>
          <a:prstGeom prst="rect">
            <a:avLst/>
          </a:prstGeom>
          <a:solidFill>
            <a:srgbClr val="FFC5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de-DE" sz="1000" b="1" dirty="0"/>
              <a:t>Capex</a:t>
            </a:r>
          </a:p>
          <a:p>
            <a:pPr algn="ctr"/>
            <a:r>
              <a:rPr lang="de-DE" sz="1000" b="1" dirty="0"/>
              <a:t>20251)</a:t>
            </a:r>
          </a:p>
        </p:txBody>
      </p:sp>
      <p:sp>
        <p:nvSpPr>
          <p:cNvPr id="2074" name="Rectangle 2073">
            <a:extLst>
              <a:ext uri="{FF2B5EF4-FFF2-40B4-BE49-F238E27FC236}">
                <a16:creationId xmlns:a16="http://schemas.microsoft.com/office/drawing/2014/main" id="{ACE9C3DB-8A80-D014-0A7D-3DB304DDE407}"/>
              </a:ext>
            </a:extLst>
          </p:cNvPr>
          <p:cNvSpPr/>
          <p:nvPr/>
        </p:nvSpPr>
        <p:spPr>
          <a:xfrm>
            <a:off x="378701" y="4644727"/>
            <a:ext cx="702000" cy="36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t>Ausblick</a:t>
            </a:r>
          </a:p>
          <a:p>
            <a:pPr algn="ctr"/>
            <a:r>
              <a:rPr lang="de-DE" sz="1000" b="1" dirty="0"/>
              <a:t>2026 ff.2)</a:t>
            </a:r>
          </a:p>
        </p:txBody>
      </p:sp>
      <p:sp>
        <p:nvSpPr>
          <p:cNvPr id="2075" name="Rectangle 2074">
            <a:extLst>
              <a:ext uri="{FF2B5EF4-FFF2-40B4-BE49-F238E27FC236}">
                <a16:creationId xmlns:a16="http://schemas.microsoft.com/office/drawing/2014/main" id="{000019AD-8D05-F882-D67C-BECB3609A0CF}"/>
              </a:ext>
            </a:extLst>
          </p:cNvPr>
          <p:cNvSpPr/>
          <p:nvPr/>
        </p:nvSpPr>
        <p:spPr>
          <a:xfrm>
            <a:off x="1089039" y="4644727"/>
            <a:ext cx="9226800" cy="360000"/>
          </a:xfrm>
          <a:prstGeom prst="rect">
            <a:avLst/>
          </a:prstGeom>
          <a:solidFill>
            <a:srgbClr val="FFC5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highlight>
                <a:srgbClr val="FFFF00"/>
              </a:highlight>
            </a:endParaRPr>
          </a:p>
        </p:txBody>
      </p:sp>
      <p:sp>
        <p:nvSpPr>
          <p:cNvPr id="91" name="Arrow: Right 90">
            <a:extLst>
              <a:ext uri="{FF2B5EF4-FFF2-40B4-BE49-F238E27FC236}">
                <a16:creationId xmlns:a16="http://schemas.microsoft.com/office/drawing/2014/main" id="{3F477389-387F-4769-4C7C-DCC557266B60}"/>
              </a:ext>
            </a:extLst>
          </p:cNvPr>
          <p:cNvSpPr/>
          <p:nvPr/>
        </p:nvSpPr>
        <p:spPr>
          <a:xfrm>
            <a:off x="6878439" y="5587567"/>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92" name="TextBox 91">
            <a:extLst>
              <a:ext uri="{FF2B5EF4-FFF2-40B4-BE49-F238E27FC236}">
                <a16:creationId xmlns:a16="http://schemas.microsoft.com/office/drawing/2014/main" id="{77E4D4B2-B3E0-6260-61F0-36A7E6BF8DE2}"/>
              </a:ext>
            </a:extLst>
          </p:cNvPr>
          <p:cNvSpPr txBox="1"/>
          <p:nvPr/>
        </p:nvSpPr>
        <p:spPr>
          <a:xfrm>
            <a:off x="7147220" y="5573280"/>
            <a:ext cx="2880000" cy="553998"/>
          </a:xfrm>
          <a:prstGeom prst="rect">
            <a:avLst/>
          </a:prstGeom>
          <a:noFill/>
          <a:ln>
            <a:noFill/>
          </a:ln>
        </p:spPr>
        <p:txBody>
          <a:bodyPr wrap="square" rtlCol="0">
            <a:spAutoFit/>
          </a:bodyPr>
          <a:lstStyle/>
          <a:p>
            <a:r>
              <a:rPr lang="de-DE" sz="1000" b="1" dirty="0">
                <a:solidFill>
                  <a:schemeClr val="accent1"/>
                </a:solidFill>
                <a:latin typeface="+mj-lt"/>
              </a:rPr>
              <a:t>Die Verschuldung bleibt mit 1,2x EBITDA tragfähig – die liquiden Mittel sind 2025 jedoch auf 2,5 Mio. EUR gesunken</a:t>
            </a:r>
            <a:endParaRPr lang="en-US" sz="1000" b="1" dirty="0">
              <a:solidFill>
                <a:schemeClr val="accent1"/>
              </a:solidFill>
              <a:latin typeface="+mj-lt"/>
            </a:endParaRPr>
          </a:p>
        </p:txBody>
      </p:sp>
      <p:sp>
        <p:nvSpPr>
          <p:cNvPr id="8" name="Rectangle 7">
            <a:extLst>
              <a:ext uri="{FF2B5EF4-FFF2-40B4-BE49-F238E27FC236}">
                <a16:creationId xmlns:a16="http://schemas.microsoft.com/office/drawing/2014/main" id="{EC0DCF2D-E352-99E5-8F30-CED5F985FA9C}"/>
              </a:ext>
            </a:extLst>
          </p:cNvPr>
          <p:cNvSpPr/>
          <p:nvPr/>
        </p:nvSpPr>
        <p:spPr>
          <a:xfrm>
            <a:off x="1089040" y="3225777"/>
            <a:ext cx="9218443" cy="140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latin typeface="+mj-lt"/>
            </a:endParaRPr>
          </a:p>
        </p:txBody>
      </p:sp>
      <p:pic>
        <p:nvPicPr>
          <p:cNvPr id="11" name="Picture 4">
            <a:extLst>
              <a:ext uri="{FF2B5EF4-FFF2-40B4-BE49-F238E27FC236}">
                <a16:creationId xmlns:a16="http://schemas.microsoft.com/office/drawing/2014/main" id="{E818573C-8E11-6CE8-B8AD-1F92E988772A}"/>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0451" t="509" r="2883" b="-509"/>
          <a:stretch/>
        </p:blipFill>
        <p:spPr bwMode="auto">
          <a:xfrm>
            <a:off x="1543973" y="1943575"/>
            <a:ext cx="477336" cy="47733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3182D85F-62B7-5C67-303B-BD78F8E9DB2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588" t="22" r="27503" b="-22"/>
          <a:stretch/>
        </p:blipFill>
        <p:spPr bwMode="auto">
          <a:xfrm>
            <a:off x="2849526" y="1943575"/>
            <a:ext cx="477016" cy="477016"/>
          </a:xfrm>
          <a:prstGeom prst="ellipse">
            <a:avLst/>
          </a:prstGeom>
          <a:noFill/>
          <a:extLst>
            <a:ext uri="{909E8E84-426E-40DD-AFC4-6F175D3DCCD1}">
              <a14:hiddenFill xmlns:a14="http://schemas.microsoft.com/office/drawing/2010/main">
                <a:solidFill>
                  <a:srgbClr val="FFFFFF"/>
                </a:solidFill>
              </a14:hiddenFill>
            </a:ext>
          </a:extLst>
        </p:spPr>
      </p:pic>
      <p:sp>
        <p:nvSpPr>
          <p:cNvPr id="17" name="Textfeld 51">
            <a:extLst>
              <a:ext uri="{FF2B5EF4-FFF2-40B4-BE49-F238E27FC236}">
                <a16:creationId xmlns:a16="http://schemas.microsoft.com/office/drawing/2014/main" id="{02F6E397-6188-C57A-53E5-2CB4DB73E78D}"/>
              </a:ext>
            </a:extLst>
          </p:cNvPr>
          <p:cNvSpPr txBox="1"/>
          <p:nvPr/>
        </p:nvSpPr>
        <p:spPr>
          <a:xfrm>
            <a:off x="3700946" y="3225777"/>
            <a:ext cx="1260000" cy="1377300"/>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Erhöhung der nachrangigen Gesellschafterdarlehen an die MHKW Wiesbaden GmbH</a:t>
            </a:r>
          </a:p>
          <a:p>
            <a:pPr marL="144000" indent="-144000">
              <a:spcAft>
                <a:spcPts val="300"/>
              </a:spcAft>
              <a:buClr>
                <a:schemeClr val="accent1"/>
              </a:buClr>
              <a:buFont typeface="Wingdings" panose="05000000000000000000" pitchFamily="2" charset="2"/>
              <a:buChar char="n"/>
            </a:pPr>
            <a:r>
              <a:rPr lang="de-DE" sz="900" dirty="0">
                <a:latin typeface="+mj-lt"/>
              </a:rPr>
              <a:t>Windportfolio über THEE ESWE, Kahlenberg und Bad Camberg</a:t>
            </a:r>
          </a:p>
        </p:txBody>
      </p:sp>
      <p:sp>
        <p:nvSpPr>
          <p:cNvPr id="18" name="Textfeld 52">
            <a:extLst>
              <a:ext uri="{FF2B5EF4-FFF2-40B4-BE49-F238E27FC236}">
                <a16:creationId xmlns:a16="http://schemas.microsoft.com/office/drawing/2014/main" id="{6E1AC434-B95E-A163-7188-05E6E5D2F365}"/>
              </a:ext>
            </a:extLst>
          </p:cNvPr>
          <p:cNvSpPr txBox="1"/>
          <p:nvPr/>
        </p:nvSpPr>
        <p:spPr>
          <a:xfrm>
            <a:off x="5006339" y="3225777"/>
            <a:ext cx="1260000" cy="823302"/>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Ausbau der Ladeinfrastruktur (926 öffentliche Ladepunkte)</a:t>
            </a:r>
          </a:p>
          <a:p>
            <a:pPr marL="144000" indent="-144000">
              <a:spcAft>
                <a:spcPts val="300"/>
              </a:spcAft>
              <a:buClr>
                <a:schemeClr val="accent1"/>
              </a:buClr>
              <a:buFont typeface="Wingdings" panose="05000000000000000000" pitchFamily="2" charset="2"/>
              <a:buChar char="n"/>
            </a:pPr>
            <a:r>
              <a:rPr lang="de-DE" sz="900" dirty="0">
                <a:latin typeface="+mj-lt"/>
              </a:rPr>
              <a:t>Glasfaser- und Rechenzentrumsausbau über WiTCOM</a:t>
            </a:r>
          </a:p>
        </p:txBody>
      </p:sp>
      <p:sp>
        <p:nvSpPr>
          <p:cNvPr id="24" name="Textfeld 53">
            <a:extLst>
              <a:ext uri="{FF2B5EF4-FFF2-40B4-BE49-F238E27FC236}">
                <a16:creationId xmlns:a16="http://schemas.microsoft.com/office/drawing/2014/main" id="{9294D34D-83BD-B660-A4E3-1846382A7F3C}"/>
              </a:ext>
            </a:extLst>
          </p:cNvPr>
          <p:cNvSpPr txBox="1"/>
          <p:nvPr/>
        </p:nvSpPr>
        <p:spPr>
          <a:xfrm>
            <a:off x="7617125" y="3225777"/>
            <a:ext cx="1260000" cy="110030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Zielnetzplanung mit der Hessenwasser GmbH &amp; Co. KG</a:t>
            </a:r>
          </a:p>
          <a:p>
            <a:pPr marL="144000" indent="-144000">
              <a:spcAft>
                <a:spcPts val="300"/>
              </a:spcAft>
              <a:buClr>
                <a:schemeClr val="accent1"/>
              </a:buClr>
              <a:buFont typeface="Wingdings" panose="05000000000000000000" pitchFamily="2" charset="2"/>
              <a:buChar char="n"/>
            </a:pPr>
            <a:r>
              <a:rPr lang="de-DE" sz="900" dirty="0">
                <a:latin typeface="+mj-lt"/>
              </a:rPr>
              <a:t>Neubau der Riedleitung</a:t>
            </a:r>
          </a:p>
          <a:p>
            <a:pPr marL="144000" indent="-144000">
              <a:spcAft>
                <a:spcPts val="300"/>
              </a:spcAft>
              <a:buClr>
                <a:schemeClr val="accent1"/>
              </a:buClr>
              <a:buFont typeface="Wingdings" panose="05000000000000000000" pitchFamily="2" charset="2"/>
              <a:buChar char="n"/>
            </a:pPr>
            <a:r>
              <a:rPr lang="de-DE" sz="900" dirty="0">
                <a:latin typeface="+mj-lt"/>
              </a:rPr>
              <a:t>2025 wurden 9.200 m Leitungen erneuert (1,25 %)</a:t>
            </a:r>
          </a:p>
        </p:txBody>
      </p:sp>
      <p:sp>
        <p:nvSpPr>
          <p:cNvPr id="31" name="Textfeld 54">
            <a:extLst>
              <a:ext uri="{FF2B5EF4-FFF2-40B4-BE49-F238E27FC236}">
                <a16:creationId xmlns:a16="http://schemas.microsoft.com/office/drawing/2014/main" id="{C2E44EC9-A059-1AFA-A0AC-2DA6ADDF6CB5}"/>
              </a:ext>
            </a:extLst>
          </p:cNvPr>
          <p:cNvSpPr txBox="1"/>
          <p:nvPr/>
        </p:nvSpPr>
        <p:spPr>
          <a:xfrm>
            <a:off x="6311732" y="3225777"/>
            <a:ext cx="1260000" cy="64633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Prüfung der Wasserstofftauglichkeit des Gasnetzes</a:t>
            </a:r>
          </a:p>
          <a:p>
            <a:pPr marL="144000" indent="-144000">
              <a:spcAft>
                <a:spcPts val="300"/>
              </a:spcAft>
              <a:buClr>
                <a:schemeClr val="accent1"/>
              </a:buClr>
              <a:buFont typeface="Wingdings" panose="05000000000000000000" pitchFamily="2" charset="2"/>
              <a:buChar char="n"/>
            </a:pPr>
            <a:r>
              <a:rPr lang="de-DE" sz="900" dirty="0">
                <a:latin typeface="+mj-lt"/>
              </a:rPr>
              <a:t>Erstmalige Rückbaurückstellung (0,9 Mio. EUR)</a:t>
            </a:r>
          </a:p>
        </p:txBody>
      </p:sp>
      <p:sp>
        <p:nvSpPr>
          <p:cNvPr id="32" name="Textfeld 55">
            <a:extLst>
              <a:ext uri="{FF2B5EF4-FFF2-40B4-BE49-F238E27FC236}">
                <a16:creationId xmlns:a16="http://schemas.microsoft.com/office/drawing/2014/main" id="{5FD0FB2D-F5E9-74BA-6864-D8B79AC4F900}"/>
              </a:ext>
            </a:extLst>
          </p:cNvPr>
          <p:cNvSpPr txBox="1"/>
          <p:nvPr/>
        </p:nvSpPr>
        <p:spPr>
          <a:xfrm>
            <a:off x="1090161" y="3225777"/>
            <a:ext cx="1258712" cy="110030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Neubau der Umspannwerke Hölderlinstraße und Berliner Straße</a:t>
            </a:r>
          </a:p>
          <a:p>
            <a:pPr marL="144000" indent="-144000">
              <a:spcAft>
                <a:spcPts val="300"/>
              </a:spcAft>
              <a:buClr>
                <a:schemeClr val="accent1"/>
              </a:buClr>
              <a:buFont typeface="Wingdings" panose="05000000000000000000" pitchFamily="2" charset="2"/>
              <a:buChar char="n"/>
            </a:pPr>
            <a:r>
              <a:rPr lang="de-DE" sz="900" dirty="0">
                <a:latin typeface="+mj-lt"/>
              </a:rPr>
              <a:t>Umbau der Schaltstationen Loreleiring und Erbenheim</a:t>
            </a:r>
          </a:p>
          <a:p>
            <a:pPr marL="144000" indent="-144000">
              <a:spcAft>
                <a:spcPts val="300"/>
              </a:spcAft>
              <a:buClr>
                <a:schemeClr val="accent1"/>
              </a:buClr>
              <a:buFont typeface="Wingdings" panose="05000000000000000000" pitchFamily="2" charset="2"/>
              <a:buChar char="n"/>
            </a:pPr>
            <a:r>
              <a:rPr lang="de-DE" sz="900" dirty="0">
                <a:latin typeface="+mj-lt"/>
              </a:rPr>
              <a:t>Trennung vom 110-kV-Netz der Mainzer Netze</a:t>
            </a:r>
          </a:p>
        </p:txBody>
      </p:sp>
      <p:sp>
        <p:nvSpPr>
          <p:cNvPr id="34" name="Rectangle 33">
            <a:extLst>
              <a:ext uri="{FF2B5EF4-FFF2-40B4-BE49-F238E27FC236}">
                <a16:creationId xmlns:a16="http://schemas.microsoft.com/office/drawing/2014/main" id="{4191342F-5252-86A9-CF96-6CA3844A635B}"/>
              </a:ext>
            </a:extLst>
          </p:cNvPr>
          <p:cNvSpPr/>
          <p:nvPr/>
        </p:nvSpPr>
        <p:spPr>
          <a:xfrm>
            <a:off x="1089040" y="2853159"/>
            <a:ext cx="9218443" cy="36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sp>
        <p:nvSpPr>
          <p:cNvPr id="36" name="Rectangle 35">
            <a:extLst>
              <a:ext uri="{FF2B5EF4-FFF2-40B4-BE49-F238E27FC236}">
                <a16:creationId xmlns:a16="http://schemas.microsoft.com/office/drawing/2014/main" id="{8E4EA4C8-6DCD-7642-8E75-7A976663F6DF}"/>
              </a:ext>
            </a:extLst>
          </p:cNvPr>
          <p:cNvSpPr/>
          <p:nvPr/>
        </p:nvSpPr>
        <p:spPr>
          <a:xfrm>
            <a:off x="1090160"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Strom</a:t>
            </a:r>
          </a:p>
        </p:txBody>
      </p:sp>
      <p:sp>
        <p:nvSpPr>
          <p:cNvPr id="38" name="Rectangle 42">
            <a:extLst>
              <a:ext uri="{FF2B5EF4-FFF2-40B4-BE49-F238E27FC236}">
                <a16:creationId xmlns:a16="http://schemas.microsoft.com/office/drawing/2014/main" id="{F93F440D-4913-F919-9C61-7A80875D380B}"/>
              </a:ext>
            </a:extLst>
          </p:cNvPr>
          <p:cNvSpPr/>
          <p:nvPr/>
        </p:nvSpPr>
        <p:spPr>
          <a:xfrm>
            <a:off x="2395553"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Wärme</a:t>
            </a:r>
          </a:p>
        </p:txBody>
      </p:sp>
      <p:sp>
        <p:nvSpPr>
          <p:cNvPr id="40" name="Rectangle 42">
            <a:extLst>
              <a:ext uri="{FF2B5EF4-FFF2-40B4-BE49-F238E27FC236}">
                <a16:creationId xmlns:a16="http://schemas.microsoft.com/office/drawing/2014/main" id="{BE8FDF42-7C21-0789-79B1-F612E6B9470C}"/>
              </a:ext>
            </a:extLst>
          </p:cNvPr>
          <p:cNvSpPr/>
          <p:nvPr/>
        </p:nvSpPr>
        <p:spPr>
          <a:xfrm>
            <a:off x="3700946"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Beteiligungen</a:t>
            </a:r>
          </a:p>
        </p:txBody>
      </p:sp>
      <p:sp>
        <p:nvSpPr>
          <p:cNvPr id="42" name="Rectangle 42">
            <a:extLst>
              <a:ext uri="{FF2B5EF4-FFF2-40B4-BE49-F238E27FC236}">
                <a16:creationId xmlns:a16="http://schemas.microsoft.com/office/drawing/2014/main" id="{54DCDB95-F67D-93F1-B0D1-C4424616EFDE}"/>
              </a:ext>
            </a:extLst>
          </p:cNvPr>
          <p:cNvSpPr/>
          <p:nvPr/>
        </p:nvSpPr>
        <p:spPr>
          <a:xfrm>
            <a:off x="5006339"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Sonstige Bereiche</a:t>
            </a:r>
          </a:p>
        </p:txBody>
      </p:sp>
      <p:sp>
        <p:nvSpPr>
          <p:cNvPr id="44" name="Rectangle 42">
            <a:extLst>
              <a:ext uri="{FF2B5EF4-FFF2-40B4-BE49-F238E27FC236}">
                <a16:creationId xmlns:a16="http://schemas.microsoft.com/office/drawing/2014/main" id="{9F86347C-C3E7-05C5-2BF2-C0AFD5089432}"/>
              </a:ext>
            </a:extLst>
          </p:cNvPr>
          <p:cNvSpPr/>
          <p:nvPr/>
        </p:nvSpPr>
        <p:spPr>
          <a:xfrm>
            <a:off x="6311732"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Gas</a:t>
            </a:r>
          </a:p>
        </p:txBody>
      </p:sp>
      <p:sp>
        <p:nvSpPr>
          <p:cNvPr id="47" name="Rectangle 42">
            <a:extLst>
              <a:ext uri="{FF2B5EF4-FFF2-40B4-BE49-F238E27FC236}">
                <a16:creationId xmlns:a16="http://schemas.microsoft.com/office/drawing/2014/main" id="{2BC482DD-A5C5-14F5-6105-92851F31123B}"/>
              </a:ext>
            </a:extLst>
          </p:cNvPr>
          <p:cNvSpPr/>
          <p:nvPr/>
        </p:nvSpPr>
        <p:spPr>
          <a:xfrm>
            <a:off x="7617125"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Wasser</a:t>
            </a:r>
          </a:p>
        </p:txBody>
      </p:sp>
      <p:sp>
        <p:nvSpPr>
          <p:cNvPr id="48" name="Rectangle 42">
            <a:extLst>
              <a:ext uri="{FF2B5EF4-FFF2-40B4-BE49-F238E27FC236}">
                <a16:creationId xmlns:a16="http://schemas.microsoft.com/office/drawing/2014/main" id="{6B496559-2F7E-090B-59F0-F6EE824AF6D3}"/>
              </a:ext>
            </a:extLst>
          </p:cNvPr>
          <p:cNvSpPr/>
          <p:nvPr/>
        </p:nvSpPr>
        <p:spPr>
          <a:xfrm>
            <a:off x="8922521"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Gemeinsame Bereiche</a:t>
            </a:r>
          </a:p>
        </p:txBody>
      </p:sp>
      <p:sp>
        <p:nvSpPr>
          <p:cNvPr id="51" name="Textfeld 54">
            <a:extLst>
              <a:ext uri="{FF2B5EF4-FFF2-40B4-BE49-F238E27FC236}">
                <a16:creationId xmlns:a16="http://schemas.microsoft.com/office/drawing/2014/main" id="{DB8205E2-C026-8860-8BCB-DD7576AFF83F}"/>
              </a:ext>
            </a:extLst>
          </p:cNvPr>
          <p:cNvSpPr txBox="1"/>
          <p:nvPr/>
        </p:nvSpPr>
        <p:spPr>
          <a:xfrm>
            <a:off x="8922521" y="3225777"/>
            <a:ext cx="1260000" cy="50783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Smart-Meter-Rollout und IT-Sicherheit (NIS-2)</a:t>
            </a:r>
          </a:p>
          <a:p>
            <a:pPr marL="144000" indent="-144000">
              <a:spcAft>
                <a:spcPts val="300"/>
              </a:spcAft>
              <a:buClr>
                <a:schemeClr val="accent1"/>
              </a:buClr>
              <a:buFont typeface="Wingdings" panose="05000000000000000000" pitchFamily="2" charset="2"/>
              <a:buChar char="n"/>
            </a:pPr>
            <a:r>
              <a:rPr lang="de-DE" sz="900" dirty="0">
                <a:latin typeface="+mj-lt"/>
              </a:rPr>
              <a:t>Neue Fahrzeug- und Lagerhalle</a:t>
            </a:r>
          </a:p>
        </p:txBody>
      </p:sp>
      <p:sp>
        <p:nvSpPr>
          <p:cNvPr id="57" name="TextBox 56">
            <a:extLst>
              <a:ext uri="{FF2B5EF4-FFF2-40B4-BE49-F238E27FC236}">
                <a16:creationId xmlns:a16="http://schemas.microsoft.com/office/drawing/2014/main" id="{EFDC1B72-AD69-CFD5-246C-91529A66009E}"/>
              </a:ext>
            </a:extLst>
          </p:cNvPr>
          <p:cNvSpPr txBox="1"/>
          <p:nvPr/>
        </p:nvSpPr>
        <p:spPr>
          <a:xfrm>
            <a:off x="6334827" y="2917743"/>
            <a:ext cx="1338773" cy="230832"/>
          </a:xfrm>
          <a:prstGeom prst="rect">
            <a:avLst/>
          </a:prstGeom>
          <a:noFill/>
        </p:spPr>
        <p:txBody>
          <a:bodyPr wrap="square" rtlCol="0">
            <a:spAutoFit/>
          </a:bodyPr>
          <a:lstStyle/>
          <a:p>
            <a:pPr algn="ctr"/>
            <a:r>
              <a:rPr lang="de-DE" sz="900" b="1" dirty="0">
                <a:solidFill>
                  <a:schemeClr val="accent1"/>
                </a:solidFill>
              </a:rPr>
              <a:t>3,0 Mio. EUR</a:t>
            </a:r>
            <a:endParaRPr lang="de-DE" sz="900" b="1" baseline="30000" dirty="0">
              <a:solidFill>
                <a:schemeClr val="accent1"/>
              </a:solidFill>
            </a:endParaRPr>
          </a:p>
        </p:txBody>
      </p:sp>
      <p:sp>
        <p:nvSpPr>
          <p:cNvPr id="61" name="TextBox 60">
            <a:extLst>
              <a:ext uri="{FF2B5EF4-FFF2-40B4-BE49-F238E27FC236}">
                <a16:creationId xmlns:a16="http://schemas.microsoft.com/office/drawing/2014/main" id="{BD3EB4C6-6B99-0744-32E9-53BB72E7FCDC}"/>
              </a:ext>
            </a:extLst>
          </p:cNvPr>
          <p:cNvSpPr txBox="1"/>
          <p:nvPr/>
        </p:nvSpPr>
        <p:spPr>
          <a:xfrm>
            <a:off x="9006469" y="2917743"/>
            <a:ext cx="1217066" cy="230832"/>
          </a:xfrm>
          <a:prstGeom prst="rect">
            <a:avLst/>
          </a:prstGeom>
          <a:noFill/>
        </p:spPr>
        <p:txBody>
          <a:bodyPr wrap="square" rtlCol="0">
            <a:spAutoFit/>
          </a:bodyPr>
          <a:lstStyle/>
          <a:p>
            <a:pPr algn="ctr"/>
            <a:r>
              <a:rPr lang="de-DE" sz="900" b="1" dirty="0">
                <a:solidFill>
                  <a:schemeClr val="accent1"/>
                </a:solidFill>
              </a:rPr>
              <a:t>4,0 Mio. EUR</a:t>
            </a:r>
            <a:endParaRPr lang="de-DE" sz="900" b="1" baseline="30000" dirty="0">
              <a:solidFill>
                <a:schemeClr val="accent1"/>
              </a:solidFill>
            </a:endParaRPr>
          </a:p>
        </p:txBody>
      </p:sp>
      <p:sp>
        <p:nvSpPr>
          <p:cNvPr id="63" name="TextBox 62">
            <a:extLst>
              <a:ext uri="{FF2B5EF4-FFF2-40B4-BE49-F238E27FC236}">
                <a16:creationId xmlns:a16="http://schemas.microsoft.com/office/drawing/2014/main" id="{471E0B03-5F50-78BE-CD70-FBA31514D833}"/>
              </a:ext>
            </a:extLst>
          </p:cNvPr>
          <p:cNvSpPr txBox="1"/>
          <p:nvPr/>
        </p:nvSpPr>
        <p:spPr>
          <a:xfrm>
            <a:off x="7756394" y="2917743"/>
            <a:ext cx="1106424" cy="230832"/>
          </a:xfrm>
          <a:prstGeom prst="rect">
            <a:avLst/>
          </a:prstGeom>
          <a:noFill/>
        </p:spPr>
        <p:txBody>
          <a:bodyPr wrap="square" rtlCol="0">
            <a:spAutoFit/>
          </a:bodyPr>
          <a:lstStyle/>
          <a:p>
            <a:pPr algn="ctr"/>
            <a:r>
              <a:rPr lang="de-DE" sz="900" b="1" dirty="0">
                <a:solidFill>
                  <a:schemeClr val="accent1"/>
                </a:solidFill>
              </a:rPr>
              <a:t>14,0 Mio. EUR</a:t>
            </a:r>
          </a:p>
        </p:txBody>
      </p:sp>
      <p:sp>
        <p:nvSpPr>
          <p:cNvPr id="2049" name="TextBox 2048">
            <a:extLst>
              <a:ext uri="{FF2B5EF4-FFF2-40B4-BE49-F238E27FC236}">
                <a16:creationId xmlns:a16="http://schemas.microsoft.com/office/drawing/2014/main" id="{062CFB4E-FFF7-44D5-79AF-5AF37DD862F2}"/>
              </a:ext>
            </a:extLst>
          </p:cNvPr>
          <p:cNvSpPr txBox="1"/>
          <p:nvPr/>
        </p:nvSpPr>
        <p:spPr>
          <a:xfrm>
            <a:off x="5090287" y="2917743"/>
            <a:ext cx="1217066" cy="230832"/>
          </a:xfrm>
          <a:prstGeom prst="rect">
            <a:avLst/>
          </a:prstGeom>
          <a:noFill/>
        </p:spPr>
        <p:txBody>
          <a:bodyPr wrap="square" rtlCol="0">
            <a:spAutoFit/>
          </a:bodyPr>
          <a:lstStyle/>
          <a:p>
            <a:pPr algn="ctr"/>
            <a:r>
              <a:rPr lang="de-DE" sz="900" b="1" dirty="0">
                <a:solidFill>
                  <a:schemeClr val="accent1"/>
                </a:solidFill>
              </a:rPr>
              <a:t>3,4 Mio. EUR</a:t>
            </a:r>
            <a:endParaRPr lang="de-DE" sz="900" b="1" baseline="30000" dirty="0">
              <a:solidFill>
                <a:schemeClr val="accent1"/>
              </a:solidFill>
            </a:endParaRPr>
          </a:p>
        </p:txBody>
      </p:sp>
      <p:cxnSp>
        <p:nvCxnSpPr>
          <p:cNvPr id="2051" name="Straight Connector 2050">
            <a:extLst>
              <a:ext uri="{FF2B5EF4-FFF2-40B4-BE49-F238E27FC236}">
                <a16:creationId xmlns:a16="http://schemas.microsoft.com/office/drawing/2014/main" id="{A482CF50-95F5-13A7-CB73-78188C498013}"/>
              </a:ext>
            </a:extLst>
          </p:cNvPr>
          <p:cNvCxnSpPr>
            <a:cxnSpLocks/>
          </p:cNvCxnSpPr>
          <p:nvPr/>
        </p:nvCxnSpPr>
        <p:spPr>
          <a:xfrm>
            <a:off x="2435417" y="1904781"/>
            <a:ext cx="0" cy="9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5FB33FFF-D44C-CA01-C0BD-1C35B3894C9D}"/>
              </a:ext>
            </a:extLst>
          </p:cNvPr>
          <p:cNvCxnSpPr>
            <a:cxnSpLocks/>
          </p:cNvCxnSpPr>
          <p:nvPr/>
        </p:nvCxnSpPr>
        <p:spPr>
          <a:xfrm>
            <a:off x="5046123"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7FD4D10F-C4B0-5F90-0DCE-824CEEAE20B2}"/>
              </a:ext>
            </a:extLst>
          </p:cNvPr>
          <p:cNvCxnSpPr>
            <a:cxnSpLocks/>
          </p:cNvCxnSpPr>
          <p:nvPr/>
        </p:nvCxnSpPr>
        <p:spPr>
          <a:xfrm>
            <a:off x="6351516"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F00C023C-7DA5-A754-7D05-23832F538C89}"/>
              </a:ext>
            </a:extLst>
          </p:cNvPr>
          <p:cNvCxnSpPr>
            <a:cxnSpLocks/>
          </p:cNvCxnSpPr>
          <p:nvPr/>
        </p:nvCxnSpPr>
        <p:spPr>
          <a:xfrm>
            <a:off x="7656911"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AA8ED7E8-B1E3-8FA8-BA0C-BE6C510A0C24}"/>
              </a:ext>
            </a:extLst>
          </p:cNvPr>
          <p:cNvCxnSpPr>
            <a:cxnSpLocks/>
          </p:cNvCxnSpPr>
          <p:nvPr/>
        </p:nvCxnSpPr>
        <p:spPr>
          <a:xfrm>
            <a:off x="8961859"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061" name="TextBox 2060">
            <a:extLst>
              <a:ext uri="{FF2B5EF4-FFF2-40B4-BE49-F238E27FC236}">
                <a16:creationId xmlns:a16="http://schemas.microsoft.com/office/drawing/2014/main" id="{D3E7F244-FF5A-EF2A-7025-155865B8DA73}"/>
              </a:ext>
            </a:extLst>
          </p:cNvPr>
          <p:cNvSpPr txBox="1"/>
          <p:nvPr/>
        </p:nvSpPr>
        <p:spPr>
          <a:xfrm>
            <a:off x="2384758" y="2917743"/>
            <a:ext cx="1472650" cy="230832"/>
          </a:xfrm>
          <a:prstGeom prst="rect">
            <a:avLst/>
          </a:prstGeom>
          <a:noFill/>
        </p:spPr>
        <p:txBody>
          <a:bodyPr wrap="square" rtlCol="0">
            <a:spAutoFit/>
          </a:bodyPr>
          <a:lstStyle/>
          <a:p>
            <a:pPr algn="ctr"/>
            <a:r>
              <a:rPr lang="de-DE" sz="900" b="1" dirty="0">
                <a:solidFill>
                  <a:schemeClr val="accent1"/>
                </a:solidFill>
              </a:rPr>
              <a:t>6,5 Mio. EUR</a:t>
            </a:r>
          </a:p>
        </p:txBody>
      </p:sp>
      <p:pic>
        <p:nvPicPr>
          <p:cNvPr id="2066" name="Picture 8" descr="Stadthalle Bielefeld Bielefeld, Architektur - baukunst-nrw">
            <a:extLst>
              <a:ext uri="{FF2B5EF4-FFF2-40B4-BE49-F238E27FC236}">
                <a16:creationId xmlns:a16="http://schemas.microsoft.com/office/drawing/2014/main" id="{4C2D2546-6AFC-E928-12C1-2A0F8D084D28}"/>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r="33328"/>
          <a:stretch/>
        </p:blipFill>
        <p:spPr bwMode="auto">
          <a:xfrm>
            <a:off x="9375602"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sp>
        <p:nvSpPr>
          <p:cNvPr id="2072" name="TextBox 2071">
            <a:extLst>
              <a:ext uri="{FF2B5EF4-FFF2-40B4-BE49-F238E27FC236}">
                <a16:creationId xmlns:a16="http://schemas.microsoft.com/office/drawing/2014/main" id="{D5499CAF-D713-BF37-8215-E87BE2FF48E1}"/>
              </a:ext>
            </a:extLst>
          </p:cNvPr>
          <p:cNvSpPr txBox="1"/>
          <p:nvPr/>
        </p:nvSpPr>
        <p:spPr>
          <a:xfrm>
            <a:off x="1199139" y="4709311"/>
            <a:ext cx="9006600" cy="230832"/>
          </a:xfrm>
          <a:prstGeom prst="rect">
            <a:avLst/>
          </a:prstGeom>
          <a:noFill/>
        </p:spPr>
        <p:txBody>
          <a:bodyPr wrap="square" lIns="0" rIns="0" rtlCol="0">
            <a:spAutoFit/>
          </a:bodyPr>
          <a:lstStyle/>
          <a:p>
            <a:pPr algn="ctr"/>
            <a:r>
              <a:rPr lang="de-DE" sz="900" b="1" dirty="0">
                <a:solidFill>
                  <a:schemeClr val="accent1"/>
                </a:solidFill>
              </a:rPr>
              <a:t>Ein Gesamtvolumen des künftigen Investitionsprogramms ist öffentlich nicht beziffert – der Lagebericht 2025 kündigt an, dass sich das Investitionsvolumen in den nächsten Jahren nochmals erheblich steigern wird</a:t>
            </a:r>
          </a:p>
        </p:txBody>
      </p:sp>
      <p:sp>
        <p:nvSpPr>
          <p:cNvPr id="64" name="Textfeld 51">
            <a:extLst>
              <a:ext uri="{FF2B5EF4-FFF2-40B4-BE49-F238E27FC236}">
                <a16:creationId xmlns:a16="http://schemas.microsoft.com/office/drawing/2014/main" id="{F276AE41-AB05-DA9B-4D7E-81D0CFF9F996}"/>
              </a:ext>
            </a:extLst>
          </p:cNvPr>
          <p:cNvSpPr txBox="1"/>
          <p:nvPr/>
        </p:nvSpPr>
        <p:spPr>
          <a:xfrm>
            <a:off x="2395553" y="3225777"/>
            <a:ext cx="1260000" cy="1631216"/>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Fortsetzung des Fernwärmeausbaus in der Innenstadt</a:t>
            </a:r>
          </a:p>
          <a:p>
            <a:pPr marL="144000" indent="-144000">
              <a:spcAft>
                <a:spcPts val="300"/>
              </a:spcAft>
              <a:buClr>
                <a:schemeClr val="accent1"/>
              </a:buClr>
              <a:buFont typeface="Wingdings" panose="05000000000000000000" pitchFamily="2" charset="2"/>
              <a:buChar char="n"/>
            </a:pPr>
            <a:r>
              <a:rPr lang="de-DE" sz="900" dirty="0">
                <a:latin typeface="+mj-lt"/>
              </a:rPr>
              <a:t>Anbindung des kurz vor Fertigstellung stehenden Müllheizkraftwerks</a:t>
            </a:r>
          </a:p>
          <a:p>
            <a:pPr marL="144000" indent="-144000">
              <a:spcAft>
                <a:spcPts val="300"/>
              </a:spcAft>
              <a:buClr>
                <a:schemeClr val="accent1"/>
              </a:buClr>
              <a:buFont typeface="Wingdings" panose="05000000000000000000" pitchFamily="2" charset="2"/>
              <a:buChar char="n"/>
            </a:pPr>
            <a:r>
              <a:rPr lang="de-DE" sz="900" dirty="0">
                <a:latin typeface="+mj-lt"/>
              </a:rPr>
              <a:t>Teilprojekt Transformation Fernwärmenetz bis 2045</a:t>
            </a:r>
          </a:p>
        </p:txBody>
      </p:sp>
      <p:pic>
        <p:nvPicPr>
          <p:cNvPr id="1030" name="Picture 6">
            <a:extLst>
              <a:ext uri="{FF2B5EF4-FFF2-40B4-BE49-F238E27FC236}">
                <a16:creationId xmlns:a16="http://schemas.microsoft.com/office/drawing/2014/main" id="{D0D62DEC-CFEB-908C-54C1-8248FD93CE06}"/>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23710" r="23710"/>
          <a:stretch/>
        </p:blipFill>
        <p:spPr bwMode="auto">
          <a:xfrm>
            <a:off x="4154919"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cxnSp>
        <p:nvCxnSpPr>
          <p:cNvPr id="94" name="Straight Connector 93">
            <a:extLst>
              <a:ext uri="{FF2B5EF4-FFF2-40B4-BE49-F238E27FC236}">
                <a16:creationId xmlns:a16="http://schemas.microsoft.com/office/drawing/2014/main" id="{849C6051-7975-5C48-D760-05B43E3BBC4D}"/>
              </a:ext>
            </a:extLst>
          </p:cNvPr>
          <p:cNvCxnSpPr>
            <a:cxnSpLocks/>
          </p:cNvCxnSpPr>
          <p:nvPr/>
        </p:nvCxnSpPr>
        <p:spPr>
          <a:xfrm>
            <a:off x="2435417" y="3236781"/>
            <a:ext cx="0" cy="1404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7996652-8834-9F0C-CD2B-361FA3CF7ECF}"/>
              </a:ext>
            </a:extLst>
          </p:cNvPr>
          <p:cNvCxnSpPr>
            <a:cxnSpLocks/>
          </p:cNvCxnSpPr>
          <p:nvPr/>
        </p:nvCxnSpPr>
        <p:spPr>
          <a:xfrm>
            <a:off x="3740770" y="1904781"/>
            <a:ext cx="0" cy="9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28608C2-B033-C1AB-6CA5-3E573176BADB}"/>
              </a:ext>
            </a:extLst>
          </p:cNvPr>
          <p:cNvCxnSpPr>
            <a:cxnSpLocks/>
          </p:cNvCxnSpPr>
          <p:nvPr/>
        </p:nvCxnSpPr>
        <p:spPr>
          <a:xfrm>
            <a:off x="3740770" y="3236781"/>
            <a:ext cx="0" cy="1404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13" name="Picture 4" descr="News | DVG – Duisburger Verkehrsgesellschaft AG">
            <a:extLst>
              <a:ext uri="{FF2B5EF4-FFF2-40B4-BE49-F238E27FC236}">
                <a16:creationId xmlns:a16="http://schemas.microsoft.com/office/drawing/2014/main" id="{5C1A7605-C9DC-B2D9-2974-7F92DB6F3BD4}"/>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6727" r="16727"/>
          <a:stretch/>
        </p:blipFill>
        <p:spPr bwMode="auto">
          <a:xfrm>
            <a:off x="6765706"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6" descr="Leistungen - Duisburg CityCom">
            <a:extLst>
              <a:ext uri="{FF2B5EF4-FFF2-40B4-BE49-F238E27FC236}">
                <a16:creationId xmlns:a16="http://schemas.microsoft.com/office/drawing/2014/main" id="{45C21F3B-9E47-77FE-94E4-6C3061E66ACE}"/>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23009" t="592" r="6841" b="-592"/>
          <a:stretch/>
        </p:blipFill>
        <p:spPr bwMode="auto">
          <a:xfrm>
            <a:off x="5458528"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sp>
        <p:nvSpPr>
          <p:cNvPr id="3075" name="TextBox Capex 3075">
            <a:extLst>
              <a:ext uri="{FF2B5EF4-FFF2-40B4-BE49-F238E27FC236}">
                <a16:creationId xmlns:a16="http://schemas.microsoft.com/office/drawing/2014/main" id="{D3E7F244-FF5A-EF2A-7025-155865B8DA73}"/>
              </a:ext>
            </a:extLst>
          </p:cNvPr>
          <p:cNvSpPr txBox="1"/>
          <p:nvPr/>
        </p:nvSpPr>
        <p:spPr>
          <a:xfrm>
            <a:off x="1080000" y="2916000"/>
            <a:ext cx="1224000" cy="230832"/>
          </a:xfrm>
          <a:prstGeom prst="rect">
            <a:avLst/>
          </a:prstGeom>
          <a:noFill/>
        </p:spPr>
        <p:txBody>
          <a:bodyPr wrap="square" rtlCol="0">
            <a:spAutoFit/>
          </a:bodyPr>
          <a:lstStyle/>
          <a:p>
            <a:pPr algn="ctr"/>
            <a:r>
              <a:rPr lang="de-DE" sz="900" b="1" dirty="0">
                <a:solidFill>
                  <a:schemeClr val="accent1"/>
                </a:solidFill>
              </a:rPr>
              <a:t>1,0 Mio. EUR</a:t>
            </a:r>
          </a:p>
        </p:txBody>
      </p:sp>
      <p:sp>
        <p:nvSpPr>
          <p:cNvPr id="3076" name="TextBox Capex 3076">
            <a:extLst>
              <a:ext uri="{FF2B5EF4-FFF2-40B4-BE49-F238E27FC236}">
                <a16:creationId xmlns:a16="http://schemas.microsoft.com/office/drawing/2014/main" id="{D3E7F244-FF5A-EF2A-7025-155865B8DA73}"/>
              </a:ext>
            </a:extLst>
          </p:cNvPr>
          <p:cNvSpPr txBox="1"/>
          <p:nvPr/>
        </p:nvSpPr>
        <p:spPr>
          <a:xfrm>
            <a:off x="3744000" y="2916000"/>
            <a:ext cx="1224000" cy="230832"/>
          </a:xfrm>
          <a:prstGeom prst="rect">
            <a:avLst/>
          </a:prstGeom>
          <a:noFill/>
        </p:spPr>
        <p:txBody>
          <a:bodyPr wrap="square" rtlCol="0">
            <a:spAutoFit/>
          </a:bodyPr>
          <a:lstStyle/>
          <a:p>
            <a:pPr algn="ctr"/>
            <a:r>
              <a:rPr lang="de-DE" sz="900" b="1" dirty="0">
                <a:solidFill>
                  <a:schemeClr val="accent1"/>
                </a:solidFill>
              </a:rPr>
              <a:t>5,2 Mio. EUR</a:t>
            </a:r>
          </a:p>
        </p:txBody>
      </p:sp>
    </p:spTree>
    <p:extLst>
      <p:ext uri="{BB962C8B-B14F-4D97-AF65-F5344CB8AC3E}">
        <p14:creationId xmlns:p14="http://schemas.microsoft.com/office/powerpoint/2010/main" val="14220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6F04CFA-94B4-428B-B10B-A163D24F60DF}"/>
              </a:ext>
            </a:extLst>
          </p:cNvPr>
          <p:cNvGraphicFramePr>
            <a:graphicFrameLocks/>
          </p:cNvGraphicFramePr>
          <p:nvPr>
            <p:custDataLst>
              <p:tags r:id="rId1"/>
            </p:custDataLst>
            <p:extLst>
              <p:ext uri="{D42A27DB-BD31-4B8C-83A1-F6EECF244321}">
                <p14:modId xmlns:p14="http://schemas.microsoft.com/office/powerpoint/2010/main" val="25896051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16F04CFA-94B4-428B-B10B-A163D24F60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50" name="Table 49">
            <a:extLst>
              <a:ext uri="{FF2B5EF4-FFF2-40B4-BE49-F238E27FC236}">
                <a16:creationId xmlns:a16="http://schemas.microsoft.com/office/drawing/2014/main" id="{C7CBEA93-4098-5006-4F9E-06F524DF698C}"/>
              </a:ext>
            </a:extLst>
          </p:cNvPr>
          <p:cNvGraphicFramePr>
            <a:graphicFrameLocks noGrp="1"/>
          </p:cNvGraphicFramePr>
          <p:nvPr>
            <p:custDataLst>
              <p:tags r:id="rId2"/>
            </p:custDataLst>
            <p:extLst>
              <p:ext uri="{D42A27DB-BD31-4B8C-83A1-F6EECF244321}">
                <p14:modId xmlns:p14="http://schemas.microsoft.com/office/powerpoint/2010/main" val="3770479562"/>
              </p:ext>
            </p:extLst>
          </p:nvPr>
        </p:nvGraphicFramePr>
        <p:xfrm>
          <a:off x="378700" y="1620838"/>
          <a:ext cx="4895990" cy="5112120"/>
        </p:xfrm>
        <a:graphic>
          <a:graphicData uri="http://schemas.openxmlformats.org/drawingml/2006/table">
            <a:tbl>
              <a:tblPr>
                <a:tableStyleId>{5C22544A-7EE6-4342-B048-85BDC9FD1C3A}</a:tableStyleId>
              </a:tblPr>
              <a:tblGrid>
                <a:gridCol w="1761736">
                  <a:extLst>
                    <a:ext uri="{9D8B030D-6E8A-4147-A177-3AD203B41FA5}">
                      <a16:colId xmlns:a16="http://schemas.microsoft.com/office/drawing/2014/main" val="1692210773"/>
                    </a:ext>
                  </a:extLst>
                </a:gridCol>
                <a:gridCol w="112669">
                  <a:extLst>
                    <a:ext uri="{9D8B030D-6E8A-4147-A177-3AD203B41FA5}">
                      <a16:colId xmlns:a16="http://schemas.microsoft.com/office/drawing/2014/main" val="3586182408"/>
                    </a:ext>
                  </a:extLst>
                </a:gridCol>
                <a:gridCol w="604317">
                  <a:extLst>
                    <a:ext uri="{9D8B030D-6E8A-4147-A177-3AD203B41FA5}">
                      <a16:colId xmlns:a16="http://schemas.microsoft.com/office/drawing/2014/main" val="1662325581"/>
                    </a:ext>
                  </a:extLst>
                </a:gridCol>
                <a:gridCol w="604317">
                  <a:extLst>
                    <a:ext uri="{9D8B030D-6E8A-4147-A177-3AD203B41FA5}">
                      <a16:colId xmlns:a16="http://schemas.microsoft.com/office/drawing/2014/main" val="4023428113"/>
                    </a:ext>
                  </a:extLst>
                </a:gridCol>
                <a:gridCol w="604317">
                  <a:extLst>
                    <a:ext uri="{9D8B030D-6E8A-4147-A177-3AD203B41FA5}">
                      <a16:colId xmlns:a16="http://schemas.microsoft.com/office/drawing/2014/main" val="1323870449"/>
                    </a:ext>
                  </a:extLst>
                </a:gridCol>
                <a:gridCol w="604317">
                  <a:extLst>
                    <a:ext uri="{9D8B030D-6E8A-4147-A177-3AD203B41FA5}">
                      <a16:colId xmlns:a16="http://schemas.microsoft.com/office/drawing/2014/main" val="3573619224"/>
                    </a:ext>
                  </a:extLst>
                </a:gridCol>
                <a:gridCol w="604317">
                  <a:extLst>
                    <a:ext uri="{9D8B030D-6E8A-4147-A177-3AD203B41FA5}">
                      <a16:colId xmlns:a16="http://schemas.microsoft.com/office/drawing/2014/main" val="3216662308"/>
                    </a:ext>
                  </a:extLst>
                </a:gridCol>
              </a:tblGrid>
              <a:tr h="257282">
                <a:tc>
                  <a:txBody>
                    <a:bodyPr/>
                    <a:lstStyle/>
                    <a:p>
                      <a:pPr algn="l" fontAlgn="ctr"/>
                      <a:r>
                        <a:rPr lang="de-DE" sz="1000" b="1" u="none" strike="noStrike" dirty="0">
                          <a:solidFill>
                            <a:schemeClr val="bg1"/>
                          </a:solidFill>
                          <a:effectLst/>
                        </a:rPr>
                        <a:t>(in Mio. EUR)</a:t>
                      </a:r>
                      <a:endParaRPr lang="de-DE" sz="1000" b="1" i="0" u="none" strike="noStrike" dirty="0">
                        <a:solidFill>
                          <a:schemeClr val="bg1"/>
                        </a:solidFill>
                        <a:effectLst/>
                        <a:latin typeface="Univers for Metzler Light" panose="020B0403030202020203" pitchFamily="34" charset="0"/>
                      </a:endParaRPr>
                    </a:p>
                  </a:txBody>
                  <a:tcPr marL="3600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ctr"/>
                      <a:r>
                        <a:rPr lang="de-DE" sz="1000" b="1" u="none" strike="noStrike" dirty="0">
                          <a:solidFill>
                            <a:schemeClr val="bg1"/>
                          </a:solidFill>
                          <a:effectLst/>
                        </a:rPr>
                        <a:t> </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2020</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2021</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2022</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2023</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2024</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1588014"/>
                  </a:ext>
                </a:extLst>
              </a:tr>
              <a:tr h="73509">
                <a:tc>
                  <a:txBody>
                    <a:bodyPr/>
                    <a:lstStyle/>
                    <a:p>
                      <a:pPr algn="l" fontAlgn="b"/>
                      <a:endParaRPr lang="de-DE" sz="4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25967412"/>
                  </a:ext>
                </a:extLst>
              </a:tr>
              <a:tr h="155594">
                <a:tc>
                  <a:txBody>
                    <a:bodyPr/>
                    <a:lstStyle/>
                    <a:p>
                      <a:pPr algn="l" fontAlgn="b"/>
                      <a:r>
                        <a:rPr lang="de-DE" sz="1000" b="1" u="none" strike="noStrike" dirty="0">
                          <a:solidFill>
                            <a:schemeClr val="accent1"/>
                          </a:solidFill>
                          <a:effectLst/>
                        </a:rPr>
                        <a:t>GuV</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6350" cap="flat" cmpd="sng" algn="ctr">
                      <a:no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6350" cap="flat" cmpd="sng" algn="ctr">
                      <a:no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gridSpan="2">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9902017"/>
                  </a:ext>
                </a:extLst>
              </a:tr>
              <a:tr h="155594">
                <a:tc>
                  <a:txBody>
                    <a:bodyPr/>
                    <a:lstStyle/>
                    <a:p>
                      <a:pPr algn="l" fontAlgn="b"/>
                      <a:r>
                        <a:rPr lang="de-DE" sz="1000" u="none" strike="noStrike" dirty="0">
                          <a:effectLst/>
                        </a:rPr>
                        <a:t>Umsatz</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390,6</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426,5</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475,7</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634,1</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534,7</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31623308"/>
                  </a:ext>
                </a:extLst>
              </a:tr>
              <a:tr h="155594">
                <a:tc>
                  <a:txBody>
                    <a:bodyPr/>
                    <a:lstStyle/>
                    <a:p>
                      <a:pPr algn="l" fontAlgn="b"/>
                      <a:r>
                        <a:rPr lang="de-DE" sz="1000" i="1" u="none" strike="noStrike" dirty="0">
                          <a:effectLst/>
                        </a:rPr>
                        <a:t>%-Wachstum</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9,2%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11,5%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33,3%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(15,7%)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4271490"/>
                  </a:ext>
                </a:extLst>
              </a:tr>
              <a:tr h="132316">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4664739"/>
                  </a:ext>
                </a:extLst>
              </a:tr>
              <a:tr h="155594">
                <a:tc>
                  <a:txBody>
                    <a:bodyPr/>
                    <a:lstStyle/>
                    <a:p>
                      <a:pPr algn="l" fontAlgn="b"/>
                      <a:r>
                        <a:rPr lang="de-DE" sz="1000" u="none" strike="noStrike" dirty="0">
                          <a:effectLst/>
                        </a:rPr>
                        <a:t>Gesamtleistung</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395,6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432,1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485,8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643,1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567,7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9976311"/>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1545993"/>
                  </a:ext>
                </a:extLst>
              </a:tr>
              <a:tr h="155594">
                <a:tc>
                  <a:txBody>
                    <a:bodyPr/>
                    <a:lstStyle/>
                    <a:p>
                      <a:pPr algn="l" fontAlgn="b"/>
                      <a:r>
                        <a:rPr lang="de-DE" sz="1000" u="none" strike="noStrike" dirty="0">
                          <a:effectLst/>
                        </a:rPr>
                        <a:t>Rohertrag</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114,7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120,7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129,5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159,2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180,5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5739750"/>
                  </a:ext>
                </a:extLst>
              </a:tr>
              <a:tr h="155594">
                <a:tc>
                  <a:txBody>
                    <a:bodyPr/>
                    <a:lstStyle/>
                    <a:p>
                      <a:pPr algn="l" fontAlgn="b"/>
                      <a:r>
                        <a:rPr lang="de-DE" sz="1000" i="1" u="none" strike="noStrike" dirty="0">
                          <a:effectLst/>
                        </a:rPr>
                        <a:t>Rohertrag-Marge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29,0%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27,9%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26,7%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24,8%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31,8%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80177677"/>
                  </a:ext>
                </a:extLst>
              </a:tr>
              <a:tr h="133014">
                <a:tc>
                  <a:txBody>
                    <a:bodyPr/>
                    <a:lstStyle/>
                    <a:p>
                      <a:pPr algn="l" fontAlgn="b"/>
                      <a:endParaRPr lang="de-DE" sz="5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7657840"/>
                  </a:ext>
                </a:extLst>
              </a:tr>
              <a:tr h="155594">
                <a:tc>
                  <a:txBody>
                    <a:bodyPr/>
                    <a:lstStyle/>
                    <a:p>
                      <a:pPr algn="l" fontAlgn="b"/>
                      <a:r>
                        <a:rPr lang="de-DE" sz="1000" u="none" strike="noStrike" dirty="0">
                          <a:effectLst/>
                        </a:rPr>
                        <a:t>EBITDA</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35,6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34,6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50,8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57,5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88,9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8780237"/>
                  </a:ext>
                </a:extLst>
              </a:tr>
              <a:tr h="155594">
                <a:tc>
                  <a:txBody>
                    <a:bodyPr/>
                    <a:lstStyle/>
                    <a:p>
                      <a:pPr algn="l" fontAlgn="b"/>
                      <a:r>
                        <a:rPr lang="de-DE" sz="1000" i="1" u="none" strike="noStrike" dirty="0">
                          <a:effectLst/>
                        </a:rPr>
                        <a:t>EBITDA-Marge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9,0%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8,0%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10,5%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8,9%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15,7%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6940777"/>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691959"/>
                  </a:ext>
                </a:extLst>
              </a:tr>
              <a:tr h="155594">
                <a:tc>
                  <a:txBody>
                    <a:bodyPr/>
                    <a:lstStyle/>
                    <a:p>
                      <a:pPr algn="l" fontAlgn="b"/>
                      <a:r>
                        <a:rPr lang="de-DE" sz="1000" u="none" strike="noStrike" dirty="0">
                          <a:effectLst/>
                        </a:rPr>
                        <a:t>EBIT</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22,2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20,4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36,3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42,9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73,3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521014"/>
                  </a:ext>
                </a:extLst>
              </a:tr>
              <a:tr h="155594">
                <a:tc>
                  <a:txBody>
                    <a:bodyPr/>
                    <a:lstStyle/>
                    <a:p>
                      <a:pPr algn="l" fontAlgn="b"/>
                      <a:r>
                        <a:rPr lang="de-DE" sz="1000" i="1" u="none" strike="noStrike" dirty="0">
                          <a:effectLst/>
                        </a:rPr>
                        <a:t>EBIT-Marge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5,6%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4,7%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7,5%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6,7%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12,9%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1408400"/>
                  </a:ext>
                </a:extLst>
              </a:tr>
              <a:tr h="11026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11521277"/>
                  </a:ext>
                </a:extLst>
              </a:tr>
              <a:tr h="155594">
                <a:tc>
                  <a:txBody>
                    <a:bodyPr/>
                    <a:lstStyle/>
                    <a:p>
                      <a:pPr algn="l" fontAlgn="b"/>
                      <a:r>
                        <a:rPr lang="de-DE" sz="1000" u="none" strike="noStrike" dirty="0">
                          <a:effectLst/>
                        </a:rPr>
                        <a:t>EAT2)</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43,8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40,7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48,2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70,6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1825720"/>
                  </a:ext>
                </a:extLst>
              </a:tr>
              <a:tr h="155594">
                <a:tc>
                  <a:txBody>
                    <a:bodyPr/>
                    <a:lstStyle/>
                    <a:p>
                      <a:pPr algn="l" fontAlgn="b"/>
                      <a:r>
                        <a:rPr lang="de-DE" sz="1000" i="1" u="none" strike="noStrike" dirty="0">
                          <a:effectLst/>
                        </a:rPr>
                        <a:t>EAT-Marge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11,1%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9,4%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9,9%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11,0%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13,8%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20328416"/>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94493460"/>
                  </a:ext>
                </a:extLst>
              </a:tr>
              <a:tr h="155594">
                <a:tc>
                  <a:txBody>
                    <a:bodyPr/>
                    <a:lstStyle/>
                    <a:p>
                      <a:pPr algn="l" fontAlgn="b"/>
                      <a:r>
                        <a:rPr lang="de-DE" sz="1000" u="none" strike="noStrike" dirty="0">
                          <a:effectLst/>
                        </a:rPr>
                        <a:t>Ausgleichszahlung &amp; Ergebnisabführung</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(43,8)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(40,7)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(48,2)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(60,6)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9687245"/>
                  </a:ext>
                </a:extLst>
              </a:tr>
              <a:tr h="155594">
                <a:tc>
                  <a:txBody>
                    <a:bodyPr/>
                    <a:lstStyle/>
                    <a:p>
                      <a:pPr algn="l" fontAlgn="b"/>
                      <a:r>
                        <a:rPr lang="de-DE" sz="1000" i="0" u="none" strike="noStrike" dirty="0">
                          <a:effectLst/>
                        </a:rPr>
                        <a:t>Einstellung Gewinnrücklagen</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89367826"/>
                  </a:ext>
                </a:extLst>
              </a:tr>
              <a:tr h="77185">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5634789"/>
                  </a:ext>
                </a:extLst>
              </a:tr>
              <a:tr h="155594">
                <a:tc>
                  <a:txBody>
                    <a:bodyPr/>
                    <a:lstStyle/>
                    <a:p>
                      <a:pPr algn="l" fontAlgn="b"/>
                      <a:r>
                        <a:rPr lang="de-DE" sz="1000" b="1" u="none" strike="noStrike" dirty="0">
                          <a:solidFill>
                            <a:schemeClr val="accent1"/>
                          </a:solidFill>
                          <a:effectLst/>
                        </a:rPr>
                        <a:t>Kapitalflussrechnung</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9931059"/>
                  </a:ext>
                </a:extLst>
              </a:tr>
              <a:tr h="155594">
                <a:tc>
                  <a:txBody>
                    <a:bodyPr/>
                    <a:lstStyle/>
                    <a:p>
                      <a:pPr algn="l" fontAlgn="b"/>
                      <a:r>
                        <a:rPr lang="de-DE" sz="1000" u="none" strike="noStrike" dirty="0">
                          <a:effectLst/>
                        </a:rPr>
                        <a:t>Operating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n. v.</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49,0</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78,0</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47,3</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68,2</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92093621"/>
                  </a:ext>
                </a:extLst>
              </a:tr>
              <a:tr h="155594">
                <a:tc>
                  <a:txBody>
                    <a:bodyPr/>
                    <a:lstStyle/>
                    <a:p>
                      <a:pPr algn="l" fontAlgn="b"/>
                      <a:r>
                        <a:rPr lang="de-DE" sz="1000" u="none" strike="noStrike" dirty="0">
                          <a:effectLst/>
                        </a:rPr>
                        <a:t>Investing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(19,5)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(34,0)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4485770"/>
                  </a:ext>
                </a:extLst>
              </a:tr>
              <a:tr h="155594">
                <a:tc>
                  <a:txBody>
                    <a:bodyPr/>
                    <a:lstStyle/>
                    <a:p>
                      <a:pPr algn="l" fontAlgn="b"/>
                      <a:r>
                        <a:rPr lang="de-DE" sz="1000" i="1" u="none" strike="noStrike" dirty="0">
                          <a:effectLst/>
                        </a:rPr>
                        <a:t>Investing / Gesamtleistung</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(0,4%)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4,5%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7,0%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0,9%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2352406"/>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06322164"/>
                  </a:ext>
                </a:extLst>
              </a:tr>
              <a:tr h="155594">
                <a:tc>
                  <a:txBody>
                    <a:bodyPr/>
                    <a:lstStyle/>
                    <a:p>
                      <a:pPr algn="l" fontAlgn="b"/>
                      <a:r>
                        <a:rPr lang="de-DE" sz="1000" u="none" strike="noStrike" dirty="0">
                          <a:effectLst/>
                        </a:rPr>
                        <a:t>Free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n. v.</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29,5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44,0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56,2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63,2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212670"/>
                  </a:ext>
                </a:extLst>
              </a:tr>
              <a:tr h="62238">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42237356"/>
                  </a:ext>
                </a:extLst>
              </a:tr>
              <a:tr h="155594">
                <a:tc>
                  <a:txBody>
                    <a:bodyPr/>
                    <a:lstStyle/>
                    <a:p>
                      <a:pPr algn="l" fontAlgn="b"/>
                      <a:r>
                        <a:rPr lang="de-DE" sz="1000" b="1" u="none" strike="noStrike" dirty="0">
                          <a:solidFill>
                            <a:schemeClr val="accent1"/>
                          </a:solidFill>
                          <a:effectLst/>
                        </a:rPr>
                        <a:t>Bilanzpositionen</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479583"/>
                  </a:ext>
                </a:extLst>
              </a:tr>
              <a:tr h="155594">
                <a:tc>
                  <a:txBody>
                    <a:bodyPr/>
                    <a:lstStyle/>
                    <a:p>
                      <a:pPr algn="l" fontAlgn="b"/>
                      <a:r>
                        <a:rPr lang="de-DE" sz="1000" u="none" strike="noStrike" dirty="0">
                          <a:effectLst/>
                        </a:rPr>
                        <a:t>Kassenbestand</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3,0</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3,6</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30,6</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45,0</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21,5</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9306063"/>
                  </a:ext>
                </a:extLst>
              </a:tr>
              <a:tr h="155594">
                <a:tc>
                  <a:txBody>
                    <a:bodyPr/>
                    <a:lstStyle/>
                    <a:p>
                      <a:pPr algn="l" fontAlgn="b"/>
                      <a:r>
                        <a:rPr lang="nl-NL" sz="1000" u="none" strike="noStrike" dirty="0">
                          <a:effectLst/>
                        </a:rPr>
                        <a:t>Net Debt1)</a:t>
                      </a:r>
                      <a:endParaRPr lang="nl-NL"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71,9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84,4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77,3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75,0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106,9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63316960"/>
                  </a:ext>
                </a:extLst>
              </a:tr>
              <a:tr h="155594">
                <a:tc>
                  <a:txBody>
                    <a:bodyPr/>
                    <a:lstStyle/>
                    <a:p>
                      <a:pPr algn="l" fontAlgn="b"/>
                      <a:r>
                        <a:rPr lang="de-DE" sz="1000" u="none" strike="noStrike" dirty="0">
                          <a:effectLst/>
                        </a:rPr>
                        <a:t>Net Debt / EBITDA</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2,0x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2,4x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1,5x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1,3x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8033316"/>
                  </a:ext>
                </a:extLst>
              </a:tr>
              <a:tr h="155594">
                <a:tc>
                  <a:txBody>
                    <a:bodyPr/>
                    <a:lstStyle/>
                    <a:p>
                      <a:pPr algn="l" fontAlgn="b"/>
                      <a:r>
                        <a:rPr lang="de-DE" sz="1000" i="1" u="none" strike="noStrike" dirty="0">
                          <a:effectLst/>
                        </a:rPr>
                        <a:t>Eigenkapital-Quote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34,6%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30,3%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27,8%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26,3%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27,6%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14058324"/>
                  </a:ext>
                </a:extLst>
              </a:tr>
            </a:tbl>
          </a:graphicData>
        </a:graphic>
      </p:graphicFrame>
      <p:sp>
        <p:nvSpPr>
          <p:cNvPr id="15" name="Text Placeholder 14">
            <a:extLst>
              <a:ext uri="{FF2B5EF4-FFF2-40B4-BE49-F238E27FC236}">
                <a16:creationId xmlns:a16="http://schemas.microsoft.com/office/drawing/2014/main" id="{CB92D090-4A25-4B2F-A895-A4A6416044DC}"/>
              </a:ext>
            </a:extLst>
          </p:cNvPr>
          <p:cNvSpPr>
            <a:spLocks noGrp="1"/>
          </p:cNvSpPr>
          <p:nvPr>
            <p:ph type="body" sz="quarter" idx="14"/>
          </p:nvPr>
        </p:nvSpPr>
        <p:spPr/>
        <p:txBody>
          <a:bodyPr/>
          <a:lstStyle/>
          <a:p>
            <a:r>
              <a:rPr lang="de-DE" dirty="0"/>
              <a:t>Quellen: Metzler-Recherche, Jahres- und Tätigkeitsabschlüsse nach EnWG der ESWE Versorgungs AG 2021–2024, Geschäftsbericht 2025, Unternehmenswebsite</a:t>
            </a:r>
          </a:p>
        </p:txBody>
      </p:sp>
      <p:sp>
        <p:nvSpPr>
          <p:cNvPr id="18" name="Text Placeholder 17">
            <a:extLst>
              <a:ext uri="{FF2B5EF4-FFF2-40B4-BE49-F238E27FC236}">
                <a16:creationId xmlns:a16="http://schemas.microsoft.com/office/drawing/2014/main" id="{E173CC19-12B8-432D-9480-52A4AF9616FD}"/>
              </a:ext>
            </a:extLst>
          </p:cNvPr>
          <p:cNvSpPr>
            <a:spLocks noGrp="1"/>
          </p:cNvSpPr>
          <p:nvPr>
            <p:ph type="body" sz="quarter" idx="19"/>
          </p:nvPr>
        </p:nvSpPr>
        <p:spPr>
          <a:xfrm>
            <a:off x="5562724" y="1620838"/>
            <a:ext cx="4751976" cy="252000"/>
          </a:xfrm>
        </p:spPr>
        <p:txBody>
          <a:bodyPr/>
          <a:lstStyle/>
          <a:p>
            <a:r>
              <a:rPr lang="de-DE" dirty="0"/>
              <a:t>Kommentare</a:t>
            </a:r>
          </a:p>
        </p:txBody>
      </p:sp>
      <p:sp>
        <p:nvSpPr>
          <p:cNvPr id="2" name="Title 1">
            <a:extLst>
              <a:ext uri="{FF2B5EF4-FFF2-40B4-BE49-F238E27FC236}">
                <a16:creationId xmlns:a16="http://schemas.microsoft.com/office/drawing/2014/main" id="{0178CB94-2EA6-4A1F-B8FB-0BD7B0ABA7BE}"/>
              </a:ext>
            </a:extLst>
          </p:cNvPr>
          <p:cNvSpPr>
            <a:spLocks noGrp="1"/>
          </p:cNvSpPr>
          <p:nvPr>
            <p:ph type="title"/>
          </p:nvPr>
        </p:nvSpPr>
        <p:spPr>
          <a:xfrm>
            <a:off x="378700" y="450279"/>
            <a:ext cx="9936000" cy="720000"/>
          </a:xfrm>
        </p:spPr>
        <p:txBody>
          <a:bodyPr vert="horz"/>
          <a:lstStyle/>
          <a:p>
            <a:r>
              <a:rPr lang="de-DE" dirty="0"/>
              <a:t>Rekordergebnis 2024 durch Sondereffekte getragen – nach vollständiger Ergebnisabführung verbleibt kaum Innenfinanzierungskraft für das steigende Investitionsvolumen</a:t>
            </a:r>
          </a:p>
        </p:txBody>
      </p:sp>
      <p:sp>
        <p:nvSpPr>
          <p:cNvPr id="13" name="Text Placeholder 12">
            <a:extLst>
              <a:ext uri="{FF2B5EF4-FFF2-40B4-BE49-F238E27FC236}">
                <a16:creationId xmlns:a16="http://schemas.microsoft.com/office/drawing/2014/main" id="{48103813-CD13-475B-AEE3-0D15CC8B6538}"/>
              </a:ext>
            </a:extLst>
          </p:cNvPr>
          <p:cNvSpPr>
            <a:spLocks noGrp="1"/>
          </p:cNvSpPr>
          <p:nvPr>
            <p:ph type="body" sz="quarter" idx="12"/>
          </p:nvPr>
        </p:nvSpPr>
        <p:spPr>
          <a:xfrm>
            <a:off x="378700" y="1243937"/>
            <a:ext cx="9936000" cy="271120"/>
          </a:xfrm>
        </p:spPr>
        <p:txBody>
          <a:bodyPr/>
          <a:lstStyle/>
          <a:p>
            <a:r>
              <a:rPr lang="de-DE" dirty="0"/>
              <a:t>ESWE Versorgungs AG (Einzelabschluss)</a:t>
            </a:r>
          </a:p>
        </p:txBody>
      </p:sp>
      <p:sp>
        <p:nvSpPr>
          <p:cNvPr id="14" name="Text Placeholder 13">
            <a:extLst>
              <a:ext uri="{FF2B5EF4-FFF2-40B4-BE49-F238E27FC236}">
                <a16:creationId xmlns:a16="http://schemas.microsoft.com/office/drawing/2014/main" id="{F4BC9112-9AF1-42DB-A456-67E9685DEEB2}"/>
              </a:ext>
            </a:extLst>
          </p:cNvPr>
          <p:cNvSpPr>
            <a:spLocks noGrp="1"/>
          </p:cNvSpPr>
          <p:nvPr>
            <p:ph type="body" sz="quarter" idx="13"/>
          </p:nvPr>
        </p:nvSpPr>
        <p:spPr/>
        <p:txBody>
          <a:bodyPr/>
          <a:lstStyle/>
          <a:p>
            <a:r>
              <a:rPr lang="de-DE" dirty="0"/>
              <a:t>2. ESWE Versorgungs AG – Übersicht und Herausforderungen</a:t>
            </a:r>
          </a:p>
        </p:txBody>
      </p:sp>
      <p:sp>
        <p:nvSpPr>
          <p:cNvPr id="16" name="Text Placeholder 15">
            <a:extLst>
              <a:ext uri="{FF2B5EF4-FFF2-40B4-BE49-F238E27FC236}">
                <a16:creationId xmlns:a16="http://schemas.microsoft.com/office/drawing/2014/main" id="{4A8A73EB-3001-418D-A14B-94D954EBF98B}"/>
              </a:ext>
            </a:extLst>
          </p:cNvPr>
          <p:cNvSpPr>
            <a:spLocks noGrp="1"/>
          </p:cNvSpPr>
          <p:nvPr>
            <p:ph type="body" sz="quarter" idx="15"/>
          </p:nvPr>
        </p:nvSpPr>
        <p:spPr>
          <a:xfrm>
            <a:off x="378700" y="6916240"/>
            <a:ext cx="8371857" cy="168344"/>
          </a:xfrm>
        </p:spPr>
        <p:txBody>
          <a:bodyPr/>
          <a:lstStyle/>
          <a:p>
            <a:r>
              <a:rPr lang="de-DE" dirty="0"/>
              <a:t>1) Net Debt = Verbindlichkeiten gegenüber Kreditinstituten + Rückstellungen für Pensionen – Kassenbestand und Guthaben bei Kreditinstituten; 2) Ergebnis nach Steuern vor Ausgleichszahlung an die Thüga AG und Ergebnisabführung an die WVV Wiesbaden Holding GmbH; 3) Der Jahresabschluss 2025 ist noch nicht offengelegt – die im Geschäftsbericht 2025 veröffentlichten Werte sind in den Kommentaren berücksichtigt</a:t>
            </a:r>
          </a:p>
        </p:txBody>
      </p:sp>
      <p:sp>
        <p:nvSpPr>
          <p:cNvPr id="29" name="Content Placeholder 18">
            <a:extLst>
              <a:ext uri="{FF2B5EF4-FFF2-40B4-BE49-F238E27FC236}">
                <a16:creationId xmlns:a16="http://schemas.microsoft.com/office/drawing/2014/main" id="{EF535660-1501-7475-309D-00DEC2DC3654}"/>
              </a:ext>
            </a:extLst>
          </p:cNvPr>
          <p:cNvSpPr txBox="1">
            <a:spLocks/>
          </p:cNvSpPr>
          <p:nvPr/>
        </p:nvSpPr>
        <p:spPr>
          <a:xfrm>
            <a:off x="5562724" y="1911841"/>
            <a:ext cx="4751976" cy="473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rtlCol="0" anchor="t" anchorCtr="0" compatLnSpc="1">
            <a:prstTxWarp prst="textNoShape">
              <a:avLst/>
            </a:prstTxWarp>
            <a:noAutofit/>
          </a:bodyPr>
          <a:lstStyle>
            <a:lvl1pPr marL="174625" indent="-174625" algn="l" defTabSz="1043056" rtl="0" eaLnBrk="1" latinLnBrk="0" hangingPunct="1">
              <a:spcBef>
                <a:spcPts val="0"/>
              </a:spcBef>
              <a:spcAft>
                <a:spcPts val="600"/>
              </a:spcAft>
              <a:buClr>
                <a:srgbClr val="003D7C"/>
              </a:buClr>
              <a:buFont typeface="Wingdings" pitchFamily="2" charset="2"/>
              <a:buChar char="n"/>
              <a:tabLst/>
              <a:defRPr lang="de-DE" sz="1000" b="0" kern="1200" smtClean="0">
                <a:solidFill>
                  <a:schemeClr val="tx1"/>
                </a:solidFill>
                <a:latin typeface="+mn-lt"/>
                <a:ea typeface="+mn-ea"/>
                <a:cs typeface="+mn-cs"/>
              </a:defRPr>
            </a:lvl1pPr>
            <a:lvl2pPr marL="723900" indent="-368300" algn="l" defTabSz="1043056" rtl="0" eaLnBrk="1" latinLnBrk="0" hangingPunct="1">
              <a:spcBef>
                <a:spcPts val="0"/>
              </a:spcBef>
              <a:spcAft>
                <a:spcPts val="600"/>
              </a:spcAft>
              <a:buClr>
                <a:srgbClr val="003D7C"/>
              </a:buClr>
              <a:buFont typeface="Arial" pitchFamily="34" charset="0"/>
              <a:buChar char="–"/>
              <a:defRPr lang="de-DE" sz="1000" kern="1200" smtClean="0">
                <a:solidFill>
                  <a:schemeClr val="tx1"/>
                </a:solidFill>
                <a:latin typeface="+mn-lt"/>
                <a:ea typeface="+mn-ea"/>
                <a:cs typeface="+mn-cs"/>
              </a:defRPr>
            </a:lvl2pPr>
            <a:lvl3pPr marL="990600" indent="-266700" algn="l" defTabSz="1043056" rtl="0" eaLnBrk="1" latinLnBrk="0" hangingPunct="1">
              <a:spcBef>
                <a:spcPts val="0"/>
              </a:spcBef>
              <a:spcAft>
                <a:spcPts val="600"/>
              </a:spcAft>
              <a:buClr>
                <a:srgbClr val="003D7C"/>
              </a:buClr>
              <a:buSzPct val="80000"/>
              <a:buFont typeface="Wingdings" pitchFamily="2" charset="2"/>
              <a:buChar char="n"/>
              <a:defRPr lang="de-DE" sz="1000" kern="1200" smtClean="0">
                <a:solidFill>
                  <a:schemeClr val="tx1"/>
                </a:solidFill>
                <a:latin typeface="+mn-lt"/>
                <a:ea typeface="+mn-ea"/>
                <a:cs typeface="+mn-cs"/>
              </a:defRPr>
            </a:lvl3pPr>
            <a:lvl4pPr marL="1825348" indent="-260764" algn="l" defTabSz="1043056" rtl="0" eaLnBrk="1" latinLnBrk="0" hangingPunct="1">
              <a:spcBef>
                <a:spcPts val="0"/>
              </a:spcBef>
              <a:spcAft>
                <a:spcPts val="600"/>
              </a:spcAft>
              <a:buClr>
                <a:srgbClr val="003D7C"/>
              </a:buClr>
              <a:buFont typeface="Arial" pitchFamily="34" charset="0"/>
              <a:buChar char="–"/>
              <a:defRPr lang="de-DE" sz="1000" kern="1200" smtClean="0">
                <a:solidFill>
                  <a:schemeClr val="tx1"/>
                </a:solidFill>
                <a:latin typeface="+mn-lt"/>
                <a:ea typeface="+mn-ea"/>
                <a:cs typeface="+mn-cs"/>
              </a:defRPr>
            </a:lvl4pPr>
            <a:lvl5pPr marL="2346876" indent="-260764" algn="l" defTabSz="1043056" rtl="0" eaLnBrk="1" latinLnBrk="0" hangingPunct="1">
              <a:spcBef>
                <a:spcPts val="0"/>
              </a:spcBef>
              <a:spcAft>
                <a:spcPts val="600"/>
              </a:spcAft>
              <a:buClr>
                <a:srgbClr val="003D7C"/>
              </a:buClr>
              <a:buFont typeface="Arial" pitchFamily="34" charset="0"/>
              <a:buChar char="»"/>
              <a:defRPr lang="de-DE" sz="1000"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Umsatzerlöse 2023 preisbedingt auf 634,1 Mio. EUR gestiegen, 2024 auf 534,7 Mio. EUR zurückgegangen – bei um 96,7 Mio. EUR niedrigeren Beschaffungskosten</a:t>
            </a:r>
          </a:p>
          <a:p>
            <a:r>
              <a:rPr lang="de-DE" dirty="0"/>
              <a:t>Rohertragsmarge 2024 auf 31,8 % gestiegen; wesentlicher Treiber sind sonstige betriebliche Erträge von 30,3 Mio. EUR, davon 20,6 Mio. EUR aus der Auflösung von Rückstellungen</a:t>
            </a:r>
          </a:p>
          <a:p>
            <a:r>
              <a:rPr lang="de-DE" dirty="0"/>
              <a:t>Das EBITDA 2024 von 88,9 Mio. EUR ist damit sondereffektgetrieben (Vergleich im Wasserkartellverfahren, Auflösung von Krisenrückstellungen); 2025 normalisiert sich das Betriebsergebnis auf 28,7 Mio. EUR</a:t>
            </a:r>
          </a:p>
          <a:p>
            <a:r>
              <a:rPr lang="de-DE" dirty="0"/>
              <a:t>Das Unternehmensergebnis wird über den Ergebnisabführungsvertrag mit der WVV und die Ausgleichszahlung an die Thüga vollständig abgeführt – einzige Thesaurierung der letzten fünf Jahre: 10,0 Mio. EUR in 2023</a:t>
            </a:r>
          </a:p>
          <a:p>
            <a:r>
              <a:rPr lang="de-DE" dirty="0"/>
              <a:t>Operativer Cash Flow schwankt zwischen 47,3 und 78,0 Mio. EUR (Working-Capital- und Preisbremseneffekte); der Finanzierungs-Cash-Flow ist durchgehend negativ und spiegelt im Wesentlichen die Ergebnisabführung (2024: –86,7 Mio. EUR)</a:t>
            </a:r>
          </a:p>
          <a:p>
            <a:r>
              <a:rPr lang="de-DE" dirty="0"/>
              <a:t>Net Debt steigt 2024 auf 106,9 Mio. EUR; 2025 wachsen die Bankverbindlichkeiten auf 124,2 Mio. EUR, während die liquiden Mittel auf 2,5 Mio. EUR fallen – die Eigenkapitalquote wird durch Gesellschaftereinlagen (2023 und 2025 je 10 Mio. EUR) über 25 % gehalten3)</a:t>
            </a:r>
          </a:p>
        </p:txBody>
      </p:sp>
      <p:sp>
        <p:nvSpPr>
          <p:cNvPr id="35" name="Arrow: Right 34">
            <a:extLst>
              <a:ext uri="{FF2B5EF4-FFF2-40B4-BE49-F238E27FC236}">
                <a16:creationId xmlns:a16="http://schemas.microsoft.com/office/drawing/2014/main" id="{99F92C4F-11B0-3AF3-89BA-A49404CD4B44}"/>
              </a:ext>
            </a:extLst>
          </p:cNvPr>
          <p:cNvSpPr/>
          <p:nvPr/>
        </p:nvSpPr>
        <p:spPr>
          <a:xfrm>
            <a:off x="5582527" y="5523110"/>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CE7829CE-73F8-3046-2F5D-85F62722A848}"/>
              </a:ext>
            </a:extLst>
          </p:cNvPr>
          <p:cNvSpPr txBox="1"/>
          <p:nvPr/>
        </p:nvSpPr>
        <p:spPr>
          <a:xfrm>
            <a:off x="5851308" y="5508823"/>
            <a:ext cx="4319928" cy="553998"/>
          </a:xfrm>
          <a:prstGeom prst="rect">
            <a:avLst/>
          </a:prstGeom>
          <a:noFill/>
          <a:ln>
            <a:noFill/>
          </a:ln>
        </p:spPr>
        <p:txBody>
          <a:bodyPr wrap="square" rtlCol="0">
            <a:spAutoFit/>
          </a:bodyPr>
          <a:lstStyle/>
          <a:p>
            <a:r>
              <a:rPr lang="de-DE" sz="1000" b="1" dirty="0">
                <a:solidFill>
                  <a:schemeClr val="accent1"/>
                </a:solidFill>
                <a:latin typeface="+mj-lt"/>
              </a:rPr>
              <a:t>Das steigende Investitionsvolumen scheint bei vollständiger Ergebnisabführung nicht aus dem operativen Cash Flow finanzierbar zu sein – alternative Finanzierungs- und Beteiligungskonzepte können sinnvoll sein</a:t>
            </a:r>
            <a:endParaRPr lang="en-US" sz="1000" b="1" dirty="0">
              <a:solidFill>
                <a:schemeClr val="accent1"/>
              </a:solidFill>
              <a:latin typeface="+mj-lt"/>
            </a:endParaRPr>
          </a:p>
        </p:txBody>
      </p:sp>
      <p:grpSp>
        <p:nvGrpSpPr>
          <p:cNvPr id="4" name="Group 3">
            <a:extLst>
              <a:ext uri="{FF2B5EF4-FFF2-40B4-BE49-F238E27FC236}">
                <a16:creationId xmlns:a16="http://schemas.microsoft.com/office/drawing/2014/main" id="{316D0201-EE0A-F817-43CF-4D97E5E6F5F4}"/>
              </a:ext>
            </a:extLst>
          </p:cNvPr>
          <p:cNvGrpSpPr/>
          <p:nvPr/>
        </p:nvGrpSpPr>
        <p:grpSpPr>
          <a:xfrm>
            <a:off x="2178348" y="2104223"/>
            <a:ext cx="3098502" cy="147572"/>
            <a:chOff x="2178348" y="2120891"/>
            <a:chExt cx="3098502" cy="147572"/>
          </a:xfrm>
        </p:grpSpPr>
        <p:sp>
          <p:nvSpPr>
            <p:cNvPr id="51" name="Rectangle 50">
              <a:extLst>
                <a:ext uri="{FF2B5EF4-FFF2-40B4-BE49-F238E27FC236}">
                  <a16:creationId xmlns:a16="http://schemas.microsoft.com/office/drawing/2014/main" id="{D90636F2-E349-341A-0FFC-17EBFDAED843}"/>
                </a:ext>
              </a:extLst>
            </p:cNvPr>
            <p:cNvSpPr/>
            <p:nvPr/>
          </p:nvSpPr>
          <p:spPr>
            <a:xfrm>
              <a:off x="2245420" y="2120891"/>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6" name="Oval 35">
              <a:extLst>
                <a:ext uri="{FF2B5EF4-FFF2-40B4-BE49-F238E27FC236}">
                  <a16:creationId xmlns:a16="http://schemas.microsoft.com/office/drawing/2014/main" id="{87322EED-F344-43C9-A0F7-8D4EFA97FEF4}"/>
                </a:ext>
              </a:extLst>
            </p:cNvPr>
            <p:cNvSpPr/>
            <p:nvPr/>
          </p:nvSpPr>
          <p:spPr>
            <a:xfrm>
              <a:off x="2178348" y="212091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1</a:t>
              </a:r>
              <a:endParaRPr lang="de-DE" sz="2000" b="1" dirty="0"/>
            </a:p>
          </p:txBody>
        </p:sp>
      </p:grpSp>
      <p:grpSp>
        <p:nvGrpSpPr>
          <p:cNvPr id="12" name="Group 11">
            <a:extLst>
              <a:ext uri="{FF2B5EF4-FFF2-40B4-BE49-F238E27FC236}">
                <a16:creationId xmlns:a16="http://schemas.microsoft.com/office/drawing/2014/main" id="{6836F6BF-5D02-9C76-A3F2-F0CBEDA4CA00}"/>
              </a:ext>
            </a:extLst>
          </p:cNvPr>
          <p:cNvGrpSpPr/>
          <p:nvPr/>
        </p:nvGrpSpPr>
        <p:grpSpPr>
          <a:xfrm>
            <a:off x="2178348" y="3002830"/>
            <a:ext cx="3098502" cy="147547"/>
            <a:chOff x="2178348" y="3004633"/>
            <a:chExt cx="3098502" cy="147547"/>
          </a:xfrm>
        </p:grpSpPr>
        <p:sp>
          <p:nvSpPr>
            <p:cNvPr id="52" name="Rectangle 51">
              <a:extLst>
                <a:ext uri="{FF2B5EF4-FFF2-40B4-BE49-F238E27FC236}">
                  <a16:creationId xmlns:a16="http://schemas.microsoft.com/office/drawing/2014/main" id="{A60829C6-BF01-3687-1727-B27119F19CEE}"/>
                </a:ext>
              </a:extLst>
            </p:cNvPr>
            <p:cNvSpPr/>
            <p:nvPr/>
          </p:nvSpPr>
          <p:spPr>
            <a:xfrm>
              <a:off x="2245420" y="300818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Oval 36">
              <a:extLst>
                <a:ext uri="{FF2B5EF4-FFF2-40B4-BE49-F238E27FC236}">
                  <a16:creationId xmlns:a16="http://schemas.microsoft.com/office/drawing/2014/main" id="{96992721-D855-4765-A391-EBF6AC7CA491}"/>
                </a:ext>
              </a:extLst>
            </p:cNvPr>
            <p:cNvSpPr/>
            <p:nvPr/>
          </p:nvSpPr>
          <p:spPr>
            <a:xfrm>
              <a:off x="2178348" y="300463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2</a:t>
              </a:r>
              <a:endParaRPr lang="de-DE" sz="2000" b="1" dirty="0"/>
            </a:p>
          </p:txBody>
        </p:sp>
      </p:grpSp>
      <p:grpSp>
        <p:nvGrpSpPr>
          <p:cNvPr id="17" name="Group 16">
            <a:extLst>
              <a:ext uri="{FF2B5EF4-FFF2-40B4-BE49-F238E27FC236}">
                <a16:creationId xmlns:a16="http://schemas.microsoft.com/office/drawing/2014/main" id="{1212A469-8830-5C23-1A24-A12BB5CA1518}"/>
              </a:ext>
            </a:extLst>
          </p:cNvPr>
          <p:cNvGrpSpPr/>
          <p:nvPr/>
        </p:nvGrpSpPr>
        <p:grpSpPr>
          <a:xfrm>
            <a:off x="2178348" y="3451547"/>
            <a:ext cx="3098502" cy="147547"/>
            <a:chOff x="2178348" y="4586453"/>
            <a:chExt cx="3098502" cy="147547"/>
          </a:xfrm>
        </p:grpSpPr>
        <p:sp>
          <p:nvSpPr>
            <p:cNvPr id="53" name="Rectangle 52">
              <a:extLst>
                <a:ext uri="{FF2B5EF4-FFF2-40B4-BE49-F238E27FC236}">
                  <a16:creationId xmlns:a16="http://schemas.microsoft.com/office/drawing/2014/main" id="{2D521986-B62A-5C73-0E4F-185A79D3A348}"/>
                </a:ext>
              </a:extLst>
            </p:cNvPr>
            <p:cNvSpPr/>
            <p:nvPr/>
          </p:nvSpPr>
          <p:spPr>
            <a:xfrm>
              <a:off x="2245420" y="459000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8" name="Oval 37">
              <a:extLst>
                <a:ext uri="{FF2B5EF4-FFF2-40B4-BE49-F238E27FC236}">
                  <a16:creationId xmlns:a16="http://schemas.microsoft.com/office/drawing/2014/main" id="{AF297EA2-DF55-4841-87F6-E106DC0C0A3C}"/>
                </a:ext>
              </a:extLst>
            </p:cNvPr>
            <p:cNvSpPr/>
            <p:nvPr/>
          </p:nvSpPr>
          <p:spPr>
            <a:xfrm>
              <a:off x="2178348" y="458645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3</a:t>
              </a:r>
              <a:endParaRPr lang="de-DE" sz="2000" b="1" dirty="0"/>
            </a:p>
          </p:txBody>
        </p:sp>
      </p:grpSp>
      <p:grpSp>
        <p:nvGrpSpPr>
          <p:cNvPr id="19" name="Group 18">
            <a:extLst>
              <a:ext uri="{FF2B5EF4-FFF2-40B4-BE49-F238E27FC236}">
                <a16:creationId xmlns:a16="http://schemas.microsoft.com/office/drawing/2014/main" id="{C2A3F2D9-22F9-2639-3CA1-BAF17510F844}"/>
              </a:ext>
            </a:extLst>
          </p:cNvPr>
          <p:cNvGrpSpPr/>
          <p:nvPr/>
        </p:nvGrpSpPr>
        <p:grpSpPr>
          <a:xfrm>
            <a:off x="2178348" y="4601294"/>
            <a:ext cx="3098502" cy="147547"/>
            <a:chOff x="2178348" y="5292386"/>
            <a:chExt cx="3098502" cy="147547"/>
          </a:xfrm>
        </p:grpSpPr>
        <p:sp>
          <p:nvSpPr>
            <p:cNvPr id="54" name="Rectangle 53">
              <a:extLst>
                <a:ext uri="{FF2B5EF4-FFF2-40B4-BE49-F238E27FC236}">
                  <a16:creationId xmlns:a16="http://schemas.microsoft.com/office/drawing/2014/main" id="{6096200E-1C17-3346-749A-B141A16419CF}"/>
                </a:ext>
              </a:extLst>
            </p:cNvPr>
            <p:cNvSpPr/>
            <p:nvPr/>
          </p:nvSpPr>
          <p:spPr>
            <a:xfrm>
              <a:off x="2245420" y="5295933"/>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9" name="Oval 38">
              <a:extLst>
                <a:ext uri="{FF2B5EF4-FFF2-40B4-BE49-F238E27FC236}">
                  <a16:creationId xmlns:a16="http://schemas.microsoft.com/office/drawing/2014/main" id="{A98A0C14-BA74-43A2-BF3C-E764BA06F032}"/>
                </a:ext>
              </a:extLst>
            </p:cNvPr>
            <p:cNvSpPr/>
            <p:nvPr/>
          </p:nvSpPr>
          <p:spPr>
            <a:xfrm>
              <a:off x="2178348" y="529238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4</a:t>
              </a:r>
              <a:endParaRPr lang="de-DE" sz="2000" b="1" dirty="0"/>
            </a:p>
          </p:txBody>
        </p:sp>
      </p:grpSp>
      <p:grpSp>
        <p:nvGrpSpPr>
          <p:cNvPr id="20" name="Group 19">
            <a:extLst>
              <a:ext uri="{FF2B5EF4-FFF2-40B4-BE49-F238E27FC236}">
                <a16:creationId xmlns:a16="http://schemas.microsoft.com/office/drawing/2014/main" id="{F30FE6EB-02BD-6E3C-6C8C-817128CE99D0}"/>
              </a:ext>
            </a:extLst>
          </p:cNvPr>
          <p:cNvGrpSpPr/>
          <p:nvPr/>
        </p:nvGrpSpPr>
        <p:grpSpPr>
          <a:xfrm>
            <a:off x="2178348" y="6428696"/>
            <a:ext cx="3098502" cy="147547"/>
            <a:chOff x="2178348" y="6422453"/>
            <a:chExt cx="3098502" cy="147547"/>
          </a:xfrm>
        </p:grpSpPr>
        <p:sp>
          <p:nvSpPr>
            <p:cNvPr id="55" name="Rectangle 54">
              <a:extLst>
                <a:ext uri="{FF2B5EF4-FFF2-40B4-BE49-F238E27FC236}">
                  <a16:creationId xmlns:a16="http://schemas.microsoft.com/office/drawing/2014/main" id="{431B63A0-C1CA-C4EE-F63C-E8AFDD26715D}"/>
                </a:ext>
              </a:extLst>
            </p:cNvPr>
            <p:cNvSpPr/>
            <p:nvPr/>
          </p:nvSpPr>
          <p:spPr>
            <a:xfrm>
              <a:off x="2245420" y="642600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0" name="Oval 39">
              <a:extLst>
                <a:ext uri="{FF2B5EF4-FFF2-40B4-BE49-F238E27FC236}">
                  <a16:creationId xmlns:a16="http://schemas.microsoft.com/office/drawing/2014/main" id="{FCB2456E-D366-4112-8E3B-35D259F83A7A}"/>
                </a:ext>
              </a:extLst>
            </p:cNvPr>
            <p:cNvSpPr/>
            <p:nvPr/>
          </p:nvSpPr>
          <p:spPr>
            <a:xfrm>
              <a:off x="2178348" y="642245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6</a:t>
              </a:r>
              <a:endParaRPr lang="de-DE" sz="2000" b="1" dirty="0"/>
            </a:p>
          </p:txBody>
        </p:sp>
      </p:grpSp>
      <p:sp>
        <p:nvSpPr>
          <p:cNvPr id="5" name="Oval 4">
            <a:extLst>
              <a:ext uri="{FF2B5EF4-FFF2-40B4-BE49-F238E27FC236}">
                <a16:creationId xmlns:a16="http://schemas.microsoft.com/office/drawing/2014/main" id="{71E15FEE-5780-3D57-7CD1-8B21E3E07AF9}"/>
              </a:ext>
            </a:extLst>
          </p:cNvPr>
          <p:cNvSpPr/>
          <p:nvPr/>
        </p:nvSpPr>
        <p:spPr>
          <a:xfrm>
            <a:off x="5562724" y="1944898"/>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1</a:t>
            </a:r>
            <a:endParaRPr lang="de-DE" sz="2000" b="1" dirty="0"/>
          </a:p>
        </p:txBody>
      </p:sp>
      <p:sp>
        <p:nvSpPr>
          <p:cNvPr id="6" name="Oval 5">
            <a:extLst>
              <a:ext uri="{FF2B5EF4-FFF2-40B4-BE49-F238E27FC236}">
                <a16:creationId xmlns:a16="http://schemas.microsoft.com/office/drawing/2014/main" id="{4A469A1E-0279-81A1-5BD1-A24EDAC65903}"/>
              </a:ext>
            </a:extLst>
          </p:cNvPr>
          <p:cNvSpPr/>
          <p:nvPr/>
        </p:nvSpPr>
        <p:spPr>
          <a:xfrm>
            <a:off x="5562724" y="2321421"/>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2</a:t>
            </a:r>
            <a:endParaRPr lang="de-DE" sz="2000" b="1" dirty="0"/>
          </a:p>
        </p:txBody>
      </p:sp>
      <p:sp>
        <p:nvSpPr>
          <p:cNvPr id="8" name="Oval 7">
            <a:extLst>
              <a:ext uri="{FF2B5EF4-FFF2-40B4-BE49-F238E27FC236}">
                <a16:creationId xmlns:a16="http://schemas.microsoft.com/office/drawing/2014/main" id="{45132048-FDB8-BEDE-CF45-A44E4C50F701}"/>
              </a:ext>
            </a:extLst>
          </p:cNvPr>
          <p:cNvSpPr/>
          <p:nvPr/>
        </p:nvSpPr>
        <p:spPr>
          <a:xfrm>
            <a:off x="5562724" y="2699548"/>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3</a:t>
            </a:r>
            <a:endParaRPr lang="de-DE" sz="2000" b="1" dirty="0"/>
          </a:p>
        </p:txBody>
      </p:sp>
      <p:sp>
        <p:nvSpPr>
          <p:cNvPr id="9" name="Oval 8">
            <a:extLst>
              <a:ext uri="{FF2B5EF4-FFF2-40B4-BE49-F238E27FC236}">
                <a16:creationId xmlns:a16="http://schemas.microsoft.com/office/drawing/2014/main" id="{0AD5F650-B824-16D9-E841-4EE6BD558B82}"/>
              </a:ext>
            </a:extLst>
          </p:cNvPr>
          <p:cNvSpPr/>
          <p:nvPr/>
        </p:nvSpPr>
        <p:spPr>
          <a:xfrm>
            <a:off x="5551890" y="3240000"/>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4</a:t>
            </a:r>
            <a:endParaRPr lang="de-DE" sz="2000" b="1" dirty="0"/>
          </a:p>
        </p:txBody>
      </p:sp>
      <p:sp>
        <p:nvSpPr>
          <p:cNvPr id="10" name="Oval 9">
            <a:extLst>
              <a:ext uri="{FF2B5EF4-FFF2-40B4-BE49-F238E27FC236}">
                <a16:creationId xmlns:a16="http://schemas.microsoft.com/office/drawing/2014/main" id="{5200E261-9CAE-EC0D-C004-E8194FB25CBE}"/>
              </a:ext>
            </a:extLst>
          </p:cNvPr>
          <p:cNvSpPr/>
          <p:nvPr/>
        </p:nvSpPr>
        <p:spPr>
          <a:xfrm>
            <a:off x="5562724" y="3618329"/>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5</a:t>
            </a:r>
            <a:endParaRPr lang="de-DE" sz="2000" b="1" dirty="0"/>
          </a:p>
        </p:txBody>
      </p:sp>
      <p:grpSp>
        <p:nvGrpSpPr>
          <p:cNvPr id="21" name="Group 20">
            <a:extLst>
              <a:ext uri="{FF2B5EF4-FFF2-40B4-BE49-F238E27FC236}">
                <a16:creationId xmlns:a16="http://schemas.microsoft.com/office/drawing/2014/main" id="{99B065B0-9CA0-5A6F-DE12-2338B38E0583}"/>
              </a:ext>
            </a:extLst>
          </p:cNvPr>
          <p:cNvGrpSpPr/>
          <p:nvPr/>
        </p:nvGrpSpPr>
        <p:grpSpPr>
          <a:xfrm>
            <a:off x="2178348" y="5148783"/>
            <a:ext cx="3098502" cy="147547"/>
            <a:chOff x="2178348" y="5292386"/>
            <a:chExt cx="3098502" cy="147547"/>
          </a:xfrm>
        </p:grpSpPr>
        <p:sp>
          <p:nvSpPr>
            <p:cNvPr id="22" name="Rectangle 21">
              <a:extLst>
                <a:ext uri="{FF2B5EF4-FFF2-40B4-BE49-F238E27FC236}">
                  <a16:creationId xmlns:a16="http://schemas.microsoft.com/office/drawing/2014/main" id="{5669D629-A8FF-D2EE-A9D2-D516DE41EA65}"/>
                </a:ext>
              </a:extLst>
            </p:cNvPr>
            <p:cNvSpPr/>
            <p:nvPr/>
          </p:nvSpPr>
          <p:spPr>
            <a:xfrm>
              <a:off x="2245420" y="5295933"/>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3" name="Oval 22">
              <a:extLst>
                <a:ext uri="{FF2B5EF4-FFF2-40B4-BE49-F238E27FC236}">
                  <a16:creationId xmlns:a16="http://schemas.microsoft.com/office/drawing/2014/main" id="{1BB0BC9C-D76C-9CE5-BB76-BA58F080A9F5}"/>
                </a:ext>
              </a:extLst>
            </p:cNvPr>
            <p:cNvSpPr/>
            <p:nvPr/>
          </p:nvSpPr>
          <p:spPr>
            <a:xfrm>
              <a:off x="2178348" y="529238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5</a:t>
              </a:r>
              <a:endParaRPr lang="de-DE" sz="2000" b="1" dirty="0"/>
            </a:p>
          </p:txBody>
        </p:sp>
      </p:grpSp>
      <p:sp>
        <p:nvSpPr>
          <p:cNvPr id="24" name="Oval 23">
            <a:extLst>
              <a:ext uri="{FF2B5EF4-FFF2-40B4-BE49-F238E27FC236}">
                <a16:creationId xmlns:a16="http://schemas.microsoft.com/office/drawing/2014/main" id="{2270A176-68E6-A31A-EFA8-6DAE1E648100}"/>
              </a:ext>
            </a:extLst>
          </p:cNvPr>
          <p:cNvSpPr/>
          <p:nvPr/>
        </p:nvSpPr>
        <p:spPr>
          <a:xfrm>
            <a:off x="5562724" y="4002182"/>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6</a:t>
            </a:r>
            <a:endParaRPr lang="de-DE" sz="2000" b="1" dirty="0"/>
          </a:p>
        </p:txBody>
      </p:sp>
    </p:spTree>
    <p:extLst>
      <p:ext uri="{BB962C8B-B14F-4D97-AF65-F5344CB8AC3E}">
        <p14:creationId xmlns:p14="http://schemas.microsoft.com/office/powerpoint/2010/main" val="4273685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81618" y="3616322"/>
            <a:ext cx="9900000" cy="2525713"/>
          </a:xfrm>
        </p:spPr>
        <p:txBody>
          <a:bodyPr/>
          <a:lstStyle/>
          <a:p>
            <a:r>
              <a:rPr lang="de-DE" sz="2000" dirty="0"/>
              <a:t>Kapitalflexibilisierung als Option zur Umsetzung zentraler Investitionsthemen</a:t>
            </a:r>
          </a:p>
        </p:txBody>
      </p:sp>
      <p:sp>
        <p:nvSpPr>
          <p:cNvPr id="7" name="Text Placeholder 6"/>
          <p:cNvSpPr>
            <a:spLocks noGrp="1"/>
          </p:cNvSpPr>
          <p:nvPr>
            <p:ph type="body" sz="quarter" idx="10"/>
          </p:nvPr>
        </p:nvSpPr>
        <p:spPr/>
        <p:txBody>
          <a:bodyPr/>
          <a:lstStyle/>
          <a:p>
            <a:r>
              <a:rPr lang="de-DE" dirty="0"/>
              <a:t>3</a:t>
            </a:r>
            <a:endParaRPr lang="en-US" dirty="0"/>
          </a:p>
        </p:txBody>
      </p:sp>
    </p:spTree>
    <p:extLst>
      <p:ext uri="{BB962C8B-B14F-4D97-AF65-F5344CB8AC3E}">
        <p14:creationId xmlns:p14="http://schemas.microsoft.com/office/powerpoint/2010/main" val="2351469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410AD3F2-5A86-48DD-AB34-8ECB4D1EC6F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410AD3F2-5A86-48DD-AB34-8ECB4D1EC6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Freeform: Shape 13">
            <a:extLst>
              <a:ext uri="{FF2B5EF4-FFF2-40B4-BE49-F238E27FC236}">
                <a16:creationId xmlns:a16="http://schemas.microsoft.com/office/drawing/2014/main" id="{50E4037B-E205-94EC-BC2B-54D27E6B255F}"/>
              </a:ext>
            </a:extLst>
          </p:cNvPr>
          <p:cNvSpPr/>
          <p:nvPr/>
        </p:nvSpPr>
        <p:spPr>
          <a:xfrm>
            <a:off x="378700" y="1620837"/>
            <a:ext cx="9936000" cy="2384800"/>
          </a:xfrm>
          <a:custGeom>
            <a:avLst/>
            <a:gdLst>
              <a:gd name="connsiteX0" fmla="*/ 0 w 9936000"/>
              <a:gd name="connsiteY0" fmla="*/ 0 h 2230438"/>
              <a:gd name="connsiteX1" fmla="*/ 9936000 w 9936000"/>
              <a:gd name="connsiteY1" fmla="*/ 0 h 2230438"/>
              <a:gd name="connsiteX2" fmla="*/ 9936000 w 9936000"/>
              <a:gd name="connsiteY2" fmla="*/ 2230438 h 2230438"/>
              <a:gd name="connsiteX3" fmla="*/ 5995066 w 9936000"/>
              <a:gd name="connsiteY3" fmla="*/ 2230438 h 2230438"/>
              <a:gd name="connsiteX4" fmla="*/ 5007188 w 9936000"/>
              <a:gd name="connsiteY4" fmla="*/ 1516985 h 2230438"/>
              <a:gd name="connsiteX5" fmla="*/ 4019311 w 9936000"/>
              <a:gd name="connsiteY5" fmla="*/ 2230438 h 2230438"/>
              <a:gd name="connsiteX6" fmla="*/ 0 w 9936000"/>
              <a:gd name="connsiteY6" fmla="*/ 2230438 h 2230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36000" h="2230438">
                <a:moveTo>
                  <a:pt x="0" y="0"/>
                </a:moveTo>
                <a:lnTo>
                  <a:pt x="9936000" y="0"/>
                </a:lnTo>
                <a:lnTo>
                  <a:pt x="9936000" y="2230438"/>
                </a:lnTo>
                <a:lnTo>
                  <a:pt x="5995066" y="2230438"/>
                </a:lnTo>
                <a:lnTo>
                  <a:pt x="5007188" y="1516985"/>
                </a:lnTo>
                <a:lnTo>
                  <a:pt x="4019311" y="2230438"/>
                </a:lnTo>
                <a:lnTo>
                  <a:pt x="0" y="2230438"/>
                </a:lnTo>
                <a:close/>
              </a:path>
            </a:pathLst>
          </a:custGeom>
          <a:solidFill>
            <a:srgbClr val="ECF3FE"/>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sp>
        <p:nvSpPr>
          <p:cNvPr id="28" name="Rectangle 27">
            <a:extLst>
              <a:ext uri="{FF2B5EF4-FFF2-40B4-BE49-F238E27FC236}">
                <a16:creationId xmlns:a16="http://schemas.microsoft.com/office/drawing/2014/main" id="{C5F8B051-0394-90A5-60FD-C6DA36968DD2}"/>
              </a:ext>
            </a:extLst>
          </p:cNvPr>
          <p:cNvSpPr/>
          <p:nvPr/>
        </p:nvSpPr>
        <p:spPr>
          <a:xfrm>
            <a:off x="378700" y="1620838"/>
            <a:ext cx="9936000" cy="25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bg1"/>
                </a:solidFill>
              </a:rPr>
              <a:t>Grundsätzlich geeignete Segmente für die Beteiligung privater Investoren</a:t>
            </a:r>
          </a:p>
        </p:txBody>
      </p:sp>
      <p:sp>
        <p:nvSpPr>
          <p:cNvPr id="16" name="Freeform: Shape 15">
            <a:extLst>
              <a:ext uri="{FF2B5EF4-FFF2-40B4-BE49-F238E27FC236}">
                <a16:creationId xmlns:a16="http://schemas.microsoft.com/office/drawing/2014/main" id="{607F3E81-1841-CD5E-0725-51FBCF324BEE}"/>
              </a:ext>
            </a:extLst>
          </p:cNvPr>
          <p:cNvSpPr/>
          <p:nvPr/>
        </p:nvSpPr>
        <p:spPr>
          <a:xfrm>
            <a:off x="359098" y="2803436"/>
            <a:ext cx="5814714" cy="1206949"/>
          </a:xfrm>
          <a:custGeom>
            <a:avLst/>
            <a:gdLst>
              <a:gd name="connsiteX0" fmla="*/ 4203079 w 5814714"/>
              <a:gd name="connsiteY0" fmla="*/ 0 h 1206949"/>
              <a:gd name="connsiteX1" fmla="*/ 5814714 w 5814714"/>
              <a:gd name="connsiteY1" fmla="*/ 0 h 1206949"/>
              <a:gd name="connsiteX2" fmla="*/ 4130448 w 5814714"/>
              <a:gd name="connsiteY2" fmla="*/ 1200547 h 1206949"/>
              <a:gd name="connsiteX3" fmla="*/ 4153511 w 5814714"/>
              <a:gd name="connsiteY3" fmla="*/ 1206949 h 1206949"/>
              <a:gd name="connsiteX4" fmla="*/ 0 w 5814714"/>
              <a:gd name="connsiteY4" fmla="*/ 1206949 h 1206949"/>
              <a:gd name="connsiteX5" fmla="*/ 2069400 w 5814714"/>
              <a:gd name="connsiteY5" fmla="*/ 632560 h 1206949"/>
              <a:gd name="connsiteX6" fmla="*/ 2063731 w 5814714"/>
              <a:gd name="connsiteY6" fmla="*/ 630982 h 120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4714" h="1206949">
                <a:moveTo>
                  <a:pt x="4203079" y="0"/>
                </a:moveTo>
                <a:lnTo>
                  <a:pt x="5814714" y="0"/>
                </a:lnTo>
                <a:lnTo>
                  <a:pt x="4130448" y="1200547"/>
                </a:lnTo>
                <a:lnTo>
                  <a:pt x="4153511" y="1206949"/>
                </a:lnTo>
                <a:lnTo>
                  <a:pt x="0" y="1206949"/>
                </a:lnTo>
                <a:lnTo>
                  <a:pt x="2069400" y="632560"/>
                </a:lnTo>
                <a:lnTo>
                  <a:pt x="2063731" y="630982"/>
                </a:lnTo>
                <a:close/>
              </a:path>
            </a:pathLst>
          </a:custGeom>
          <a:gradFill flip="none" rotWithShape="1">
            <a:gsLst>
              <a:gs pos="25000">
                <a:srgbClr val="37689B"/>
              </a:gs>
              <a:gs pos="75000">
                <a:srgbClr val="A5BDD8"/>
              </a:gs>
              <a:gs pos="50000">
                <a:srgbClr val="6C91B8"/>
              </a:gs>
              <a:gs pos="0">
                <a:schemeClr val="accent1"/>
              </a:gs>
              <a:gs pos="100000">
                <a:srgbClr val="EBF4FF"/>
              </a:gs>
            </a:gsLst>
            <a:lin ang="1620000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378700" y="450279"/>
            <a:ext cx="9936000" cy="720000"/>
          </a:xfrm>
        </p:spPr>
        <p:txBody>
          <a:bodyPr vert="horz"/>
          <a:lstStyle/>
          <a:p>
            <a:r>
              <a:rPr lang="de-DE" dirty="0"/>
              <a:t>Die Einbindung von privaten Investoren zur Kapitalflexibilisierung kann eine sinnvolle Struktur sein</a:t>
            </a:r>
            <a:endParaRPr lang="en-GB" dirty="0"/>
          </a:p>
        </p:txBody>
      </p:sp>
      <p:sp>
        <p:nvSpPr>
          <p:cNvPr id="5" name="Text Placeholder 4"/>
          <p:cNvSpPr>
            <a:spLocks noGrp="1"/>
          </p:cNvSpPr>
          <p:nvPr>
            <p:ph type="body" sz="quarter" idx="14"/>
          </p:nvPr>
        </p:nvSpPr>
        <p:spPr/>
        <p:txBody>
          <a:bodyPr/>
          <a:lstStyle/>
          <a:p>
            <a:endParaRPr lang="de-DE" dirty="0"/>
          </a:p>
        </p:txBody>
      </p:sp>
      <p:sp>
        <p:nvSpPr>
          <p:cNvPr id="6" name="Text Placeholder 5"/>
          <p:cNvSpPr>
            <a:spLocks noGrp="1"/>
          </p:cNvSpPr>
          <p:nvPr>
            <p:ph type="body" sz="quarter" idx="15"/>
          </p:nvPr>
        </p:nvSpPr>
        <p:spPr>
          <a:xfrm>
            <a:off x="378700" y="6906137"/>
            <a:ext cx="8371857" cy="168344"/>
          </a:xfrm>
        </p:spPr>
        <p:txBody>
          <a:bodyPr/>
          <a:lstStyle/>
          <a:p>
            <a:endParaRPr lang="de-DE" dirty="0"/>
          </a:p>
        </p:txBody>
      </p:sp>
      <p:sp>
        <p:nvSpPr>
          <p:cNvPr id="8" name="Textplatzhalter 7"/>
          <p:cNvSpPr>
            <a:spLocks noGrp="1"/>
          </p:cNvSpPr>
          <p:nvPr>
            <p:ph type="body" sz="quarter" idx="12"/>
          </p:nvPr>
        </p:nvSpPr>
        <p:spPr>
          <a:xfrm>
            <a:off x="378700" y="1243937"/>
            <a:ext cx="9936000" cy="271120"/>
          </a:xfrm>
        </p:spPr>
        <p:txBody>
          <a:bodyPr/>
          <a:lstStyle/>
          <a:p>
            <a:endParaRPr lang="de-DE" dirty="0"/>
          </a:p>
        </p:txBody>
      </p:sp>
      <p:sp>
        <p:nvSpPr>
          <p:cNvPr id="3" name="Textplatzhalter 2"/>
          <p:cNvSpPr>
            <a:spLocks noGrp="1"/>
          </p:cNvSpPr>
          <p:nvPr>
            <p:ph type="body" sz="quarter" idx="13"/>
          </p:nvPr>
        </p:nvSpPr>
        <p:spPr/>
        <p:txBody>
          <a:bodyPr/>
          <a:lstStyle/>
          <a:p>
            <a:r>
              <a:rPr lang="de-DE" dirty="0"/>
              <a:t>3. </a:t>
            </a:r>
            <a:r>
              <a:rPr lang="de-DE" sz="1000" dirty="0"/>
              <a:t>Kapitalflexibilisierung als Option zur Umsetzung zentraler Investitionsthemen</a:t>
            </a:r>
          </a:p>
          <a:p>
            <a:endParaRPr lang="de-DE" dirty="0"/>
          </a:p>
        </p:txBody>
      </p:sp>
      <p:sp>
        <p:nvSpPr>
          <p:cNvPr id="84" name="Rectangle 83">
            <a:extLst>
              <a:ext uri="{FF2B5EF4-FFF2-40B4-BE49-F238E27FC236}">
                <a16:creationId xmlns:a16="http://schemas.microsoft.com/office/drawing/2014/main" id="{7CFA606C-4FF8-4C8A-A8D1-C87CC0CEE7DB}"/>
              </a:ext>
            </a:extLst>
          </p:cNvPr>
          <p:cNvSpPr/>
          <p:nvPr/>
        </p:nvSpPr>
        <p:spPr>
          <a:xfrm>
            <a:off x="6213800" y="4044039"/>
            <a:ext cx="4104746" cy="2242467"/>
          </a:xfrm>
          <a:prstGeom prst="rect">
            <a:avLst/>
          </a:prstGeom>
          <a:solidFill>
            <a:srgbClr val="F7FBFF"/>
          </a:solidFill>
          <a:ln w="635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t">
            <a:noAutofit/>
          </a:bodyPr>
          <a:lstStyle/>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Einbindung von Investoren führt zu Zufluss von Kaufpreis oder Finanzmittelzufuhr durch Kapitalerhöhung</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Die Beteiligung kann so gestaltet werden, dass das Stadtwerk die operative Kontrolle über den Geschäftsbereich behält</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Freigesetzte Finanzmittel können für strategisch wichtige Projekte innerhalb des Konzerns verwendet werden</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Dekonsolidierung von Schulden bei mehrheitlichen Strukturen möglich</a:t>
            </a:r>
          </a:p>
        </p:txBody>
      </p:sp>
      <p:sp>
        <p:nvSpPr>
          <p:cNvPr id="25" name="Rectangle 24">
            <a:extLst>
              <a:ext uri="{FF2B5EF4-FFF2-40B4-BE49-F238E27FC236}">
                <a16:creationId xmlns:a16="http://schemas.microsoft.com/office/drawing/2014/main" id="{EE99406D-41F8-48F3-929E-73FBAA88737A}"/>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Vorteile der Kapitalflexibilisierung werden genutzt, </a:t>
            </a:r>
            <a:r>
              <a:rPr lang="de-DE" sz="1050" b="1" kern="0" dirty="0">
                <a:solidFill>
                  <a:schemeClr val="accent1"/>
                </a:solidFill>
              </a:rPr>
              <a:t>die operative Leitung des Geschäfts kann beim kommunalen Unternehmen </a:t>
            </a:r>
            <a:r>
              <a:rPr lang="de-DE" sz="1050" b="1" kern="0" dirty="0">
                <a:solidFill>
                  <a:schemeClr val="accent1"/>
                </a:solidFill>
                <a:latin typeface="+mn-lt"/>
              </a:rPr>
              <a:t>verbleiben</a:t>
            </a:r>
          </a:p>
        </p:txBody>
      </p:sp>
      <p:sp>
        <p:nvSpPr>
          <p:cNvPr id="7" name="Isosceles Triangle 6">
            <a:extLst>
              <a:ext uri="{FF2B5EF4-FFF2-40B4-BE49-F238E27FC236}">
                <a16:creationId xmlns:a16="http://schemas.microsoft.com/office/drawing/2014/main" id="{E435DDD5-58B3-4F11-9A74-AE8549027967}"/>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 name="Freeform: Shape 21">
            <a:extLst>
              <a:ext uri="{FF2B5EF4-FFF2-40B4-BE49-F238E27FC236}">
                <a16:creationId xmlns:a16="http://schemas.microsoft.com/office/drawing/2014/main" id="{48890907-67EC-867A-C20F-929833EB0CD3}"/>
              </a:ext>
            </a:extLst>
          </p:cNvPr>
          <p:cNvSpPr/>
          <p:nvPr/>
        </p:nvSpPr>
        <p:spPr>
          <a:xfrm flipH="1">
            <a:off x="4500538" y="2803436"/>
            <a:ext cx="5814714" cy="1206949"/>
          </a:xfrm>
          <a:custGeom>
            <a:avLst/>
            <a:gdLst>
              <a:gd name="connsiteX0" fmla="*/ 5814714 w 5814714"/>
              <a:gd name="connsiteY0" fmla="*/ 0 h 1206949"/>
              <a:gd name="connsiteX1" fmla="*/ 4203079 w 5814714"/>
              <a:gd name="connsiteY1" fmla="*/ 0 h 1206949"/>
              <a:gd name="connsiteX2" fmla="*/ 2063731 w 5814714"/>
              <a:gd name="connsiteY2" fmla="*/ 630982 h 1206949"/>
              <a:gd name="connsiteX3" fmla="*/ 2069400 w 5814714"/>
              <a:gd name="connsiteY3" fmla="*/ 632560 h 1206949"/>
              <a:gd name="connsiteX4" fmla="*/ 0 w 5814714"/>
              <a:gd name="connsiteY4" fmla="*/ 1206949 h 1206949"/>
              <a:gd name="connsiteX5" fmla="*/ 4153511 w 5814714"/>
              <a:gd name="connsiteY5" fmla="*/ 1206949 h 1206949"/>
              <a:gd name="connsiteX6" fmla="*/ 4130448 w 5814714"/>
              <a:gd name="connsiteY6" fmla="*/ 1200547 h 120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4714" h="1206949">
                <a:moveTo>
                  <a:pt x="5814714" y="0"/>
                </a:moveTo>
                <a:lnTo>
                  <a:pt x="4203079" y="0"/>
                </a:lnTo>
                <a:lnTo>
                  <a:pt x="2063731" y="630982"/>
                </a:lnTo>
                <a:lnTo>
                  <a:pt x="2069400" y="632560"/>
                </a:lnTo>
                <a:lnTo>
                  <a:pt x="0" y="1206949"/>
                </a:lnTo>
                <a:lnTo>
                  <a:pt x="4153511" y="1206949"/>
                </a:lnTo>
                <a:lnTo>
                  <a:pt x="4130448" y="1200547"/>
                </a:lnTo>
                <a:close/>
              </a:path>
            </a:pathLst>
          </a:custGeom>
          <a:gradFill flip="none" rotWithShape="1">
            <a:gsLst>
              <a:gs pos="25000">
                <a:srgbClr val="37689B"/>
              </a:gs>
              <a:gs pos="75000">
                <a:srgbClr val="A5BDD8"/>
              </a:gs>
              <a:gs pos="50000">
                <a:srgbClr val="6C91B8"/>
              </a:gs>
              <a:gs pos="0">
                <a:schemeClr val="accent1"/>
              </a:gs>
              <a:gs pos="100000">
                <a:srgbClr val="EBF4FF"/>
              </a:gs>
            </a:gsLst>
            <a:lin ang="1620000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4" name="Oval 93">
            <a:extLst>
              <a:ext uri="{FF2B5EF4-FFF2-40B4-BE49-F238E27FC236}">
                <a16:creationId xmlns:a16="http://schemas.microsoft.com/office/drawing/2014/main" id="{96BB6642-5500-49AC-90EF-7FEADAF62150}"/>
              </a:ext>
            </a:extLst>
          </p:cNvPr>
          <p:cNvSpPr/>
          <p:nvPr/>
        </p:nvSpPr>
        <p:spPr>
          <a:xfrm>
            <a:off x="4126730" y="2702498"/>
            <a:ext cx="2439941" cy="919712"/>
          </a:xfrm>
          <a:prstGeom prst="ellipse">
            <a:avLst/>
          </a:prstGeom>
          <a:solidFill>
            <a:srgbClr val="EBF4FF"/>
          </a:solidFill>
          <a:ln>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algn="ctr"/>
            <a:endParaRPr lang="de-DE" sz="1100" b="1" dirty="0">
              <a:solidFill>
                <a:schemeClr val="accent1"/>
              </a:solidFill>
            </a:endParaRPr>
          </a:p>
        </p:txBody>
      </p:sp>
      <p:sp>
        <p:nvSpPr>
          <p:cNvPr id="118" name="Rechteck 140">
            <a:extLst>
              <a:ext uri="{FF2B5EF4-FFF2-40B4-BE49-F238E27FC236}">
                <a16:creationId xmlns:a16="http://schemas.microsoft.com/office/drawing/2014/main" id="{D248300A-1E21-4579-A703-A3C49F5F690C}"/>
              </a:ext>
            </a:extLst>
          </p:cNvPr>
          <p:cNvSpPr/>
          <p:nvPr/>
        </p:nvSpPr>
        <p:spPr>
          <a:xfrm>
            <a:off x="4730855" y="2836667"/>
            <a:ext cx="1231690" cy="327720"/>
          </a:xfrm>
          <a:prstGeom prst="rect">
            <a:avLst/>
          </a:prstGeom>
        </p:spPr>
        <p:txBody>
          <a:bodyPr wrap="none">
            <a:prstTxWarp prst="textArchUp">
              <a:avLst>
                <a:gd name="adj" fmla="val 11569010"/>
              </a:avLst>
            </a:prstTxWarp>
            <a:spAutoFit/>
          </a:bodyPr>
          <a:lstStyle/>
          <a:p>
            <a:pPr algn="ctr"/>
            <a:r>
              <a:rPr lang="de-DE" sz="1100" b="1" dirty="0">
                <a:solidFill>
                  <a:schemeClr val="accent1"/>
                </a:solidFill>
              </a:rPr>
              <a:t>Vorteile</a:t>
            </a:r>
            <a:endParaRPr lang="en-US" sz="1100" b="1" baseline="30000" dirty="0">
              <a:solidFill>
                <a:schemeClr val="accent1"/>
              </a:solidFill>
            </a:endParaRPr>
          </a:p>
        </p:txBody>
      </p:sp>
      <p:sp>
        <p:nvSpPr>
          <p:cNvPr id="119" name="Rechteck 140">
            <a:extLst>
              <a:ext uri="{FF2B5EF4-FFF2-40B4-BE49-F238E27FC236}">
                <a16:creationId xmlns:a16="http://schemas.microsoft.com/office/drawing/2014/main" id="{59480F89-97D6-41B9-BFFC-CFB3CD75485E}"/>
              </a:ext>
            </a:extLst>
          </p:cNvPr>
          <p:cNvSpPr/>
          <p:nvPr/>
        </p:nvSpPr>
        <p:spPr>
          <a:xfrm>
            <a:off x="4344957" y="2973440"/>
            <a:ext cx="2003487" cy="548686"/>
          </a:xfrm>
          <a:prstGeom prst="rect">
            <a:avLst/>
          </a:prstGeom>
        </p:spPr>
        <p:txBody>
          <a:bodyPr wrap="none">
            <a:prstTxWarp prst="textArchDown">
              <a:avLst>
                <a:gd name="adj" fmla="val 795433"/>
              </a:avLst>
            </a:prstTxWarp>
            <a:spAutoFit/>
          </a:bodyPr>
          <a:lstStyle/>
          <a:p>
            <a:pPr algn="ctr"/>
            <a:r>
              <a:rPr lang="de-DE" sz="1100" b="1" dirty="0">
                <a:solidFill>
                  <a:schemeClr val="accent1"/>
                </a:solidFill>
              </a:rPr>
              <a:t>bei der Aufnahme eines Investors</a:t>
            </a:r>
            <a:endParaRPr lang="en-US" sz="1100" b="1" baseline="30000" dirty="0">
              <a:solidFill>
                <a:schemeClr val="accent1"/>
              </a:solidFill>
            </a:endParaRPr>
          </a:p>
        </p:txBody>
      </p:sp>
      <p:sp>
        <p:nvSpPr>
          <p:cNvPr id="82" name="Rectangle 81">
            <a:extLst>
              <a:ext uri="{FF2B5EF4-FFF2-40B4-BE49-F238E27FC236}">
                <a16:creationId xmlns:a16="http://schemas.microsoft.com/office/drawing/2014/main" id="{62B6CA70-D8DB-4F62-BCD2-D2F3945D8434}"/>
              </a:ext>
            </a:extLst>
          </p:cNvPr>
          <p:cNvSpPr/>
          <p:nvPr/>
        </p:nvSpPr>
        <p:spPr>
          <a:xfrm>
            <a:off x="387982" y="4044039"/>
            <a:ext cx="4103904" cy="2242467"/>
          </a:xfrm>
          <a:prstGeom prst="rect">
            <a:avLst/>
          </a:prstGeom>
          <a:solidFill>
            <a:srgbClr val="F7FBFF"/>
          </a:solidFill>
          <a:ln w="635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t">
            <a:noAutofit/>
          </a:bodyPr>
          <a:lstStyle/>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Signifikanter Capex-Aufwand im Rahmen des „Grünen </a:t>
            </a:r>
            <a:r>
              <a:rPr lang="de-DE" sz="1050" kern="0" dirty="0">
                <a:solidFill>
                  <a:schemeClr val="tx1"/>
                </a:solidFill>
              </a:rPr>
              <a:t>Transformationsprozesses"</a:t>
            </a:r>
            <a:endParaRPr lang="de-DE" sz="1050" kern="0" dirty="0">
              <a:solidFill>
                <a:schemeClr val="tx1"/>
              </a:solidFill>
              <a:latin typeface="+mn-lt"/>
            </a:endParaRP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Externe Investorenaufnahme</a:t>
            </a:r>
            <a:r>
              <a:rPr lang="de-DE" sz="1050" kern="0" dirty="0">
                <a:solidFill>
                  <a:schemeClr val="tx1"/>
                </a:solidFill>
                <a:latin typeface="+mn-lt"/>
              </a:rPr>
              <a:t> ermöglicht, den erforderlichen eigenen Finanzierungsbeitrag, </a:t>
            </a:r>
            <a:r>
              <a:rPr lang="de-DE" sz="1050" kern="0" dirty="0">
                <a:solidFill>
                  <a:schemeClr val="tx1"/>
                </a:solidFill>
              </a:rPr>
              <a:t>zu reduzieren</a:t>
            </a:r>
            <a:endParaRPr lang="de-DE" sz="1050" kern="0" dirty="0">
              <a:solidFill>
                <a:schemeClr val="tx1"/>
              </a:solidFill>
              <a:latin typeface="+mn-lt"/>
            </a:endParaRP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In der Capex-Planung f</a:t>
            </a:r>
            <a:r>
              <a:rPr lang="de-DE" sz="1050" kern="0" dirty="0">
                <a:solidFill>
                  <a:schemeClr val="tx1"/>
                </a:solidFill>
                <a:latin typeface="+mn-lt"/>
              </a:rPr>
              <a:t>reigesetztes Kapital kann für Alternativprojekte genutzt werden</a:t>
            </a:r>
          </a:p>
          <a:p>
            <a:pPr marL="182563" lvl="1" indent="-182563" defTabSz="447675">
              <a:spcAft>
                <a:spcPts val="1400"/>
              </a:spcAft>
              <a:buClr>
                <a:schemeClr val="accent1"/>
              </a:buClr>
              <a:buSzPct val="100000"/>
              <a:buFont typeface="Wingdings" pitchFamily="2" charset="2"/>
              <a:buChar char="n"/>
              <a:tabLst>
                <a:tab pos="1162050" algn="l"/>
              </a:tabLst>
              <a:defRPr/>
            </a:pPr>
            <a:endParaRPr lang="de-DE" sz="1050" kern="0" dirty="0">
              <a:solidFill>
                <a:schemeClr val="tx1"/>
              </a:solidFill>
              <a:latin typeface="+mn-lt"/>
            </a:endParaRPr>
          </a:p>
        </p:txBody>
      </p:sp>
      <p:sp>
        <p:nvSpPr>
          <p:cNvPr id="88" name="Rectangle 87">
            <a:extLst>
              <a:ext uri="{FF2B5EF4-FFF2-40B4-BE49-F238E27FC236}">
                <a16:creationId xmlns:a16="http://schemas.microsoft.com/office/drawing/2014/main" id="{8BE7C0DA-CF80-41AB-AEAF-D1195FC7C53E}"/>
              </a:ext>
            </a:extLst>
          </p:cNvPr>
          <p:cNvSpPr/>
          <p:nvPr/>
        </p:nvSpPr>
        <p:spPr>
          <a:xfrm>
            <a:off x="6213800" y="4044039"/>
            <a:ext cx="4104748" cy="252000"/>
          </a:xfrm>
          <a:prstGeom prst="rect">
            <a:avLst/>
          </a:prstGeom>
          <a:solidFill>
            <a:schemeClr val="accent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24000" rtlCol="0" anchor="ctr"/>
          <a:lstStyle/>
          <a:p>
            <a:pPr algn="ctr"/>
            <a:r>
              <a:rPr lang="de-DE" sz="1100" b="1" dirty="0">
                <a:solidFill>
                  <a:schemeClr val="lt1"/>
                </a:solidFill>
              </a:rPr>
              <a:t>Kaufpreiserlös/Kapitalerhöhung</a:t>
            </a:r>
            <a:endParaRPr lang="en-US" sz="1100" b="1" dirty="0">
              <a:solidFill>
                <a:schemeClr val="lt1"/>
              </a:solidFill>
            </a:endParaRPr>
          </a:p>
        </p:txBody>
      </p:sp>
      <p:sp>
        <p:nvSpPr>
          <p:cNvPr id="89" name="Rectangle 88">
            <a:extLst>
              <a:ext uri="{FF2B5EF4-FFF2-40B4-BE49-F238E27FC236}">
                <a16:creationId xmlns:a16="http://schemas.microsoft.com/office/drawing/2014/main" id="{5104147A-6523-4862-8D00-9058B4275BB4}"/>
              </a:ext>
            </a:extLst>
          </p:cNvPr>
          <p:cNvSpPr/>
          <p:nvPr/>
        </p:nvSpPr>
        <p:spPr>
          <a:xfrm>
            <a:off x="6213802" y="4044039"/>
            <a:ext cx="360000" cy="252000"/>
          </a:xfrm>
          <a:prstGeom prst="rect">
            <a:avLst/>
          </a:prstGeom>
          <a:solidFill>
            <a:schemeClr val="accent6"/>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2</a:t>
            </a:r>
          </a:p>
        </p:txBody>
      </p:sp>
      <p:sp>
        <p:nvSpPr>
          <p:cNvPr id="92" name="Rectangle 91">
            <a:extLst>
              <a:ext uri="{FF2B5EF4-FFF2-40B4-BE49-F238E27FC236}">
                <a16:creationId xmlns:a16="http://schemas.microsoft.com/office/drawing/2014/main" id="{FCD36E35-8061-402F-A838-83FA0FCB99DE}"/>
              </a:ext>
            </a:extLst>
          </p:cNvPr>
          <p:cNvSpPr/>
          <p:nvPr/>
        </p:nvSpPr>
        <p:spPr>
          <a:xfrm>
            <a:off x="387980" y="4044039"/>
            <a:ext cx="4103905" cy="252000"/>
          </a:xfrm>
          <a:prstGeom prst="rect">
            <a:avLst/>
          </a:prstGeom>
          <a:solidFill>
            <a:schemeClr val="accent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24000" rtlCol="0" anchor="ctr"/>
          <a:lstStyle/>
          <a:p>
            <a:pPr algn="ctr"/>
            <a:r>
              <a:rPr lang="de-DE" sz="1100" b="1" dirty="0">
                <a:solidFill>
                  <a:schemeClr val="lt1"/>
                </a:solidFill>
              </a:rPr>
              <a:t>Reduktion Capex-Bedarf</a:t>
            </a:r>
            <a:endParaRPr lang="en-US" sz="1100" b="1" dirty="0"/>
          </a:p>
        </p:txBody>
      </p:sp>
      <p:sp>
        <p:nvSpPr>
          <p:cNvPr id="93" name="Rectangle 92">
            <a:extLst>
              <a:ext uri="{FF2B5EF4-FFF2-40B4-BE49-F238E27FC236}">
                <a16:creationId xmlns:a16="http://schemas.microsoft.com/office/drawing/2014/main" id="{347E5129-4A18-4112-943C-424714B960F9}"/>
              </a:ext>
            </a:extLst>
          </p:cNvPr>
          <p:cNvSpPr/>
          <p:nvPr/>
        </p:nvSpPr>
        <p:spPr>
          <a:xfrm>
            <a:off x="387982" y="4044039"/>
            <a:ext cx="360000" cy="252000"/>
          </a:xfrm>
          <a:prstGeom prst="rect">
            <a:avLst/>
          </a:prstGeom>
          <a:solidFill>
            <a:schemeClr val="accent6"/>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1</a:t>
            </a:r>
          </a:p>
        </p:txBody>
      </p:sp>
      <p:grpSp>
        <p:nvGrpSpPr>
          <p:cNvPr id="18" name="Group 17">
            <a:extLst>
              <a:ext uri="{FF2B5EF4-FFF2-40B4-BE49-F238E27FC236}">
                <a16:creationId xmlns:a16="http://schemas.microsoft.com/office/drawing/2014/main" id="{A3C1A538-A030-73E1-51A6-E44880FA2497}"/>
              </a:ext>
            </a:extLst>
          </p:cNvPr>
          <p:cNvGrpSpPr>
            <a:grpSpLocks noChangeAspect="1"/>
          </p:cNvGrpSpPr>
          <p:nvPr/>
        </p:nvGrpSpPr>
        <p:grpSpPr>
          <a:xfrm>
            <a:off x="1060083" y="2600893"/>
            <a:ext cx="476658" cy="476658"/>
            <a:chOff x="5225245" y="4195346"/>
            <a:chExt cx="634432" cy="634432"/>
          </a:xfrm>
        </p:grpSpPr>
        <p:pic>
          <p:nvPicPr>
            <p:cNvPr id="13" name="Graphic 12">
              <a:extLst>
                <a:ext uri="{FF2B5EF4-FFF2-40B4-BE49-F238E27FC236}">
                  <a16:creationId xmlns:a16="http://schemas.microsoft.com/office/drawing/2014/main" id="{34A42624-C33F-F31F-9FF1-5A5D4E3CAE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5245" y="4195346"/>
              <a:ext cx="634432" cy="634432"/>
            </a:xfrm>
            <a:prstGeom prst="rect">
              <a:avLst/>
            </a:prstGeom>
          </p:spPr>
        </p:pic>
        <p:pic>
          <p:nvPicPr>
            <p:cNvPr id="17" name="Graphic 16">
              <a:extLst>
                <a:ext uri="{FF2B5EF4-FFF2-40B4-BE49-F238E27FC236}">
                  <a16:creationId xmlns:a16="http://schemas.microsoft.com/office/drawing/2014/main" id="{D7613412-9A81-09E2-4059-19A1C8EA61C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41492" y="4297897"/>
              <a:ext cx="175587" cy="175587"/>
            </a:xfrm>
            <a:prstGeom prst="rect">
              <a:avLst/>
            </a:prstGeom>
          </p:spPr>
        </p:pic>
      </p:grpSp>
      <p:sp>
        <p:nvSpPr>
          <p:cNvPr id="19" name="TextBox 18">
            <a:extLst>
              <a:ext uri="{FF2B5EF4-FFF2-40B4-BE49-F238E27FC236}">
                <a16:creationId xmlns:a16="http://schemas.microsoft.com/office/drawing/2014/main" id="{E5962B9F-1D31-28F4-AB00-6D3F0FD58294}"/>
              </a:ext>
            </a:extLst>
          </p:cNvPr>
          <p:cNvSpPr txBox="1"/>
          <p:nvPr/>
        </p:nvSpPr>
        <p:spPr>
          <a:xfrm>
            <a:off x="629026" y="3081539"/>
            <a:ext cx="1338773" cy="246221"/>
          </a:xfrm>
          <a:prstGeom prst="rect">
            <a:avLst/>
          </a:prstGeom>
          <a:noFill/>
        </p:spPr>
        <p:txBody>
          <a:bodyPr wrap="square" rtlCol="0">
            <a:spAutoFit/>
          </a:bodyPr>
          <a:lstStyle/>
          <a:p>
            <a:pPr algn="ctr"/>
            <a:r>
              <a:rPr lang="de-DE" sz="1000" b="1" dirty="0">
                <a:solidFill>
                  <a:schemeClr val="accent1"/>
                </a:solidFill>
              </a:rPr>
              <a:t>Stadtwerk</a:t>
            </a:r>
          </a:p>
        </p:txBody>
      </p:sp>
      <p:pic>
        <p:nvPicPr>
          <p:cNvPr id="21" name="Graphic 20">
            <a:extLst>
              <a:ext uri="{FF2B5EF4-FFF2-40B4-BE49-F238E27FC236}">
                <a16:creationId xmlns:a16="http://schemas.microsoft.com/office/drawing/2014/main" id="{91B76C7F-AE42-5038-1E11-B7E9F81C85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79802" y="2530951"/>
            <a:ext cx="634431" cy="634431"/>
          </a:xfrm>
          <a:prstGeom prst="rect">
            <a:avLst/>
          </a:prstGeom>
        </p:spPr>
      </p:pic>
      <p:pic>
        <p:nvPicPr>
          <p:cNvPr id="24" name="Graphic 23">
            <a:extLst>
              <a:ext uri="{FF2B5EF4-FFF2-40B4-BE49-F238E27FC236}">
                <a16:creationId xmlns:a16="http://schemas.microsoft.com/office/drawing/2014/main" id="{5813F666-75BF-C3BA-BB98-F3AD35F06E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2870" y="1792014"/>
            <a:ext cx="767661" cy="767661"/>
          </a:xfrm>
          <a:prstGeom prst="rect">
            <a:avLst/>
          </a:prstGeom>
        </p:spPr>
      </p:pic>
      <p:sp>
        <p:nvSpPr>
          <p:cNvPr id="31" name="Graphic 28">
            <a:extLst>
              <a:ext uri="{FF2B5EF4-FFF2-40B4-BE49-F238E27FC236}">
                <a16:creationId xmlns:a16="http://schemas.microsoft.com/office/drawing/2014/main" id="{43403EB1-46E9-46B8-CF3B-5B4374FF8C46}"/>
              </a:ext>
            </a:extLst>
          </p:cNvPr>
          <p:cNvSpPr>
            <a:spLocks noChangeAspect="1"/>
          </p:cNvSpPr>
          <p:nvPr/>
        </p:nvSpPr>
        <p:spPr>
          <a:xfrm>
            <a:off x="7362775" y="2141702"/>
            <a:ext cx="540622" cy="539608"/>
          </a:xfrm>
          <a:custGeom>
            <a:avLst/>
            <a:gdLst>
              <a:gd name="connsiteX0" fmla="*/ 345197 w 654152"/>
              <a:gd name="connsiteY0" fmla="*/ 306868 h 652926"/>
              <a:gd name="connsiteX1" fmla="*/ 618560 w 654152"/>
              <a:gd name="connsiteY1" fmla="*/ 306868 h 652926"/>
              <a:gd name="connsiteX2" fmla="*/ 625225 w 654152"/>
              <a:gd name="connsiteY2" fmla="*/ 313331 h 652926"/>
              <a:gd name="connsiteX3" fmla="*/ 654117 w 654152"/>
              <a:gd name="connsiteY3" fmla="*/ 591397 h 652926"/>
              <a:gd name="connsiteX4" fmla="*/ 647493 w 654152"/>
              <a:gd name="connsiteY4" fmla="*/ 598737 h 652926"/>
              <a:gd name="connsiteX5" fmla="*/ 647493 w 654152"/>
              <a:gd name="connsiteY5" fmla="*/ 598748 h 652926"/>
              <a:gd name="connsiteX6" fmla="*/ 533152 w 654152"/>
              <a:gd name="connsiteY6" fmla="*/ 598748 h 652926"/>
              <a:gd name="connsiteX7" fmla="*/ 533152 w 654152"/>
              <a:gd name="connsiteY7" fmla="*/ 613793 h 652926"/>
              <a:gd name="connsiteX8" fmla="*/ 551471 w 654152"/>
              <a:gd name="connsiteY8" fmla="*/ 617916 h 652926"/>
              <a:gd name="connsiteX9" fmla="*/ 551485 w 654152"/>
              <a:gd name="connsiteY9" fmla="*/ 617905 h 652926"/>
              <a:gd name="connsiteX10" fmla="*/ 555592 w 654152"/>
              <a:gd name="connsiteY10" fmla="*/ 627797 h 652926"/>
              <a:gd name="connsiteX11" fmla="*/ 555592 w 654152"/>
              <a:gd name="connsiteY11" fmla="*/ 646250 h 652926"/>
              <a:gd name="connsiteX12" fmla="*/ 548911 w 654152"/>
              <a:gd name="connsiteY12" fmla="*/ 652921 h 652926"/>
              <a:gd name="connsiteX13" fmla="*/ 419944 w 654152"/>
              <a:gd name="connsiteY13" fmla="*/ 652921 h 652926"/>
              <a:gd name="connsiteX14" fmla="*/ 413269 w 654152"/>
              <a:gd name="connsiteY14" fmla="*/ 646244 h 652926"/>
              <a:gd name="connsiteX15" fmla="*/ 413269 w 654152"/>
              <a:gd name="connsiteY15" fmla="*/ 627797 h 652926"/>
              <a:gd name="connsiteX16" fmla="*/ 427270 w 654152"/>
              <a:gd name="connsiteY16" fmla="*/ 613793 h 652926"/>
              <a:gd name="connsiteX17" fmla="*/ 435703 w 654152"/>
              <a:gd name="connsiteY17" fmla="*/ 613793 h 652926"/>
              <a:gd name="connsiteX18" fmla="*/ 435703 w 654152"/>
              <a:gd name="connsiteY18" fmla="*/ 598748 h 652926"/>
              <a:gd name="connsiteX19" fmla="*/ 316262 w 654152"/>
              <a:gd name="connsiteY19" fmla="*/ 598748 h 652926"/>
              <a:gd name="connsiteX20" fmla="*/ 309689 w 654152"/>
              <a:gd name="connsiteY20" fmla="*/ 590886 h 652926"/>
              <a:gd name="connsiteX21" fmla="*/ 338572 w 654152"/>
              <a:gd name="connsiteY21" fmla="*/ 312861 h 652926"/>
              <a:gd name="connsiteX22" fmla="*/ 345194 w 654152"/>
              <a:gd name="connsiteY22" fmla="*/ 306877 h 652926"/>
              <a:gd name="connsiteX23" fmla="*/ 102604 w 654152"/>
              <a:gd name="connsiteY23" fmla="*/ 613799 h 652926"/>
              <a:gd name="connsiteX24" fmla="*/ 88604 w 654152"/>
              <a:gd name="connsiteY24" fmla="*/ 627797 h 652926"/>
              <a:gd name="connsiteX25" fmla="*/ 88604 w 654152"/>
              <a:gd name="connsiteY25" fmla="*/ 646250 h 652926"/>
              <a:gd name="connsiteX26" fmla="*/ 95279 w 654152"/>
              <a:gd name="connsiteY26" fmla="*/ 652926 h 652926"/>
              <a:gd name="connsiteX27" fmla="*/ 186491 w 654152"/>
              <a:gd name="connsiteY27" fmla="*/ 652926 h 652926"/>
              <a:gd name="connsiteX28" fmla="*/ 193165 w 654152"/>
              <a:gd name="connsiteY28" fmla="*/ 646250 h 652926"/>
              <a:gd name="connsiteX29" fmla="*/ 193165 w 654152"/>
              <a:gd name="connsiteY29" fmla="*/ 627797 h 652926"/>
              <a:gd name="connsiteX30" fmla="*/ 189058 w 654152"/>
              <a:gd name="connsiteY30" fmla="*/ 617905 h 652926"/>
              <a:gd name="connsiteX31" fmla="*/ 189044 w 654152"/>
              <a:gd name="connsiteY31" fmla="*/ 617922 h 652926"/>
              <a:gd name="connsiteX32" fmla="*/ 172711 w 654152"/>
              <a:gd name="connsiteY32" fmla="*/ 613799 h 652926"/>
              <a:gd name="connsiteX33" fmla="*/ 162926 w 654152"/>
              <a:gd name="connsiteY33" fmla="*/ 239675 h 652926"/>
              <a:gd name="connsiteX34" fmla="*/ 164308 w 654152"/>
              <a:gd name="connsiteY34" fmla="*/ 238359 h 652926"/>
              <a:gd name="connsiteX35" fmla="*/ 219926 w 654152"/>
              <a:gd name="connsiteY35" fmla="*/ 256628 h 652926"/>
              <a:gd name="connsiteX36" fmla="*/ 222712 w 654152"/>
              <a:gd name="connsiteY36" fmla="*/ 257021 h 652926"/>
              <a:gd name="connsiteX37" fmla="*/ 366055 w 654152"/>
              <a:gd name="connsiteY37" fmla="*/ 246669 h 652926"/>
              <a:gd name="connsiteX38" fmla="*/ 367959 w 654152"/>
              <a:gd name="connsiteY38" fmla="*/ 226380 h 652926"/>
              <a:gd name="connsiteX39" fmla="*/ 229070 w 654152"/>
              <a:gd name="connsiteY39" fmla="*/ 189474 h 652926"/>
              <a:gd name="connsiteX40" fmla="*/ 229070 w 654152"/>
              <a:gd name="connsiteY40" fmla="*/ 189480 h 652926"/>
              <a:gd name="connsiteX41" fmla="*/ 226519 w 654152"/>
              <a:gd name="connsiteY41" fmla="*/ 189321 h 652926"/>
              <a:gd name="connsiteX42" fmla="*/ 168223 w 654152"/>
              <a:gd name="connsiteY42" fmla="*/ 196925 h 652926"/>
              <a:gd name="connsiteX43" fmla="*/ 149213 w 654152"/>
              <a:gd name="connsiteY43" fmla="*/ 183417 h 652926"/>
              <a:gd name="connsiteX44" fmla="*/ 137175 w 654152"/>
              <a:gd name="connsiteY44" fmla="*/ 125885 h 652926"/>
              <a:gd name="connsiteX45" fmla="*/ 137168 w 654152"/>
              <a:gd name="connsiteY45" fmla="*/ 125885 h 652926"/>
              <a:gd name="connsiteX46" fmla="*/ 136165 w 654152"/>
              <a:gd name="connsiteY46" fmla="*/ 123509 h 652926"/>
              <a:gd name="connsiteX47" fmla="*/ 55502 w 654152"/>
              <a:gd name="connsiteY47" fmla="*/ 4550 h 652926"/>
              <a:gd name="connsiteX48" fmla="*/ 36987 w 654152"/>
              <a:gd name="connsiteY48" fmla="*/ 13013 h 652926"/>
              <a:gd name="connsiteX49" fmla="*/ 74469 w 654152"/>
              <a:gd name="connsiteY49" fmla="*/ 151750 h 652926"/>
              <a:gd name="connsiteX50" fmla="*/ 74475 w 654152"/>
              <a:gd name="connsiteY50" fmla="*/ 151750 h 652926"/>
              <a:gd name="connsiteX51" fmla="*/ 75615 w 654152"/>
              <a:gd name="connsiteY51" fmla="*/ 154069 h 652926"/>
              <a:gd name="connsiteX52" fmla="*/ 111345 w 654152"/>
              <a:gd name="connsiteY52" fmla="*/ 200753 h 652926"/>
              <a:gd name="connsiteX53" fmla="*/ 110909 w 654152"/>
              <a:gd name="connsiteY53" fmla="*/ 201692 h 652926"/>
              <a:gd name="connsiteX54" fmla="*/ 109178 w 654152"/>
              <a:gd name="connsiteY54" fmla="*/ 223972 h 652926"/>
              <a:gd name="connsiteX55" fmla="*/ 65664 w 654152"/>
              <a:gd name="connsiteY55" fmla="*/ 262901 h 652926"/>
              <a:gd name="connsiteX56" fmla="*/ 63796 w 654152"/>
              <a:gd name="connsiteY56" fmla="*/ 265234 h 652926"/>
              <a:gd name="connsiteX57" fmla="*/ 1092 w 654152"/>
              <a:gd name="connsiteY57" fmla="*/ 394550 h 652926"/>
              <a:gd name="connsiteX58" fmla="*/ 17710 w 654152"/>
              <a:gd name="connsiteY58" fmla="*/ 406326 h 652926"/>
              <a:gd name="connsiteX59" fmla="*/ 117000 w 654152"/>
              <a:gd name="connsiteY59" fmla="*/ 306618 h 652926"/>
              <a:gd name="connsiteX60" fmla="*/ 109069 w 654152"/>
              <a:gd name="connsiteY60" fmla="*/ 613799 h 652926"/>
              <a:gd name="connsiteX61" fmla="*/ 122364 w 654152"/>
              <a:gd name="connsiteY61" fmla="*/ 613799 h 652926"/>
              <a:gd name="connsiteX62" fmla="*/ 131028 w 654152"/>
              <a:gd name="connsiteY62" fmla="*/ 277127 h 652926"/>
              <a:gd name="connsiteX63" fmla="*/ 143103 w 654152"/>
              <a:gd name="connsiteY63" fmla="*/ 248072 h 652926"/>
              <a:gd name="connsiteX64" fmla="*/ 149798 w 654152"/>
              <a:gd name="connsiteY64" fmla="*/ 246909 h 652926"/>
              <a:gd name="connsiteX65" fmla="*/ 159393 w 654152"/>
              <a:gd name="connsiteY65" fmla="*/ 613811 h 652926"/>
              <a:gd name="connsiteX66" fmla="*/ 122364 w 654152"/>
              <a:gd name="connsiteY66" fmla="*/ 613811 h 652926"/>
              <a:gd name="connsiteX67" fmla="*/ 179162 w 654152"/>
              <a:gd name="connsiteY67" fmla="*/ 627158 h 652926"/>
              <a:gd name="connsiteX68" fmla="*/ 179628 w 654152"/>
              <a:gd name="connsiteY68" fmla="*/ 627338 h 652926"/>
              <a:gd name="connsiteX69" fmla="*/ 179614 w 654152"/>
              <a:gd name="connsiteY69" fmla="*/ 627349 h 652926"/>
              <a:gd name="connsiteX70" fmla="*/ 179809 w 654152"/>
              <a:gd name="connsiteY70" fmla="*/ 639585 h 652926"/>
              <a:gd name="connsiteX71" fmla="*/ 101950 w 654152"/>
              <a:gd name="connsiteY71" fmla="*/ 639585 h 652926"/>
              <a:gd name="connsiteX72" fmla="*/ 102145 w 654152"/>
              <a:gd name="connsiteY72" fmla="*/ 627349 h 652926"/>
              <a:gd name="connsiteX73" fmla="*/ 115528 w 654152"/>
              <a:gd name="connsiteY73" fmla="*/ 627158 h 652926"/>
              <a:gd name="connsiteX74" fmla="*/ 138925 w 654152"/>
              <a:gd name="connsiteY74" fmla="*/ 234734 h 652926"/>
              <a:gd name="connsiteX75" fmla="*/ 122446 w 654152"/>
              <a:gd name="connsiteY75" fmla="*/ 221860 h 652926"/>
              <a:gd name="connsiteX76" fmla="*/ 142685 w 654152"/>
              <a:gd name="connsiteY76" fmla="*/ 195733 h 652926"/>
              <a:gd name="connsiteX77" fmla="*/ 152433 w 654152"/>
              <a:gd name="connsiteY77" fmla="*/ 231070 h 652926"/>
              <a:gd name="connsiteX78" fmla="*/ 138925 w 654152"/>
              <a:gd name="connsiteY78" fmla="*/ 234734 h 652926"/>
              <a:gd name="connsiteX79" fmla="*/ 115487 w 654152"/>
              <a:gd name="connsiteY79" fmla="*/ 236161 h 652926"/>
              <a:gd name="connsiteX80" fmla="*/ 129488 w 654152"/>
              <a:gd name="connsiteY80" fmla="*/ 246113 h 652926"/>
              <a:gd name="connsiteX81" fmla="*/ 108733 w 654152"/>
              <a:gd name="connsiteY81" fmla="*/ 296048 h 652926"/>
              <a:gd name="connsiteX82" fmla="*/ 20865 w 654152"/>
              <a:gd name="connsiteY82" fmla="*/ 384276 h 652926"/>
              <a:gd name="connsiteX83" fmla="*/ 75218 w 654152"/>
              <a:gd name="connsiteY83" fmla="*/ 272186 h 652926"/>
              <a:gd name="connsiteX84" fmla="*/ 171701 w 654152"/>
              <a:gd name="connsiteY84" fmla="*/ 226767 h 652926"/>
              <a:gd name="connsiteX85" fmla="*/ 173300 w 654152"/>
              <a:gd name="connsiteY85" fmla="*/ 209671 h 652926"/>
              <a:gd name="connsiteX86" fmla="*/ 226899 w 654152"/>
              <a:gd name="connsiteY86" fmla="*/ 202679 h 652926"/>
              <a:gd name="connsiteX87" fmla="*/ 347254 w 654152"/>
              <a:gd name="connsiteY87" fmla="*/ 234664 h 652926"/>
              <a:gd name="connsiteX88" fmla="*/ 223055 w 654152"/>
              <a:gd name="connsiteY88" fmla="*/ 243636 h 652926"/>
              <a:gd name="connsiteX89" fmla="*/ 135456 w 654152"/>
              <a:gd name="connsiteY89" fmla="*/ 182802 h 652926"/>
              <a:gd name="connsiteX90" fmla="*/ 119849 w 654152"/>
              <a:gd name="connsiteY90" fmla="*/ 189949 h 652926"/>
              <a:gd name="connsiteX91" fmla="*/ 87004 w 654152"/>
              <a:gd name="connsiteY91" fmla="*/ 147036 h 652926"/>
              <a:gd name="connsiteX92" fmla="*/ 54509 w 654152"/>
              <a:gd name="connsiteY92" fmla="*/ 26775 h 652926"/>
              <a:gd name="connsiteX93" fmla="*/ 124378 w 654152"/>
              <a:gd name="connsiteY93" fmla="*/ 129851 h 652926"/>
              <a:gd name="connsiteX94" fmla="*/ 473221 w 654152"/>
              <a:gd name="connsiteY94" fmla="*/ 63937 h 652926"/>
              <a:gd name="connsiteX95" fmla="*/ 461699 w 654152"/>
              <a:gd name="connsiteY95" fmla="*/ 70559 h 652926"/>
              <a:gd name="connsiteX96" fmla="*/ 450752 w 654152"/>
              <a:gd name="connsiteY96" fmla="*/ 51599 h 652926"/>
              <a:gd name="connsiteX97" fmla="*/ 453201 w 654152"/>
              <a:gd name="connsiteY97" fmla="*/ 42526 h 652926"/>
              <a:gd name="connsiteX98" fmla="*/ 462274 w 654152"/>
              <a:gd name="connsiteY98" fmla="*/ 44975 h 652926"/>
              <a:gd name="connsiteX99" fmla="*/ 442993 w 654152"/>
              <a:gd name="connsiteY99" fmla="*/ 89294 h 652926"/>
              <a:gd name="connsiteX100" fmla="*/ 424033 w 654152"/>
              <a:gd name="connsiteY100" fmla="*/ 78347 h 652926"/>
              <a:gd name="connsiteX101" fmla="*/ 417358 w 654152"/>
              <a:gd name="connsiteY101" fmla="*/ 89869 h 652926"/>
              <a:gd name="connsiteX102" fmla="*/ 436319 w 654152"/>
              <a:gd name="connsiteY102" fmla="*/ 100816 h 652926"/>
              <a:gd name="connsiteX103" fmla="*/ 442993 w 654152"/>
              <a:gd name="connsiteY103" fmla="*/ 89294 h 652926"/>
              <a:gd name="connsiteX104" fmla="*/ 429479 w 654152"/>
              <a:gd name="connsiteY104" fmla="*/ 126356 h 652926"/>
              <a:gd name="connsiteX105" fmla="*/ 429479 w 654152"/>
              <a:gd name="connsiteY105" fmla="*/ 139702 h 652926"/>
              <a:gd name="connsiteX106" fmla="*/ 407591 w 654152"/>
              <a:gd name="connsiteY106" fmla="*/ 139702 h 652926"/>
              <a:gd name="connsiteX107" fmla="*/ 407591 w 654152"/>
              <a:gd name="connsiteY107" fmla="*/ 126356 h 652926"/>
              <a:gd name="connsiteX108" fmla="*/ 436342 w 654152"/>
              <a:gd name="connsiteY108" fmla="*/ 165247 h 652926"/>
              <a:gd name="connsiteX109" fmla="*/ 442964 w 654152"/>
              <a:gd name="connsiteY109" fmla="*/ 176769 h 652926"/>
              <a:gd name="connsiteX110" fmla="*/ 424004 w 654152"/>
              <a:gd name="connsiteY110" fmla="*/ 187717 h 652926"/>
              <a:gd name="connsiteX111" fmla="*/ 414930 w 654152"/>
              <a:gd name="connsiteY111" fmla="*/ 185268 h 652926"/>
              <a:gd name="connsiteX112" fmla="*/ 417379 w 654152"/>
              <a:gd name="connsiteY112" fmla="*/ 176194 h 652926"/>
              <a:gd name="connsiteX113" fmla="*/ 461699 w 654152"/>
              <a:gd name="connsiteY113" fmla="*/ 195502 h 652926"/>
              <a:gd name="connsiteX114" fmla="*/ 470773 w 654152"/>
              <a:gd name="connsiteY114" fmla="*/ 193053 h 652926"/>
              <a:gd name="connsiteX115" fmla="*/ 473222 w 654152"/>
              <a:gd name="connsiteY115" fmla="*/ 202127 h 652926"/>
              <a:gd name="connsiteX116" fmla="*/ 462274 w 654152"/>
              <a:gd name="connsiteY116" fmla="*/ 221087 h 652926"/>
              <a:gd name="connsiteX117" fmla="*/ 453201 w 654152"/>
              <a:gd name="connsiteY117" fmla="*/ 223536 h 652926"/>
              <a:gd name="connsiteX118" fmla="*/ 450752 w 654152"/>
              <a:gd name="connsiteY118" fmla="*/ 214462 h 652926"/>
              <a:gd name="connsiteX119" fmla="*/ 498767 w 654152"/>
              <a:gd name="connsiteY119" fmla="*/ 208987 h 652926"/>
              <a:gd name="connsiteX120" fmla="*/ 512113 w 654152"/>
              <a:gd name="connsiteY120" fmla="*/ 208987 h 652926"/>
              <a:gd name="connsiteX121" fmla="*/ 512113 w 654152"/>
              <a:gd name="connsiteY121" fmla="*/ 230876 h 652926"/>
              <a:gd name="connsiteX122" fmla="*/ 498767 w 654152"/>
              <a:gd name="connsiteY122" fmla="*/ 230876 h 652926"/>
              <a:gd name="connsiteX123" fmla="*/ 537649 w 654152"/>
              <a:gd name="connsiteY123" fmla="*/ 202154 h 652926"/>
              <a:gd name="connsiteX124" fmla="*/ 549171 w 654152"/>
              <a:gd name="connsiteY124" fmla="*/ 195479 h 652926"/>
              <a:gd name="connsiteX125" fmla="*/ 560119 w 654152"/>
              <a:gd name="connsiteY125" fmla="*/ 214439 h 652926"/>
              <a:gd name="connsiteX126" fmla="*/ 548597 w 654152"/>
              <a:gd name="connsiteY126" fmla="*/ 221114 h 652926"/>
              <a:gd name="connsiteX127" fmla="*/ 567906 w 654152"/>
              <a:gd name="connsiteY127" fmla="*/ 176770 h 652926"/>
              <a:gd name="connsiteX128" fmla="*/ 586865 w 654152"/>
              <a:gd name="connsiteY128" fmla="*/ 187717 h 652926"/>
              <a:gd name="connsiteX129" fmla="*/ 595937 w 654152"/>
              <a:gd name="connsiteY129" fmla="*/ 185268 h 652926"/>
              <a:gd name="connsiteX130" fmla="*/ 593489 w 654152"/>
              <a:gd name="connsiteY130" fmla="*/ 176195 h 652926"/>
              <a:gd name="connsiteX131" fmla="*/ 574530 w 654152"/>
              <a:gd name="connsiteY131" fmla="*/ 165247 h 652926"/>
              <a:gd name="connsiteX132" fmla="*/ 565458 w 654152"/>
              <a:gd name="connsiteY132" fmla="*/ 167696 h 652926"/>
              <a:gd name="connsiteX133" fmla="*/ 567906 w 654152"/>
              <a:gd name="connsiteY133" fmla="*/ 176770 h 652926"/>
              <a:gd name="connsiteX134" fmla="*/ 581393 w 654152"/>
              <a:gd name="connsiteY134" fmla="*/ 139709 h 652926"/>
              <a:gd name="connsiteX135" fmla="*/ 581393 w 654152"/>
              <a:gd name="connsiteY135" fmla="*/ 126363 h 652926"/>
              <a:gd name="connsiteX136" fmla="*/ 603283 w 654152"/>
              <a:gd name="connsiteY136" fmla="*/ 126363 h 652926"/>
              <a:gd name="connsiteX137" fmla="*/ 603283 w 654152"/>
              <a:gd name="connsiteY137" fmla="*/ 139709 h 652926"/>
              <a:gd name="connsiteX138" fmla="*/ 574559 w 654152"/>
              <a:gd name="connsiteY138" fmla="*/ 100817 h 652926"/>
              <a:gd name="connsiteX139" fmla="*/ 567883 w 654152"/>
              <a:gd name="connsiteY139" fmla="*/ 89295 h 652926"/>
              <a:gd name="connsiteX140" fmla="*/ 586842 w 654152"/>
              <a:gd name="connsiteY140" fmla="*/ 78348 h 652926"/>
              <a:gd name="connsiteX141" fmla="*/ 593518 w 654152"/>
              <a:gd name="connsiteY141" fmla="*/ 89870 h 652926"/>
              <a:gd name="connsiteX142" fmla="*/ 549180 w 654152"/>
              <a:gd name="connsiteY142" fmla="*/ 70589 h 652926"/>
              <a:gd name="connsiteX143" fmla="*/ 560125 w 654152"/>
              <a:gd name="connsiteY143" fmla="*/ 51629 h 652926"/>
              <a:gd name="connsiteX144" fmla="*/ 548606 w 654152"/>
              <a:gd name="connsiteY144" fmla="*/ 44954 h 652926"/>
              <a:gd name="connsiteX145" fmla="*/ 537659 w 654152"/>
              <a:gd name="connsiteY145" fmla="*/ 63914 h 652926"/>
              <a:gd name="connsiteX146" fmla="*/ 549180 w 654152"/>
              <a:gd name="connsiteY146" fmla="*/ 70589 h 652926"/>
              <a:gd name="connsiteX147" fmla="*/ 512113 w 654152"/>
              <a:gd name="connsiteY147" fmla="*/ 57077 h 652926"/>
              <a:gd name="connsiteX148" fmla="*/ 498767 w 654152"/>
              <a:gd name="connsiteY148" fmla="*/ 57077 h 652926"/>
              <a:gd name="connsiteX149" fmla="*/ 498767 w 654152"/>
              <a:gd name="connsiteY149" fmla="*/ 35186 h 652926"/>
              <a:gd name="connsiteX150" fmla="*/ 512113 w 654152"/>
              <a:gd name="connsiteY150" fmla="*/ 35186 h 652926"/>
              <a:gd name="connsiteX151" fmla="*/ 505438 w 654152"/>
              <a:gd name="connsiteY151" fmla="*/ 75119 h 652926"/>
              <a:gd name="connsiteX152" fmla="*/ 447530 w 654152"/>
              <a:gd name="connsiteY152" fmla="*/ 133027 h 652926"/>
              <a:gd name="connsiteX153" fmla="*/ 505438 w 654152"/>
              <a:gd name="connsiteY153" fmla="*/ 190936 h 652926"/>
              <a:gd name="connsiteX154" fmla="*/ 563347 w 654152"/>
              <a:gd name="connsiteY154" fmla="*/ 133027 h 652926"/>
              <a:gd name="connsiteX155" fmla="*/ 505438 w 654152"/>
              <a:gd name="connsiteY155" fmla="*/ 75119 h 652926"/>
              <a:gd name="connsiteX156" fmla="*/ 536945 w 654152"/>
              <a:gd name="connsiteY156" fmla="*/ 101521 h 652926"/>
              <a:gd name="connsiteX157" fmla="*/ 536945 w 654152"/>
              <a:gd name="connsiteY157" fmla="*/ 164539 h 652926"/>
              <a:gd name="connsiteX158" fmla="*/ 473927 w 654152"/>
              <a:gd name="connsiteY158" fmla="*/ 164539 h 652926"/>
              <a:gd name="connsiteX159" fmla="*/ 473927 w 654152"/>
              <a:gd name="connsiteY159" fmla="*/ 101521 h 652926"/>
              <a:gd name="connsiteX160" fmla="*/ 536945 w 654152"/>
              <a:gd name="connsiteY160" fmla="*/ 101521 h 652926"/>
              <a:gd name="connsiteX161" fmla="*/ 526477 w 654152"/>
              <a:gd name="connsiteY161" fmla="*/ 627152 h 652926"/>
              <a:gd name="connsiteX162" fmla="*/ 426914 w 654152"/>
              <a:gd name="connsiteY162" fmla="*/ 627239 h 652926"/>
              <a:gd name="connsiteX163" fmla="*/ 426616 w 654152"/>
              <a:gd name="connsiteY163" fmla="*/ 627797 h 652926"/>
              <a:gd name="connsiteX164" fmla="*/ 426616 w 654152"/>
              <a:gd name="connsiteY164" fmla="*/ 639574 h 652926"/>
              <a:gd name="connsiteX165" fmla="*/ 542236 w 654152"/>
              <a:gd name="connsiteY165" fmla="*/ 639574 h 652926"/>
              <a:gd name="connsiteX166" fmla="*/ 542041 w 654152"/>
              <a:gd name="connsiteY166" fmla="*/ 627338 h 652926"/>
              <a:gd name="connsiteX167" fmla="*/ 542055 w 654152"/>
              <a:gd name="connsiteY167" fmla="*/ 627326 h 652926"/>
              <a:gd name="connsiteX168" fmla="*/ 526475 w 654152"/>
              <a:gd name="connsiteY168" fmla="*/ 627152 h 652926"/>
              <a:gd name="connsiteX169" fmla="*/ 519802 w 654152"/>
              <a:gd name="connsiteY169" fmla="*/ 598760 h 652926"/>
              <a:gd name="connsiteX170" fmla="*/ 449055 w 654152"/>
              <a:gd name="connsiteY170" fmla="*/ 598760 h 652926"/>
              <a:gd name="connsiteX171" fmla="*/ 449055 w 654152"/>
              <a:gd name="connsiteY171" fmla="*/ 613805 h 652926"/>
              <a:gd name="connsiteX172" fmla="*/ 519802 w 654152"/>
              <a:gd name="connsiteY172" fmla="*/ 613805 h 652926"/>
              <a:gd name="connsiteX173" fmla="*/ 341170 w 654152"/>
              <a:gd name="connsiteY173" fmla="*/ 510732 h 652926"/>
              <a:gd name="connsiteX174" fmla="*/ 335238 w 654152"/>
              <a:gd name="connsiteY174" fmla="*/ 567879 h 652926"/>
              <a:gd name="connsiteX175" fmla="*/ 341811 w 654152"/>
              <a:gd name="connsiteY175" fmla="*/ 575736 h 652926"/>
              <a:gd name="connsiteX176" fmla="*/ 621968 w 654152"/>
              <a:gd name="connsiteY176" fmla="*/ 575736 h 652926"/>
              <a:gd name="connsiteX177" fmla="*/ 621968 w 654152"/>
              <a:gd name="connsiteY177" fmla="*/ 575713 h 652926"/>
              <a:gd name="connsiteX178" fmla="*/ 628586 w 654152"/>
              <a:gd name="connsiteY178" fmla="*/ 568379 h 652926"/>
              <a:gd name="connsiteX179" fmla="*/ 616565 w 654152"/>
              <a:gd name="connsiteY179" fmla="*/ 452606 h 652926"/>
              <a:gd name="connsiteX180" fmla="*/ 616461 w 654152"/>
              <a:gd name="connsiteY180" fmla="*/ 451625 h 652926"/>
              <a:gd name="connsiteX181" fmla="*/ 604481 w 654152"/>
              <a:gd name="connsiteY181" fmla="*/ 336353 h 652926"/>
              <a:gd name="connsiteX182" fmla="*/ 597804 w 654152"/>
              <a:gd name="connsiteY182" fmla="*/ 329891 h 652926"/>
              <a:gd name="connsiteX183" fmla="*/ 365949 w 654152"/>
              <a:gd name="connsiteY183" fmla="*/ 329891 h 652926"/>
              <a:gd name="connsiteX184" fmla="*/ 365949 w 654152"/>
              <a:gd name="connsiteY184" fmla="*/ 329904 h 652926"/>
              <a:gd name="connsiteX185" fmla="*/ 359327 w 654152"/>
              <a:gd name="connsiteY185" fmla="*/ 335888 h 652926"/>
              <a:gd name="connsiteX186" fmla="*/ 353336 w 654152"/>
              <a:gd name="connsiteY186" fmla="*/ 393512 h 652926"/>
              <a:gd name="connsiteX187" fmla="*/ 353234 w 654152"/>
              <a:gd name="connsiteY187" fmla="*/ 394464 h 652926"/>
              <a:gd name="connsiteX188" fmla="*/ 347295 w 654152"/>
              <a:gd name="connsiteY188" fmla="*/ 451632 h 652926"/>
              <a:gd name="connsiteX189" fmla="*/ 347194 w 654152"/>
              <a:gd name="connsiteY189" fmla="*/ 452600 h 652926"/>
              <a:gd name="connsiteX190" fmla="*/ 341255 w 654152"/>
              <a:gd name="connsiteY190" fmla="*/ 509752 h 652926"/>
              <a:gd name="connsiteX191" fmla="*/ 341169 w 654152"/>
              <a:gd name="connsiteY191" fmla="*/ 510735 h 652926"/>
              <a:gd name="connsiteX192" fmla="*/ 355230 w 654152"/>
              <a:gd name="connsiteY192" fmla="*/ 504262 h 652926"/>
              <a:gd name="connsiteX193" fmla="*/ 408545 w 654152"/>
              <a:gd name="connsiteY193" fmla="*/ 504262 h 652926"/>
              <a:gd name="connsiteX194" fmla="*/ 410871 w 654152"/>
              <a:gd name="connsiteY194" fmla="*/ 459489 h 652926"/>
              <a:gd name="connsiteX195" fmla="*/ 359882 w 654152"/>
              <a:gd name="connsiteY195" fmla="*/ 459489 h 652926"/>
              <a:gd name="connsiteX196" fmla="*/ 421877 w 654152"/>
              <a:gd name="connsiteY196" fmla="*/ 504262 h 652926"/>
              <a:gd name="connsiteX197" fmla="*/ 475205 w 654152"/>
              <a:gd name="connsiteY197" fmla="*/ 504262 h 652926"/>
              <a:gd name="connsiteX198" fmla="*/ 475205 w 654152"/>
              <a:gd name="connsiteY198" fmla="*/ 459489 h 652926"/>
              <a:gd name="connsiteX199" fmla="*/ 424196 w 654152"/>
              <a:gd name="connsiteY199" fmla="*/ 459489 h 652926"/>
              <a:gd name="connsiteX200" fmla="*/ 488553 w 654152"/>
              <a:gd name="connsiteY200" fmla="*/ 504262 h 652926"/>
              <a:gd name="connsiteX201" fmla="*/ 541881 w 654152"/>
              <a:gd name="connsiteY201" fmla="*/ 504262 h 652926"/>
              <a:gd name="connsiteX202" fmla="*/ 539555 w 654152"/>
              <a:gd name="connsiteY202" fmla="*/ 459489 h 652926"/>
              <a:gd name="connsiteX203" fmla="*/ 488546 w 654152"/>
              <a:gd name="connsiteY203" fmla="*/ 459489 h 652926"/>
              <a:gd name="connsiteX204" fmla="*/ 488543 w 654152"/>
              <a:gd name="connsiteY204" fmla="*/ 504262 h 652926"/>
              <a:gd name="connsiteX205" fmla="*/ 555223 w 654152"/>
              <a:gd name="connsiteY205" fmla="*/ 504262 h 652926"/>
              <a:gd name="connsiteX206" fmla="*/ 608540 w 654152"/>
              <a:gd name="connsiteY206" fmla="*/ 504262 h 652926"/>
              <a:gd name="connsiteX207" fmla="*/ 603887 w 654152"/>
              <a:gd name="connsiteY207" fmla="*/ 459489 h 652926"/>
              <a:gd name="connsiteX208" fmla="*/ 552897 w 654152"/>
              <a:gd name="connsiteY208" fmla="*/ 459489 h 652926"/>
              <a:gd name="connsiteX209" fmla="*/ 609924 w 654152"/>
              <a:gd name="connsiteY209" fmla="*/ 517608 h 652926"/>
              <a:gd name="connsiteX210" fmla="*/ 555920 w 654152"/>
              <a:gd name="connsiteY210" fmla="*/ 517608 h 652926"/>
              <a:gd name="connsiteX211" fmla="*/ 558246 w 654152"/>
              <a:gd name="connsiteY211" fmla="*/ 562383 h 652926"/>
              <a:gd name="connsiteX212" fmla="*/ 614576 w 654152"/>
              <a:gd name="connsiteY212" fmla="*/ 562383 h 652926"/>
              <a:gd name="connsiteX213" fmla="*/ 542581 w 654152"/>
              <a:gd name="connsiteY213" fmla="*/ 517608 h 652926"/>
              <a:gd name="connsiteX214" fmla="*/ 488555 w 654152"/>
              <a:gd name="connsiteY214" fmla="*/ 517608 h 652926"/>
              <a:gd name="connsiteX215" fmla="*/ 488555 w 654152"/>
              <a:gd name="connsiteY215" fmla="*/ 562383 h 652926"/>
              <a:gd name="connsiteX216" fmla="*/ 544907 w 654152"/>
              <a:gd name="connsiteY216" fmla="*/ 562383 h 652926"/>
              <a:gd name="connsiteX217" fmla="*/ 475207 w 654152"/>
              <a:gd name="connsiteY217" fmla="*/ 517608 h 652926"/>
              <a:gd name="connsiteX218" fmla="*/ 421181 w 654152"/>
              <a:gd name="connsiteY218" fmla="*/ 517608 h 652926"/>
              <a:gd name="connsiteX219" fmla="*/ 418855 w 654152"/>
              <a:gd name="connsiteY219" fmla="*/ 562383 h 652926"/>
              <a:gd name="connsiteX220" fmla="*/ 475207 w 654152"/>
              <a:gd name="connsiteY220" fmla="*/ 562383 h 652926"/>
              <a:gd name="connsiteX221" fmla="*/ 407851 w 654152"/>
              <a:gd name="connsiteY221" fmla="*/ 517608 h 652926"/>
              <a:gd name="connsiteX222" fmla="*/ 353845 w 654152"/>
              <a:gd name="connsiteY222" fmla="*/ 517608 h 652926"/>
              <a:gd name="connsiteX223" fmla="*/ 349192 w 654152"/>
              <a:gd name="connsiteY223" fmla="*/ 562383 h 652926"/>
              <a:gd name="connsiteX224" fmla="*/ 405524 w 654152"/>
              <a:gd name="connsiteY224" fmla="*/ 562383 h 652926"/>
              <a:gd name="connsiteX225" fmla="*/ 367309 w 654152"/>
              <a:gd name="connsiteY225" fmla="*/ 388013 h 652926"/>
              <a:gd name="connsiteX226" fmla="*/ 414591 w 654152"/>
              <a:gd name="connsiteY226" fmla="*/ 388013 h 652926"/>
              <a:gd name="connsiteX227" fmla="*/ 416917 w 654152"/>
              <a:gd name="connsiteY227" fmla="*/ 343240 h 652926"/>
              <a:gd name="connsiteX228" fmla="*/ 371969 w 654152"/>
              <a:gd name="connsiteY228" fmla="*/ 343240 h 652926"/>
              <a:gd name="connsiteX229" fmla="*/ 427914 w 654152"/>
              <a:gd name="connsiteY229" fmla="*/ 388013 h 652926"/>
              <a:gd name="connsiteX230" fmla="*/ 475209 w 654152"/>
              <a:gd name="connsiteY230" fmla="*/ 388013 h 652926"/>
              <a:gd name="connsiteX231" fmla="*/ 475209 w 654152"/>
              <a:gd name="connsiteY231" fmla="*/ 343240 h 652926"/>
              <a:gd name="connsiteX232" fmla="*/ 430240 w 654152"/>
              <a:gd name="connsiteY232" fmla="*/ 343240 h 652926"/>
              <a:gd name="connsiteX233" fmla="*/ 488559 w 654152"/>
              <a:gd name="connsiteY233" fmla="*/ 388013 h 652926"/>
              <a:gd name="connsiteX234" fmla="*/ 535854 w 654152"/>
              <a:gd name="connsiteY234" fmla="*/ 388013 h 652926"/>
              <a:gd name="connsiteX235" fmla="*/ 533528 w 654152"/>
              <a:gd name="connsiteY235" fmla="*/ 343240 h 652926"/>
              <a:gd name="connsiteX236" fmla="*/ 488559 w 654152"/>
              <a:gd name="connsiteY236" fmla="*/ 343240 h 652926"/>
              <a:gd name="connsiteX237" fmla="*/ 549187 w 654152"/>
              <a:gd name="connsiteY237" fmla="*/ 388013 h 652926"/>
              <a:gd name="connsiteX238" fmla="*/ 596461 w 654152"/>
              <a:gd name="connsiteY238" fmla="*/ 388013 h 652926"/>
              <a:gd name="connsiteX239" fmla="*/ 591808 w 654152"/>
              <a:gd name="connsiteY239" fmla="*/ 343240 h 652926"/>
              <a:gd name="connsiteX240" fmla="*/ 546854 w 654152"/>
              <a:gd name="connsiteY240" fmla="*/ 343240 h 652926"/>
              <a:gd name="connsiteX241" fmla="*/ 597845 w 654152"/>
              <a:gd name="connsiteY241" fmla="*/ 401362 h 652926"/>
              <a:gd name="connsiteX242" fmla="*/ 549875 w 654152"/>
              <a:gd name="connsiteY242" fmla="*/ 401362 h 652926"/>
              <a:gd name="connsiteX243" fmla="*/ 552202 w 654152"/>
              <a:gd name="connsiteY243" fmla="*/ 446135 h 652926"/>
              <a:gd name="connsiteX244" fmla="*/ 602497 w 654152"/>
              <a:gd name="connsiteY244" fmla="*/ 446135 h 652926"/>
              <a:gd name="connsiteX245" fmla="*/ 536551 w 654152"/>
              <a:gd name="connsiteY245" fmla="*/ 401362 h 652926"/>
              <a:gd name="connsiteX246" fmla="*/ 488565 w 654152"/>
              <a:gd name="connsiteY246" fmla="*/ 401362 h 652926"/>
              <a:gd name="connsiteX247" fmla="*/ 488565 w 654152"/>
              <a:gd name="connsiteY247" fmla="*/ 446135 h 652926"/>
              <a:gd name="connsiteX248" fmla="*/ 538877 w 654152"/>
              <a:gd name="connsiteY248" fmla="*/ 446135 h 652926"/>
              <a:gd name="connsiteX249" fmla="*/ 475208 w 654152"/>
              <a:gd name="connsiteY249" fmla="*/ 401362 h 652926"/>
              <a:gd name="connsiteX250" fmla="*/ 427222 w 654152"/>
              <a:gd name="connsiteY250" fmla="*/ 401362 h 652926"/>
              <a:gd name="connsiteX251" fmla="*/ 424896 w 654152"/>
              <a:gd name="connsiteY251" fmla="*/ 446135 h 652926"/>
              <a:gd name="connsiteX252" fmla="*/ 475208 w 654152"/>
              <a:gd name="connsiteY252" fmla="*/ 446135 h 652926"/>
              <a:gd name="connsiteX253" fmla="*/ 413888 w 654152"/>
              <a:gd name="connsiteY253" fmla="*/ 401362 h 652926"/>
              <a:gd name="connsiteX254" fmla="*/ 365922 w 654152"/>
              <a:gd name="connsiteY254" fmla="*/ 401362 h 652926"/>
              <a:gd name="connsiteX255" fmla="*/ 361270 w 654152"/>
              <a:gd name="connsiteY255" fmla="*/ 446135 h 652926"/>
              <a:gd name="connsiteX256" fmla="*/ 411568 w 654152"/>
              <a:gd name="connsiteY256" fmla="*/ 446135 h 652926"/>
              <a:gd name="connsiteX257" fmla="*/ 612558 w 654152"/>
              <a:gd name="connsiteY257" fmla="*/ 320216 h 652926"/>
              <a:gd name="connsiteX258" fmla="*/ 351201 w 654152"/>
              <a:gd name="connsiteY258" fmla="*/ 320216 h 652926"/>
              <a:gd name="connsiteX259" fmla="*/ 323650 w 654152"/>
              <a:gd name="connsiteY259" fmla="*/ 585407 h 652926"/>
              <a:gd name="connsiteX260" fmla="*/ 640107 w 654152"/>
              <a:gd name="connsiteY260" fmla="*/ 585407 h 65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654152" h="652926">
                <a:moveTo>
                  <a:pt x="345197" y="306868"/>
                </a:moveTo>
                <a:lnTo>
                  <a:pt x="618560" y="306868"/>
                </a:lnTo>
                <a:cubicBezTo>
                  <a:pt x="622172" y="306868"/>
                  <a:pt x="625114" y="309746"/>
                  <a:pt x="625225" y="313331"/>
                </a:cubicBezTo>
                <a:lnTo>
                  <a:pt x="654117" y="591397"/>
                </a:lnTo>
                <a:cubicBezTo>
                  <a:pt x="654524" y="595311"/>
                  <a:pt x="651413" y="598731"/>
                  <a:pt x="647493" y="598737"/>
                </a:cubicBezTo>
                <a:lnTo>
                  <a:pt x="647493" y="598748"/>
                </a:lnTo>
                <a:lnTo>
                  <a:pt x="533152" y="598748"/>
                </a:lnTo>
                <a:lnTo>
                  <a:pt x="533152" y="613793"/>
                </a:lnTo>
                <a:cubicBezTo>
                  <a:pt x="540253" y="613793"/>
                  <a:pt x="546498" y="612799"/>
                  <a:pt x="551471" y="617916"/>
                </a:cubicBezTo>
                <a:lnTo>
                  <a:pt x="551485" y="617905"/>
                </a:lnTo>
                <a:cubicBezTo>
                  <a:pt x="554023" y="620440"/>
                  <a:pt x="555592" y="623941"/>
                  <a:pt x="555592" y="627797"/>
                </a:cubicBezTo>
                <a:lnTo>
                  <a:pt x="555592" y="646250"/>
                </a:lnTo>
                <a:cubicBezTo>
                  <a:pt x="555592" y="649931"/>
                  <a:pt x="552605" y="652921"/>
                  <a:pt x="548911" y="652921"/>
                </a:cubicBezTo>
                <a:lnTo>
                  <a:pt x="419944" y="652921"/>
                </a:lnTo>
                <a:cubicBezTo>
                  <a:pt x="416259" y="652921"/>
                  <a:pt x="413269" y="649931"/>
                  <a:pt x="413269" y="646244"/>
                </a:cubicBezTo>
                <a:lnTo>
                  <a:pt x="413269" y="627797"/>
                </a:lnTo>
                <a:cubicBezTo>
                  <a:pt x="413269" y="620080"/>
                  <a:pt x="419587" y="613793"/>
                  <a:pt x="427270" y="613793"/>
                </a:cubicBezTo>
                <a:lnTo>
                  <a:pt x="435703" y="613793"/>
                </a:lnTo>
                <a:lnTo>
                  <a:pt x="435703" y="598748"/>
                </a:lnTo>
                <a:lnTo>
                  <a:pt x="316262" y="598748"/>
                </a:lnTo>
                <a:cubicBezTo>
                  <a:pt x="312234" y="598748"/>
                  <a:pt x="309065" y="595305"/>
                  <a:pt x="309689" y="590886"/>
                </a:cubicBezTo>
                <a:lnTo>
                  <a:pt x="338572" y="312861"/>
                </a:lnTo>
                <a:cubicBezTo>
                  <a:pt x="338922" y="309431"/>
                  <a:pt x="341821" y="306877"/>
                  <a:pt x="345194" y="306877"/>
                </a:cubicBezTo>
                <a:close/>
                <a:moveTo>
                  <a:pt x="102604" y="613799"/>
                </a:moveTo>
                <a:cubicBezTo>
                  <a:pt x="94921" y="613799"/>
                  <a:pt x="88604" y="620092"/>
                  <a:pt x="88604" y="627797"/>
                </a:cubicBezTo>
                <a:lnTo>
                  <a:pt x="88604" y="646250"/>
                </a:lnTo>
                <a:cubicBezTo>
                  <a:pt x="88604" y="649937"/>
                  <a:pt x="91591" y="652926"/>
                  <a:pt x="95279" y="652926"/>
                </a:cubicBezTo>
                <a:lnTo>
                  <a:pt x="186491" y="652926"/>
                </a:lnTo>
                <a:cubicBezTo>
                  <a:pt x="190175" y="652926"/>
                  <a:pt x="193165" y="649937"/>
                  <a:pt x="193165" y="646250"/>
                </a:cubicBezTo>
                <a:lnTo>
                  <a:pt x="193165" y="627797"/>
                </a:lnTo>
                <a:cubicBezTo>
                  <a:pt x="193165" y="623941"/>
                  <a:pt x="191589" y="620435"/>
                  <a:pt x="189058" y="617905"/>
                </a:cubicBezTo>
                <a:lnTo>
                  <a:pt x="189044" y="617922"/>
                </a:lnTo>
                <a:cubicBezTo>
                  <a:pt x="184319" y="613055"/>
                  <a:pt x="178880" y="613799"/>
                  <a:pt x="172711" y="613799"/>
                </a:cubicBezTo>
                <a:lnTo>
                  <a:pt x="162926" y="239675"/>
                </a:lnTo>
                <a:cubicBezTo>
                  <a:pt x="163399" y="239252"/>
                  <a:pt x="163858" y="238816"/>
                  <a:pt x="164308" y="238359"/>
                </a:cubicBezTo>
                <a:lnTo>
                  <a:pt x="219926" y="256628"/>
                </a:lnTo>
                <a:cubicBezTo>
                  <a:pt x="220792" y="256949"/>
                  <a:pt x="221730" y="257094"/>
                  <a:pt x="222712" y="257021"/>
                </a:cubicBezTo>
                <a:lnTo>
                  <a:pt x="366055" y="246669"/>
                </a:lnTo>
                <a:cubicBezTo>
                  <a:pt x="377577" y="245840"/>
                  <a:pt x="379183" y="229361"/>
                  <a:pt x="367959" y="226380"/>
                </a:cubicBezTo>
                <a:lnTo>
                  <a:pt x="229070" y="189474"/>
                </a:lnTo>
                <a:lnTo>
                  <a:pt x="229070" y="189480"/>
                </a:lnTo>
                <a:cubicBezTo>
                  <a:pt x="228264" y="189269"/>
                  <a:pt x="227398" y="189203"/>
                  <a:pt x="226519" y="189321"/>
                </a:cubicBezTo>
                <a:lnTo>
                  <a:pt x="168223" y="196925"/>
                </a:lnTo>
                <a:cubicBezTo>
                  <a:pt x="163766" y="190259"/>
                  <a:pt x="157051" y="185468"/>
                  <a:pt x="149213" y="183417"/>
                </a:cubicBezTo>
                <a:lnTo>
                  <a:pt x="137175" y="125885"/>
                </a:lnTo>
                <a:lnTo>
                  <a:pt x="137168" y="125885"/>
                </a:lnTo>
                <a:cubicBezTo>
                  <a:pt x="136993" y="125056"/>
                  <a:pt x="136667" y="124256"/>
                  <a:pt x="136165" y="123509"/>
                </a:cubicBezTo>
                <a:lnTo>
                  <a:pt x="55502" y="4550"/>
                </a:lnTo>
                <a:cubicBezTo>
                  <a:pt x="48975" y="-5088"/>
                  <a:pt x="34000" y="1942"/>
                  <a:pt x="36987" y="13013"/>
                </a:cubicBezTo>
                <a:lnTo>
                  <a:pt x="74469" y="151750"/>
                </a:lnTo>
                <a:lnTo>
                  <a:pt x="74475" y="151750"/>
                </a:lnTo>
                <a:cubicBezTo>
                  <a:pt x="74693" y="152572"/>
                  <a:pt x="75070" y="153356"/>
                  <a:pt x="75615" y="154069"/>
                </a:cubicBezTo>
                <a:lnTo>
                  <a:pt x="111345" y="200753"/>
                </a:lnTo>
                <a:cubicBezTo>
                  <a:pt x="111177" y="201051"/>
                  <a:pt x="111025" y="201364"/>
                  <a:pt x="110909" y="201692"/>
                </a:cubicBezTo>
                <a:cubicBezTo>
                  <a:pt x="107625" y="208954"/>
                  <a:pt x="107202" y="216812"/>
                  <a:pt x="109178" y="223972"/>
                </a:cubicBezTo>
                <a:lnTo>
                  <a:pt x="65664" y="262901"/>
                </a:lnTo>
                <a:cubicBezTo>
                  <a:pt x="64893" y="263512"/>
                  <a:pt x="64246" y="264296"/>
                  <a:pt x="63796" y="265234"/>
                </a:cubicBezTo>
                <a:lnTo>
                  <a:pt x="1092" y="394550"/>
                </a:lnTo>
                <a:cubicBezTo>
                  <a:pt x="-3917" y="404872"/>
                  <a:pt x="9465" y="414591"/>
                  <a:pt x="17710" y="406326"/>
                </a:cubicBezTo>
                <a:lnTo>
                  <a:pt x="117000" y="306618"/>
                </a:lnTo>
                <a:lnTo>
                  <a:pt x="109069" y="613799"/>
                </a:lnTo>
                <a:close/>
                <a:moveTo>
                  <a:pt x="122364" y="613799"/>
                </a:moveTo>
                <a:lnTo>
                  <a:pt x="131028" y="277127"/>
                </a:lnTo>
                <a:lnTo>
                  <a:pt x="143103" y="248072"/>
                </a:lnTo>
                <a:cubicBezTo>
                  <a:pt x="145379" y="247913"/>
                  <a:pt x="147617" y="247520"/>
                  <a:pt x="149798" y="246909"/>
                </a:cubicBezTo>
                <a:lnTo>
                  <a:pt x="159393" y="613811"/>
                </a:lnTo>
                <a:lnTo>
                  <a:pt x="122364" y="613811"/>
                </a:lnTo>
                <a:close/>
                <a:moveTo>
                  <a:pt x="179162" y="627158"/>
                </a:moveTo>
                <a:cubicBezTo>
                  <a:pt x="179344" y="627158"/>
                  <a:pt x="179512" y="627227"/>
                  <a:pt x="179628" y="627338"/>
                </a:cubicBezTo>
                <a:lnTo>
                  <a:pt x="179614" y="627349"/>
                </a:lnTo>
                <a:cubicBezTo>
                  <a:pt x="180043" y="627780"/>
                  <a:pt x="179809" y="638172"/>
                  <a:pt x="179809" y="639585"/>
                </a:cubicBezTo>
                <a:lnTo>
                  <a:pt x="101950" y="639585"/>
                </a:lnTo>
                <a:cubicBezTo>
                  <a:pt x="101950" y="638166"/>
                  <a:pt x="101718" y="627797"/>
                  <a:pt x="102145" y="627349"/>
                </a:cubicBezTo>
                <a:cubicBezTo>
                  <a:pt x="102595" y="626890"/>
                  <a:pt x="113994" y="627158"/>
                  <a:pt x="115528" y="627158"/>
                </a:cubicBezTo>
                <a:close/>
                <a:moveTo>
                  <a:pt x="138925" y="234734"/>
                </a:moveTo>
                <a:cubicBezTo>
                  <a:pt x="131351" y="233964"/>
                  <a:pt x="124967" y="228896"/>
                  <a:pt x="122446" y="221860"/>
                </a:cubicBezTo>
                <a:cubicBezTo>
                  <a:pt x="117443" y="207925"/>
                  <a:pt x="129193" y="194186"/>
                  <a:pt x="142685" y="195733"/>
                </a:cubicBezTo>
                <a:cubicBezTo>
                  <a:pt x="161919" y="197936"/>
                  <a:pt x="166049" y="221401"/>
                  <a:pt x="152433" y="231070"/>
                </a:cubicBezTo>
                <a:cubicBezTo>
                  <a:pt x="147976" y="234241"/>
                  <a:pt x="144252" y="234945"/>
                  <a:pt x="138925" y="234734"/>
                </a:cubicBezTo>
                <a:close/>
                <a:moveTo>
                  <a:pt x="115487" y="236161"/>
                </a:moveTo>
                <a:cubicBezTo>
                  <a:pt x="119122" y="240588"/>
                  <a:pt x="123906" y="244048"/>
                  <a:pt x="129488" y="246113"/>
                </a:cubicBezTo>
                <a:lnTo>
                  <a:pt x="108733" y="296048"/>
                </a:lnTo>
                <a:lnTo>
                  <a:pt x="20865" y="384276"/>
                </a:lnTo>
                <a:lnTo>
                  <a:pt x="75218" y="272186"/>
                </a:lnTo>
                <a:close/>
                <a:moveTo>
                  <a:pt x="171701" y="226767"/>
                </a:moveTo>
                <a:cubicBezTo>
                  <a:pt x="173802" y="221156"/>
                  <a:pt x="174268" y="215268"/>
                  <a:pt x="173300" y="209671"/>
                </a:cubicBezTo>
                <a:lnTo>
                  <a:pt x="226899" y="202679"/>
                </a:lnTo>
                <a:lnTo>
                  <a:pt x="347254" y="234664"/>
                </a:lnTo>
                <a:lnTo>
                  <a:pt x="223055" y="243636"/>
                </a:lnTo>
                <a:close/>
                <a:moveTo>
                  <a:pt x="135456" y="182802"/>
                </a:moveTo>
                <a:cubicBezTo>
                  <a:pt x="129735" y="183761"/>
                  <a:pt x="124333" y="186226"/>
                  <a:pt x="119849" y="189949"/>
                </a:cubicBezTo>
                <a:lnTo>
                  <a:pt x="87004" y="147036"/>
                </a:lnTo>
                <a:lnTo>
                  <a:pt x="54509" y="26775"/>
                </a:lnTo>
                <a:lnTo>
                  <a:pt x="124378" y="129851"/>
                </a:lnTo>
                <a:close/>
                <a:moveTo>
                  <a:pt x="473221" y="63937"/>
                </a:moveTo>
                <a:cubicBezTo>
                  <a:pt x="477576" y="71520"/>
                  <a:pt x="466067" y="78149"/>
                  <a:pt x="461699" y="70559"/>
                </a:cubicBezTo>
                <a:lnTo>
                  <a:pt x="450752" y="51599"/>
                </a:lnTo>
                <a:cubicBezTo>
                  <a:pt x="448921" y="48414"/>
                  <a:pt x="450018" y="44359"/>
                  <a:pt x="453201" y="42526"/>
                </a:cubicBezTo>
                <a:cubicBezTo>
                  <a:pt x="456385" y="40701"/>
                  <a:pt x="460448" y="41792"/>
                  <a:pt x="462274" y="44975"/>
                </a:cubicBezTo>
                <a:close/>
                <a:moveTo>
                  <a:pt x="442993" y="89294"/>
                </a:moveTo>
                <a:lnTo>
                  <a:pt x="424033" y="78347"/>
                </a:lnTo>
                <a:cubicBezTo>
                  <a:pt x="416437" y="73956"/>
                  <a:pt x="409778" y="85485"/>
                  <a:pt x="417358" y="89869"/>
                </a:cubicBezTo>
                <a:lnTo>
                  <a:pt x="436319" y="100816"/>
                </a:lnTo>
                <a:cubicBezTo>
                  <a:pt x="443908" y="105208"/>
                  <a:pt x="450576" y="93685"/>
                  <a:pt x="442993" y="89294"/>
                </a:cubicBezTo>
                <a:close/>
                <a:moveTo>
                  <a:pt x="429479" y="126356"/>
                </a:moveTo>
                <a:cubicBezTo>
                  <a:pt x="438268" y="126356"/>
                  <a:pt x="438268" y="139702"/>
                  <a:pt x="429479" y="139702"/>
                </a:cubicBezTo>
                <a:lnTo>
                  <a:pt x="407591" y="139702"/>
                </a:lnTo>
                <a:cubicBezTo>
                  <a:pt x="398801" y="139702"/>
                  <a:pt x="398801" y="126356"/>
                  <a:pt x="407591" y="126356"/>
                </a:cubicBezTo>
                <a:close/>
                <a:moveTo>
                  <a:pt x="436342" y="165247"/>
                </a:moveTo>
                <a:cubicBezTo>
                  <a:pt x="443925" y="160893"/>
                  <a:pt x="450554" y="172401"/>
                  <a:pt x="442964" y="176769"/>
                </a:cubicBezTo>
                <a:lnTo>
                  <a:pt x="424004" y="187717"/>
                </a:lnTo>
                <a:cubicBezTo>
                  <a:pt x="420819" y="189541"/>
                  <a:pt x="416764" y="188451"/>
                  <a:pt x="414930" y="185268"/>
                </a:cubicBezTo>
                <a:cubicBezTo>
                  <a:pt x="413106" y="182083"/>
                  <a:pt x="414203" y="178021"/>
                  <a:pt x="417379" y="176194"/>
                </a:cubicBezTo>
                <a:close/>
                <a:moveTo>
                  <a:pt x="461699" y="195502"/>
                </a:moveTo>
                <a:cubicBezTo>
                  <a:pt x="463523" y="192317"/>
                  <a:pt x="467587" y="191220"/>
                  <a:pt x="470773" y="193053"/>
                </a:cubicBezTo>
                <a:cubicBezTo>
                  <a:pt x="473958" y="194877"/>
                  <a:pt x="475055" y="198941"/>
                  <a:pt x="473222" y="202127"/>
                </a:cubicBezTo>
                <a:lnTo>
                  <a:pt x="462274" y="221087"/>
                </a:lnTo>
                <a:cubicBezTo>
                  <a:pt x="460450" y="224272"/>
                  <a:pt x="456386" y="225369"/>
                  <a:pt x="453201" y="223536"/>
                </a:cubicBezTo>
                <a:cubicBezTo>
                  <a:pt x="450015" y="221711"/>
                  <a:pt x="448919" y="217647"/>
                  <a:pt x="450752" y="214462"/>
                </a:cubicBezTo>
                <a:close/>
                <a:moveTo>
                  <a:pt x="498767" y="208987"/>
                </a:moveTo>
                <a:cubicBezTo>
                  <a:pt x="498767" y="200198"/>
                  <a:pt x="512113" y="200198"/>
                  <a:pt x="512113" y="208987"/>
                </a:cubicBezTo>
                <a:lnTo>
                  <a:pt x="512113" y="230876"/>
                </a:lnTo>
                <a:cubicBezTo>
                  <a:pt x="512113" y="239665"/>
                  <a:pt x="498767" y="239665"/>
                  <a:pt x="498767" y="230876"/>
                </a:cubicBezTo>
                <a:close/>
                <a:moveTo>
                  <a:pt x="537649" y="202154"/>
                </a:moveTo>
                <a:cubicBezTo>
                  <a:pt x="533251" y="194564"/>
                  <a:pt x="544787" y="187892"/>
                  <a:pt x="549171" y="195479"/>
                </a:cubicBezTo>
                <a:lnTo>
                  <a:pt x="560119" y="214439"/>
                </a:lnTo>
                <a:cubicBezTo>
                  <a:pt x="564510" y="222036"/>
                  <a:pt x="552981" y="228695"/>
                  <a:pt x="548597" y="221114"/>
                </a:cubicBezTo>
                <a:close/>
                <a:moveTo>
                  <a:pt x="567906" y="176770"/>
                </a:moveTo>
                <a:lnTo>
                  <a:pt x="586865" y="187717"/>
                </a:lnTo>
                <a:cubicBezTo>
                  <a:pt x="590052" y="189542"/>
                  <a:pt x="594111" y="188451"/>
                  <a:pt x="595937" y="185268"/>
                </a:cubicBezTo>
                <a:cubicBezTo>
                  <a:pt x="597769" y="182084"/>
                  <a:pt x="596676" y="178021"/>
                  <a:pt x="593489" y="176195"/>
                </a:cubicBezTo>
                <a:lnTo>
                  <a:pt x="574530" y="165247"/>
                </a:lnTo>
                <a:cubicBezTo>
                  <a:pt x="571343" y="163417"/>
                  <a:pt x="567284" y="164514"/>
                  <a:pt x="565458" y="167696"/>
                </a:cubicBezTo>
                <a:cubicBezTo>
                  <a:pt x="563632" y="170882"/>
                  <a:pt x="564719" y="174943"/>
                  <a:pt x="567906" y="176770"/>
                </a:cubicBezTo>
                <a:close/>
                <a:moveTo>
                  <a:pt x="581393" y="139709"/>
                </a:moveTo>
                <a:cubicBezTo>
                  <a:pt x="572599" y="139709"/>
                  <a:pt x="572599" y="126363"/>
                  <a:pt x="581393" y="126363"/>
                </a:cubicBezTo>
                <a:lnTo>
                  <a:pt x="603283" y="126363"/>
                </a:lnTo>
                <a:cubicBezTo>
                  <a:pt x="612070" y="126363"/>
                  <a:pt x="612070" y="139709"/>
                  <a:pt x="603283" y="139709"/>
                </a:cubicBezTo>
                <a:close/>
                <a:moveTo>
                  <a:pt x="574559" y="100817"/>
                </a:moveTo>
                <a:cubicBezTo>
                  <a:pt x="566970" y="105215"/>
                  <a:pt x="560299" y="93679"/>
                  <a:pt x="567883" y="89295"/>
                </a:cubicBezTo>
                <a:lnTo>
                  <a:pt x="586842" y="78348"/>
                </a:lnTo>
                <a:cubicBezTo>
                  <a:pt x="594437" y="73956"/>
                  <a:pt x="601102" y="85485"/>
                  <a:pt x="593518" y="89870"/>
                </a:cubicBezTo>
                <a:close/>
                <a:moveTo>
                  <a:pt x="549180" y="70589"/>
                </a:moveTo>
                <a:lnTo>
                  <a:pt x="560125" y="51629"/>
                </a:lnTo>
                <a:cubicBezTo>
                  <a:pt x="564521" y="44033"/>
                  <a:pt x="552990" y="37374"/>
                  <a:pt x="548606" y="44954"/>
                </a:cubicBezTo>
                <a:lnTo>
                  <a:pt x="537659" y="63914"/>
                </a:lnTo>
                <a:cubicBezTo>
                  <a:pt x="533260" y="71507"/>
                  <a:pt x="544790" y="78172"/>
                  <a:pt x="549180" y="70589"/>
                </a:cubicBezTo>
                <a:close/>
                <a:moveTo>
                  <a:pt x="512113" y="57077"/>
                </a:moveTo>
                <a:cubicBezTo>
                  <a:pt x="512113" y="65866"/>
                  <a:pt x="498767" y="65866"/>
                  <a:pt x="498767" y="57077"/>
                </a:cubicBezTo>
                <a:lnTo>
                  <a:pt x="498767" y="35186"/>
                </a:lnTo>
                <a:cubicBezTo>
                  <a:pt x="498767" y="26397"/>
                  <a:pt x="512113" y="26397"/>
                  <a:pt x="512113" y="35186"/>
                </a:cubicBezTo>
                <a:close/>
                <a:moveTo>
                  <a:pt x="505438" y="75119"/>
                </a:moveTo>
                <a:cubicBezTo>
                  <a:pt x="473459" y="75119"/>
                  <a:pt x="447530" y="101048"/>
                  <a:pt x="447530" y="133027"/>
                </a:cubicBezTo>
                <a:cubicBezTo>
                  <a:pt x="447530" y="165006"/>
                  <a:pt x="473459" y="190936"/>
                  <a:pt x="505438" y="190936"/>
                </a:cubicBezTo>
                <a:cubicBezTo>
                  <a:pt x="537417" y="190936"/>
                  <a:pt x="563347" y="165006"/>
                  <a:pt x="563347" y="133027"/>
                </a:cubicBezTo>
                <a:cubicBezTo>
                  <a:pt x="563347" y="101048"/>
                  <a:pt x="537417" y="75119"/>
                  <a:pt x="505438" y="75119"/>
                </a:cubicBezTo>
                <a:close/>
                <a:moveTo>
                  <a:pt x="536945" y="101521"/>
                </a:moveTo>
                <a:cubicBezTo>
                  <a:pt x="554342" y="118924"/>
                  <a:pt x="554342" y="147137"/>
                  <a:pt x="536945" y="164539"/>
                </a:cubicBezTo>
                <a:cubicBezTo>
                  <a:pt x="519541" y="181942"/>
                  <a:pt x="491328" y="181942"/>
                  <a:pt x="473927" y="164539"/>
                </a:cubicBezTo>
                <a:cubicBezTo>
                  <a:pt x="456530" y="147135"/>
                  <a:pt x="456530" y="118922"/>
                  <a:pt x="473927" y="101521"/>
                </a:cubicBezTo>
                <a:cubicBezTo>
                  <a:pt x="491331" y="84126"/>
                  <a:pt x="519550" y="84126"/>
                  <a:pt x="536945" y="101521"/>
                </a:cubicBezTo>
                <a:close/>
                <a:moveTo>
                  <a:pt x="526477" y="627152"/>
                </a:moveTo>
                <a:lnTo>
                  <a:pt x="426914" y="627239"/>
                </a:lnTo>
                <a:lnTo>
                  <a:pt x="426616" y="627797"/>
                </a:lnTo>
                <a:lnTo>
                  <a:pt x="426616" y="639574"/>
                </a:lnTo>
                <a:lnTo>
                  <a:pt x="542236" y="639574"/>
                </a:lnTo>
                <a:cubicBezTo>
                  <a:pt x="542236" y="638166"/>
                  <a:pt x="542468" y="627768"/>
                  <a:pt x="542041" y="627338"/>
                </a:cubicBezTo>
                <a:lnTo>
                  <a:pt x="542055" y="627326"/>
                </a:lnTo>
                <a:cubicBezTo>
                  <a:pt x="541589" y="626902"/>
                  <a:pt x="528183" y="627152"/>
                  <a:pt x="526475" y="627152"/>
                </a:cubicBezTo>
                <a:close/>
                <a:moveTo>
                  <a:pt x="519802" y="598760"/>
                </a:moveTo>
                <a:lnTo>
                  <a:pt x="449055" y="598760"/>
                </a:lnTo>
                <a:lnTo>
                  <a:pt x="449055" y="613805"/>
                </a:lnTo>
                <a:lnTo>
                  <a:pt x="519802" y="613805"/>
                </a:lnTo>
                <a:close/>
                <a:moveTo>
                  <a:pt x="341170" y="510732"/>
                </a:moveTo>
                <a:lnTo>
                  <a:pt x="335238" y="567879"/>
                </a:lnTo>
                <a:cubicBezTo>
                  <a:pt x="334614" y="572299"/>
                  <a:pt x="337783" y="575736"/>
                  <a:pt x="341811" y="575736"/>
                </a:cubicBezTo>
                <a:lnTo>
                  <a:pt x="621968" y="575736"/>
                </a:lnTo>
                <a:lnTo>
                  <a:pt x="621968" y="575713"/>
                </a:lnTo>
                <a:cubicBezTo>
                  <a:pt x="625888" y="575707"/>
                  <a:pt x="628993" y="572287"/>
                  <a:pt x="628586" y="568379"/>
                </a:cubicBezTo>
                <a:lnTo>
                  <a:pt x="616565" y="452606"/>
                </a:lnTo>
                <a:cubicBezTo>
                  <a:pt x="616548" y="452272"/>
                  <a:pt x="616519" y="451945"/>
                  <a:pt x="616461" y="451625"/>
                </a:cubicBezTo>
                <a:lnTo>
                  <a:pt x="604481" y="336353"/>
                </a:lnTo>
                <a:cubicBezTo>
                  <a:pt x="604370" y="332768"/>
                  <a:pt x="601427" y="329891"/>
                  <a:pt x="597804" y="329891"/>
                </a:cubicBezTo>
                <a:lnTo>
                  <a:pt x="365949" y="329891"/>
                </a:lnTo>
                <a:lnTo>
                  <a:pt x="365949" y="329904"/>
                </a:lnTo>
                <a:cubicBezTo>
                  <a:pt x="362575" y="329897"/>
                  <a:pt x="359675" y="332455"/>
                  <a:pt x="359327" y="335888"/>
                </a:cubicBezTo>
                <a:lnTo>
                  <a:pt x="353336" y="393512"/>
                </a:lnTo>
                <a:cubicBezTo>
                  <a:pt x="353277" y="393826"/>
                  <a:pt x="353250" y="394144"/>
                  <a:pt x="353234" y="394464"/>
                </a:cubicBezTo>
                <a:lnTo>
                  <a:pt x="347295" y="451632"/>
                </a:lnTo>
                <a:cubicBezTo>
                  <a:pt x="347237" y="451946"/>
                  <a:pt x="347209" y="452273"/>
                  <a:pt x="347194" y="452600"/>
                </a:cubicBezTo>
                <a:lnTo>
                  <a:pt x="341255" y="509752"/>
                </a:lnTo>
                <a:cubicBezTo>
                  <a:pt x="341212" y="510072"/>
                  <a:pt x="341176" y="510399"/>
                  <a:pt x="341169" y="510735"/>
                </a:cubicBezTo>
                <a:close/>
                <a:moveTo>
                  <a:pt x="355230" y="504262"/>
                </a:moveTo>
                <a:lnTo>
                  <a:pt x="408545" y="504262"/>
                </a:lnTo>
                <a:lnTo>
                  <a:pt x="410871" y="459489"/>
                </a:lnTo>
                <a:lnTo>
                  <a:pt x="359882" y="459489"/>
                </a:lnTo>
                <a:close/>
                <a:moveTo>
                  <a:pt x="421877" y="504262"/>
                </a:moveTo>
                <a:lnTo>
                  <a:pt x="475205" y="504262"/>
                </a:lnTo>
                <a:lnTo>
                  <a:pt x="475205" y="459489"/>
                </a:lnTo>
                <a:lnTo>
                  <a:pt x="424196" y="459489"/>
                </a:lnTo>
                <a:close/>
                <a:moveTo>
                  <a:pt x="488553" y="504262"/>
                </a:moveTo>
                <a:lnTo>
                  <a:pt x="541881" y="504262"/>
                </a:lnTo>
                <a:lnTo>
                  <a:pt x="539555" y="459489"/>
                </a:lnTo>
                <a:lnTo>
                  <a:pt x="488546" y="459489"/>
                </a:lnTo>
                <a:lnTo>
                  <a:pt x="488543" y="504262"/>
                </a:lnTo>
                <a:close/>
                <a:moveTo>
                  <a:pt x="555223" y="504262"/>
                </a:moveTo>
                <a:lnTo>
                  <a:pt x="608540" y="504262"/>
                </a:lnTo>
                <a:lnTo>
                  <a:pt x="603887" y="459489"/>
                </a:lnTo>
                <a:lnTo>
                  <a:pt x="552897" y="459489"/>
                </a:lnTo>
                <a:close/>
                <a:moveTo>
                  <a:pt x="609924" y="517608"/>
                </a:moveTo>
                <a:lnTo>
                  <a:pt x="555920" y="517608"/>
                </a:lnTo>
                <a:lnTo>
                  <a:pt x="558246" y="562383"/>
                </a:lnTo>
                <a:lnTo>
                  <a:pt x="614576" y="562383"/>
                </a:lnTo>
                <a:close/>
                <a:moveTo>
                  <a:pt x="542581" y="517608"/>
                </a:moveTo>
                <a:lnTo>
                  <a:pt x="488555" y="517608"/>
                </a:lnTo>
                <a:lnTo>
                  <a:pt x="488555" y="562383"/>
                </a:lnTo>
                <a:lnTo>
                  <a:pt x="544907" y="562383"/>
                </a:lnTo>
                <a:close/>
                <a:moveTo>
                  <a:pt x="475207" y="517608"/>
                </a:moveTo>
                <a:lnTo>
                  <a:pt x="421181" y="517608"/>
                </a:lnTo>
                <a:lnTo>
                  <a:pt x="418855" y="562383"/>
                </a:lnTo>
                <a:lnTo>
                  <a:pt x="475207" y="562383"/>
                </a:lnTo>
                <a:close/>
                <a:moveTo>
                  <a:pt x="407851" y="517608"/>
                </a:moveTo>
                <a:lnTo>
                  <a:pt x="353845" y="517608"/>
                </a:lnTo>
                <a:lnTo>
                  <a:pt x="349192" y="562383"/>
                </a:lnTo>
                <a:lnTo>
                  <a:pt x="405524" y="562383"/>
                </a:lnTo>
                <a:close/>
                <a:moveTo>
                  <a:pt x="367309" y="388013"/>
                </a:moveTo>
                <a:lnTo>
                  <a:pt x="414591" y="388013"/>
                </a:lnTo>
                <a:lnTo>
                  <a:pt x="416917" y="343240"/>
                </a:lnTo>
                <a:lnTo>
                  <a:pt x="371969" y="343240"/>
                </a:lnTo>
                <a:close/>
                <a:moveTo>
                  <a:pt x="427914" y="388013"/>
                </a:moveTo>
                <a:lnTo>
                  <a:pt x="475209" y="388013"/>
                </a:lnTo>
                <a:lnTo>
                  <a:pt x="475209" y="343240"/>
                </a:lnTo>
                <a:lnTo>
                  <a:pt x="430240" y="343240"/>
                </a:lnTo>
                <a:close/>
                <a:moveTo>
                  <a:pt x="488559" y="388013"/>
                </a:moveTo>
                <a:lnTo>
                  <a:pt x="535854" y="388013"/>
                </a:lnTo>
                <a:lnTo>
                  <a:pt x="533528" y="343240"/>
                </a:lnTo>
                <a:lnTo>
                  <a:pt x="488559" y="343240"/>
                </a:lnTo>
                <a:close/>
                <a:moveTo>
                  <a:pt x="549187" y="388013"/>
                </a:moveTo>
                <a:lnTo>
                  <a:pt x="596461" y="388013"/>
                </a:lnTo>
                <a:lnTo>
                  <a:pt x="591808" y="343240"/>
                </a:lnTo>
                <a:lnTo>
                  <a:pt x="546854" y="343240"/>
                </a:lnTo>
                <a:close/>
                <a:moveTo>
                  <a:pt x="597845" y="401362"/>
                </a:moveTo>
                <a:lnTo>
                  <a:pt x="549875" y="401362"/>
                </a:lnTo>
                <a:lnTo>
                  <a:pt x="552202" y="446135"/>
                </a:lnTo>
                <a:lnTo>
                  <a:pt x="602497" y="446135"/>
                </a:lnTo>
                <a:close/>
                <a:moveTo>
                  <a:pt x="536551" y="401362"/>
                </a:moveTo>
                <a:lnTo>
                  <a:pt x="488565" y="401362"/>
                </a:lnTo>
                <a:lnTo>
                  <a:pt x="488565" y="446135"/>
                </a:lnTo>
                <a:lnTo>
                  <a:pt x="538877" y="446135"/>
                </a:lnTo>
                <a:close/>
                <a:moveTo>
                  <a:pt x="475208" y="401362"/>
                </a:moveTo>
                <a:lnTo>
                  <a:pt x="427222" y="401362"/>
                </a:lnTo>
                <a:lnTo>
                  <a:pt x="424896" y="446135"/>
                </a:lnTo>
                <a:lnTo>
                  <a:pt x="475208" y="446135"/>
                </a:lnTo>
                <a:close/>
                <a:moveTo>
                  <a:pt x="413888" y="401362"/>
                </a:moveTo>
                <a:lnTo>
                  <a:pt x="365922" y="401362"/>
                </a:lnTo>
                <a:lnTo>
                  <a:pt x="361270" y="446135"/>
                </a:lnTo>
                <a:lnTo>
                  <a:pt x="411568" y="446135"/>
                </a:lnTo>
                <a:close/>
                <a:moveTo>
                  <a:pt x="612558" y="320216"/>
                </a:moveTo>
                <a:lnTo>
                  <a:pt x="351201" y="320216"/>
                </a:lnTo>
                <a:lnTo>
                  <a:pt x="323650" y="585407"/>
                </a:lnTo>
                <a:lnTo>
                  <a:pt x="640107" y="585407"/>
                </a:lnTo>
                <a:close/>
              </a:path>
            </a:pathLst>
          </a:custGeom>
          <a:solidFill>
            <a:srgbClr val="003D7C"/>
          </a:solidFill>
          <a:ln w="579" cap="flat">
            <a:solidFill>
              <a:schemeClr val="accent1"/>
            </a:solidFill>
            <a:prstDash val="solid"/>
            <a:miter/>
          </a:ln>
        </p:spPr>
        <p:txBody>
          <a:bodyPr rtlCol="0" anchor="ctr"/>
          <a:lstStyle/>
          <a:p>
            <a:endParaRPr lang="de-DE" dirty="0"/>
          </a:p>
        </p:txBody>
      </p:sp>
      <p:pic>
        <p:nvPicPr>
          <p:cNvPr id="33" name="Graphic 32">
            <a:extLst>
              <a:ext uri="{FF2B5EF4-FFF2-40B4-BE49-F238E27FC236}">
                <a16:creationId xmlns:a16="http://schemas.microsoft.com/office/drawing/2014/main" id="{8127FDE9-CF25-198E-B0FE-23DE68E6E5A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82734" y="2124447"/>
            <a:ext cx="576756" cy="576756"/>
          </a:xfrm>
          <a:prstGeom prst="rect">
            <a:avLst/>
          </a:prstGeom>
        </p:spPr>
      </p:pic>
      <p:sp>
        <p:nvSpPr>
          <p:cNvPr id="34" name="TextBox 33">
            <a:extLst>
              <a:ext uri="{FF2B5EF4-FFF2-40B4-BE49-F238E27FC236}">
                <a16:creationId xmlns:a16="http://schemas.microsoft.com/office/drawing/2014/main" id="{F6005B67-0202-31AE-76CF-29F87740539F}"/>
              </a:ext>
            </a:extLst>
          </p:cNvPr>
          <p:cNvSpPr txBox="1"/>
          <p:nvPr/>
        </p:nvSpPr>
        <p:spPr>
          <a:xfrm>
            <a:off x="2501726" y="2655950"/>
            <a:ext cx="1338773" cy="400110"/>
          </a:xfrm>
          <a:prstGeom prst="rect">
            <a:avLst/>
          </a:prstGeom>
          <a:noFill/>
        </p:spPr>
        <p:txBody>
          <a:bodyPr wrap="square" rtlCol="0">
            <a:spAutoFit/>
          </a:bodyPr>
          <a:lstStyle/>
          <a:p>
            <a:pPr algn="ctr"/>
            <a:r>
              <a:rPr lang="de-DE" sz="1000" b="1" dirty="0">
                <a:solidFill>
                  <a:schemeClr val="accent1"/>
                </a:solidFill>
              </a:rPr>
              <a:t>Wärme-/ Fernwärmenetze</a:t>
            </a:r>
          </a:p>
        </p:txBody>
      </p:sp>
      <p:sp>
        <p:nvSpPr>
          <p:cNvPr id="26" name="TextBox 25">
            <a:extLst>
              <a:ext uri="{FF2B5EF4-FFF2-40B4-BE49-F238E27FC236}">
                <a16:creationId xmlns:a16="http://schemas.microsoft.com/office/drawing/2014/main" id="{DD316516-BE28-7544-35B0-23C82B4B61DD}"/>
              </a:ext>
            </a:extLst>
          </p:cNvPr>
          <p:cNvSpPr txBox="1"/>
          <p:nvPr/>
        </p:nvSpPr>
        <p:spPr>
          <a:xfrm>
            <a:off x="4366651" y="2412479"/>
            <a:ext cx="1960098" cy="246221"/>
          </a:xfrm>
          <a:prstGeom prst="rect">
            <a:avLst/>
          </a:prstGeom>
          <a:noFill/>
        </p:spPr>
        <p:txBody>
          <a:bodyPr wrap="square" rtlCol="0">
            <a:spAutoFit/>
          </a:bodyPr>
          <a:lstStyle/>
          <a:p>
            <a:pPr algn="ctr"/>
            <a:r>
              <a:rPr lang="de-DE" sz="1000" b="1" dirty="0">
                <a:solidFill>
                  <a:schemeClr val="accent1"/>
                </a:solidFill>
              </a:rPr>
              <a:t>Netze (e.g. Gas, Wasser)</a:t>
            </a:r>
          </a:p>
        </p:txBody>
      </p:sp>
      <p:sp>
        <p:nvSpPr>
          <p:cNvPr id="35" name="TextBox 34">
            <a:extLst>
              <a:ext uri="{FF2B5EF4-FFF2-40B4-BE49-F238E27FC236}">
                <a16:creationId xmlns:a16="http://schemas.microsoft.com/office/drawing/2014/main" id="{28EBBD59-A77B-F593-CCEE-89BEE61A5406}"/>
              </a:ext>
            </a:extLst>
          </p:cNvPr>
          <p:cNvSpPr txBox="1"/>
          <p:nvPr/>
        </p:nvSpPr>
        <p:spPr>
          <a:xfrm>
            <a:off x="6823129" y="2700511"/>
            <a:ext cx="1619915" cy="396541"/>
          </a:xfrm>
          <a:prstGeom prst="rect">
            <a:avLst/>
          </a:prstGeom>
          <a:noFill/>
        </p:spPr>
        <p:txBody>
          <a:bodyPr wrap="square" rtlCol="0">
            <a:spAutoFit/>
          </a:bodyPr>
          <a:lstStyle/>
          <a:p>
            <a:pPr algn="ctr"/>
            <a:r>
              <a:rPr lang="de-DE" sz="1000" b="1" dirty="0">
                <a:solidFill>
                  <a:schemeClr val="accent1"/>
                </a:solidFill>
              </a:rPr>
              <a:t>Erneuerbare Aktivitäten</a:t>
            </a:r>
          </a:p>
        </p:txBody>
      </p:sp>
      <p:sp>
        <p:nvSpPr>
          <p:cNvPr id="36" name="TextBox 35">
            <a:extLst>
              <a:ext uri="{FF2B5EF4-FFF2-40B4-BE49-F238E27FC236}">
                <a16:creationId xmlns:a16="http://schemas.microsoft.com/office/drawing/2014/main" id="{4A3E9705-6EB3-0834-27AE-4CC3BE951053}"/>
              </a:ext>
            </a:extLst>
          </p:cNvPr>
          <p:cNvSpPr txBox="1"/>
          <p:nvPr/>
        </p:nvSpPr>
        <p:spPr>
          <a:xfrm>
            <a:off x="8587060" y="3164497"/>
            <a:ext cx="1619915" cy="246221"/>
          </a:xfrm>
          <a:prstGeom prst="rect">
            <a:avLst/>
          </a:prstGeom>
          <a:noFill/>
        </p:spPr>
        <p:txBody>
          <a:bodyPr wrap="square" rtlCol="0">
            <a:spAutoFit/>
          </a:bodyPr>
          <a:lstStyle/>
          <a:p>
            <a:pPr algn="ctr"/>
            <a:r>
              <a:rPr lang="de-DE" sz="1000" b="1" dirty="0">
                <a:solidFill>
                  <a:schemeClr val="accent1"/>
                </a:solidFill>
              </a:rPr>
              <a:t>Beteiligungen</a:t>
            </a:r>
          </a:p>
        </p:txBody>
      </p:sp>
      <p:sp>
        <p:nvSpPr>
          <p:cNvPr id="9" name="TextBox 8">
            <a:extLst>
              <a:ext uri="{FF2B5EF4-FFF2-40B4-BE49-F238E27FC236}">
                <a16:creationId xmlns:a16="http://schemas.microsoft.com/office/drawing/2014/main" id="{3401B903-C64E-B1B5-5C51-6E1C5D0318F7}"/>
              </a:ext>
            </a:extLst>
          </p:cNvPr>
          <p:cNvSpPr txBox="1"/>
          <p:nvPr/>
        </p:nvSpPr>
        <p:spPr>
          <a:xfrm>
            <a:off x="4610375" y="2993077"/>
            <a:ext cx="1472650" cy="338554"/>
          </a:xfrm>
          <a:prstGeom prst="rect">
            <a:avLst/>
          </a:prstGeom>
          <a:noFill/>
        </p:spPr>
        <p:txBody>
          <a:bodyPr wrap="square" rtlCol="0" anchor="ctr">
            <a:spAutoFit/>
          </a:bodyPr>
          <a:lstStyle/>
          <a:p>
            <a:pPr algn="ctr"/>
            <a:r>
              <a:rPr lang="de-DE" sz="1600" b="1" dirty="0">
                <a:solidFill>
                  <a:schemeClr val="accent1"/>
                </a:solidFill>
              </a:rPr>
              <a:t>Stadtwerk</a:t>
            </a:r>
          </a:p>
        </p:txBody>
      </p:sp>
    </p:spTree>
    <p:extLst>
      <p:ext uri="{BB962C8B-B14F-4D97-AF65-F5344CB8AC3E}">
        <p14:creationId xmlns:p14="http://schemas.microsoft.com/office/powerpoint/2010/main" val="237553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28732795-706D-44E7-AA4A-66D7FBDFDF5C}"/>
              </a:ext>
            </a:extLst>
          </p:cNvPr>
          <p:cNvGraphicFramePr>
            <a:graphicFrameLocks/>
          </p:cNvGraphicFramePr>
          <p:nvPr>
            <p:custDataLst>
              <p:tags r:id="rId1"/>
            </p:custDataLst>
            <p:extLst>
              <p:ext uri="{D42A27DB-BD31-4B8C-83A1-F6EECF244321}">
                <p14:modId xmlns:p14="http://schemas.microsoft.com/office/powerpoint/2010/main" val="2431806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8" name="Object 17" hidden="1">
                        <a:extLst>
                          <a:ext uri="{FF2B5EF4-FFF2-40B4-BE49-F238E27FC236}">
                            <a16:creationId xmlns:a16="http://schemas.microsoft.com/office/drawing/2014/main" id="{28732795-706D-44E7-AA4A-66D7FBDFDF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C5FC088-833A-5515-E812-695111334F18}"/>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Strukturierung ähnlicher Beteiligungsoptionen auch für andere Assets vorstellbar, z.B. Netze, Erneuerbare Energien</a:t>
            </a:r>
          </a:p>
        </p:txBody>
      </p:sp>
      <p:sp>
        <p:nvSpPr>
          <p:cNvPr id="20" name="Isosceles Triangle 19">
            <a:extLst>
              <a:ext uri="{FF2B5EF4-FFF2-40B4-BE49-F238E27FC236}">
                <a16:creationId xmlns:a16="http://schemas.microsoft.com/office/drawing/2014/main" id="{C9454AE9-F396-1613-77C2-8AF2A27DFE4C}"/>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tangle 7">
            <a:extLst>
              <a:ext uri="{FF2B5EF4-FFF2-40B4-BE49-F238E27FC236}">
                <a16:creationId xmlns:a16="http://schemas.microsoft.com/office/drawing/2014/main" id="{DBA33902-8229-4F69-B2CD-D5E74E17FCFE}"/>
              </a:ext>
            </a:extLst>
          </p:cNvPr>
          <p:cNvSpPr/>
          <p:nvPr/>
        </p:nvSpPr>
        <p:spPr>
          <a:xfrm>
            <a:off x="6758690" y="1395480"/>
            <a:ext cx="3543201"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a:extLst>
              <a:ext uri="{FF2B5EF4-FFF2-40B4-BE49-F238E27FC236}">
                <a16:creationId xmlns:a16="http://schemas.microsoft.com/office/drawing/2014/main" id="{6AB71520-4CBC-42B7-B669-5D28B6C33E73}"/>
              </a:ext>
            </a:extLst>
          </p:cNvPr>
          <p:cNvSpPr>
            <a:spLocks noGrp="1"/>
          </p:cNvSpPr>
          <p:nvPr>
            <p:ph type="title"/>
          </p:nvPr>
        </p:nvSpPr>
        <p:spPr>
          <a:xfrm>
            <a:off x="378699" y="450279"/>
            <a:ext cx="9989189" cy="720000"/>
          </a:xfrm>
        </p:spPr>
        <p:txBody>
          <a:bodyPr vert="horz"/>
          <a:lstStyle/>
          <a:p>
            <a:r>
              <a:rPr lang="de-DE" dirty="0"/>
              <a:t>Beteiligungskonzept zur Kapitalflexibilisierung kann individuell an die Strategie und Investitionsbedürfnisse des Stadtwerks angepasst werden</a:t>
            </a:r>
          </a:p>
        </p:txBody>
      </p:sp>
      <p:sp>
        <p:nvSpPr>
          <p:cNvPr id="4" name="Text Placeholder 3">
            <a:extLst>
              <a:ext uri="{FF2B5EF4-FFF2-40B4-BE49-F238E27FC236}">
                <a16:creationId xmlns:a16="http://schemas.microsoft.com/office/drawing/2014/main" id="{7C94B0A9-9F8C-4EE5-A562-100FE8219EA0}"/>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endParaRPr lang="de-DE" dirty="0"/>
          </a:p>
        </p:txBody>
      </p:sp>
      <p:sp>
        <p:nvSpPr>
          <p:cNvPr id="5" name="Text Placeholder 4">
            <a:extLst>
              <a:ext uri="{FF2B5EF4-FFF2-40B4-BE49-F238E27FC236}">
                <a16:creationId xmlns:a16="http://schemas.microsoft.com/office/drawing/2014/main" id="{3D7DDBBA-4B7E-4F68-A4C4-909090AE40E5}"/>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2C9F7AAA-D0F7-4B42-9B0C-C414E43592A4}"/>
              </a:ext>
            </a:extLst>
          </p:cNvPr>
          <p:cNvSpPr>
            <a:spLocks noGrp="1"/>
          </p:cNvSpPr>
          <p:nvPr>
            <p:ph type="body" sz="quarter" idx="15"/>
          </p:nvPr>
        </p:nvSpPr>
        <p:spPr/>
        <p:txBody>
          <a:bodyPr/>
          <a:lstStyle/>
          <a:p>
            <a:endParaRPr lang="de-DE" dirty="0"/>
          </a:p>
        </p:txBody>
      </p:sp>
      <p:sp>
        <p:nvSpPr>
          <p:cNvPr id="9" name="Rectangle 8">
            <a:extLst>
              <a:ext uri="{FF2B5EF4-FFF2-40B4-BE49-F238E27FC236}">
                <a16:creationId xmlns:a16="http://schemas.microsoft.com/office/drawing/2014/main" id="{A99A00D8-2071-4360-9D88-4992B5A45A04}"/>
              </a:ext>
            </a:extLst>
          </p:cNvPr>
          <p:cNvSpPr/>
          <p:nvPr/>
        </p:nvSpPr>
        <p:spPr>
          <a:xfrm>
            <a:off x="6758690" y="1374871"/>
            <a:ext cx="3543201"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Option 2</a:t>
            </a:r>
          </a:p>
        </p:txBody>
      </p:sp>
      <p:sp>
        <p:nvSpPr>
          <p:cNvPr id="63" name="Rectangle 62">
            <a:extLst>
              <a:ext uri="{FF2B5EF4-FFF2-40B4-BE49-F238E27FC236}">
                <a16:creationId xmlns:a16="http://schemas.microsoft.com/office/drawing/2014/main" id="{A88A1B31-17E7-42B6-BA23-8C667F2FC126}"/>
              </a:ext>
            </a:extLst>
          </p:cNvPr>
          <p:cNvSpPr/>
          <p:nvPr/>
        </p:nvSpPr>
        <p:spPr>
          <a:xfrm>
            <a:off x="378148" y="1395480"/>
            <a:ext cx="2420054"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4" name="Rectangle 63">
            <a:extLst>
              <a:ext uri="{FF2B5EF4-FFF2-40B4-BE49-F238E27FC236}">
                <a16:creationId xmlns:a16="http://schemas.microsoft.com/office/drawing/2014/main" id="{EBB92E42-6CE6-4E1E-9C23-3B9D8A2E4C79}"/>
              </a:ext>
            </a:extLst>
          </p:cNvPr>
          <p:cNvSpPr/>
          <p:nvPr/>
        </p:nvSpPr>
        <p:spPr>
          <a:xfrm>
            <a:off x="378148" y="1374871"/>
            <a:ext cx="2420054" cy="252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48000" rtlCol="0" anchor="ctr"/>
          <a:lstStyle/>
          <a:p>
            <a:pPr algn="ctr"/>
            <a:r>
              <a:rPr lang="de-DE" sz="1000" b="1" dirty="0">
                <a:solidFill>
                  <a:schemeClr val="bg1"/>
                </a:solidFill>
              </a:rPr>
              <a:t>Status Quo</a:t>
            </a:r>
          </a:p>
        </p:txBody>
      </p:sp>
      <p:sp>
        <p:nvSpPr>
          <p:cNvPr id="102" name="Rectangle 101">
            <a:extLst>
              <a:ext uri="{FF2B5EF4-FFF2-40B4-BE49-F238E27FC236}">
                <a16:creationId xmlns:a16="http://schemas.microsoft.com/office/drawing/2014/main" id="{CACAD18F-BBD3-47DF-B52C-CBCA8DBB9BF1}"/>
              </a:ext>
            </a:extLst>
          </p:cNvPr>
          <p:cNvSpPr/>
          <p:nvPr/>
        </p:nvSpPr>
        <p:spPr>
          <a:xfrm>
            <a:off x="378149" y="4500711"/>
            <a:ext cx="2420054" cy="1800000"/>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marL="174625" indent="-174625">
              <a:spcAft>
                <a:spcPts val="600"/>
              </a:spcAft>
              <a:buClr>
                <a:srgbClr val="003D7C"/>
              </a:buClr>
              <a:buFont typeface="Wingdings" pitchFamily="2" charset="2"/>
              <a:buChar char="n"/>
              <a:defRPr/>
            </a:pPr>
            <a:r>
              <a:rPr lang="de-DE" sz="1000" dirty="0">
                <a:solidFill>
                  <a:schemeClr val="tx1"/>
                </a:solidFill>
              </a:rPr>
              <a:t>Aktuelle Wärmeerzeugungsanlagen sowie zukünftige Wärmeprojekte und das Fernwärmenetz werden direkt vom Stadtwerk gehalten</a:t>
            </a:r>
          </a:p>
          <a:p>
            <a:pPr marL="174625" indent="-174625">
              <a:spcAft>
                <a:spcPts val="600"/>
              </a:spcAft>
              <a:buClr>
                <a:srgbClr val="003D7C"/>
              </a:buClr>
              <a:buFont typeface="Wingdings" pitchFamily="2" charset="2"/>
              <a:buChar char="n"/>
              <a:defRPr/>
            </a:pPr>
            <a:r>
              <a:rPr lang="de-DE" sz="1000" dirty="0">
                <a:solidFill>
                  <a:schemeClr val="tx1"/>
                </a:solidFill>
              </a:rPr>
              <a:t>Erhaltungs- und Erweiterungs-investitionen werden komplett vom Stadtwerk getragen</a:t>
            </a:r>
          </a:p>
        </p:txBody>
      </p:sp>
      <p:sp>
        <p:nvSpPr>
          <p:cNvPr id="103" name="Rectangle 102">
            <a:extLst>
              <a:ext uri="{FF2B5EF4-FFF2-40B4-BE49-F238E27FC236}">
                <a16:creationId xmlns:a16="http://schemas.microsoft.com/office/drawing/2014/main" id="{FBF2875F-368A-4E38-B28F-129CAA659A05}"/>
              </a:ext>
            </a:extLst>
          </p:cNvPr>
          <p:cNvSpPr/>
          <p:nvPr/>
        </p:nvSpPr>
        <p:spPr>
          <a:xfrm>
            <a:off x="378149" y="4500711"/>
            <a:ext cx="2420054"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Kommentar</a:t>
            </a:r>
          </a:p>
        </p:txBody>
      </p:sp>
      <p:sp>
        <p:nvSpPr>
          <p:cNvPr id="67" name="Rectangle 66">
            <a:extLst>
              <a:ext uri="{FF2B5EF4-FFF2-40B4-BE49-F238E27FC236}">
                <a16:creationId xmlns:a16="http://schemas.microsoft.com/office/drawing/2014/main" id="{6E7E1708-CF60-46C1-B670-926AA5607BBC}"/>
              </a:ext>
            </a:extLst>
          </p:cNvPr>
          <p:cNvSpPr/>
          <p:nvPr/>
        </p:nvSpPr>
        <p:spPr>
          <a:xfrm>
            <a:off x="525474" y="1732349"/>
            <a:ext cx="2104854" cy="2623140"/>
          </a:xfrm>
          <a:prstGeom prst="rect">
            <a:avLst/>
          </a:prstGeom>
          <a:solidFill>
            <a:schemeClr val="bg1"/>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40" name="Graphic 39">
            <a:extLst>
              <a:ext uri="{FF2B5EF4-FFF2-40B4-BE49-F238E27FC236}">
                <a16:creationId xmlns:a16="http://schemas.microsoft.com/office/drawing/2014/main" id="{68C8E024-C046-470A-979D-B418DC9357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9572" y="3476101"/>
            <a:ext cx="476658" cy="476658"/>
          </a:xfrm>
          <a:prstGeom prst="rect">
            <a:avLst/>
          </a:prstGeom>
        </p:spPr>
      </p:pic>
      <p:sp>
        <p:nvSpPr>
          <p:cNvPr id="136" name="TextBox 135">
            <a:extLst>
              <a:ext uri="{FF2B5EF4-FFF2-40B4-BE49-F238E27FC236}">
                <a16:creationId xmlns:a16="http://schemas.microsoft.com/office/drawing/2014/main" id="{62EC684D-B0A9-4773-83F4-414E2AAEDE0C}"/>
              </a:ext>
            </a:extLst>
          </p:cNvPr>
          <p:cNvSpPr txBox="1"/>
          <p:nvPr/>
        </p:nvSpPr>
        <p:spPr>
          <a:xfrm>
            <a:off x="908515" y="4014486"/>
            <a:ext cx="1338773" cy="246221"/>
          </a:xfrm>
          <a:prstGeom prst="rect">
            <a:avLst/>
          </a:prstGeom>
          <a:noFill/>
        </p:spPr>
        <p:txBody>
          <a:bodyPr wrap="square" rtlCol="0">
            <a:spAutoFit/>
          </a:bodyPr>
          <a:lstStyle/>
          <a:p>
            <a:pPr algn="ctr"/>
            <a:r>
              <a:rPr lang="de-DE" sz="1000" dirty="0"/>
              <a:t>(Fern-) Wärmenetz</a:t>
            </a:r>
          </a:p>
        </p:txBody>
      </p:sp>
      <p:pic>
        <p:nvPicPr>
          <p:cNvPr id="160" name="Graphic 159">
            <a:extLst>
              <a:ext uri="{FF2B5EF4-FFF2-40B4-BE49-F238E27FC236}">
                <a16:creationId xmlns:a16="http://schemas.microsoft.com/office/drawing/2014/main" id="{9A139981-3EAF-45DF-B4C2-589FBEB30B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5739" y="2266026"/>
            <a:ext cx="524324" cy="524324"/>
          </a:xfrm>
          <a:prstGeom prst="rect">
            <a:avLst/>
          </a:prstGeom>
        </p:spPr>
      </p:pic>
      <p:sp>
        <p:nvSpPr>
          <p:cNvPr id="161" name="TextBox 160">
            <a:extLst>
              <a:ext uri="{FF2B5EF4-FFF2-40B4-BE49-F238E27FC236}">
                <a16:creationId xmlns:a16="http://schemas.microsoft.com/office/drawing/2014/main" id="{49DE0D50-66D3-4F70-8E40-82DC9E05B96C}"/>
              </a:ext>
            </a:extLst>
          </p:cNvPr>
          <p:cNvSpPr txBox="1"/>
          <p:nvPr/>
        </p:nvSpPr>
        <p:spPr>
          <a:xfrm>
            <a:off x="908515" y="2862358"/>
            <a:ext cx="1338773" cy="246221"/>
          </a:xfrm>
          <a:prstGeom prst="rect">
            <a:avLst/>
          </a:prstGeom>
          <a:noFill/>
        </p:spPr>
        <p:txBody>
          <a:bodyPr wrap="square" rtlCol="0">
            <a:spAutoFit/>
          </a:bodyPr>
          <a:lstStyle/>
          <a:p>
            <a:pPr algn="ctr"/>
            <a:r>
              <a:rPr lang="de-DE" sz="1000" dirty="0"/>
              <a:t>Wärmeerzeugung</a:t>
            </a:r>
          </a:p>
        </p:txBody>
      </p:sp>
      <p:sp>
        <p:nvSpPr>
          <p:cNvPr id="17" name="TextBox 16">
            <a:extLst>
              <a:ext uri="{FF2B5EF4-FFF2-40B4-BE49-F238E27FC236}">
                <a16:creationId xmlns:a16="http://schemas.microsoft.com/office/drawing/2014/main" id="{FA592B82-EF4B-CB8C-E022-99B2AAC0BF18}"/>
              </a:ext>
            </a:extLst>
          </p:cNvPr>
          <p:cNvSpPr txBox="1"/>
          <p:nvPr/>
        </p:nvSpPr>
        <p:spPr>
          <a:xfrm>
            <a:off x="1024689"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grpSp>
        <p:nvGrpSpPr>
          <p:cNvPr id="32" name="Group 31">
            <a:extLst>
              <a:ext uri="{FF2B5EF4-FFF2-40B4-BE49-F238E27FC236}">
                <a16:creationId xmlns:a16="http://schemas.microsoft.com/office/drawing/2014/main" id="{143B1BC3-67C7-BDEA-95AE-0B25DE91B47A}"/>
              </a:ext>
            </a:extLst>
          </p:cNvPr>
          <p:cNvGrpSpPr/>
          <p:nvPr/>
        </p:nvGrpSpPr>
        <p:grpSpPr>
          <a:xfrm rot="19578074">
            <a:off x="83312" y="1383666"/>
            <a:ext cx="1370711" cy="607596"/>
            <a:chOff x="442824" y="1227963"/>
            <a:chExt cx="1850400" cy="607596"/>
          </a:xfrm>
          <a:effectLst>
            <a:outerShdw blurRad="50800" dist="38100" dir="2700000" algn="tl" rotWithShape="0">
              <a:prstClr val="black">
                <a:alpha val="40000"/>
              </a:prstClr>
            </a:outerShdw>
          </a:effectLst>
        </p:grpSpPr>
        <p:sp>
          <p:nvSpPr>
            <p:cNvPr id="22" name="Rectangle 21">
              <a:extLst>
                <a:ext uri="{FF2B5EF4-FFF2-40B4-BE49-F238E27FC236}">
                  <a16:creationId xmlns:a16="http://schemas.microsoft.com/office/drawing/2014/main" id="{20D8A8C2-AFB8-522C-9317-7689843B2CF2}"/>
                </a:ext>
              </a:extLst>
            </p:cNvPr>
            <p:cNvSpPr/>
            <p:nvPr/>
          </p:nvSpPr>
          <p:spPr>
            <a:xfrm>
              <a:off x="442825" y="1227964"/>
              <a:ext cx="1848715" cy="607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solidFill>
                    <a:srgbClr val="00B050"/>
                  </a:solidFill>
                </a:rPr>
                <a:t>Beispiel Stadtwerk </a:t>
              </a:r>
              <a:r>
                <a:rPr lang="de-DE" sz="1000" b="1" dirty="0">
                  <a:solidFill>
                    <a:srgbClr val="00B050"/>
                  </a:solidFill>
                  <a:latin typeface="Univers for Metzler Light" panose="020B0403030202020203" pitchFamily="34" charset="0"/>
                </a:rPr>
                <a:t>−</a:t>
              </a:r>
            </a:p>
            <a:p>
              <a:pPr algn="ctr"/>
              <a:r>
                <a:rPr lang="de-DE" sz="1000" b="1" dirty="0">
                  <a:solidFill>
                    <a:srgbClr val="00B050"/>
                  </a:solidFill>
                  <a:latin typeface="Univers for Metzler Light" panose="020B0403030202020203" pitchFamily="34" charset="0"/>
                </a:rPr>
                <a:t>Beteiligung am Wärmebereich</a:t>
              </a:r>
              <a:endParaRPr lang="de-DE" sz="1000" b="1" dirty="0">
                <a:solidFill>
                  <a:srgbClr val="00B050"/>
                </a:solidFill>
              </a:endParaRPr>
            </a:p>
          </p:txBody>
        </p:sp>
        <p:cxnSp>
          <p:nvCxnSpPr>
            <p:cNvPr id="28" name="Straight Connector 27">
              <a:extLst>
                <a:ext uri="{FF2B5EF4-FFF2-40B4-BE49-F238E27FC236}">
                  <a16:creationId xmlns:a16="http://schemas.microsoft.com/office/drawing/2014/main" id="{65D1B749-A527-62B8-A948-D322D325D157}"/>
                </a:ext>
              </a:extLst>
            </p:cNvPr>
            <p:cNvCxnSpPr>
              <a:cxnSpLocks/>
            </p:cNvCxnSpPr>
            <p:nvPr/>
          </p:nvCxnSpPr>
          <p:spPr>
            <a:xfrm>
              <a:off x="442824" y="1227963"/>
              <a:ext cx="18504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0A71246-94ED-0AA7-8DA8-AC59CDFC7385}"/>
                </a:ext>
              </a:extLst>
            </p:cNvPr>
            <p:cNvCxnSpPr>
              <a:cxnSpLocks/>
            </p:cNvCxnSpPr>
            <p:nvPr/>
          </p:nvCxnSpPr>
          <p:spPr>
            <a:xfrm>
              <a:off x="442824" y="1835558"/>
              <a:ext cx="18504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BEFF592B-BF91-45F1-B323-4A82F75A8D7F}"/>
              </a:ext>
            </a:extLst>
          </p:cNvPr>
          <p:cNvSpPr/>
          <p:nvPr/>
        </p:nvSpPr>
        <p:spPr>
          <a:xfrm>
            <a:off x="3006845" y="4500711"/>
            <a:ext cx="7295046" cy="1800000"/>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marL="174625" indent="-174625">
              <a:spcAft>
                <a:spcPts val="600"/>
              </a:spcAft>
              <a:buClr>
                <a:srgbClr val="003D7C"/>
              </a:buClr>
              <a:buFont typeface="Wingdings" pitchFamily="2" charset="2"/>
              <a:buChar char="n"/>
              <a:defRPr/>
            </a:pPr>
            <a:r>
              <a:rPr lang="de-DE" sz="1000" dirty="0">
                <a:solidFill>
                  <a:schemeClr val="tx1"/>
                </a:solidFill>
              </a:rPr>
              <a:t>Strukturierung: (Fern-)Wärmegeschäft wird in "</a:t>
            </a:r>
            <a:r>
              <a:rPr lang="de-DE" sz="1000" dirty="0" err="1">
                <a:solidFill>
                  <a:schemeClr val="tx1"/>
                </a:solidFill>
              </a:rPr>
              <a:t>HoldCos</a:t>
            </a:r>
            <a:r>
              <a:rPr lang="de-DE" sz="1000" dirty="0">
                <a:solidFill>
                  <a:schemeClr val="tx1"/>
                </a:solidFill>
              </a:rPr>
              <a:t>" ausgegliedert, an denen Investoren beteiligt werden können</a:t>
            </a:r>
          </a:p>
          <a:p>
            <a:pPr marL="174625" indent="-174625">
              <a:spcAft>
                <a:spcPts val="200"/>
              </a:spcAft>
              <a:buClr>
                <a:srgbClr val="003D7C"/>
              </a:buClr>
              <a:buFont typeface="Wingdings" pitchFamily="2" charset="2"/>
              <a:buChar char="n"/>
              <a:defRPr/>
            </a:pPr>
            <a:r>
              <a:rPr lang="de-DE" sz="1000" dirty="0">
                <a:solidFill>
                  <a:schemeClr val="tx1"/>
                </a:solidFill>
              </a:rPr>
              <a:t>Ausgewählte Themen und Herausforderungen: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Erarbeitung eines stand-</a:t>
            </a:r>
            <a:r>
              <a:rPr lang="de-DE" sz="1000" dirty="0" err="1">
                <a:solidFill>
                  <a:schemeClr val="tx1"/>
                </a:solidFill>
              </a:rPr>
              <a:t>alone</a:t>
            </a:r>
            <a:r>
              <a:rPr lang="de-DE" sz="1000" dirty="0">
                <a:solidFill>
                  <a:schemeClr val="tx1"/>
                </a:solidFill>
              </a:rPr>
              <a:t> Business Plans für jeweilige </a:t>
            </a:r>
            <a:r>
              <a:rPr lang="de-DE" sz="1000" dirty="0" err="1">
                <a:solidFill>
                  <a:schemeClr val="tx1"/>
                </a:solidFill>
              </a:rPr>
              <a:t>HoldCo</a:t>
            </a:r>
            <a:r>
              <a:rPr lang="de-DE" sz="1000" dirty="0">
                <a:solidFill>
                  <a:schemeClr val="tx1"/>
                </a:solidFill>
              </a:rPr>
              <a:t> inklusive Bilanz, GuV, Investitions- und CF-Planung</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Mittelfristig muss aus Sicht der Investoren ein attraktives Rendite-Risiko-Profil darstellbar sein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Dienstleistungen in </a:t>
            </a:r>
            <a:r>
              <a:rPr lang="de-DE" sz="1000" dirty="0" err="1">
                <a:solidFill>
                  <a:schemeClr val="tx1"/>
                </a:solidFill>
              </a:rPr>
              <a:t>HoldCo</a:t>
            </a:r>
            <a:r>
              <a:rPr lang="de-DE" sz="1000" dirty="0">
                <a:solidFill>
                  <a:schemeClr val="tx1"/>
                </a:solidFill>
              </a:rPr>
              <a:t> über eigenes Personal und/oder Dienstleistungsverträgen mit dem Stadtwerk</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Gemeinsame Nutzung der Infrastruktur und andere Stadtwerksaktivitäten müssen abgegrenzt und geregelt werden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Zusammenarbeit zwischen Investor und Stadtwerk ist in einer Gesellschaftsvereinbarung festzulegen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Rechtliche, steuerliche und regulatorische Aspekte sind zu prüfen</a:t>
            </a:r>
          </a:p>
          <a:p>
            <a:pPr marL="174625" indent="-174625">
              <a:spcAft>
                <a:spcPts val="600"/>
              </a:spcAft>
              <a:buClr>
                <a:srgbClr val="003D7C"/>
              </a:buClr>
              <a:buFont typeface="Wingdings" pitchFamily="2" charset="2"/>
              <a:buChar char="n"/>
              <a:defRPr/>
            </a:pPr>
            <a:endParaRPr lang="de-DE" sz="1000" dirty="0">
              <a:solidFill>
                <a:schemeClr val="tx1"/>
              </a:solidFill>
            </a:endParaRPr>
          </a:p>
        </p:txBody>
      </p:sp>
      <p:sp>
        <p:nvSpPr>
          <p:cNvPr id="14" name="Rectangle 13">
            <a:extLst>
              <a:ext uri="{FF2B5EF4-FFF2-40B4-BE49-F238E27FC236}">
                <a16:creationId xmlns:a16="http://schemas.microsoft.com/office/drawing/2014/main" id="{8BDF241B-2AA4-443E-B149-7FBD56434E29}"/>
              </a:ext>
            </a:extLst>
          </p:cNvPr>
          <p:cNvSpPr/>
          <p:nvPr/>
        </p:nvSpPr>
        <p:spPr>
          <a:xfrm>
            <a:off x="3006845" y="4500711"/>
            <a:ext cx="7295046"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Kommentar</a:t>
            </a:r>
          </a:p>
        </p:txBody>
      </p:sp>
      <p:sp>
        <p:nvSpPr>
          <p:cNvPr id="15" name="Rectangle 14">
            <a:extLst>
              <a:ext uri="{FF2B5EF4-FFF2-40B4-BE49-F238E27FC236}">
                <a16:creationId xmlns:a16="http://schemas.microsoft.com/office/drawing/2014/main" id="{DE7E5B78-6D19-4BAB-8814-9F9474C28168}"/>
              </a:ext>
            </a:extLst>
          </p:cNvPr>
          <p:cNvSpPr/>
          <p:nvPr/>
        </p:nvSpPr>
        <p:spPr>
          <a:xfrm>
            <a:off x="3006846" y="1395480"/>
            <a:ext cx="3543201"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tangle 15">
            <a:extLst>
              <a:ext uri="{FF2B5EF4-FFF2-40B4-BE49-F238E27FC236}">
                <a16:creationId xmlns:a16="http://schemas.microsoft.com/office/drawing/2014/main" id="{FD96F39D-0D9C-4FA4-A015-708EFDF5C16F}"/>
              </a:ext>
            </a:extLst>
          </p:cNvPr>
          <p:cNvSpPr/>
          <p:nvPr/>
        </p:nvSpPr>
        <p:spPr>
          <a:xfrm>
            <a:off x="3006846" y="1374871"/>
            <a:ext cx="3543201"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Option 1</a:t>
            </a:r>
          </a:p>
        </p:txBody>
      </p:sp>
      <p:sp>
        <p:nvSpPr>
          <p:cNvPr id="3" name="Freeform: Shape 2">
            <a:extLst>
              <a:ext uri="{FF2B5EF4-FFF2-40B4-BE49-F238E27FC236}">
                <a16:creationId xmlns:a16="http://schemas.microsoft.com/office/drawing/2014/main" id="{F6F10023-7EDA-0F5D-7B09-D60C9D106032}"/>
              </a:ext>
            </a:extLst>
          </p:cNvPr>
          <p:cNvSpPr/>
          <p:nvPr/>
        </p:nvSpPr>
        <p:spPr>
          <a:xfrm>
            <a:off x="3111919" y="1719957"/>
            <a:ext cx="2104854" cy="2635532"/>
          </a:xfrm>
          <a:custGeom>
            <a:avLst/>
            <a:gdLst>
              <a:gd name="connsiteX0" fmla="*/ 0 w 2104854"/>
              <a:gd name="connsiteY0" fmla="*/ 0 h 2702722"/>
              <a:gd name="connsiteX1" fmla="*/ 2104854 w 2104854"/>
              <a:gd name="connsiteY1" fmla="*/ 0 h 2702722"/>
              <a:gd name="connsiteX2" fmla="*/ 2104854 w 2104854"/>
              <a:gd name="connsiteY2" fmla="*/ 893047 h 2702722"/>
              <a:gd name="connsiteX3" fmla="*/ 550222 w 2104854"/>
              <a:gd name="connsiteY3" fmla="*/ 893047 h 2702722"/>
              <a:gd name="connsiteX4" fmla="*/ 550222 w 2104854"/>
              <a:gd name="connsiteY4" fmla="*/ 2702722 h 2702722"/>
              <a:gd name="connsiteX5" fmla="*/ 0 w 2104854"/>
              <a:gd name="connsiteY5" fmla="*/ 2702722 h 2702722"/>
              <a:gd name="connsiteX0" fmla="*/ 0 w 2104854"/>
              <a:gd name="connsiteY0" fmla="*/ 0 h 2702722"/>
              <a:gd name="connsiteX1" fmla="*/ 2104854 w 2104854"/>
              <a:gd name="connsiteY1" fmla="*/ 0 h 2702722"/>
              <a:gd name="connsiteX2" fmla="*/ 2104854 w 2104854"/>
              <a:gd name="connsiteY2" fmla="*/ 893047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 name="connsiteX0" fmla="*/ 0 w 2104854"/>
              <a:gd name="connsiteY0" fmla="*/ 0 h 2702722"/>
              <a:gd name="connsiteX1" fmla="*/ 2104854 w 2104854"/>
              <a:gd name="connsiteY1" fmla="*/ 0 h 2702722"/>
              <a:gd name="connsiteX2" fmla="*/ 2104854 w 2104854"/>
              <a:gd name="connsiteY2" fmla="*/ 764108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 name="connsiteX0" fmla="*/ 0 w 2104854"/>
              <a:gd name="connsiteY0" fmla="*/ 0 h 2702722"/>
              <a:gd name="connsiteX1" fmla="*/ 2104854 w 2104854"/>
              <a:gd name="connsiteY1" fmla="*/ 0 h 2702722"/>
              <a:gd name="connsiteX2" fmla="*/ 2104854 w 2104854"/>
              <a:gd name="connsiteY2" fmla="*/ 769068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4854" h="2702722">
                <a:moveTo>
                  <a:pt x="0" y="0"/>
                </a:moveTo>
                <a:lnTo>
                  <a:pt x="2104854" y="0"/>
                </a:lnTo>
                <a:lnTo>
                  <a:pt x="2104854" y="769068"/>
                </a:lnTo>
                <a:lnTo>
                  <a:pt x="550222" y="778986"/>
                </a:lnTo>
                <a:lnTo>
                  <a:pt x="550222" y="2702722"/>
                </a:lnTo>
                <a:lnTo>
                  <a:pt x="0" y="2702722"/>
                </a:lnTo>
                <a:lnTo>
                  <a:pt x="0" y="0"/>
                </a:lnTo>
                <a:close/>
              </a:path>
            </a:pathLst>
          </a:custGeom>
          <a:solidFill>
            <a:schemeClr val="bg1"/>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000" tIns="18000" rIns="18000" bIns="18000" rtlCol="0" anchor="ctr">
            <a:noAutofit/>
          </a:bodyPr>
          <a:lstStyle/>
          <a:p>
            <a:pPr algn="ctr"/>
            <a:endParaRPr lang="de-DE" sz="800" b="1" dirty="0">
              <a:solidFill>
                <a:schemeClr val="bg1"/>
              </a:solidFill>
            </a:endParaRPr>
          </a:p>
        </p:txBody>
      </p:sp>
      <p:sp>
        <p:nvSpPr>
          <p:cNvPr id="10" name="Rectangle 9">
            <a:extLst>
              <a:ext uri="{FF2B5EF4-FFF2-40B4-BE49-F238E27FC236}">
                <a16:creationId xmlns:a16="http://schemas.microsoft.com/office/drawing/2014/main" id="{6B5EC293-11F1-B263-2D2C-D197AF92A15A}"/>
              </a:ext>
            </a:extLst>
          </p:cNvPr>
          <p:cNvSpPr/>
          <p:nvPr/>
        </p:nvSpPr>
        <p:spPr>
          <a:xfrm>
            <a:off x="5272159" y="2975145"/>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dirty="0">
                <a:solidFill>
                  <a:schemeClr val="accent6"/>
                </a:solidFill>
              </a:rPr>
              <a:t>Minderheit</a:t>
            </a:r>
          </a:p>
        </p:txBody>
      </p:sp>
      <p:cxnSp>
        <p:nvCxnSpPr>
          <p:cNvPr id="19" name="Connector: Elbow 18">
            <a:extLst>
              <a:ext uri="{FF2B5EF4-FFF2-40B4-BE49-F238E27FC236}">
                <a16:creationId xmlns:a16="http://schemas.microsoft.com/office/drawing/2014/main" id="{B4559778-7202-EE4E-0B4D-99B78491525E}"/>
              </a:ext>
            </a:extLst>
          </p:cNvPr>
          <p:cNvCxnSpPr>
            <a:cxnSpLocks/>
            <a:stCxn id="37" idx="2"/>
            <a:endCxn id="39" idx="3"/>
          </p:cNvCxnSpPr>
          <p:nvPr/>
        </p:nvCxnSpPr>
        <p:spPr>
          <a:xfrm rot="5400000">
            <a:off x="5361952" y="2379507"/>
            <a:ext cx="396071" cy="710674"/>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1D9B09E-CF64-5C88-F17D-CF7F57CF22EF}"/>
              </a:ext>
            </a:extLst>
          </p:cNvPr>
          <p:cNvSpPr txBox="1"/>
          <p:nvPr/>
        </p:nvSpPr>
        <p:spPr>
          <a:xfrm>
            <a:off x="4454460" y="2490069"/>
            <a:ext cx="567771" cy="246221"/>
          </a:xfrm>
          <a:prstGeom prst="rect">
            <a:avLst/>
          </a:prstGeom>
          <a:noFill/>
        </p:spPr>
        <p:txBody>
          <a:bodyPr wrap="square" rtlCol="0">
            <a:spAutoFit/>
          </a:bodyPr>
          <a:lstStyle/>
          <a:p>
            <a:pPr algn="ctr"/>
            <a:r>
              <a:rPr lang="de-DE" sz="1000" i="1" dirty="0"/>
              <a:t>&gt;50%</a:t>
            </a:r>
          </a:p>
        </p:txBody>
      </p:sp>
      <p:sp>
        <p:nvSpPr>
          <p:cNvPr id="29" name="Rectangle 28">
            <a:extLst>
              <a:ext uri="{FF2B5EF4-FFF2-40B4-BE49-F238E27FC236}">
                <a16:creationId xmlns:a16="http://schemas.microsoft.com/office/drawing/2014/main" id="{71F2BBF9-7A1E-68DE-79B7-8C9780009836}"/>
              </a:ext>
            </a:extLst>
          </p:cNvPr>
          <p:cNvSpPr/>
          <p:nvPr/>
        </p:nvSpPr>
        <p:spPr>
          <a:xfrm>
            <a:off x="3767006" y="2752860"/>
            <a:ext cx="1437644" cy="1602629"/>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30" name="Graphic 29">
            <a:extLst>
              <a:ext uri="{FF2B5EF4-FFF2-40B4-BE49-F238E27FC236}">
                <a16:creationId xmlns:a16="http://schemas.microsoft.com/office/drawing/2014/main" id="{9A39981D-143E-13D2-9010-2C2ACE70FF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0271" y="3875439"/>
            <a:ext cx="295967" cy="295967"/>
          </a:xfrm>
          <a:prstGeom prst="rect">
            <a:avLst/>
          </a:prstGeom>
        </p:spPr>
      </p:pic>
      <p:sp>
        <p:nvSpPr>
          <p:cNvPr id="33" name="TextBox 32">
            <a:extLst>
              <a:ext uri="{FF2B5EF4-FFF2-40B4-BE49-F238E27FC236}">
                <a16:creationId xmlns:a16="http://schemas.microsoft.com/office/drawing/2014/main" id="{F95B6D52-691D-C87E-7142-8A898415CB7C}"/>
              </a:ext>
            </a:extLst>
          </p:cNvPr>
          <p:cNvSpPr txBox="1"/>
          <p:nvPr/>
        </p:nvSpPr>
        <p:spPr>
          <a:xfrm>
            <a:off x="4164443" y="3852639"/>
            <a:ext cx="1005840" cy="369332"/>
          </a:xfrm>
          <a:prstGeom prst="rect">
            <a:avLst/>
          </a:prstGeom>
          <a:noFill/>
        </p:spPr>
        <p:txBody>
          <a:bodyPr wrap="square" rtlCol="0">
            <a:spAutoFit/>
          </a:bodyPr>
          <a:lstStyle/>
          <a:p>
            <a:pPr algn="ctr"/>
            <a:r>
              <a:rPr lang="de-DE" sz="900" dirty="0"/>
              <a:t>(Fern-) Wärmenetze</a:t>
            </a:r>
          </a:p>
        </p:txBody>
      </p:sp>
      <p:pic>
        <p:nvPicPr>
          <p:cNvPr id="34" name="Graphic 33">
            <a:extLst>
              <a:ext uri="{FF2B5EF4-FFF2-40B4-BE49-F238E27FC236}">
                <a16:creationId xmlns:a16="http://schemas.microsoft.com/office/drawing/2014/main" id="{31D47D86-EDC1-A763-262B-9D9255F20E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5472" y="3350710"/>
            <a:ext cx="325564" cy="325564"/>
          </a:xfrm>
          <a:prstGeom prst="rect">
            <a:avLst/>
          </a:prstGeom>
        </p:spPr>
      </p:pic>
      <p:sp>
        <p:nvSpPr>
          <p:cNvPr id="36" name="TextBox 35">
            <a:extLst>
              <a:ext uri="{FF2B5EF4-FFF2-40B4-BE49-F238E27FC236}">
                <a16:creationId xmlns:a16="http://schemas.microsoft.com/office/drawing/2014/main" id="{E637DC5E-CFA5-CB78-732F-91DF97EB0CC7}"/>
              </a:ext>
            </a:extLst>
          </p:cNvPr>
          <p:cNvSpPr txBox="1"/>
          <p:nvPr/>
        </p:nvSpPr>
        <p:spPr>
          <a:xfrm>
            <a:off x="4110349" y="3405216"/>
            <a:ext cx="1106424" cy="230832"/>
          </a:xfrm>
          <a:prstGeom prst="rect">
            <a:avLst/>
          </a:prstGeom>
          <a:noFill/>
        </p:spPr>
        <p:txBody>
          <a:bodyPr wrap="square" rtlCol="0">
            <a:spAutoFit/>
          </a:bodyPr>
          <a:lstStyle/>
          <a:p>
            <a:pPr algn="ctr"/>
            <a:r>
              <a:rPr lang="de-DE" sz="900" dirty="0"/>
              <a:t>Wärmeerzeugung</a:t>
            </a:r>
          </a:p>
        </p:txBody>
      </p:sp>
      <p:sp>
        <p:nvSpPr>
          <p:cNvPr id="37" name="Rectangle 36">
            <a:extLst>
              <a:ext uri="{FF2B5EF4-FFF2-40B4-BE49-F238E27FC236}">
                <a16:creationId xmlns:a16="http://schemas.microsoft.com/office/drawing/2014/main" id="{AEE47D94-D1E0-F641-1928-B9E375179B9B}"/>
              </a:ext>
            </a:extLst>
          </p:cNvPr>
          <p:cNvSpPr/>
          <p:nvPr/>
        </p:nvSpPr>
        <p:spPr>
          <a:xfrm>
            <a:off x="5546454" y="2290896"/>
            <a:ext cx="737740"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a:t>
            </a:r>
          </a:p>
        </p:txBody>
      </p:sp>
      <p:cxnSp>
        <p:nvCxnSpPr>
          <p:cNvPr id="43" name="Straight Connector 42">
            <a:extLst>
              <a:ext uri="{FF2B5EF4-FFF2-40B4-BE49-F238E27FC236}">
                <a16:creationId xmlns:a16="http://schemas.microsoft.com/office/drawing/2014/main" id="{987327EF-2B80-8DCE-E5DE-F3158B19EC74}"/>
              </a:ext>
            </a:extLst>
          </p:cNvPr>
          <p:cNvCxnSpPr>
            <a:cxnSpLocks/>
          </p:cNvCxnSpPr>
          <p:nvPr/>
        </p:nvCxnSpPr>
        <p:spPr>
          <a:xfrm>
            <a:off x="4485828" y="2451939"/>
            <a:ext cx="0" cy="29972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BB0672D-1A47-140C-26D1-B57F932BDA11}"/>
              </a:ext>
            </a:extLst>
          </p:cNvPr>
          <p:cNvSpPr txBox="1"/>
          <p:nvPr/>
        </p:nvSpPr>
        <p:spPr>
          <a:xfrm>
            <a:off x="3603026"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sp>
        <p:nvSpPr>
          <p:cNvPr id="45" name="Rectangle 44">
            <a:extLst>
              <a:ext uri="{FF2B5EF4-FFF2-40B4-BE49-F238E27FC236}">
                <a16:creationId xmlns:a16="http://schemas.microsoft.com/office/drawing/2014/main" id="{A02A6E4C-1723-98C5-8101-3ECC3DF38792}"/>
              </a:ext>
            </a:extLst>
          </p:cNvPr>
          <p:cNvSpPr/>
          <p:nvPr/>
        </p:nvSpPr>
        <p:spPr>
          <a:xfrm>
            <a:off x="9462047" y="2994059"/>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spc="-10" dirty="0">
                <a:solidFill>
                  <a:schemeClr val="accent6"/>
                </a:solidFill>
              </a:rPr>
              <a:t>Minderheit</a:t>
            </a:r>
          </a:p>
        </p:txBody>
      </p:sp>
      <p:cxnSp>
        <p:nvCxnSpPr>
          <p:cNvPr id="46" name="Connector: Elbow 45">
            <a:extLst>
              <a:ext uri="{FF2B5EF4-FFF2-40B4-BE49-F238E27FC236}">
                <a16:creationId xmlns:a16="http://schemas.microsoft.com/office/drawing/2014/main" id="{1EF9491C-E360-0885-B4D1-A38A1C9E576B}"/>
              </a:ext>
            </a:extLst>
          </p:cNvPr>
          <p:cNvCxnSpPr>
            <a:cxnSpLocks/>
            <a:stCxn id="52" idx="2"/>
            <a:endCxn id="59" idx="3"/>
          </p:cNvCxnSpPr>
          <p:nvPr/>
        </p:nvCxnSpPr>
        <p:spPr>
          <a:xfrm rot="5400000">
            <a:off x="9552695" y="2591975"/>
            <a:ext cx="403783" cy="293451"/>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E8FF176-32C8-22CC-D900-C735983CE532}"/>
              </a:ext>
            </a:extLst>
          </p:cNvPr>
          <p:cNvSpPr txBox="1"/>
          <p:nvPr/>
        </p:nvSpPr>
        <p:spPr>
          <a:xfrm>
            <a:off x="7871746" y="2439424"/>
            <a:ext cx="567771" cy="246221"/>
          </a:xfrm>
          <a:prstGeom prst="rect">
            <a:avLst/>
          </a:prstGeom>
          <a:noFill/>
        </p:spPr>
        <p:txBody>
          <a:bodyPr wrap="square" rtlCol="0">
            <a:spAutoFit/>
          </a:bodyPr>
          <a:lstStyle/>
          <a:p>
            <a:pPr algn="ctr"/>
            <a:r>
              <a:rPr lang="de-DE" sz="1000" i="1" dirty="0"/>
              <a:t>100%</a:t>
            </a:r>
          </a:p>
        </p:txBody>
      </p:sp>
      <p:sp>
        <p:nvSpPr>
          <p:cNvPr id="49" name="Rectangle 48">
            <a:extLst>
              <a:ext uri="{FF2B5EF4-FFF2-40B4-BE49-F238E27FC236}">
                <a16:creationId xmlns:a16="http://schemas.microsoft.com/office/drawing/2014/main" id="{DC95D9C9-06CB-8037-5A14-E0FA5B32697D}"/>
              </a:ext>
            </a:extLst>
          </p:cNvPr>
          <p:cNvSpPr/>
          <p:nvPr/>
        </p:nvSpPr>
        <p:spPr>
          <a:xfrm>
            <a:off x="7455635" y="2706027"/>
            <a:ext cx="988580" cy="1649462"/>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50" name="Graphic 49">
            <a:extLst>
              <a:ext uri="{FF2B5EF4-FFF2-40B4-BE49-F238E27FC236}">
                <a16:creationId xmlns:a16="http://schemas.microsoft.com/office/drawing/2014/main" id="{A94DFE7A-5256-2018-D40E-FD9C844F58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87143" y="3250324"/>
            <a:ext cx="325564" cy="325564"/>
          </a:xfrm>
          <a:prstGeom prst="rect">
            <a:avLst/>
          </a:prstGeom>
        </p:spPr>
      </p:pic>
      <p:sp>
        <p:nvSpPr>
          <p:cNvPr id="51" name="TextBox 50">
            <a:extLst>
              <a:ext uri="{FF2B5EF4-FFF2-40B4-BE49-F238E27FC236}">
                <a16:creationId xmlns:a16="http://schemas.microsoft.com/office/drawing/2014/main" id="{33B72D39-B52C-2BE3-7EDF-4A78AF77C65C}"/>
              </a:ext>
            </a:extLst>
          </p:cNvPr>
          <p:cNvSpPr txBox="1"/>
          <p:nvPr/>
        </p:nvSpPr>
        <p:spPr>
          <a:xfrm>
            <a:off x="7369020" y="3987363"/>
            <a:ext cx="1161810" cy="369332"/>
          </a:xfrm>
          <a:prstGeom prst="rect">
            <a:avLst/>
          </a:prstGeom>
          <a:noFill/>
        </p:spPr>
        <p:txBody>
          <a:bodyPr wrap="square" rtlCol="0">
            <a:spAutoFit/>
          </a:bodyPr>
          <a:lstStyle/>
          <a:p>
            <a:pPr algn="ctr"/>
            <a:r>
              <a:rPr lang="de-DE" sz="900" dirty="0"/>
              <a:t>Nahwärmenetze und Contracting</a:t>
            </a:r>
          </a:p>
        </p:txBody>
      </p:sp>
      <p:sp>
        <p:nvSpPr>
          <p:cNvPr id="52" name="Rectangle 51">
            <a:extLst>
              <a:ext uri="{FF2B5EF4-FFF2-40B4-BE49-F238E27FC236}">
                <a16:creationId xmlns:a16="http://schemas.microsoft.com/office/drawing/2014/main" id="{66221C8C-EFD2-75C0-FB36-0946F2312FFB}"/>
              </a:ext>
            </a:extLst>
          </p:cNvPr>
          <p:cNvSpPr/>
          <p:nvPr/>
        </p:nvSpPr>
        <p:spPr>
          <a:xfrm>
            <a:off x="9553818" y="2290896"/>
            <a:ext cx="69498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 2</a:t>
            </a:r>
            <a:endParaRPr lang="de-DE" sz="800" b="1" dirty="0">
              <a:solidFill>
                <a:schemeClr val="bg1"/>
              </a:solidFill>
            </a:endParaRPr>
          </a:p>
        </p:txBody>
      </p:sp>
      <p:cxnSp>
        <p:nvCxnSpPr>
          <p:cNvPr id="54" name="Straight Connector 53">
            <a:extLst>
              <a:ext uri="{FF2B5EF4-FFF2-40B4-BE49-F238E27FC236}">
                <a16:creationId xmlns:a16="http://schemas.microsoft.com/office/drawing/2014/main" id="{808A8FB9-CD7B-756F-FDD2-51A54C3A4E44}"/>
              </a:ext>
            </a:extLst>
          </p:cNvPr>
          <p:cNvCxnSpPr>
            <a:cxnSpLocks/>
          </p:cNvCxnSpPr>
          <p:nvPr/>
        </p:nvCxnSpPr>
        <p:spPr>
          <a:xfrm>
            <a:off x="7864199" y="2047870"/>
            <a:ext cx="0" cy="855157"/>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811AB3D8-AD66-3EDB-7EB0-AC5D84CE6724}"/>
              </a:ext>
            </a:extLst>
          </p:cNvPr>
          <p:cNvSpPr/>
          <p:nvPr/>
        </p:nvSpPr>
        <p:spPr>
          <a:xfrm>
            <a:off x="8619279" y="2706027"/>
            <a:ext cx="988580" cy="1649462"/>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61" name="Graphic 60">
            <a:extLst>
              <a:ext uri="{FF2B5EF4-FFF2-40B4-BE49-F238E27FC236}">
                <a16:creationId xmlns:a16="http://schemas.microsoft.com/office/drawing/2014/main" id="{258AE563-DCE2-8F57-930F-CC097A479F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65586" y="3650191"/>
            <a:ext cx="295967" cy="295967"/>
          </a:xfrm>
          <a:prstGeom prst="rect">
            <a:avLst/>
          </a:prstGeom>
        </p:spPr>
      </p:pic>
      <p:sp>
        <p:nvSpPr>
          <p:cNvPr id="62" name="TextBox 61">
            <a:extLst>
              <a:ext uri="{FF2B5EF4-FFF2-40B4-BE49-F238E27FC236}">
                <a16:creationId xmlns:a16="http://schemas.microsoft.com/office/drawing/2014/main" id="{9B40765A-71A7-8A4E-9D5A-35A44373EC0C}"/>
              </a:ext>
            </a:extLst>
          </p:cNvPr>
          <p:cNvSpPr txBox="1"/>
          <p:nvPr/>
        </p:nvSpPr>
        <p:spPr>
          <a:xfrm>
            <a:off x="8505036" y="3987363"/>
            <a:ext cx="1217066" cy="507831"/>
          </a:xfrm>
          <a:prstGeom prst="rect">
            <a:avLst/>
          </a:prstGeom>
          <a:noFill/>
        </p:spPr>
        <p:txBody>
          <a:bodyPr wrap="square" rtlCol="0">
            <a:spAutoFit/>
          </a:bodyPr>
          <a:lstStyle/>
          <a:p>
            <a:pPr algn="ctr"/>
            <a:r>
              <a:rPr lang="de-DE" sz="900" dirty="0"/>
              <a:t>(Fern-) Wärmenetz und -erzeugung</a:t>
            </a:r>
          </a:p>
        </p:txBody>
      </p:sp>
      <p:cxnSp>
        <p:nvCxnSpPr>
          <p:cNvPr id="68" name="Straight Connector 67">
            <a:extLst>
              <a:ext uri="{FF2B5EF4-FFF2-40B4-BE49-F238E27FC236}">
                <a16:creationId xmlns:a16="http://schemas.microsoft.com/office/drawing/2014/main" id="{3CCA1695-050A-2723-054D-73BA3D3CD1A4}"/>
              </a:ext>
            </a:extLst>
          </p:cNvPr>
          <p:cNvCxnSpPr>
            <a:cxnSpLocks/>
          </p:cNvCxnSpPr>
          <p:nvPr/>
        </p:nvCxnSpPr>
        <p:spPr>
          <a:xfrm>
            <a:off x="9221521" y="2047870"/>
            <a:ext cx="0" cy="940673"/>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AD46CCE8-79AC-8F35-D4B0-3824737C644B}"/>
              </a:ext>
            </a:extLst>
          </p:cNvPr>
          <p:cNvCxnSpPr>
            <a:cxnSpLocks/>
            <a:endCxn id="53" idx="1"/>
          </p:cNvCxnSpPr>
          <p:nvPr/>
        </p:nvCxnSpPr>
        <p:spPr>
          <a:xfrm rot="16200000" flipH="1">
            <a:off x="6997605" y="2482562"/>
            <a:ext cx="562782" cy="353277"/>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CFD9B61F-9034-BD43-9E6E-87759632D2BC}"/>
              </a:ext>
            </a:extLst>
          </p:cNvPr>
          <p:cNvSpPr/>
          <p:nvPr/>
        </p:nvSpPr>
        <p:spPr>
          <a:xfrm>
            <a:off x="6618170" y="2972629"/>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spc="-10" dirty="0">
                <a:solidFill>
                  <a:schemeClr val="accent6"/>
                </a:solidFill>
              </a:rPr>
              <a:t>Minderheit</a:t>
            </a:r>
          </a:p>
        </p:txBody>
      </p:sp>
      <p:sp>
        <p:nvSpPr>
          <p:cNvPr id="71" name="TextBox 70">
            <a:extLst>
              <a:ext uri="{FF2B5EF4-FFF2-40B4-BE49-F238E27FC236}">
                <a16:creationId xmlns:a16="http://schemas.microsoft.com/office/drawing/2014/main" id="{844C44BA-4B48-2A61-EAC9-6BFFB45E06F7}"/>
              </a:ext>
            </a:extLst>
          </p:cNvPr>
          <p:cNvSpPr txBox="1"/>
          <p:nvPr/>
        </p:nvSpPr>
        <p:spPr>
          <a:xfrm>
            <a:off x="8632877" y="2439424"/>
            <a:ext cx="567771" cy="246221"/>
          </a:xfrm>
          <a:prstGeom prst="rect">
            <a:avLst/>
          </a:prstGeom>
          <a:noFill/>
        </p:spPr>
        <p:txBody>
          <a:bodyPr wrap="square" rtlCol="0">
            <a:spAutoFit/>
          </a:bodyPr>
          <a:lstStyle/>
          <a:p>
            <a:pPr algn="ctr"/>
            <a:r>
              <a:rPr lang="de-DE" sz="1000" i="1" dirty="0"/>
              <a:t>100%</a:t>
            </a:r>
          </a:p>
        </p:txBody>
      </p:sp>
      <p:sp>
        <p:nvSpPr>
          <p:cNvPr id="72" name="Rectangle 71">
            <a:extLst>
              <a:ext uri="{FF2B5EF4-FFF2-40B4-BE49-F238E27FC236}">
                <a16:creationId xmlns:a16="http://schemas.microsoft.com/office/drawing/2014/main" id="{DC94F09E-0BA2-F499-C5CB-EBF7B8D1D819}"/>
              </a:ext>
            </a:extLst>
          </p:cNvPr>
          <p:cNvSpPr/>
          <p:nvPr/>
        </p:nvSpPr>
        <p:spPr>
          <a:xfrm>
            <a:off x="8285911" y="3411351"/>
            <a:ext cx="513899" cy="325564"/>
          </a:xfrm>
          <a:prstGeom prst="rect">
            <a:avLst/>
          </a:prstGeom>
          <a:solidFill>
            <a:schemeClr val="accent4">
              <a:lumMod val="20000"/>
              <a:lumOff val="80000"/>
            </a:schemeClr>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accent1"/>
                </a:solidFill>
              </a:rPr>
              <a:t>und/</a:t>
            </a:r>
          </a:p>
          <a:p>
            <a:pPr algn="ctr"/>
            <a:r>
              <a:rPr lang="de-DE" sz="900" b="1" dirty="0">
                <a:solidFill>
                  <a:schemeClr val="accent1"/>
                </a:solidFill>
              </a:rPr>
              <a:t>oder</a:t>
            </a:r>
            <a:endParaRPr lang="de-DE" sz="900" i="1" dirty="0">
              <a:solidFill>
                <a:schemeClr val="accent1"/>
              </a:solidFill>
            </a:endParaRPr>
          </a:p>
        </p:txBody>
      </p:sp>
      <p:sp>
        <p:nvSpPr>
          <p:cNvPr id="73" name="Rectangle 72">
            <a:extLst>
              <a:ext uri="{FF2B5EF4-FFF2-40B4-BE49-F238E27FC236}">
                <a16:creationId xmlns:a16="http://schemas.microsoft.com/office/drawing/2014/main" id="{7CA0CCE4-BDE3-ED86-34CA-6DFF37B3A1F1}"/>
              </a:ext>
            </a:extLst>
          </p:cNvPr>
          <p:cNvSpPr/>
          <p:nvPr/>
        </p:nvSpPr>
        <p:spPr>
          <a:xfrm>
            <a:off x="6806462" y="2290896"/>
            <a:ext cx="69498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 1</a:t>
            </a:r>
            <a:endParaRPr lang="de-DE" sz="800" b="1" dirty="0">
              <a:solidFill>
                <a:schemeClr val="bg1"/>
              </a:solidFill>
            </a:endParaRPr>
          </a:p>
        </p:txBody>
      </p:sp>
      <p:pic>
        <p:nvPicPr>
          <p:cNvPr id="113" name="Graphic 112">
            <a:extLst>
              <a:ext uri="{FF2B5EF4-FFF2-40B4-BE49-F238E27FC236}">
                <a16:creationId xmlns:a16="http://schemas.microsoft.com/office/drawing/2014/main" id="{81A5ACBA-77BF-16E7-5D98-5DB8679CC3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1942" y="3650191"/>
            <a:ext cx="295967" cy="295967"/>
          </a:xfrm>
          <a:prstGeom prst="rect">
            <a:avLst/>
          </a:prstGeom>
        </p:spPr>
      </p:pic>
      <p:pic>
        <p:nvPicPr>
          <p:cNvPr id="114" name="Graphic 113">
            <a:extLst>
              <a:ext uri="{FF2B5EF4-FFF2-40B4-BE49-F238E27FC236}">
                <a16:creationId xmlns:a16="http://schemas.microsoft.com/office/drawing/2014/main" id="{A6BE20E5-06D1-010D-894C-572228937B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586" y="3239367"/>
            <a:ext cx="295967" cy="295967"/>
          </a:xfrm>
          <a:prstGeom prst="rect">
            <a:avLst/>
          </a:prstGeom>
        </p:spPr>
      </p:pic>
      <p:sp>
        <p:nvSpPr>
          <p:cNvPr id="55" name="Rectangle 54">
            <a:extLst>
              <a:ext uri="{FF2B5EF4-FFF2-40B4-BE49-F238E27FC236}">
                <a16:creationId xmlns:a16="http://schemas.microsoft.com/office/drawing/2014/main" id="{577C9A3D-0396-B48B-2063-6D0F7E69EEFE}"/>
              </a:ext>
            </a:extLst>
          </p:cNvPr>
          <p:cNvSpPr/>
          <p:nvPr/>
        </p:nvSpPr>
        <p:spPr>
          <a:xfrm>
            <a:off x="7567703" y="1719957"/>
            <a:ext cx="1928089" cy="422256"/>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8" name="TextBox 107">
            <a:extLst>
              <a:ext uri="{FF2B5EF4-FFF2-40B4-BE49-F238E27FC236}">
                <a16:creationId xmlns:a16="http://schemas.microsoft.com/office/drawing/2014/main" id="{14DF14AC-DDAA-1239-D35E-DFEAE3434DD0}"/>
              </a:ext>
            </a:extLst>
          </p:cNvPr>
          <p:cNvSpPr txBox="1"/>
          <p:nvPr/>
        </p:nvSpPr>
        <p:spPr>
          <a:xfrm>
            <a:off x="7978535"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sp>
        <p:nvSpPr>
          <p:cNvPr id="39" name="Rectangle 38">
            <a:extLst>
              <a:ext uri="{FF2B5EF4-FFF2-40B4-BE49-F238E27FC236}">
                <a16:creationId xmlns:a16="http://schemas.microsoft.com/office/drawing/2014/main" id="{EA5F0CAC-3439-427E-25BC-253A5B1B2629}"/>
              </a:ext>
            </a:extLst>
          </p:cNvPr>
          <p:cNvSpPr/>
          <p:nvPr/>
        </p:nvSpPr>
        <p:spPr>
          <a:xfrm>
            <a:off x="3767006" y="2752860"/>
            <a:ext cx="1437644" cy="36004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"Wärme Gesellschaft"</a:t>
            </a:r>
          </a:p>
          <a:p>
            <a:pPr algn="ctr"/>
            <a:r>
              <a:rPr lang="de-DE" sz="900" i="1" dirty="0">
                <a:solidFill>
                  <a:schemeClr val="bg1"/>
                </a:solidFill>
              </a:rPr>
              <a:t>post Carve-Out</a:t>
            </a:r>
          </a:p>
        </p:txBody>
      </p:sp>
      <p:sp>
        <p:nvSpPr>
          <p:cNvPr id="53" name="Rectangle 52">
            <a:extLst>
              <a:ext uri="{FF2B5EF4-FFF2-40B4-BE49-F238E27FC236}">
                <a16:creationId xmlns:a16="http://schemas.microsoft.com/office/drawing/2014/main" id="{57AB5C57-1B51-6839-3BDB-723B4BCF5BC3}"/>
              </a:ext>
            </a:extLst>
          </p:cNvPr>
          <p:cNvSpPr/>
          <p:nvPr/>
        </p:nvSpPr>
        <p:spPr>
          <a:xfrm>
            <a:off x="7455635" y="2706027"/>
            <a:ext cx="988578" cy="46913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"Nahwärme Gesellschaft"</a:t>
            </a:r>
          </a:p>
          <a:p>
            <a:pPr algn="ctr"/>
            <a:r>
              <a:rPr lang="de-DE" sz="900" i="1" dirty="0">
                <a:solidFill>
                  <a:schemeClr val="bg1"/>
                </a:solidFill>
              </a:rPr>
              <a:t>post Carve-Out</a:t>
            </a:r>
          </a:p>
        </p:txBody>
      </p:sp>
      <p:sp>
        <p:nvSpPr>
          <p:cNvPr id="59" name="Rectangle 58">
            <a:extLst>
              <a:ext uri="{FF2B5EF4-FFF2-40B4-BE49-F238E27FC236}">
                <a16:creationId xmlns:a16="http://schemas.microsoft.com/office/drawing/2014/main" id="{AD82BE1C-2C7A-9CE8-DF75-0C8A42CBA944}"/>
              </a:ext>
            </a:extLst>
          </p:cNvPr>
          <p:cNvSpPr/>
          <p:nvPr/>
        </p:nvSpPr>
        <p:spPr>
          <a:xfrm>
            <a:off x="8619282" y="2706027"/>
            <a:ext cx="988578" cy="46913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"Fernwärme Gesellschaft"</a:t>
            </a:r>
          </a:p>
          <a:p>
            <a:pPr algn="ctr"/>
            <a:r>
              <a:rPr lang="de-DE" sz="900" i="1" dirty="0">
                <a:solidFill>
                  <a:schemeClr val="bg1"/>
                </a:solidFill>
              </a:rPr>
              <a:t>post Carve-Out</a:t>
            </a:r>
          </a:p>
        </p:txBody>
      </p:sp>
    </p:spTree>
    <p:extLst>
      <p:ext uri="{BB962C8B-B14F-4D97-AF65-F5344CB8AC3E}">
        <p14:creationId xmlns:p14="http://schemas.microsoft.com/office/powerpoint/2010/main" val="77590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DCB278-539F-C7C7-FB14-4238CF700474}"/>
              </a:ext>
            </a:extLst>
          </p:cNvPr>
          <p:cNvSpPr/>
          <p:nvPr/>
        </p:nvSpPr>
        <p:spPr>
          <a:xfrm>
            <a:off x="1421386"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Gemeinsame zukünftige Weiterentwicklung des Geschäftsbereichs, e.g., Investitionen und Strategie (sofern gewünscht)</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Minderheitsgesellschafter partizipiert über laufende Erträge an Entwicklung des Geschäftsbereichs</a:t>
            </a:r>
          </a:p>
        </p:txBody>
      </p:sp>
      <p:sp>
        <p:nvSpPr>
          <p:cNvPr id="15" name="Rectangle 14">
            <a:extLst>
              <a:ext uri="{FF2B5EF4-FFF2-40B4-BE49-F238E27FC236}">
                <a16:creationId xmlns:a16="http://schemas.microsoft.com/office/drawing/2014/main" id="{D15DC040-30AD-33ED-A431-E439CE5EE2F8}"/>
              </a:ext>
            </a:extLst>
          </p:cNvPr>
          <p:cNvSpPr/>
          <p:nvPr/>
        </p:nvSpPr>
        <p:spPr>
          <a:xfrm>
            <a:off x="1421386" y="1424796"/>
            <a:ext cx="2160000" cy="540000"/>
          </a:xfrm>
          <a:prstGeom prst="rect">
            <a:avLst/>
          </a:prstGeom>
          <a:solidFill>
            <a:srgbClr val="3157E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Minderheit</a:t>
            </a:r>
            <a:r>
              <a:rPr lang="de-DE" sz="1050" b="1" dirty="0">
                <a:solidFill>
                  <a:schemeClr val="bg1"/>
                </a:solidFill>
              </a:rPr>
              <a:t> an einem Geschäftsbereich</a:t>
            </a:r>
            <a:endParaRPr lang="de-DE" sz="1050" dirty="0"/>
          </a:p>
        </p:txBody>
      </p:sp>
      <p:sp>
        <p:nvSpPr>
          <p:cNvPr id="28" name="Rectangle 27">
            <a:extLst>
              <a:ext uri="{FF2B5EF4-FFF2-40B4-BE49-F238E27FC236}">
                <a16:creationId xmlns:a16="http://schemas.microsoft.com/office/drawing/2014/main" id="{03083DE1-A7F0-FE72-C5FD-63A0DCB424A6}"/>
              </a:ext>
            </a:extLst>
          </p:cNvPr>
          <p:cNvSpPr/>
          <p:nvPr/>
        </p:nvSpPr>
        <p:spPr>
          <a:xfrm>
            <a:off x="1421386"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Kontrolle über Geschäftsbereich verbleibt beim Stadtwerk</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Liquiditätszufluss/Kapital für weitere Investitionsthemen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Minderheitsrechte und Zusammenarbeit in Gesellschaftervertrag zu regeln</a:t>
            </a:r>
          </a:p>
          <a:p>
            <a:pPr>
              <a:spcBef>
                <a:spcPts val="300"/>
              </a:spcBef>
              <a:spcAft>
                <a:spcPts val="300"/>
              </a:spcAft>
              <a:buClr>
                <a:srgbClr val="00B050"/>
              </a:buClr>
              <a:buSzPct val="150000"/>
            </a:pPr>
            <a:endParaRPr lang="de-DE" sz="1000" dirty="0">
              <a:solidFill>
                <a:srgbClr val="000000"/>
              </a:solidFill>
            </a:endParaRPr>
          </a:p>
        </p:txBody>
      </p:sp>
      <p:sp>
        <p:nvSpPr>
          <p:cNvPr id="24" name="Rectangle 23">
            <a:extLst>
              <a:ext uri="{FF2B5EF4-FFF2-40B4-BE49-F238E27FC236}">
                <a16:creationId xmlns:a16="http://schemas.microsoft.com/office/drawing/2014/main" id="{FAFB96B2-630C-2DDB-FC81-3A96E84ED139}"/>
              </a:ext>
            </a:extLst>
          </p:cNvPr>
          <p:cNvSpPr/>
          <p:nvPr/>
        </p:nvSpPr>
        <p:spPr>
          <a:xfrm>
            <a:off x="3666008" y="1424796"/>
            <a:ext cx="2160000" cy="540000"/>
          </a:xfrm>
          <a:prstGeom prst="rect">
            <a:avLst/>
          </a:prstGeom>
          <a:solidFill>
            <a:srgbClr val="718BE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Mehrheit</a:t>
            </a:r>
            <a:r>
              <a:rPr lang="de-DE" sz="1050" b="1" dirty="0">
                <a:solidFill>
                  <a:schemeClr val="bg1"/>
                </a:solidFill>
              </a:rPr>
              <a:t> </a:t>
            </a:r>
            <a:br>
              <a:rPr lang="de-DE" sz="1050" b="1" dirty="0">
                <a:solidFill>
                  <a:schemeClr val="bg1"/>
                </a:solidFill>
              </a:rPr>
            </a:br>
            <a:r>
              <a:rPr lang="de-DE" sz="1050" b="1" dirty="0">
                <a:solidFill>
                  <a:schemeClr val="bg1"/>
                </a:solidFill>
              </a:rPr>
              <a:t>an einem Geschäftsbereich </a:t>
            </a:r>
            <a:endParaRPr lang="de-DE" sz="1050" dirty="0"/>
          </a:p>
        </p:txBody>
      </p:sp>
      <p:sp>
        <p:nvSpPr>
          <p:cNvPr id="22" name="Rectangle 21">
            <a:extLst>
              <a:ext uri="{FF2B5EF4-FFF2-40B4-BE49-F238E27FC236}">
                <a16:creationId xmlns:a16="http://schemas.microsoft.com/office/drawing/2014/main" id="{150B29FB-D6D5-140C-9435-14FA81811744}"/>
              </a:ext>
            </a:extLst>
          </p:cNvPr>
          <p:cNvSpPr/>
          <p:nvPr/>
        </p:nvSpPr>
        <p:spPr>
          <a:xfrm>
            <a:off x="8155252" y="1424796"/>
            <a:ext cx="2160000" cy="540000"/>
          </a:xfrm>
          <a:prstGeom prst="rect">
            <a:avLst/>
          </a:prstGeom>
          <a:solidFill>
            <a:srgbClr val="90BDF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Minderheit</a:t>
            </a:r>
            <a:br>
              <a:rPr lang="de-DE" sz="1050" b="1" dirty="0">
                <a:solidFill>
                  <a:schemeClr val="bg1"/>
                </a:solidFill>
              </a:rPr>
            </a:br>
            <a:r>
              <a:rPr lang="de-DE" sz="1050" b="1" dirty="0">
                <a:solidFill>
                  <a:schemeClr val="bg1"/>
                </a:solidFill>
              </a:rPr>
              <a:t>am Stadtwerk</a:t>
            </a:r>
            <a:endParaRPr lang="de-DE" sz="1050" dirty="0"/>
          </a:p>
        </p:txBody>
      </p:sp>
      <p:sp>
        <p:nvSpPr>
          <p:cNvPr id="23" name="Rectangle 22">
            <a:extLst>
              <a:ext uri="{FF2B5EF4-FFF2-40B4-BE49-F238E27FC236}">
                <a16:creationId xmlns:a16="http://schemas.microsoft.com/office/drawing/2014/main" id="{4F98D8C4-28D7-909C-4700-E591D7A9343B}"/>
              </a:ext>
            </a:extLst>
          </p:cNvPr>
          <p:cNvSpPr/>
          <p:nvPr/>
        </p:nvSpPr>
        <p:spPr>
          <a:xfrm>
            <a:off x="3666008"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36000"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dirty="0">
                <a:solidFill>
                  <a:srgbClr val="000000"/>
                </a:solidFill>
              </a:rPr>
              <a:t>Dekonsolidierung und Abgabe der Kontrolle</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rgbClr val="000000"/>
                </a:solidFill>
              </a:rPr>
              <a:t>Attraktive Ausgestaltung der Minderheitsbeteiligung möglich</a:t>
            </a:r>
            <a:endParaRPr lang="de-DE" sz="1000" kern="0" dirty="0">
              <a:solidFill>
                <a:schemeClr val="tx1"/>
              </a:solidFill>
            </a:endParaRP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Über langfristige (Abnahme-) Verträge können Versorgungsleistungen abgedeckt werden (e.g., Erneuerbare Energie, Wärme-Energie)</a:t>
            </a:r>
          </a:p>
        </p:txBody>
      </p:sp>
      <p:sp>
        <p:nvSpPr>
          <p:cNvPr id="31" name="Rectangle 30">
            <a:extLst>
              <a:ext uri="{FF2B5EF4-FFF2-40B4-BE49-F238E27FC236}">
                <a16:creationId xmlns:a16="http://schemas.microsoft.com/office/drawing/2014/main" id="{3E909AC4-34FA-9B02-BD75-9D8E1BC05C76}"/>
              </a:ext>
            </a:extLst>
          </p:cNvPr>
          <p:cNvSpPr/>
          <p:nvPr/>
        </p:nvSpPr>
        <p:spPr>
          <a:xfrm>
            <a:off x="3666008"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Signifikante Reduzierung des eigenen Investitionsvolumens</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Entkonsolidierung mit potenziell positivem Effekt auf die Nettoverschuldung</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Politisch hoher Überzeugungsbedarf</a:t>
            </a:r>
          </a:p>
        </p:txBody>
      </p:sp>
      <p:graphicFrame>
        <p:nvGraphicFramePr>
          <p:cNvPr id="13" name="think-cell data - do not delete" hidden="1">
            <a:extLst>
              <a:ext uri="{FF2B5EF4-FFF2-40B4-BE49-F238E27FC236}">
                <a16:creationId xmlns:a16="http://schemas.microsoft.com/office/drawing/2014/main" id="{B9B96D12-2894-ED21-1051-6A0B477DAA8E}"/>
              </a:ext>
            </a:extLst>
          </p:cNvPr>
          <p:cNvGraphicFramePr>
            <a:graphicFrameLocks noChangeAspect="1"/>
          </p:cNvGraphicFramePr>
          <p:nvPr>
            <p:custDataLst>
              <p:tags r:id="rId1"/>
            </p:custDataLst>
            <p:extLst>
              <p:ext uri="{D42A27DB-BD31-4B8C-83A1-F6EECF244321}">
                <p14:modId xmlns:p14="http://schemas.microsoft.com/office/powerpoint/2010/main" val="319258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13" name="think-cell data - do not delete" hidden="1">
                        <a:extLst>
                          <a:ext uri="{FF2B5EF4-FFF2-40B4-BE49-F238E27FC236}">
                            <a16:creationId xmlns:a16="http://schemas.microsoft.com/office/drawing/2014/main" id="{B9B96D12-2894-ED21-1051-6A0B477DAA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06A583D-72B4-FBC3-745E-FC8E5A9D1BCD}"/>
              </a:ext>
            </a:extLst>
          </p:cNvPr>
          <p:cNvSpPr>
            <a:spLocks noGrp="1"/>
          </p:cNvSpPr>
          <p:nvPr>
            <p:ph type="title"/>
          </p:nvPr>
        </p:nvSpPr>
        <p:spPr>
          <a:xfrm>
            <a:off x="378700" y="450279"/>
            <a:ext cx="9936000" cy="720000"/>
          </a:xfrm>
        </p:spPr>
        <p:txBody>
          <a:bodyPr vert="horz"/>
          <a:lstStyle/>
          <a:p>
            <a:r>
              <a:rPr lang="de-DE" dirty="0"/>
              <a:t>Abhängig von den Zielen des Stadtwerks gibt es kombinierbare Handlungsoptionen zur Kapitalflexibilisierung</a:t>
            </a:r>
          </a:p>
        </p:txBody>
      </p:sp>
      <p:sp>
        <p:nvSpPr>
          <p:cNvPr id="4" name="Text Placeholder 3">
            <a:extLst>
              <a:ext uri="{FF2B5EF4-FFF2-40B4-BE49-F238E27FC236}">
                <a16:creationId xmlns:a16="http://schemas.microsoft.com/office/drawing/2014/main" id="{CD69C56D-137B-75DB-812A-CBFC165865D5}"/>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p>
          <a:p>
            <a:endParaRPr lang="de-DE" dirty="0"/>
          </a:p>
        </p:txBody>
      </p:sp>
      <p:sp>
        <p:nvSpPr>
          <p:cNvPr id="5" name="Text Placeholder 4">
            <a:extLst>
              <a:ext uri="{FF2B5EF4-FFF2-40B4-BE49-F238E27FC236}">
                <a16:creationId xmlns:a16="http://schemas.microsoft.com/office/drawing/2014/main" id="{311F406D-6F89-9904-0862-95C807C5E31F}"/>
              </a:ext>
            </a:extLst>
          </p:cNvPr>
          <p:cNvSpPr>
            <a:spLocks noGrp="1"/>
          </p:cNvSpPr>
          <p:nvPr>
            <p:ph type="body" sz="quarter" idx="14"/>
          </p:nvPr>
        </p:nvSpPr>
        <p:spPr/>
        <p:txBody>
          <a:bodyPr/>
          <a:lstStyle/>
          <a:p>
            <a:endParaRPr lang="en-US" dirty="0"/>
          </a:p>
        </p:txBody>
      </p:sp>
      <p:sp>
        <p:nvSpPr>
          <p:cNvPr id="6" name="Text Placeholder 5">
            <a:extLst>
              <a:ext uri="{FF2B5EF4-FFF2-40B4-BE49-F238E27FC236}">
                <a16:creationId xmlns:a16="http://schemas.microsoft.com/office/drawing/2014/main" id="{49F1E92C-9087-2587-C463-8A30C3F0C23E}"/>
              </a:ext>
            </a:extLst>
          </p:cNvPr>
          <p:cNvSpPr>
            <a:spLocks noGrp="1"/>
          </p:cNvSpPr>
          <p:nvPr>
            <p:ph type="body" sz="quarter" idx="15"/>
          </p:nvPr>
        </p:nvSpPr>
        <p:spPr/>
        <p:txBody>
          <a:bodyPr/>
          <a:lstStyle/>
          <a:p>
            <a:endParaRPr lang="en-US" dirty="0"/>
          </a:p>
        </p:txBody>
      </p:sp>
      <p:sp>
        <p:nvSpPr>
          <p:cNvPr id="11" name="Rectangle 10">
            <a:extLst>
              <a:ext uri="{FF2B5EF4-FFF2-40B4-BE49-F238E27FC236}">
                <a16:creationId xmlns:a16="http://schemas.microsoft.com/office/drawing/2014/main" id="{528A995E-361C-D796-41BB-DC0B8549A583}"/>
              </a:ext>
            </a:extLst>
          </p:cNvPr>
          <p:cNvSpPr/>
          <p:nvPr/>
        </p:nvSpPr>
        <p:spPr>
          <a:xfrm>
            <a:off x="387673" y="1424796"/>
            <a:ext cx="949091" cy="540000"/>
          </a:xfrm>
          <a:prstGeom prst="rect">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Handlungs-optionen</a:t>
            </a:r>
            <a:endParaRPr lang="de-DE" sz="1000" baseline="30000" dirty="0"/>
          </a:p>
        </p:txBody>
      </p:sp>
      <p:sp>
        <p:nvSpPr>
          <p:cNvPr id="21" name="Rectangle 20">
            <a:extLst>
              <a:ext uri="{FF2B5EF4-FFF2-40B4-BE49-F238E27FC236}">
                <a16:creationId xmlns:a16="http://schemas.microsoft.com/office/drawing/2014/main" id="{E3C2FDC6-FC85-2253-B453-5759B5C279F5}"/>
              </a:ext>
            </a:extLst>
          </p:cNvPr>
          <p:cNvSpPr/>
          <p:nvPr/>
        </p:nvSpPr>
        <p:spPr>
          <a:xfrm>
            <a:off x="8155252"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dirty="0">
                <a:solidFill>
                  <a:srgbClr val="000000"/>
                </a:solidFill>
              </a:rPr>
              <a:t>Veräußerung einer Minderheit an der </a:t>
            </a:r>
            <a:r>
              <a:rPr lang="de-DE" sz="1000" kern="0" dirty="0">
                <a:solidFill>
                  <a:schemeClr val="tx1"/>
                </a:solidFill>
              </a:rPr>
              <a:t>Stadtwerke Gruppe</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Gemeinsame Weiter-entwicklung der zentralen Investitionsthemen im Rahmen der Klimaneutralität</a:t>
            </a:r>
            <a:endParaRPr lang="de-DE" sz="1000" dirty="0">
              <a:solidFill>
                <a:srgbClr val="000000"/>
              </a:solidFill>
            </a:endParaRPr>
          </a:p>
        </p:txBody>
      </p:sp>
      <p:sp>
        <p:nvSpPr>
          <p:cNvPr id="27" name="Rectangle 26">
            <a:extLst>
              <a:ext uri="{FF2B5EF4-FFF2-40B4-BE49-F238E27FC236}">
                <a16:creationId xmlns:a16="http://schemas.microsoft.com/office/drawing/2014/main" id="{83DD2AC2-B0D4-AFD3-08F4-0C3E48B02E86}"/>
              </a:ext>
            </a:extLst>
          </p:cNvPr>
          <p:cNvSpPr/>
          <p:nvPr/>
        </p:nvSpPr>
        <p:spPr>
          <a:xfrm>
            <a:off x="387673" y="4233108"/>
            <a:ext cx="949091" cy="20551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Einschätzung</a:t>
            </a:r>
            <a:endParaRPr lang="de-DE" sz="1000" baseline="30000" dirty="0"/>
          </a:p>
        </p:txBody>
      </p:sp>
      <p:sp>
        <p:nvSpPr>
          <p:cNvPr id="32" name="Rectangle 31">
            <a:extLst>
              <a:ext uri="{FF2B5EF4-FFF2-40B4-BE49-F238E27FC236}">
                <a16:creationId xmlns:a16="http://schemas.microsoft.com/office/drawing/2014/main" id="{86BC0695-AB93-FF82-5713-7D79DABB14A0}"/>
              </a:ext>
            </a:extLst>
          </p:cNvPr>
          <p:cNvSpPr/>
          <p:nvPr/>
        </p:nvSpPr>
        <p:spPr>
          <a:xfrm>
            <a:off x="387673" y="2072868"/>
            <a:ext cx="949091" cy="20638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Beschreibung</a:t>
            </a:r>
            <a:endParaRPr lang="de-DE" sz="1000" baseline="30000" dirty="0"/>
          </a:p>
        </p:txBody>
      </p:sp>
      <p:sp>
        <p:nvSpPr>
          <p:cNvPr id="7" name="Rectangle 6">
            <a:extLst>
              <a:ext uri="{FF2B5EF4-FFF2-40B4-BE49-F238E27FC236}">
                <a16:creationId xmlns:a16="http://schemas.microsoft.com/office/drawing/2014/main" id="{9F28F2DC-87A6-4EA8-A5B5-022F5716207E}"/>
              </a:ext>
            </a:extLst>
          </p:cNvPr>
          <p:cNvSpPr/>
          <p:nvPr/>
        </p:nvSpPr>
        <p:spPr>
          <a:xfrm>
            <a:off x="8155252"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Kontrolle verbleibt bei Gesellschaftern des Stadtwerks</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Teilung der Capex für Investitionen in den „Grünen Transformationsprozess"</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 unter den Gesellschaftern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Komplexerer Prozess der Investorensuche</a:t>
            </a:r>
          </a:p>
        </p:txBody>
      </p:sp>
      <p:sp>
        <p:nvSpPr>
          <p:cNvPr id="16" name="Rectangle 15">
            <a:extLst>
              <a:ext uri="{FF2B5EF4-FFF2-40B4-BE49-F238E27FC236}">
                <a16:creationId xmlns:a16="http://schemas.microsoft.com/office/drawing/2014/main" id="{66E3A358-CE42-B3B4-7830-5D944D5E0C3F}"/>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Eine breite politische Unterstützung für die Einbindung von privatem Kapital ist Voraussetzung für den Erfolg</a:t>
            </a:r>
          </a:p>
        </p:txBody>
      </p:sp>
      <p:sp>
        <p:nvSpPr>
          <p:cNvPr id="17" name="Isosceles Triangle 16">
            <a:extLst>
              <a:ext uri="{FF2B5EF4-FFF2-40B4-BE49-F238E27FC236}">
                <a16:creationId xmlns:a16="http://schemas.microsoft.com/office/drawing/2014/main" id="{64EEE900-34C1-845C-EB0F-1DC02ED08072}"/>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Rectangle 2">
            <a:extLst>
              <a:ext uri="{FF2B5EF4-FFF2-40B4-BE49-F238E27FC236}">
                <a16:creationId xmlns:a16="http://schemas.microsoft.com/office/drawing/2014/main" id="{515628A9-DEA7-D8F5-34A5-837CF70E3D96}"/>
              </a:ext>
            </a:extLst>
          </p:cNvPr>
          <p:cNvSpPr/>
          <p:nvPr/>
        </p:nvSpPr>
        <p:spPr>
          <a:xfrm>
            <a:off x="5910630" y="1424796"/>
            <a:ext cx="2160000" cy="540000"/>
          </a:xfrm>
          <a:prstGeom prst="rect">
            <a:avLst/>
          </a:prstGeom>
          <a:solidFill>
            <a:srgbClr val="67A6F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u="sng" dirty="0">
                <a:solidFill>
                  <a:schemeClr val="bg1"/>
                </a:solidFill>
              </a:rPr>
              <a:t>Komplettverkauf</a:t>
            </a:r>
            <a:r>
              <a:rPr lang="de-DE" sz="1050" b="1" dirty="0">
                <a:solidFill>
                  <a:schemeClr val="bg1"/>
                </a:solidFill>
              </a:rPr>
              <a:t> einer Geschäftseinheit/Beteiligung</a:t>
            </a:r>
            <a:endParaRPr lang="de-DE" sz="1050" dirty="0"/>
          </a:p>
        </p:txBody>
      </p:sp>
      <p:sp>
        <p:nvSpPr>
          <p:cNvPr id="8" name="Rectangle 7">
            <a:extLst>
              <a:ext uri="{FF2B5EF4-FFF2-40B4-BE49-F238E27FC236}">
                <a16:creationId xmlns:a16="http://schemas.microsoft.com/office/drawing/2014/main" id="{0EA2916E-E412-94B7-11CF-76CAC7794FA7}"/>
              </a:ext>
            </a:extLst>
          </p:cNvPr>
          <p:cNvSpPr/>
          <p:nvPr/>
        </p:nvSpPr>
        <p:spPr>
          <a:xfrm>
            <a:off x="5910630"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Veräußerung eines nicht-strategischen Geschäftsbereichs/Assets</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Sicherung relevanter Leistungen über Verträge möglich (siehe links)</a:t>
            </a:r>
          </a:p>
        </p:txBody>
      </p:sp>
      <p:sp>
        <p:nvSpPr>
          <p:cNvPr id="9" name="Rectangle 8">
            <a:extLst>
              <a:ext uri="{FF2B5EF4-FFF2-40B4-BE49-F238E27FC236}">
                <a16:creationId xmlns:a16="http://schemas.microsoft.com/office/drawing/2014/main" id="{7A63C54D-2246-C757-78BC-FD9BDC928227}"/>
              </a:ext>
            </a:extLst>
          </p:cNvPr>
          <p:cNvSpPr/>
          <p:nvPr/>
        </p:nvSpPr>
        <p:spPr>
          <a:xfrm>
            <a:off x="5910630"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Eigener Capex-Bedarf kann auf strategisch relevante Themen fokussiert werden</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Liquiditätszufluss für weitere Investitionsthemen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Politisch potenziell schwierig</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kumimoji="0" lang="de-DE" sz="1000" b="0" i="0" u="none" strike="noStrike" kern="1200" cap="none" spc="0" normalizeH="0" baseline="0" noProof="0" dirty="0">
                <a:ln>
                  <a:noFill/>
                </a:ln>
                <a:solidFill>
                  <a:srgbClr val="000000"/>
                </a:solidFill>
                <a:effectLst/>
                <a:uLnTx/>
                <a:uFillTx/>
                <a:latin typeface="Univers for Metzler Light"/>
                <a:ea typeface="+mn-ea"/>
                <a:cs typeface="+mn-cs"/>
              </a:rPr>
              <a:t>Reduzierung des Tätigkeits-profils des Stadtwerks</a:t>
            </a:r>
          </a:p>
        </p:txBody>
      </p:sp>
    </p:spTree>
    <p:extLst>
      <p:ext uri="{BB962C8B-B14F-4D97-AF65-F5344CB8AC3E}">
        <p14:creationId xmlns:p14="http://schemas.microsoft.com/office/powerpoint/2010/main" val="2111393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FFCED668-DB42-17CC-FAC4-C4FD707AE148}"/>
              </a:ext>
            </a:extLst>
          </p:cNvPr>
          <p:cNvGraphicFramePr>
            <a:graphicFrameLocks noChangeAspect="1"/>
          </p:cNvGraphicFramePr>
          <p:nvPr>
            <p:custDataLst>
              <p:tags r:id="rId1"/>
            </p:custDataLst>
            <p:extLst>
              <p:ext uri="{D42A27DB-BD31-4B8C-83A1-F6EECF244321}">
                <p14:modId xmlns:p14="http://schemas.microsoft.com/office/powerpoint/2010/main" val="3508631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9" name="think-cell data - do not delete" hidden="1">
                        <a:extLst>
                          <a:ext uri="{FF2B5EF4-FFF2-40B4-BE49-F238E27FC236}">
                            <a16:creationId xmlns:a16="http://schemas.microsoft.com/office/drawing/2014/main" id="{FFCED668-DB42-17CC-FAC4-C4FD707AE14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C13E3F4-7A82-665A-FC3C-48CF9DF734FA}"/>
              </a:ext>
            </a:extLst>
          </p:cNvPr>
          <p:cNvSpPr>
            <a:spLocks noGrp="1"/>
          </p:cNvSpPr>
          <p:nvPr>
            <p:ph type="title"/>
          </p:nvPr>
        </p:nvSpPr>
        <p:spPr/>
        <p:txBody>
          <a:bodyPr vert="horz"/>
          <a:lstStyle/>
          <a:p>
            <a:r>
              <a:rPr lang="de-DE" dirty="0"/>
              <a:t>Finanzinvestoren und Strategen sind an stabilen "grünen" Cash Flows interessiert, haben aber unterschiedliche Anforderungs- und Investitionsprofile</a:t>
            </a:r>
          </a:p>
        </p:txBody>
      </p:sp>
      <p:sp>
        <p:nvSpPr>
          <p:cNvPr id="4" name="Text Placeholder 3">
            <a:extLst>
              <a:ext uri="{FF2B5EF4-FFF2-40B4-BE49-F238E27FC236}">
                <a16:creationId xmlns:a16="http://schemas.microsoft.com/office/drawing/2014/main" id="{45E1D8D7-290F-346D-9546-84CBDCAF7BB7}"/>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p>
        </p:txBody>
      </p:sp>
      <p:sp>
        <p:nvSpPr>
          <p:cNvPr id="5" name="Text Placeholder 4">
            <a:extLst>
              <a:ext uri="{FF2B5EF4-FFF2-40B4-BE49-F238E27FC236}">
                <a16:creationId xmlns:a16="http://schemas.microsoft.com/office/drawing/2014/main" id="{63CAA569-6D4B-82BE-DE94-DB0490EE9738}"/>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C69C4C7F-8BC6-7A36-6207-3BFFD0E52FBE}"/>
              </a:ext>
            </a:extLst>
          </p:cNvPr>
          <p:cNvSpPr>
            <a:spLocks noGrp="1"/>
          </p:cNvSpPr>
          <p:nvPr>
            <p:ph type="body" sz="quarter" idx="15"/>
          </p:nvPr>
        </p:nvSpPr>
        <p:spPr/>
        <p:txBody>
          <a:bodyPr/>
          <a:lstStyle/>
          <a:p>
            <a:r>
              <a:rPr lang="de-DE" dirty="0"/>
              <a:t>1) Langfristig orientierte Investoren, z.B. Asset Manager, Versicherungs-/Pensionskassen, Infrastrukturfonds</a:t>
            </a:r>
          </a:p>
        </p:txBody>
      </p:sp>
      <p:sp>
        <p:nvSpPr>
          <p:cNvPr id="14" name="Rectangle 8">
            <a:extLst>
              <a:ext uri="{FF2B5EF4-FFF2-40B4-BE49-F238E27FC236}">
                <a16:creationId xmlns:a16="http://schemas.microsoft.com/office/drawing/2014/main" id="{B8C9D2AF-6CD2-1575-EBE4-73EC0AEAE449}"/>
              </a:ext>
            </a:extLst>
          </p:cNvPr>
          <p:cNvSpPr/>
          <p:nvPr/>
        </p:nvSpPr>
        <p:spPr>
          <a:xfrm>
            <a:off x="4843032" y="3022868"/>
            <a:ext cx="1007336" cy="1256704"/>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Strategie</a:t>
            </a:r>
          </a:p>
        </p:txBody>
      </p:sp>
      <p:sp>
        <p:nvSpPr>
          <p:cNvPr id="15" name="Rechteck 63">
            <a:extLst>
              <a:ext uri="{FF2B5EF4-FFF2-40B4-BE49-F238E27FC236}">
                <a16:creationId xmlns:a16="http://schemas.microsoft.com/office/drawing/2014/main" id="{01943B43-432C-74FB-9DB3-82E0B426FAB6}"/>
              </a:ext>
            </a:extLst>
          </p:cNvPr>
          <p:cNvSpPr/>
          <p:nvPr/>
        </p:nvSpPr>
        <p:spPr>
          <a:xfrm>
            <a:off x="5930628" y="3023007"/>
            <a:ext cx="4384072" cy="1256565"/>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Plattform für die Mitgestaltung der Energiewende in Duisburg</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Stärkung der Marktposition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Zugang zu kommunalen Versorgungsgebieten/-netzen</a:t>
            </a:r>
          </a:p>
        </p:txBody>
      </p:sp>
      <p:sp>
        <p:nvSpPr>
          <p:cNvPr id="16" name="Rechteck 63">
            <a:extLst>
              <a:ext uri="{FF2B5EF4-FFF2-40B4-BE49-F238E27FC236}">
                <a16:creationId xmlns:a16="http://schemas.microsoft.com/office/drawing/2014/main" id="{D25E44F5-66B9-4D7F-ED73-AB1C3EC97A62}"/>
              </a:ext>
            </a:extLst>
          </p:cNvPr>
          <p:cNvSpPr/>
          <p:nvPr/>
        </p:nvSpPr>
        <p:spPr>
          <a:xfrm>
            <a:off x="378700" y="3023007"/>
            <a:ext cx="4384072" cy="1256565"/>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171450" indent="-171450" defTabSz="914400">
              <a:spcAft>
                <a:spcPts val="1400"/>
              </a:spcAft>
              <a:buClr>
                <a:schemeClr val="accent1"/>
              </a:buClr>
              <a:buFont typeface="Wingdings" pitchFamily="2" charset="2"/>
              <a:buChar char="n"/>
              <a:defRPr/>
            </a:pPr>
            <a:r>
              <a:rPr lang="de-DE" sz="1000" kern="0" dirty="0">
                <a:solidFill>
                  <a:srgbClr val="000000"/>
                </a:solidFill>
              </a:rPr>
              <a:t>Sicherung von konstanten Zahlungsflüssen und Dividenden</a:t>
            </a:r>
          </a:p>
          <a:p>
            <a:pPr marL="171450" indent="-171450" defTabSz="914400">
              <a:spcAft>
                <a:spcPts val="1400"/>
              </a:spcAft>
              <a:buClr>
                <a:schemeClr val="accent1"/>
              </a:buClr>
              <a:buFont typeface="Wingdings" pitchFamily="2" charset="2"/>
              <a:buChar char="n"/>
              <a:defRPr/>
            </a:pPr>
            <a:r>
              <a:rPr lang="de-DE" sz="1000" kern="0" dirty="0">
                <a:solidFill>
                  <a:srgbClr val="000000"/>
                </a:solidFill>
              </a:rPr>
              <a:t>Interesse an signifikanten Investitionen in die "Klimawende"</a:t>
            </a:r>
          </a:p>
          <a:p>
            <a:pPr marL="171450" indent="-171450" defTabSz="914400">
              <a:spcAft>
                <a:spcPts val="1400"/>
              </a:spcAft>
              <a:buClr>
                <a:schemeClr val="accent1"/>
              </a:buClr>
              <a:buFont typeface="Wingdings" pitchFamily="2" charset="2"/>
              <a:buChar char="n"/>
              <a:defRPr/>
            </a:pPr>
            <a:r>
              <a:rPr lang="de-DE" sz="1000" kern="0" dirty="0">
                <a:solidFill>
                  <a:srgbClr val="000000"/>
                </a:solidFill>
              </a:rPr>
              <a:t>Diversifizierung des Anlageportfolios/ESG-konforme Investitionen</a:t>
            </a:r>
          </a:p>
        </p:txBody>
      </p:sp>
      <p:sp>
        <p:nvSpPr>
          <p:cNvPr id="32" name="Rechteck 63">
            <a:extLst>
              <a:ext uri="{FF2B5EF4-FFF2-40B4-BE49-F238E27FC236}">
                <a16:creationId xmlns:a16="http://schemas.microsoft.com/office/drawing/2014/main" id="{A52F6567-A965-9702-D7A4-CA182B861B47}"/>
              </a:ext>
            </a:extLst>
          </p:cNvPr>
          <p:cNvSpPr/>
          <p:nvPr/>
        </p:nvSpPr>
        <p:spPr>
          <a:xfrm>
            <a:off x="5930628" y="4452567"/>
            <a:ext cx="4384072" cy="1245133"/>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Akquisition von Umsatzvolumen und Wachstum, Synergiepotenziale</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Beteiligung und Unterstützung bei Finanzierungsvorhaben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Gegebenenfalls Finanzierung durch eigene Mittel</a:t>
            </a:r>
          </a:p>
        </p:txBody>
      </p:sp>
      <p:sp>
        <p:nvSpPr>
          <p:cNvPr id="33" name="Rechteck 63">
            <a:extLst>
              <a:ext uri="{FF2B5EF4-FFF2-40B4-BE49-F238E27FC236}">
                <a16:creationId xmlns:a16="http://schemas.microsoft.com/office/drawing/2014/main" id="{561D29D7-2BFF-6254-644E-179EFE7A89AB}"/>
              </a:ext>
            </a:extLst>
          </p:cNvPr>
          <p:cNvSpPr/>
          <p:nvPr/>
        </p:nvSpPr>
        <p:spPr>
          <a:xfrm>
            <a:off x="378700" y="4452567"/>
            <a:ext cx="4384072" cy="1245133"/>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Aft>
                <a:spcPts val="1200"/>
              </a:spcAft>
              <a:buClr>
                <a:schemeClr val="accent1"/>
              </a:buClr>
              <a:buFont typeface="Wingdings" pitchFamily="2" charset="2"/>
              <a:buChar char="n"/>
            </a:pPr>
            <a:r>
              <a:rPr lang="de-DE" sz="1000" kern="0" dirty="0">
                <a:solidFill>
                  <a:srgbClr val="000000"/>
                </a:solidFill>
              </a:rPr>
              <a:t>Finanzprofil mit Wachstumspotenzialen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Typischerweise Teilfinanzierung durch Fremdkapital</a:t>
            </a:r>
          </a:p>
        </p:txBody>
      </p:sp>
      <p:sp>
        <p:nvSpPr>
          <p:cNvPr id="34" name="Rectangle 8">
            <a:extLst>
              <a:ext uri="{FF2B5EF4-FFF2-40B4-BE49-F238E27FC236}">
                <a16:creationId xmlns:a16="http://schemas.microsoft.com/office/drawing/2014/main" id="{E708BF3F-8218-B9DA-DC4E-F7246AE3334C}"/>
              </a:ext>
            </a:extLst>
          </p:cNvPr>
          <p:cNvSpPr/>
          <p:nvPr/>
        </p:nvSpPr>
        <p:spPr>
          <a:xfrm>
            <a:off x="4843032" y="4452430"/>
            <a:ext cx="1007336" cy="1245270"/>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Finanziell</a:t>
            </a:r>
          </a:p>
        </p:txBody>
      </p:sp>
      <p:sp>
        <p:nvSpPr>
          <p:cNvPr id="77" name="Rechteck 63">
            <a:extLst>
              <a:ext uri="{FF2B5EF4-FFF2-40B4-BE49-F238E27FC236}">
                <a16:creationId xmlns:a16="http://schemas.microsoft.com/office/drawing/2014/main" id="{33F16E80-53D6-FCD6-8D41-C9EB2A7439AE}"/>
              </a:ext>
            </a:extLst>
          </p:cNvPr>
          <p:cNvSpPr/>
          <p:nvPr/>
        </p:nvSpPr>
        <p:spPr>
          <a:xfrm>
            <a:off x="5930628" y="1938218"/>
            <a:ext cx="4384072" cy="912661"/>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Mehrheitsbeteiligungen präferiert, ggf. stufenweise</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Minderheiten bei strategischer Relevanz möglich</a:t>
            </a:r>
          </a:p>
        </p:txBody>
      </p:sp>
      <p:sp>
        <p:nvSpPr>
          <p:cNvPr id="78" name="Rechteck 63">
            <a:extLst>
              <a:ext uri="{FF2B5EF4-FFF2-40B4-BE49-F238E27FC236}">
                <a16:creationId xmlns:a16="http://schemas.microsoft.com/office/drawing/2014/main" id="{D755DCD9-487B-67C5-4A07-025EAA64B66B}"/>
              </a:ext>
            </a:extLst>
          </p:cNvPr>
          <p:cNvSpPr/>
          <p:nvPr/>
        </p:nvSpPr>
        <p:spPr>
          <a:xfrm>
            <a:off x="378700" y="1938218"/>
            <a:ext cx="4384072" cy="912661"/>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Aft>
                <a:spcPts val="1200"/>
              </a:spcAft>
              <a:buClr>
                <a:schemeClr val="accent1"/>
              </a:buClr>
              <a:buFont typeface="Wingdings" pitchFamily="2" charset="2"/>
              <a:buChar char="n"/>
            </a:pPr>
            <a:r>
              <a:rPr lang="de-DE" sz="1000" kern="0" dirty="0">
                <a:solidFill>
                  <a:srgbClr val="000000"/>
                </a:solidFill>
              </a:rPr>
              <a:t>Abhängig von individueller Investitionsstrategie</a:t>
            </a:r>
          </a:p>
          <a:p>
            <a:pPr marL="171450" indent="-171450" defTabSz="914400">
              <a:spcAft>
                <a:spcPts val="1200"/>
              </a:spcAft>
              <a:buClr>
                <a:schemeClr val="accent1"/>
              </a:buClr>
              <a:buFont typeface="Wingdings" pitchFamily="2" charset="2"/>
              <a:buChar char="n"/>
            </a:pPr>
            <a:r>
              <a:rPr lang="de-DE" sz="1000" kern="0" dirty="0">
                <a:solidFill>
                  <a:srgbClr val="000000"/>
                </a:solidFill>
              </a:rPr>
              <a:t>Minderheiten mit entsprechenden Governance-Strukturen möglich</a:t>
            </a:r>
          </a:p>
        </p:txBody>
      </p:sp>
      <p:sp>
        <p:nvSpPr>
          <p:cNvPr id="79" name="Rectangle 8">
            <a:extLst>
              <a:ext uri="{FF2B5EF4-FFF2-40B4-BE49-F238E27FC236}">
                <a16:creationId xmlns:a16="http://schemas.microsoft.com/office/drawing/2014/main" id="{9A836778-6053-7CBA-D63E-DA08AD1B3791}"/>
              </a:ext>
            </a:extLst>
          </p:cNvPr>
          <p:cNvSpPr/>
          <p:nvPr/>
        </p:nvSpPr>
        <p:spPr>
          <a:xfrm>
            <a:off x="4843032" y="1938174"/>
            <a:ext cx="1007336" cy="912762"/>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Beteiligungs-höhe</a:t>
            </a:r>
          </a:p>
        </p:txBody>
      </p:sp>
      <p:sp>
        <p:nvSpPr>
          <p:cNvPr id="20" name="Rechteck 63">
            <a:extLst>
              <a:ext uri="{FF2B5EF4-FFF2-40B4-BE49-F238E27FC236}">
                <a16:creationId xmlns:a16="http://schemas.microsoft.com/office/drawing/2014/main" id="{5059F622-9EFF-C865-449E-77D9C60F1DEF}"/>
              </a:ext>
            </a:extLst>
          </p:cNvPr>
          <p:cNvSpPr/>
          <p:nvPr/>
        </p:nvSpPr>
        <p:spPr>
          <a:xfrm>
            <a:off x="5930628" y="5868960"/>
            <a:ext cx="4384072" cy="912661"/>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Langfristiger Horizont</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Tendenziell Eingliederung gewünscht</a:t>
            </a:r>
          </a:p>
        </p:txBody>
      </p:sp>
      <p:sp>
        <p:nvSpPr>
          <p:cNvPr id="21" name="Rechteck 63">
            <a:extLst>
              <a:ext uri="{FF2B5EF4-FFF2-40B4-BE49-F238E27FC236}">
                <a16:creationId xmlns:a16="http://schemas.microsoft.com/office/drawing/2014/main" id="{824EDB83-71F5-A1F4-A5A6-043700F54863}"/>
              </a:ext>
            </a:extLst>
          </p:cNvPr>
          <p:cNvSpPr/>
          <p:nvPr/>
        </p:nvSpPr>
        <p:spPr>
          <a:xfrm>
            <a:off x="378700" y="5868960"/>
            <a:ext cx="4384072" cy="912661"/>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Exit muss mittel-/langfristig möglich sein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Weiterentwicklung stand-alone als Plattform</a:t>
            </a:r>
          </a:p>
        </p:txBody>
      </p:sp>
      <p:sp>
        <p:nvSpPr>
          <p:cNvPr id="22" name="Rectangle 8">
            <a:extLst>
              <a:ext uri="{FF2B5EF4-FFF2-40B4-BE49-F238E27FC236}">
                <a16:creationId xmlns:a16="http://schemas.microsoft.com/office/drawing/2014/main" id="{788D1B86-E0D7-6980-B806-7B6602447CDC}"/>
              </a:ext>
            </a:extLst>
          </p:cNvPr>
          <p:cNvSpPr/>
          <p:nvPr/>
        </p:nvSpPr>
        <p:spPr>
          <a:xfrm>
            <a:off x="4843032" y="5868863"/>
            <a:ext cx="1007336" cy="912762"/>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Exit</a:t>
            </a:r>
          </a:p>
        </p:txBody>
      </p:sp>
      <p:sp>
        <p:nvSpPr>
          <p:cNvPr id="11" name="Rectangle 8">
            <a:extLst>
              <a:ext uri="{FF2B5EF4-FFF2-40B4-BE49-F238E27FC236}">
                <a16:creationId xmlns:a16="http://schemas.microsoft.com/office/drawing/2014/main" id="{50CBFB69-9674-3208-BF7D-EC10BC8DF8C4}"/>
              </a:ext>
            </a:extLst>
          </p:cNvPr>
          <p:cNvSpPr/>
          <p:nvPr/>
        </p:nvSpPr>
        <p:spPr>
          <a:xfrm>
            <a:off x="378700" y="1451202"/>
            <a:ext cx="3960000" cy="361811"/>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Institutionelle Investoren</a:t>
            </a:r>
            <a:r>
              <a:rPr lang="en-US" sz="1000" b="1" baseline="30000" dirty="0"/>
              <a:t>1)</a:t>
            </a:r>
            <a:endParaRPr lang="de-DE" sz="1000" b="1" baseline="30000" dirty="0"/>
          </a:p>
        </p:txBody>
      </p:sp>
      <p:sp>
        <p:nvSpPr>
          <p:cNvPr id="13" name="Rectangle 8">
            <a:extLst>
              <a:ext uri="{FF2B5EF4-FFF2-40B4-BE49-F238E27FC236}">
                <a16:creationId xmlns:a16="http://schemas.microsoft.com/office/drawing/2014/main" id="{8C36E7C3-EE40-C183-4EFF-FBDB59449987}"/>
              </a:ext>
            </a:extLst>
          </p:cNvPr>
          <p:cNvSpPr/>
          <p:nvPr/>
        </p:nvSpPr>
        <p:spPr>
          <a:xfrm>
            <a:off x="6354700" y="1451202"/>
            <a:ext cx="3960000" cy="361811"/>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Strategen</a:t>
            </a:r>
            <a:endParaRPr lang="de-DE" sz="1000" b="1" dirty="0"/>
          </a:p>
        </p:txBody>
      </p:sp>
      <p:sp>
        <p:nvSpPr>
          <p:cNvPr id="17" name="Rectangle 8">
            <a:extLst>
              <a:ext uri="{FF2B5EF4-FFF2-40B4-BE49-F238E27FC236}">
                <a16:creationId xmlns:a16="http://schemas.microsoft.com/office/drawing/2014/main" id="{8899B861-7E30-F9E5-663B-31EFAE185B95}"/>
              </a:ext>
            </a:extLst>
          </p:cNvPr>
          <p:cNvSpPr/>
          <p:nvPr/>
        </p:nvSpPr>
        <p:spPr>
          <a:xfrm>
            <a:off x="3870887" y="1451202"/>
            <a:ext cx="2951626" cy="361811"/>
          </a:xfrm>
          <a:prstGeom prst="rect">
            <a:avLst/>
          </a:prstGeom>
          <a:gradFill flip="none" rotWithShape="1">
            <a:gsLst>
              <a:gs pos="50000">
                <a:schemeClr val="bg1"/>
              </a:gs>
              <a:gs pos="0">
                <a:schemeClr val="accent1"/>
              </a:gs>
              <a:gs pos="100000">
                <a:schemeClr val="tx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00" b="1" dirty="0"/>
          </a:p>
        </p:txBody>
      </p:sp>
      <p:sp>
        <p:nvSpPr>
          <p:cNvPr id="18" name="Ellipse 101">
            <a:extLst>
              <a:ext uri="{FF2B5EF4-FFF2-40B4-BE49-F238E27FC236}">
                <a16:creationId xmlns:a16="http://schemas.microsoft.com/office/drawing/2014/main" id="{6CFF3488-40E0-C494-26B4-746341EAB48C}"/>
              </a:ext>
            </a:extLst>
          </p:cNvPr>
          <p:cNvSpPr/>
          <p:nvPr/>
        </p:nvSpPr>
        <p:spPr>
          <a:xfrm>
            <a:off x="4494838" y="1404367"/>
            <a:ext cx="1703723" cy="455484"/>
          </a:xfrm>
          <a:prstGeom prst="ellipse">
            <a:avLst/>
          </a:prstGeom>
          <a:solidFill>
            <a:schemeClr val="bg1"/>
          </a:solidFill>
          <a:ln w="12700">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Box 2">
            <a:extLst>
              <a:ext uri="{FF2B5EF4-FFF2-40B4-BE49-F238E27FC236}">
                <a16:creationId xmlns:a16="http://schemas.microsoft.com/office/drawing/2014/main" id="{65AA812D-C1E9-CB0A-4660-225BC7CC36B7}"/>
              </a:ext>
            </a:extLst>
          </p:cNvPr>
          <p:cNvSpPr txBox="1"/>
          <p:nvPr/>
        </p:nvSpPr>
        <p:spPr>
          <a:xfrm>
            <a:off x="4610374" y="1462832"/>
            <a:ext cx="1472650" cy="338554"/>
          </a:xfrm>
          <a:prstGeom prst="rect">
            <a:avLst/>
          </a:prstGeom>
          <a:noFill/>
        </p:spPr>
        <p:txBody>
          <a:bodyPr wrap="square" rtlCol="0" anchor="ctr">
            <a:spAutoFit/>
          </a:bodyPr>
          <a:lstStyle/>
          <a:p>
            <a:pPr algn="ctr"/>
            <a:r>
              <a:rPr lang="de-DE" sz="1600" b="1" dirty="0">
                <a:solidFill>
                  <a:schemeClr val="accent1"/>
                </a:solidFill>
              </a:rPr>
              <a:t>Stadtwerk</a:t>
            </a:r>
          </a:p>
        </p:txBody>
      </p:sp>
    </p:spTree>
    <p:extLst>
      <p:ext uri="{BB962C8B-B14F-4D97-AF65-F5344CB8AC3E}">
        <p14:creationId xmlns:p14="http://schemas.microsoft.com/office/powerpoint/2010/main" val="873635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4A3E28E1-A30E-F448-C662-507F43399771}"/>
              </a:ext>
            </a:extLst>
          </p:cNvPr>
          <p:cNvGraphicFramePr>
            <a:graphicFrameLocks noChangeAspect="1"/>
          </p:cNvGraphicFramePr>
          <p:nvPr>
            <p:custDataLst>
              <p:tags r:id="rId1"/>
            </p:custDataLst>
            <p:extLst>
              <p:ext uri="{D42A27DB-BD31-4B8C-83A1-F6EECF244321}">
                <p14:modId xmlns:p14="http://schemas.microsoft.com/office/powerpoint/2010/main" val="1125239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6" name="think-cell data - do not delete" hidden="1">
                        <a:extLst>
                          <a:ext uri="{FF2B5EF4-FFF2-40B4-BE49-F238E27FC236}">
                            <a16:creationId xmlns:a16="http://schemas.microsoft.com/office/drawing/2014/main" id="{4A3E28E1-A30E-F448-C662-507F433997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de-DE" dirty="0"/>
              <a:t>Metzler ist ideal positioniert, die Stadtwerke Duisburg bei strategischen Überlegungen zu beraten</a:t>
            </a:r>
          </a:p>
        </p:txBody>
      </p:sp>
      <p:sp>
        <p:nvSpPr>
          <p:cNvPr id="3" name="Text Placeholder 2"/>
          <p:cNvSpPr>
            <a:spLocks noGrp="1"/>
          </p:cNvSpPr>
          <p:nvPr>
            <p:ph type="body" sz="quarter" idx="12"/>
          </p:nvPr>
        </p:nvSpPr>
        <p:spPr/>
        <p:txBody>
          <a:bodyPr/>
          <a:lstStyle/>
          <a:p>
            <a:r>
              <a:rPr lang="de-DE" dirty="0"/>
              <a:t>Mehrwert Metzler</a:t>
            </a:r>
          </a:p>
        </p:txBody>
      </p:sp>
      <p:sp>
        <p:nvSpPr>
          <p:cNvPr id="5" name="Text Placeholder 4"/>
          <p:cNvSpPr>
            <a:spLocks noGrp="1"/>
          </p:cNvSpPr>
          <p:nvPr>
            <p:ph type="body" sz="quarter" idx="14"/>
          </p:nvPr>
        </p:nvSpPr>
        <p:spPr/>
        <p:txBody>
          <a:bodyPr/>
          <a:lstStyle/>
          <a:p>
            <a:endParaRPr lang="en-GB" dirty="0"/>
          </a:p>
        </p:txBody>
      </p:sp>
      <p:sp>
        <p:nvSpPr>
          <p:cNvPr id="6" name="Text Placeholder 5"/>
          <p:cNvSpPr>
            <a:spLocks noGrp="1"/>
          </p:cNvSpPr>
          <p:nvPr>
            <p:ph type="body" sz="quarter" idx="15"/>
          </p:nvPr>
        </p:nvSpPr>
        <p:spPr/>
        <p:txBody>
          <a:bodyPr/>
          <a:lstStyle/>
          <a:p>
            <a:endParaRPr lang="en-GB" dirty="0"/>
          </a:p>
        </p:txBody>
      </p:sp>
      <p:cxnSp>
        <p:nvCxnSpPr>
          <p:cNvPr id="7" name="Gerader Verbinder 68"/>
          <p:cNvCxnSpPr/>
          <p:nvPr/>
        </p:nvCxnSpPr>
        <p:spPr>
          <a:xfrm flipV="1">
            <a:off x="387554" y="602876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8" name="Gerader Verbinder 68"/>
          <p:cNvCxnSpPr/>
          <p:nvPr/>
        </p:nvCxnSpPr>
        <p:spPr>
          <a:xfrm flipV="1">
            <a:off x="387554" y="512197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0" name="Gerader Verbinder 68"/>
          <p:cNvCxnSpPr/>
          <p:nvPr/>
        </p:nvCxnSpPr>
        <p:spPr>
          <a:xfrm flipV="1">
            <a:off x="387554" y="4233595"/>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 name="Gerader Verbinder 68"/>
          <p:cNvCxnSpPr/>
          <p:nvPr/>
        </p:nvCxnSpPr>
        <p:spPr>
          <a:xfrm flipV="1">
            <a:off x="387554" y="2430897"/>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8" name="Gerader Verbinder 68"/>
          <p:cNvCxnSpPr/>
          <p:nvPr/>
        </p:nvCxnSpPr>
        <p:spPr>
          <a:xfrm flipV="1">
            <a:off x="387554" y="3320744"/>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738040" y="1715133"/>
            <a:ext cx="9509753" cy="513946"/>
            <a:chOff x="738040" y="1627306"/>
            <a:chExt cx="9509753" cy="513946"/>
          </a:xfrm>
        </p:grpSpPr>
        <p:sp>
          <p:nvSpPr>
            <p:cNvPr id="24" name="Textfeld 30"/>
            <p:cNvSpPr txBox="1"/>
            <p:nvPr/>
          </p:nvSpPr>
          <p:spPr>
            <a:xfrm>
              <a:off x="1506052" y="1654237"/>
              <a:ext cx="8741741" cy="468000"/>
            </a:xfrm>
            <a:prstGeom prst="rect">
              <a:avLst/>
            </a:prstGeom>
            <a:noFill/>
          </p:spPr>
          <p:txBody>
            <a:bodyPr wrap="square" rtlCol="0" anchor="ctr">
              <a:noAutofit/>
            </a:bodyPr>
            <a:lstStyle/>
            <a:p>
              <a:pPr>
                <a:spcBef>
                  <a:spcPct val="90000"/>
                </a:spcBef>
                <a:buClr>
                  <a:srgbClr val="FF9900"/>
                </a:buClr>
                <a:buSzPct val="135000"/>
              </a:pPr>
              <a:r>
                <a:rPr lang="de-DE" altLang="de-DE" sz="1100" b="1" dirty="0">
                  <a:solidFill>
                    <a:schemeClr val="accent1"/>
                  </a:solidFill>
                </a:rPr>
                <a:t>Umfangreiches Know-how im Energiesektor sowie bei Transaktionen mit öffentlich-rechtlichem Hintergrund</a:t>
              </a:r>
            </a:p>
          </p:txBody>
        </p:sp>
        <p:pic>
          <p:nvPicPr>
            <p:cNvPr id="25" name="Picture 24"/>
            <p:cNvPicPr>
              <a:picLocks noChangeAspect="1"/>
            </p:cNvPicPr>
            <p:nvPr/>
          </p:nvPicPr>
          <p:blipFill>
            <a:blip r:embed="rId5"/>
            <a:stretch>
              <a:fillRect/>
            </a:stretch>
          </p:blipFill>
          <p:spPr>
            <a:xfrm>
              <a:off x="738040" y="1627306"/>
              <a:ext cx="519086" cy="513946"/>
            </a:xfrm>
            <a:prstGeom prst="rect">
              <a:avLst/>
            </a:prstGeom>
          </p:spPr>
        </p:pic>
      </p:grpSp>
      <p:grpSp>
        <p:nvGrpSpPr>
          <p:cNvPr id="37" name="Group 36"/>
          <p:cNvGrpSpPr/>
          <p:nvPr/>
        </p:nvGrpSpPr>
        <p:grpSpPr>
          <a:xfrm>
            <a:off x="744105" y="2632715"/>
            <a:ext cx="9072194" cy="486211"/>
            <a:chOff x="744105" y="2297872"/>
            <a:chExt cx="9072194" cy="486211"/>
          </a:xfrm>
        </p:grpSpPr>
        <p:sp>
          <p:nvSpPr>
            <p:cNvPr id="27" name="Textfeld 30"/>
            <p:cNvSpPr txBox="1"/>
            <p:nvPr/>
          </p:nvSpPr>
          <p:spPr>
            <a:xfrm>
              <a:off x="1506053" y="2316083"/>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Hervorragende Reputation und exzellenter Zugang zu relevanten nationalen und internationalen Investoren</a:t>
              </a:r>
            </a:p>
          </p:txBody>
        </p:sp>
        <p:pic>
          <p:nvPicPr>
            <p:cNvPr id="36" name="Picture 35"/>
            <p:cNvPicPr>
              <a:picLocks noChangeAspect="1"/>
            </p:cNvPicPr>
            <p:nvPr/>
          </p:nvPicPr>
          <p:blipFill>
            <a:blip r:embed="rId6"/>
            <a:stretch>
              <a:fillRect/>
            </a:stretch>
          </p:blipFill>
          <p:spPr>
            <a:xfrm>
              <a:off x="744105" y="2297872"/>
              <a:ext cx="446977" cy="465666"/>
            </a:xfrm>
            <a:prstGeom prst="rect">
              <a:avLst/>
            </a:prstGeom>
          </p:spPr>
        </p:pic>
      </p:grpSp>
      <p:grpSp>
        <p:nvGrpSpPr>
          <p:cNvPr id="40" name="Group 39"/>
          <p:cNvGrpSpPr/>
          <p:nvPr/>
        </p:nvGrpSpPr>
        <p:grpSpPr>
          <a:xfrm>
            <a:off x="797636" y="4435413"/>
            <a:ext cx="9525918" cy="484740"/>
            <a:chOff x="797636" y="3639775"/>
            <a:chExt cx="9525918" cy="484740"/>
          </a:xfrm>
        </p:grpSpPr>
        <p:sp>
          <p:nvSpPr>
            <p:cNvPr id="33" name="Textfeld 30"/>
            <p:cNvSpPr txBox="1"/>
            <p:nvPr/>
          </p:nvSpPr>
          <p:spPr>
            <a:xfrm>
              <a:off x="1503465" y="3639775"/>
              <a:ext cx="8820089" cy="468000"/>
            </a:xfrm>
            <a:prstGeom prst="rect">
              <a:avLst/>
            </a:prstGeom>
            <a:noFill/>
          </p:spPr>
          <p:txBody>
            <a:bodyPr wrap="square" rtlCol="0" anchor="ctr">
              <a:noAutofit/>
            </a:bodyPr>
            <a:lstStyle/>
            <a:p>
              <a:pPr>
                <a:spcAft>
                  <a:spcPts val="600"/>
                </a:spcAft>
              </a:pPr>
              <a:r>
                <a:rPr lang="de-DE" sz="1100" b="1" dirty="0">
                  <a:solidFill>
                    <a:schemeClr val="accent1"/>
                  </a:solidFill>
                </a:rPr>
                <a:t>Erfahrener Sparringspartner bzgl. Transaktionsprozess, -taktik und -struktur und Erfahrung mit Entscheidungsprozessen der öffentlichen Hand</a:t>
              </a:r>
            </a:p>
          </p:txBody>
        </p:sp>
        <p:pic>
          <p:nvPicPr>
            <p:cNvPr id="39" name="Picture 38"/>
            <p:cNvPicPr>
              <a:picLocks noChangeAspect="1"/>
            </p:cNvPicPr>
            <p:nvPr/>
          </p:nvPicPr>
          <p:blipFill>
            <a:blip r:embed="rId7"/>
            <a:stretch>
              <a:fillRect/>
            </a:stretch>
          </p:blipFill>
          <p:spPr>
            <a:xfrm>
              <a:off x="797636" y="3645671"/>
              <a:ext cx="379344" cy="478844"/>
            </a:xfrm>
            <a:prstGeom prst="rect">
              <a:avLst/>
            </a:prstGeom>
          </p:spPr>
        </p:pic>
      </p:grpSp>
      <p:grpSp>
        <p:nvGrpSpPr>
          <p:cNvPr id="43" name="Group 42"/>
          <p:cNvGrpSpPr/>
          <p:nvPr/>
        </p:nvGrpSpPr>
        <p:grpSpPr>
          <a:xfrm>
            <a:off x="651284" y="6230576"/>
            <a:ext cx="9165015" cy="502383"/>
            <a:chOff x="651284" y="5612915"/>
            <a:chExt cx="9165015" cy="502383"/>
          </a:xfrm>
        </p:grpSpPr>
        <p:sp>
          <p:nvSpPr>
            <p:cNvPr id="17" name="Textfeld 30"/>
            <p:cNvSpPr txBox="1"/>
            <p:nvPr/>
          </p:nvSpPr>
          <p:spPr>
            <a:xfrm>
              <a:off x="1506053" y="5612915"/>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Unternehmerisches Denken und Handeln</a:t>
              </a:r>
            </a:p>
          </p:txBody>
        </p:sp>
        <p:pic>
          <p:nvPicPr>
            <p:cNvPr id="42" name="Picture 41"/>
            <p:cNvPicPr>
              <a:picLocks noChangeAspect="1"/>
            </p:cNvPicPr>
            <p:nvPr/>
          </p:nvPicPr>
          <p:blipFill>
            <a:blip r:embed="rId8"/>
            <a:stretch>
              <a:fillRect/>
            </a:stretch>
          </p:blipFill>
          <p:spPr>
            <a:xfrm>
              <a:off x="651284" y="5631893"/>
              <a:ext cx="627058" cy="483405"/>
            </a:xfrm>
            <a:prstGeom prst="rect">
              <a:avLst/>
            </a:prstGeom>
          </p:spPr>
        </p:pic>
      </p:grpSp>
      <p:grpSp>
        <p:nvGrpSpPr>
          <p:cNvPr id="47" name="Group 46"/>
          <p:cNvGrpSpPr/>
          <p:nvPr/>
        </p:nvGrpSpPr>
        <p:grpSpPr>
          <a:xfrm>
            <a:off x="738040" y="3522562"/>
            <a:ext cx="9291694" cy="509215"/>
            <a:chOff x="738040" y="2992058"/>
            <a:chExt cx="9291694" cy="509215"/>
          </a:xfrm>
        </p:grpSpPr>
        <p:sp>
          <p:nvSpPr>
            <p:cNvPr id="14" name="Textfeld 30"/>
            <p:cNvSpPr txBox="1"/>
            <p:nvPr/>
          </p:nvSpPr>
          <p:spPr>
            <a:xfrm>
              <a:off x="1503465" y="3033273"/>
              <a:ext cx="8526269" cy="468000"/>
            </a:xfrm>
            <a:prstGeom prst="rect">
              <a:avLst/>
            </a:prstGeom>
            <a:noFill/>
          </p:spPr>
          <p:txBody>
            <a:bodyPr wrap="square" rtlCol="0" anchor="ctr">
              <a:noAutofit/>
            </a:bodyPr>
            <a:lstStyle/>
            <a:p>
              <a:pPr>
                <a:spcAft>
                  <a:spcPts val="600"/>
                </a:spcAft>
              </a:pPr>
              <a:r>
                <a:rPr lang="de-DE" sz="1100" b="1" dirty="0">
                  <a:solidFill>
                    <a:schemeClr val="accent1"/>
                  </a:solidFill>
                </a:rPr>
                <a:t>Qualifiziertes und erfahrenes Team mit hohem Senior-Commitment</a:t>
              </a:r>
            </a:p>
          </p:txBody>
        </p:sp>
        <p:pic>
          <p:nvPicPr>
            <p:cNvPr id="46" name="Picture 45"/>
            <p:cNvPicPr>
              <a:picLocks noChangeAspect="1"/>
            </p:cNvPicPr>
            <p:nvPr/>
          </p:nvPicPr>
          <p:blipFill>
            <a:blip r:embed="rId9"/>
            <a:stretch>
              <a:fillRect/>
            </a:stretch>
          </p:blipFill>
          <p:spPr>
            <a:xfrm>
              <a:off x="738040" y="2992058"/>
              <a:ext cx="464109" cy="462552"/>
            </a:xfrm>
            <a:prstGeom prst="rect">
              <a:avLst/>
            </a:prstGeom>
          </p:spPr>
        </p:pic>
      </p:grpSp>
      <p:grpSp>
        <p:nvGrpSpPr>
          <p:cNvPr id="49" name="Group 48"/>
          <p:cNvGrpSpPr/>
          <p:nvPr/>
        </p:nvGrpSpPr>
        <p:grpSpPr>
          <a:xfrm>
            <a:off x="711835" y="5323789"/>
            <a:ext cx="9680526" cy="503154"/>
            <a:chOff x="711835" y="4955477"/>
            <a:chExt cx="9680526" cy="503154"/>
          </a:xfrm>
        </p:grpSpPr>
        <p:sp>
          <p:nvSpPr>
            <p:cNvPr id="21" name="Textfeld 30"/>
            <p:cNvSpPr txBox="1"/>
            <p:nvPr/>
          </p:nvSpPr>
          <p:spPr>
            <a:xfrm>
              <a:off x="1506052" y="4962705"/>
              <a:ext cx="8886309" cy="468000"/>
            </a:xfrm>
            <a:prstGeom prst="rect">
              <a:avLst/>
            </a:prstGeom>
            <a:noFill/>
          </p:spPr>
          <p:txBody>
            <a:bodyPr wrap="square" rtlCol="0" anchor="ctr">
              <a:noAutofit/>
            </a:bodyPr>
            <a:lstStyle/>
            <a:p>
              <a:pPr>
                <a:spcAft>
                  <a:spcPts val="600"/>
                </a:spcAft>
              </a:pPr>
              <a:r>
                <a:rPr lang="de-DE" sz="1100" b="1" dirty="0">
                  <a:solidFill>
                    <a:schemeClr val="accent1"/>
                  </a:solidFill>
                </a:rPr>
                <a:t>Unabhängige Beratung ohne eigene Finanzierungs- oder Beteiligungsinteressen </a:t>
              </a:r>
              <a:r>
                <a:rPr lang="de-DE" sz="1100" b="1" dirty="0">
                  <a:solidFill>
                    <a:schemeClr val="accent1"/>
                  </a:solidFill>
                  <a:sym typeface="Wingdings 3" panose="05040102010807070707" pitchFamily="18" charset="2"/>
                </a:rPr>
                <a:t></a:t>
              </a:r>
              <a:r>
                <a:rPr lang="de-DE" sz="1100" b="1" dirty="0">
                  <a:solidFill>
                    <a:schemeClr val="accent1"/>
                  </a:solidFill>
                </a:rPr>
                <a:t> keine Interessenkonflikte</a:t>
              </a:r>
            </a:p>
          </p:txBody>
        </p:sp>
        <p:pic>
          <p:nvPicPr>
            <p:cNvPr id="48" name="Picture 47"/>
            <p:cNvPicPr>
              <a:picLocks noChangeAspect="1"/>
            </p:cNvPicPr>
            <p:nvPr/>
          </p:nvPicPr>
          <p:blipFill>
            <a:blip r:embed="rId10"/>
            <a:stretch>
              <a:fillRect/>
            </a:stretch>
          </p:blipFill>
          <p:spPr>
            <a:xfrm>
              <a:off x="711835" y="4955477"/>
              <a:ext cx="531421" cy="503154"/>
            </a:xfrm>
            <a:prstGeom prst="rect">
              <a:avLst/>
            </a:prstGeom>
          </p:spPr>
        </p:pic>
      </p:grpSp>
      <p:sp>
        <p:nvSpPr>
          <p:cNvPr id="15" name="Textplatzhalter 14">
            <a:extLst>
              <a:ext uri="{FF2B5EF4-FFF2-40B4-BE49-F238E27FC236}">
                <a16:creationId xmlns:a16="http://schemas.microsoft.com/office/drawing/2014/main" id="{434D403F-2565-E81D-861A-C063CDF9C374}"/>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150001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0EFEB9-7931-4543-ACD3-1A16560A66CC}"/>
              </a:ext>
            </a:extLst>
          </p:cNvPr>
          <p:cNvSpPr>
            <a:spLocks noGrp="1"/>
          </p:cNvSpPr>
          <p:nvPr>
            <p:ph type="body" sz="quarter" idx="12"/>
          </p:nvPr>
        </p:nvSpPr>
        <p:spPr/>
        <p:txBody>
          <a:bodyPr/>
          <a:lstStyle/>
          <a:p>
            <a:endParaRPr lang="de-DE" dirty="0"/>
          </a:p>
        </p:txBody>
      </p:sp>
      <p:sp>
        <p:nvSpPr>
          <p:cNvPr id="3" name="Text Placeholder 2">
            <a:extLst>
              <a:ext uri="{FF2B5EF4-FFF2-40B4-BE49-F238E27FC236}">
                <a16:creationId xmlns:a16="http://schemas.microsoft.com/office/drawing/2014/main" id="{7C8E8390-E61D-4A2C-B39F-6B89B4C5D3A1}"/>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928743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493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89999999999999991118E+00&quot;&gt;&lt;m_msothmcolidx val=&quot;0&quot;/&gt;&lt;m_rgb r=&quot;EB&quot; g=&quot;F4&quot; b=&quot;FF&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yhPB0JyE7IMlWzYTiOJPr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jSlHK1A_XlTGTBeOrs7pL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qLglxBie40PUy2.Vsbe.a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XZ0fVuvwdc5JxG2lColhN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ZFX99IGexVpOX3MxmafXU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MCNpkSOLeqoszOeLo4VL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Wsmu4XXbCYlp9d64zeLt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dx7YbC0mspBn9eHjU3hV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AFSPANMODE" val="span"/>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rlage_BMSSC">
  <a:themeElements>
    <a:clrScheme name="MCF new">
      <a:dk1>
        <a:srgbClr val="000000"/>
      </a:dk1>
      <a:lt1>
        <a:srgbClr val="FFFFFF"/>
      </a:lt1>
      <a:dk2>
        <a:srgbClr val="808080"/>
      </a:dk2>
      <a:lt2>
        <a:srgbClr val="D1E4FD"/>
      </a:lt2>
      <a:accent1>
        <a:srgbClr val="003D7C"/>
      </a:accent1>
      <a:accent2>
        <a:srgbClr val="3157E3"/>
      </a:accent2>
      <a:accent3>
        <a:srgbClr val="718BEB"/>
      </a:accent3>
      <a:accent4>
        <a:srgbClr val="67A6F9"/>
      </a:accent4>
      <a:accent5>
        <a:srgbClr val="A5CAFB"/>
      </a:accent5>
      <a:accent6>
        <a:srgbClr val="FF9900"/>
      </a:accent6>
      <a:hlink>
        <a:srgbClr val="FF9900"/>
      </a:hlink>
      <a:folHlink>
        <a:srgbClr val="67A6F9"/>
      </a:folHlink>
    </a:clrScheme>
    <a:fontScheme name="Metzler">
      <a:majorFont>
        <a:latin typeface="Univers for Metzler Light"/>
        <a:ea typeface=""/>
        <a:cs typeface=""/>
      </a:majorFont>
      <a:minorFont>
        <a:latin typeface="Univers for Metzler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a:defPPr>
      </a:lstStyle>
    </a:txDef>
  </a:objectDefaults>
  <a:extraClrSchemeLst/>
  <a:custClrLst>
    <a:custClr name="Custom Color 1">
      <a:srgbClr val="5171E7"/>
    </a:custClr>
    <a:custClr name="Custom Color 2">
      <a:srgbClr val="80B4FA"/>
    </a:custClr>
    <a:custClr name="Custom Color 3">
      <a:srgbClr val="EBF4FF"/>
    </a:custClr>
    <a:custClr name="Custom Color 4">
      <a:srgbClr val="FFA827"/>
    </a:custClr>
    <a:custClr name="Custom Color 5">
      <a:srgbClr val="FFB64B"/>
    </a:custClr>
    <a:custClr name="Custom Color 6">
      <a:srgbClr val="FFC56F"/>
    </a:custClr>
    <a:custClr name="Custom Color 7">
      <a:srgbClr val="B02307"/>
    </a:custClr>
    <a:custClr name="Custom Color 8">
      <a:srgbClr val="D33313"/>
    </a:custClr>
    <a:custClr name="Custom Color 9">
      <a:srgbClr val="EC4C2C"/>
    </a:custClr>
    <a:custClr name="Custom Color 10">
      <a:srgbClr val="EF664B"/>
    </a:custClr>
    <a:custClr name="Custom Color 11">
      <a:srgbClr val="939408"/>
    </a:custClr>
    <a:custClr name="Custom Color 12">
      <a:srgbClr val="B4C814"/>
    </a:custClr>
  </a:custClr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3102</Words>
  <Application>Microsoft Office PowerPoint</Application>
  <PresentationFormat>Custom</PresentationFormat>
  <Paragraphs>624</Paragraphs>
  <Slides>21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0" baseType="lpstr">
      <vt:lpstr>Arial</vt:lpstr>
      <vt:lpstr>Calibri</vt:lpstr>
      <vt:lpstr>Symbol</vt:lpstr>
      <vt:lpstr>Univers for Metzler</vt:lpstr>
      <vt:lpstr>Univers for Metzler Light</vt:lpstr>
      <vt:lpstr>Wingdings</vt:lpstr>
      <vt:lpstr>Wingdings 3</vt:lpstr>
      <vt:lpstr>Vorlage_BMSSC</vt:lpstr>
      <vt:lpstr>think-cell Slide</vt:lpstr>
      <vt:lpstr>Überlegungen zur Kapitalflexibilisierung   Unterlage für Herrn Thomas Brauers Herrn Dennis Schulte im Walde </vt:lpstr>
      <vt:lpstr>Vorstellung – Ihre Kontaktpersonen</vt:lpstr>
      <vt:lpstr>Agenda</vt:lpstr>
      <vt:lpstr>PowerPoint Presentation</vt:lpstr>
      <vt:lpstr>Bankhaus Metzler – Innovative Privatbank, erfolgreich seit 1674</vt:lpstr>
      <vt:lpstr>Metzler konzentriert sich auf seine Stärken in vier Geschäftsfeldern</vt:lpstr>
      <vt:lpstr>Umfassende Industriekenntnis in ausgewählten Kernsektoren</vt:lpstr>
      <vt:lpstr>Metzler verfügt über umfassendes Know-how aus Transaktionen und langjährige Erfahrung im Bereich Erneuerbare Energien und öffentliche Hand</vt:lpstr>
      <vt:lpstr>PowerPoint Presentation</vt:lpstr>
      <vt:lpstr>Gleichzeitiges Vorantreiben der Klima- und Wärmewende im Rahmen der Klimaneutralität wird erhebliche Investitionsmittel erfordern</vt:lpstr>
      <vt:lpstr>Die DVV bündelt die Aktivitäten in den Bereichen Versorgung, Mobilität und Infrastruktur – Stadtwerke Duisburg als wesentlicher Leistungsträger</vt:lpstr>
      <vt:lpstr>Die Stadtwerke Duisburg sind der kommunale Versorger und wesentlicher Leistungsträger in der DVV-Gruppe</vt:lpstr>
      <vt:lpstr>Ein massiver Investitionsbedarf zur Erreichung der Klimaziele ist in den nächsten Jahren innerhalb der DVV-Gruppe zu erwarten</vt:lpstr>
      <vt:lpstr>Finanzierungsspielraum der SWDU für Investitionen in die Klima- und Wärme-wende des DVV ist eng – innovative Strukturen sollten angedacht werden</vt:lpstr>
      <vt:lpstr>PowerPoint Presentation</vt:lpstr>
      <vt:lpstr>Die Einbindung von privaten Investoren zur Kapitalflexibilisierung kann eine sinnvolle Struktur sein</vt:lpstr>
      <vt:lpstr>Beteiligungskonzept zur Kapitalflexibilisierung kann individuell an die Strategie und Investitionsbedürfnisse des Stadtwerks angepasst werden</vt:lpstr>
      <vt:lpstr>Abhängig von den Zielen des Stadtwerks gibt es kombinierbare Handlungsoptionen zur Kapitalflexibilisierung</vt:lpstr>
      <vt:lpstr>Finanzinvestoren und Strategen sind an stabilen "grünen" Cash Flows interessiert, haben aber unterschiedliche Anforderungs- und Investitionsprofile</vt:lpstr>
      <vt:lpstr>Metzler ist ideal positioniert, die Stadtwerke Duisburg bei strategischen Überlegungen zu beraten</vt:lpstr>
      <vt:lpstr>PowerPoint Presentation</vt:lpstr>
    </vt:vector>
  </TitlesOfParts>
  <Company>metzler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NRI</dc:creator>
  <cp:lastModifiedBy>Nicolas Pfennig</cp:lastModifiedBy>
  <cp:revision>5342</cp:revision>
  <cp:lastPrinted>2024-02-19T13:05:57Z</cp:lastPrinted>
  <dcterms:created xsi:type="dcterms:W3CDTF">2013-01-15T12:08:49Z</dcterms:created>
  <dcterms:modified xsi:type="dcterms:W3CDTF">2026-08-25T18:21:04Z</dcterms:modified>
</cp:coreProperties>
</file>