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charts/chart1.xml" ContentType="application/vnd.openxmlformats-officedocument.drawingml.chart+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19"/>
  </p:notesMasterIdLst>
  <p:handoutMasterIdLst>
    <p:handoutMasterId r:id="rId20"/>
  </p:handoutMasterIdLst>
  <p:sldIdLst>
    <p:sldId id="2354" r:id="rId2"/>
    <p:sldId id="2355" r:id="rId3"/>
    <p:sldId id="2348" r:id="rId4"/>
    <p:sldId id="2336" r:id="rId5"/>
    <p:sldId id="2147481367" r:id="rId6"/>
    <p:sldId id="2147481317" r:id="rId7"/>
    <p:sldId id="1254" r:id="rId8"/>
    <p:sldId id="1502" r:id="rId9"/>
    <p:sldId id="2351" r:id="rId10"/>
    <p:sldId id="2147481320" r:id="rId11"/>
    <p:sldId id="2420" r:id="rId12"/>
    <p:sldId id="2423" r:id="rId13"/>
    <p:sldId id="2366" r:id="rId14"/>
    <p:sldId id="2147481369" r:id="rId15"/>
    <p:sldId id="2416" r:id="rId16"/>
    <p:sldId id="2371" r:id="rId17"/>
    <p:sldId id="1498" r:id="rId18"/>
  </p:sldIdLst>
  <p:sldSz cx="10693400" cy="7561263"/>
  <p:notesSz cx="6797675" cy="9872663"/>
  <p:custDataLst>
    <p:tags r:id="rId21"/>
  </p:custDataLst>
  <p:defaultTex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09" userDrawn="1">
          <p15:clr>
            <a:srgbClr val="A4A3A4"/>
          </p15:clr>
        </p15:guide>
        <p15:guide id="2" pos="214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bias Trutz" initials="TT" lastIdx="1" clrIdx="0">
    <p:extLst>
      <p:ext uri="{19B8F6BF-5375-455C-9EA6-DF929625EA0E}">
        <p15:presenceInfo xmlns:p15="http://schemas.microsoft.com/office/powerpoint/2012/main" userId="Tobias Trutz" providerId="None"/>
      </p:ext>
    </p:extLst>
  </p:cmAuthor>
  <p:cmAuthor id="2" name="Janik Peterhansel" initials="JP" lastIdx="5" clrIdx="1">
    <p:extLst>
      <p:ext uri="{19B8F6BF-5375-455C-9EA6-DF929625EA0E}">
        <p15:presenceInfo xmlns:p15="http://schemas.microsoft.com/office/powerpoint/2012/main" userId="Janik Peterhansel" providerId="None"/>
      </p:ext>
    </p:extLst>
  </p:cmAuthor>
  <p:cmAuthor id="3" name="Christoph Lerps" initials="CL" lastIdx="6" clrIdx="2">
    <p:extLst>
      <p:ext uri="{19B8F6BF-5375-455C-9EA6-DF929625EA0E}">
        <p15:presenceInfo xmlns:p15="http://schemas.microsoft.com/office/powerpoint/2012/main" userId="S::Christoph.Lerps@metzler.com::0f5c447a-50d1-4d46-853d-efe4abe587a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157E3"/>
    <a:srgbClr val="FF9900"/>
    <a:srgbClr val="A5CAFB"/>
    <a:srgbClr val="FFEBCC"/>
    <a:srgbClr val="FFB64B"/>
    <a:srgbClr val="C0C0C0"/>
    <a:srgbClr val="E20000"/>
    <a:srgbClr val="007E39"/>
    <a:srgbClr val="009E47"/>
    <a:srgbClr val="EBF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90" autoAdjust="0"/>
    <p:restoredTop sz="96101" autoAdjust="0"/>
  </p:normalViewPr>
  <p:slideViewPr>
    <p:cSldViewPr showGuides="1">
      <p:cViewPr varScale="1">
        <p:scale>
          <a:sx n="104" d="100"/>
          <a:sy n="104" d="100"/>
        </p:scale>
        <p:origin x="1987" y="91"/>
      </p:cViewPr>
      <p:guideLst/>
    </p:cSldViewPr>
  </p:slideViewPr>
  <p:outlineViewPr>
    <p:cViewPr>
      <p:scale>
        <a:sx n="33" d="100"/>
        <a:sy n="33" d="100"/>
      </p:scale>
      <p:origin x="0" y="0"/>
    </p:cViewPr>
  </p:outlineViewPr>
  <p:notesTextViewPr>
    <p:cViewPr>
      <p:scale>
        <a:sx n="75" d="100"/>
        <a:sy n="75" d="100"/>
      </p:scale>
      <p:origin x="0" y="0"/>
    </p:cViewPr>
  </p:notesTextViewPr>
  <p:sorterViewPr>
    <p:cViewPr>
      <p:scale>
        <a:sx n="100" d="100"/>
        <a:sy n="100" d="100"/>
      </p:scale>
      <p:origin x="0" y="0"/>
    </p:cViewPr>
  </p:sorterViewPr>
  <p:notesViewPr>
    <p:cSldViewPr showGuides="1">
      <p:cViewPr varScale="1">
        <p:scale>
          <a:sx n="72" d="100"/>
          <a:sy n="72" d="100"/>
        </p:scale>
        <p:origin x="3384" y="90"/>
      </p:cViewPr>
      <p:guideLst>
        <p:guide orient="horz" pos="3109"/>
        <p:guide pos="214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3468013468013467E-2"/>
          <c:y val="0.17567567567567569"/>
          <c:w val="0.97306397306397308"/>
          <c:h val="0.64864864864864868"/>
        </c:manualLayout>
      </c:layout>
      <c:barChart>
        <c:barDir val="col"/>
        <c:grouping val="stacked"/>
        <c:varyColors val="0"/>
        <c:ser>
          <c:idx val="0"/>
          <c:order val="0"/>
          <c:spPr>
            <a:solidFill>
              <a:schemeClr val="accent1"/>
            </a:solidFill>
            <a:ln>
              <a:noFill/>
            </a:ln>
          </c:spPr>
          <c:invertIfNegative val="0"/>
          <c:val>
            <c:numRef>
              <c:f>Sheet1!$A$1:$E$1</c:f>
              <c:numCache>
                <c:formatCode>General</c:formatCode>
                <c:ptCount val="5"/>
                <c:pt idx="0">
                  <c:v>8.9827430000000135</c:v>
                </c:pt>
                <c:pt idx="1">
                  <c:v>-98.608366999999987</c:v>
                </c:pt>
                <c:pt idx="2">
                  <c:v>-120</c:v>
                </c:pt>
                <c:pt idx="3">
                  <c:v>-72.7</c:v>
                </c:pt>
                <c:pt idx="4">
                  <c:v>1.5999999999999943</c:v>
                </c:pt>
              </c:numCache>
            </c:numRef>
          </c:val>
          <c:extLst>
            <c:ext xmlns:c16="http://schemas.microsoft.com/office/drawing/2014/chart" uri="{C3380CC4-5D6E-409C-BE32-E72D297353CC}">
              <c16:uniqueId val="{00000000-2BCF-449E-880F-59A3062CC1A8}"/>
            </c:ext>
          </c:extLst>
        </c:ser>
        <c:dLbls>
          <c:showLegendKey val="0"/>
          <c:showVal val="0"/>
          <c:showCatName val="0"/>
          <c:showSerName val="0"/>
          <c:showPercent val="0"/>
          <c:showBubbleSize val="0"/>
        </c:dLbls>
        <c:gapWidth val="80"/>
        <c:overlap val="100"/>
        <c:axId val="401461391"/>
        <c:axId val="1"/>
      </c:barChart>
      <c:catAx>
        <c:axId val="401461391"/>
        <c:scaling>
          <c:orientation val="minMax"/>
        </c:scaling>
        <c:delete val="0"/>
        <c:axPos val="b"/>
        <c:majorGridlines>
          <c:spPr>
            <a:ln>
              <a:noFill/>
            </a:ln>
          </c:spPr>
        </c:majorGridlines>
        <c:majorTickMark val="none"/>
        <c:minorTickMark val="none"/>
        <c:tickLblPos val="none"/>
        <c:spPr>
          <a:ln w="9525" cmpd="sng" algn="ctr">
            <a:solidFill>
              <a:srgbClr val="969696"/>
            </a:solidFill>
            <a:prstDash val="solid"/>
          </a:ln>
        </c:spPr>
        <c:crossAx val="1"/>
        <c:crossesAt val="0"/>
        <c:auto val="0"/>
        <c:lblAlgn val="ctr"/>
        <c:lblOffset val="100"/>
        <c:noMultiLvlLbl val="0"/>
      </c:catAx>
      <c:valAx>
        <c:axId val="1"/>
        <c:scaling>
          <c:orientation val="minMax"/>
          <c:max val="8.9827430000000135"/>
          <c:min val="-120"/>
        </c:scaling>
        <c:delete val="0"/>
        <c:axPos val="l"/>
        <c:majorGridlines>
          <c:spPr>
            <a:ln>
              <a:noFill/>
            </a:ln>
          </c:spPr>
        </c:majorGridlines>
        <c:numFmt formatCode="General" sourceLinked="1"/>
        <c:majorTickMark val="none"/>
        <c:minorTickMark val="none"/>
        <c:tickLblPos val="none"/>
        <c:spPr>
          <a:ln>
            <a:noFill/>
          </a:ln>
        </c:spPr>
        <c:crossAx val="401461391"/>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4761904761904763E-2"/>
          <c:y val="0.15537190082644628"/>
          <c:w val="0.95047619047619047"/>
          <c:h val="0.73801652892561986"/>
        </c:manualLayout>
      </c:layout>
      <c:barChart>
        <c:barDir val="col"/>
        <c:grouping val="clustered"/>
        <c:varyColors val="0"/>
        <c:ser>
          <c:idx val="0"/>
          <c:order val="0"/>
          <c:spPr>
            <a:solidFill>
              <a:schemeClr val="accent1"/>
            </a:solidFill>
            <a:ln>
              <a:noFill/>
            </a:ln>
          </c:spPr>
          <c:invertIfNegative val="0"/>
          <c:dLbls>
            <c:dLbl>
              <c:idx val="0"/>
              <c:layout>
                <c:manualLayout>
                  <c:x val="0"/>
                  <c:y val="-0.271900826446281"/>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D79C-4227-97C2-07823E2E7A5D}"/>
                </c:ext>
              </c:extLst>
            </c:dLbl>
            <c:dLbl>
              <c:idx val="1"/>
              <c:layout>
                <c:manualLayout>
                  <c:x val="0"/>
                  <c:y val="-0.30247933884297523"/>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79C-4227-97C2-07823E2E7A5D}"/>
                </c:ext>
              </c:extLst>
            </c:dLbl>
            <c:dLbl>
              <c:idx val="2"/>
              <c:layout>
                <c:manualLayout>
                  <c:x val="0"/>
                  <c:y val="-0.41818181818181815"/>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D79C-4227-97C2-07823E2E7A5D}"/>
                </c:ext>
              </c:extLst>
            </c:dLbl>
            <c:dLbl>
              <c:idx val="3"/>
              <c:layout>
                <c:manualLayout>
                  <c:x val="0"/>
                  <c:y val="-0.40413223140495869"/>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79C-4227-97C2-07823E2E7A5D}"/>
                </c:ext>
              </c:extLst>
            </c:dLbl>
            <c:dLbl>
              <c:idx val="4"/>
              <c:layout>
                <c:manualLayout>
                  <c:x val="0"/>
                  <c:y val="-0.39090909090909093"/>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D79C-4227-97C2-07823E2E7A5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1466.4726250000001</c:v>
                </c:pt>
                <c:pt idx="1">
                  <c:v>1665.5007619999999</c:v>
                </c:pt>
                <c:pt idx="2">
                  <c:v>2423.1</c:v>
                </c:pt>
                <c:pt idx="3">
                  <c:v>2334.1</c:v>
                </c:pt>
                <c:pt idx="4">
                  <c:v>2246.5</c:v>
                </c:pt>
              </c:numCache>
            </c:numRef>
          </c:val>
          <c:extLst>
            <c:ext xmlns:c16="http://schemas.microsoft.com/office/drawing/2014/chart" uri="{C3380CC4-5D6E-409C-BE32-E72D297353CC}">
              <c16:uniqueId val="{00000005-D79C-4227-97C2-07823E2E7A5D}"/>
            </c:ext>
          </c:extLst>
        </c:ser>
        <c:ser>
          <c:idx val="1"/>
          <c:order val="1"/>
          <c:spPr>
            <a:solidFill>
              <a:schemeClr val="accent2"/>
            </a:solidFill>
            <a:ln>
              <a:noFill/>
            </a:ln>
          </c:spPr>
          <c:invertIfNegative val="0"/>
          <c:dLbls>
            <c:dLbl>
              <c:idx val="0"/>
              <c:layout>
                <c:manualLayout>
                  <c:x val="0"/>
                  <c:y val="-0.11735537190082644"/>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D79C-4227-97C2-07823E2E7A5D}"/>
                </c:ext>
              </c:extLst>
            </c:dLbl>
            <c:dLbl>
              <c:idx val="1"/>
              <c:layout>
                <c:manualLayout>
                  <c:x val="0"/>
                  <c:y val="-0.11900826446280992"/>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D79C-4227-97C2-07823E2E7A5D}"/>
                </c:ext>
              </c:extLst>
            </c:dLbl>
            <c:dLbl>
              <c:idx val="2"/>
              <c:layout>
                <c:manualLayout>
                  <c:x val="0"/>
                  <c:y val="-0.12975206611570247"/>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D79C-4227-97C2-07823E2E7A5D}"/>
                </c:ext>
              </c:extLst>
            </c:dLbl>
            <c:dLbl>
              <c:idx val="3"/>
              <c:layout>
                <c:manualLayout>
                  <c:x val="0"/>
                  <c:y val="-0.12148760330578512"/>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D79C-4227-97C2-07823E2E7A5D}"/>
                </c:ext>
              </c:extLst>
            </c:dLbl>
            <c:dLbl>
              <c:idx val="4"/>
              <c:layout>
                <c:manualLayout>
                  <c:x val="0"/>
                  <c:y val="-0.12727272727272726"/>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D79C-4227-97C2-07823E2E7A5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Sheet1!$A$2:$E$2</c:f>
              <c:numCache>
                <c:formatCode>General</c:formatCode>
                <c:ptCount val="5"/>
                <c:pt idx="0">
                  <c:v>449.83343300000024</c:v>
                </c:pt>
                <c:pt idx="1">
                  <c:v>460.91406499999994</c:v>
                </c:pt>
                <c:pt idx="2">
                  <c:v>532.59999999999991</c:v>
                </c:pt>
                <c:pt idx="3">
                  <c:v>475.89999999999964</c:v>
                </c:pt>
                <c:pt idx="4">
                  <c:v>513.70000000000027</c:v>
                </c:pt>
              </c:numCache>
            </c:numRef>
          </c:val>
          <c:extLst>
            <c:ext xmlns:c16="http://schemas.microsoft.com/office/drawing/2014/chart" uri="{C3380CC4-5D6E-409C-BE32-E72D297353CC}">
              <c16:uniqueId val="{0000000B-D79C-4227-97C2-07823E2E7A5D}"/>
            </c:ext>
          </c:extLst>
        </c:ser>
        <c:dLbls>
          <c:showLegendKey val="0"/>
          <c:showVal val="0"/>
          <c:showCatName val="0"/>
          <c:showSerName val="0"/>
          <c:showPercent val="0"/>
          <c:showBubbleSize val="0"/>
        </c:dLbls>
        <c:gapWidth val="80"/>
        <c:axId val="1813575231"/>
        <c:axId val="1"/>
      </c:barChart>
      <c:catAx>
        <c:axId val="181357523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423.1"/>
          <c:min val="0"/>
        </c:scaling>
        <c:delete val="0"/>
        <c:axPos val="l"/>
        <c:majorGridlines>
          <c:spPr>
            <a:ln>
              <a:noFill/>
            </a:ln>
          </c:spPr>
        </c:majorGridlines>
        <c:numFmt formatCode="General" sourceLinked="1"/>
        <c:majorTickMark val="none"/>
        <c:minorTickMark val="none"/>
        <c:tickLblPos val="none"/>
        <c:spPr>
          <a:ln>
            <a:noFill/>
          </a:ln>
        </c:spPr>
        <c:crossAx val="1813575231"/>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4761904761904763E-2"/>
          <c:y val="6.9767441860465115E-2"/>
          <c:w val="0.95047619047619047"/>
          <c:h val="0.86046511627906974"/>
        </c:manualLayout>
      </c:layout>
      <c:barChart>
        <c:barDir val="col"/>
        <c:grouping val="stacked"/>
        <c:varyColors val="0"/>
        <c:ser>
          <c:idx val="0"/>
          <c:order val="0"/>
          <c:spPr>
            <a:solidFill>
              <a:schemeClr val="accent1"/>
            </a:solidFill>
            <a:ln>
              <a:noFill/>
            </a:ln>
          </c:spPr>
          <c:invertIfNegative val="0"/>
          <c:dPt>
            <c:idx val="0"/>
            <c:invertIfNegative val="0"/>
            <c:bubble3D val="0"/>
            <c:spPr>
              <a:solidFill>
                <a:schemeClr val="accent3"/>
              </a:solidFill>
              <a:ln>
                <a:noFill/>
              </a:ln>
            </c:spPr>
            <c:extLst>
              <c:ext xmlns:c16="http://schemas.microsoft.com/office/drawing/2014/chart" uri="{C3380CC4-5D6E-409C-BE32-E72D297353CC}">
                <c16:uniqueId val="{00000000-0205-4E45-B3DE-9A4403DC619D}"/>
              </c:ext>
            </c:extLst>
          </c:dPt>
          <c:dLbls>
            <c:dLbl>
              <c:idx val="1"/>
              <c:layout>
                <c:manualLayout>
                  <c:x val="0"/>
                  <c:y val="0"/>
                </c:manualLayout>
              </c:layout>
              <c:numFmt formatCode="#,##0;&quot;(&quot;#,##0&quot;)&quot;" sourceLinked="0"/>
              <c:spPr>
                <a:noFill/>
                <a:ln>
                  <a:noFill/>
                </a:ln>
              </c:spPr>
              <c:txPr>
                <a:bodyPr wrap="none"/>
                <a:lstStyle/>
                <a:p>
                  <a:pPr>
                    <a:defRPr sz="900" kern="1200">
                      <a:solidFill>
                        <a:schemeClr val="bg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205-4E45-B3DE-9A4403DC619D}"/>
                </c:ext>
              </c:extLst>
            </c:dLbl>
            <c:dLbl>
              <c:idx val="2"/>
              <c:layout>
                <c:manualLayout>
                  <c:x val="0"/>
                  <c:y val="0"/>
                </c:manualLayout>
              </c:layout>
              <c:numFmt formatCode="#,##0;&quot;(&quot;#,##0&quot;)&quot;" sourceLinked="0"/>
              <c:spPr>
                <a:noFill/>
                <a:ln>
                  <a:noFill/>
                </a:ln>
              </c:spPr>
              <c:txPr>
                <a:bodyPr wrap="none"/>
                <a:lstStyle/>
                <a:p>
                  <a:pPr>
                    <a:defRPr sz="900" kern="1200">
                      <a:solidFill>
                        <a:schemeClr val="bg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0205-4E45-B3DE-9A4403DC619D}"/>
                </c:ext>
              </c:extLst>
            </c:dLbl>
            <c:dLbl>
              <c:idx val="3"/>
              <c:layout>
                <c:manualLayout>
                  <c:x val="0"/>
                  <c:y val="-4.5429962141698213E-2"/>
                </c:manualLayout>
              </c:layout>
              <c:numFmt formatCode="#,##0;&quot;(&quot;#,##0&quot;)&quot;"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0205-4E45-B3DE-9A4403DC619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11.4</c:v>
                </c:pt>
                <c:pt idx="1">
                  <c:v>199.1</c:v>
                </c:pt>
                <c:pt idx="2">
                  <c:v>294.39999999999998</c:v>
                </c:pt>
                <c:pt idx="3">
                  <c:v>22.2</c:v>
                </c:pt>
                <c:pt idx="4">
                  <c:v>26</c:v>
                </c:pt>
              </c:numCache>
            </c:numRef>
          </c:val>
          <c:extLst>
            <c:ext xmlns:c16="http://schemas.microsoft.com/office/drawing/2014/chart" uri="{C3380CC4-5D6E-409C-BE32-E72D297353CC}">
              <c16:uniqueId val="{00000004-0205-4E45-B3DE-9A4403DC619D}"/>
            </c:ext>
          </c:extLst>
        </c:ser>
        <c:ser>
          <c:idx val="1"/>
          <c:order val="1"/>
          <c:spPr>
            <a:solidFill>
              <a:schemeClr val="accent2"/>
            </a:solid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5-0205-4E45-B3DE-9A4403DC619D}"/>
              </c:ext>
            </c:extLst>
          </c:dPt>
          <c:dLbls>
            <c:dLbl>
              <c:idx val="0"/>
              <c:layout>
                <c:manualLayout>
                  <c:x val="0"/>
                  <c:y val="0"/>
                </c:manualLayout>
              </c:layout>
              <c:numFmt formatCode="#,##0;&quot;(&quot;#,##0&quot;)&quot;" sourceLinked="0"/>
              <c:spPr>
                <a:noFill/>
                <a:ln>
                  <a:noFill/>
                </a:ln>
              </c:spPr>
              <c:txPr>
                <a:bodyPr wrap="none"/>
                <a:lstStyle/>
                <a:p>
                  <a:pPr>
                    <a:defRPr sz="900" kern="1200">
                      <a:solidFill>
                        <a:schemeClr val="bg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0205-4E45-B3DE-9A4403DC619D}"/>
                </c:ext>
              </c:extLst>
            </c:dLbl>
            <c:dLbl>
              <c:idx val="1"/>
              <c:layout>
                <c:manualLayout>
                  <c:x val="0"/>
                  <c:y val="0"/>
                </c:manualLayout>
              </c:layout>
              <c:numFmt formatCode="#,##0;&quot;(&quot;#,##0&quot;)&quot;" sourceLinked="0"/>
              <c:spPr>
                <a:noFill/>
                <a:ln>
                  <a:noFill/>
                </a:ln>
              </c:spPr>
              <c:txPr>
                <a:bodyPr wrap="none"/>
                <a:lstStyle/>
                <a:p>
                  <a:pPr>
                    <a:defRPr sz="900" kern="1200">
                      <a:solidFill>
                        <a:schemeClr val="bg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205-4E45-B3DE-9A4403DC619D}"/>
                </c:ext>
              </c:extLst>
            </c:dLbl>
            <c:dLbl>
              <c:idx val="2"/>
              <c:layout>
                <c:manualLayout>
                  <c:x val="0"/>
                  <c:y val="5.4083288263926451E-4"/>
                </c:manualLayout>
              </c:layout>
              <c:numFmt formatCode="#,##0;&quot;(&quot;#,##0&quot;)&quot;" sourceLinked="0"/>
              <c:spPr>
                <a:noFill/>
                <a:ln>
                  <a:noFill/>
                </a:ln>
              </c:spPr>
              <c:txPr>
                <a:bodyPr wrap="none"/>
                <a:lstStyle/>
                <a:p>
                  <a:pPr>
                    <a:defRPr sz="900" kern="1200">
                      <a:solidFill>
                        <a:schemeClr val="bg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0205-4E45-B3DE-9A4403DC619D}"/>
                </c:ext>
              </c:extLst>
            </c:dLbl>
            <c:dLbl>
              <c:idx val="3"/>
              <c:layout>
                <c:manualLayout>
                  <c:x val="0"/>
                  <c:y val="0"/>
                </c:manualLayout>
              </c:layout>
              <c:numFmt formatCode="#,##0;&quot;(&quot;#,##0&quot;)&quot;" sourceLinked="0"/>
              <c:spPr>
                <a:noFill/>
                <a:ln>
                  <a:noFill/>
                </a:ln>
              </c:spPr>
              <c:txPr>
                <a:bodyPr wrap="none"/>
                <a:lstStyle/>
                <a:p>
                  <a:pPr>
                    <a:defRPr sz="900" kern="1200">
                      <a:solidFill>
                        <a:schemeClr val="bg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0205-4E45-B3DE-9A4403DC619D}"/>
                </c:ext>
              </c:extLst>
            </c:dLbl>
            <c:dLbl>
              <c:idx val="4"/>
              <c:layout>
                <c:manualLayout>
                  <c:x val="0"/>
                  <c:y val="0"/>
                </c:manualLayout>
              </c:layout>
              <c:numFmt formatCode="#,##0;&quot;(&quot;#,##0&quot;)&quot;" sourceLinked="0"/>
              <c:spPr>
                <a:noFill/>
                <a:ln>
                  <a:noFill/>
                </a:ln>
              </c:spPr>
              <c:txPr>
                <a:bodyPr wrap="none"/>
                <a:lstStyle/>
                <a:p>
                  <a:pPr>
                    <a:defRPr sz="900" kern="1200">
                      <a:solidFill>
                        <a:schemeClr val="bg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0205-4E45-B3DE-9A4403DC619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Sheet1!$A$2:$E$2</c:f>
              <c:numCache>
                <c:formatCode>General</c:formatCode>
                <c:ptCount val="5"/>
                <c:pt idx="0">
                  <c:v>58.20000000000001</c:v>
                </c:pt>
                <c:pt idx="1">
                  <c:v>-79.900000000000006</c:v>
                </c:pt>
                <c:pt idx="2">
                  <c:v>-200.5</c:v>
                </c:pt>
                <c:pt idx="3">
                  <c:v>-43.1</c:v>
                </c:pt>
                <c:pt idx="4">
                  <c:v>-75.599999999999994</c:v>
                </c:pt>
              </c:numCache>
            </c:numRef>
          </c:val>
          <c:extLst>
            <c:ext xmlns:c16="http://schemas.microsoft.com/office/drawing/2014/chart" uri="{C3380CC4-5D6E-409C-BE32-E72D297353CC}">
              <c16:uniqueId val="{0000000A-0205-4E45-B3DE-9A4403DC619D}"/>
            </c:ext>
          </c:extLst>
        </c:ser>
        <c:ser>
          <c:idx val="2"/>
          <c:order val="2"/>
          <c:spPr>
            <a:solidFill>
              <a:schemeClr val="accent3"/>
            </a:solidFill>
            <a:ln>
              <a:noFill/>
            </a:ln>
          </c:spPr>
          <c:invertIfNegative val="0"/>
          <c:dPt>
            <c:idx val="0"/>
            <c:invertIfNegative val="0"/>
            <c:bubble3D val="0"/>
            <c:spPr>
              <a:solidFill>
                <a:schemeClr val="accent2"/>
              </a:solidFill>
              <a:ln>
                <a:noFill/>
              </a:ln>
            </c:spPr>
            <c:extLst>
              <c:ext xmlns:c16="http://schemas.microsoft.com/office/drawing/2014/chart" uri="{C3380CC4-5D6E-409C-BE32-E72D297353CC}">
                <c16:uniqueId val="{0000000B-0205-4E45-B3DE-9A4403DC619D}"/>
              </c:ext>
            </c:extLst>
          </c:dPt>
          <c:dLbls>
            <c:dLbl>
              <c:idx val="0"/>
              <c:layout>
                <c:manualLayout>
                  <c:x val="0"/>
                  <c:y val="0"/>
                </c:manualLayout>
              </c:layout>
              <c:numFmt formatCode="#,##0;&quot;(&quot;#,##0&quot;)&quot;" sourceLinked="0"/>
              <c:spPr>
                <a:noFill/>
                <a:ln>
                  <a:noFill/>
                </a:ln>
              </c:spPr>
              <c:txPr>
                <a:bodyPr wrap="none"/>
                <a:lstStyle/>
                <a:p>
                  <a:pPr>
                    <a:defRPr sz="900" kern="1200">
                      <a:solidFill>
                        <a:schemeClr val="bg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0205-4E45-B3DE-9A4403DC619D}"/>
                </c:ext>
              </c:extLst>
            </c:dLbl>
            <c:dLbl>
              <c:idx val="2"/>
              <c:layout>
                <c:manualLayout>
                  <c:x val="0"/>
                  <c:y val="0"/>
                </c:manualLayout>
              </c:layout>
              <c:numFmt formatCode="#,##0;&quot;(&quot;#,##0&quot;)&quot;" sourceLinked="0"/>
              <c:spPr>
                <a:noFill/>
                <a:ln>
                  <a:noFill/>
                </a:ln>
              </c:spPr>
              <c:txPr>
                <a:bodyPr wrap="none"/>
                <a:lstStyle/>
                <a:p>
                  <a:pPr>
                    <a:defRPr sz="900" kern="1200">
                      <a:solidFill>
                        <a:schemeClr val="bg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0205-4E45-B3DE-9A4403DC619D}"/>
                </c:ext>
              </c:extLst>
            </c:dLbl>
            <c:dLbl>
              <c:idx val="3"/>
              <c:layout>
                <c:manualLayout>
                  <c:x val="9.0952380952380951E-2"/>
                  <c:y val="0"/>
                </c:manualLayout>
              </c:layout>
              <c:numFmt formatCode="#,##0;&quot;(&quot;#,##0&quot;)&quot;"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0205-4E45-B3DE-9A4403DC619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Sheet1!$A$3:$E$3</c:f>
              <c:numCache>
                <c:formatCode>General</c:formatCode>
                <c:ptCount val="5"/>
                <c:pt idx="0">
                  <c:v>-57.2</c:v>
                </c:pt>
                <c:pt idx="1">
                  <c:v>-22.799999999999997</c:v>
                </c:pt>
                <c:pt idx="2">
                  <c:v>-49.5</c:v>
                </c:pt>
                <c:pt idx="3">
                  <c:v>-20</c:v>
                </c:pt>
                <c:pt idx="4">
                  <c:v>-26.200000000000003</c:v>
                </c:pt>
              </c:numCache>
            </c:numRef>
          </c:val>
          <c:extLst>
            <c:ext xmlns:c16="http://schemas.microsoft.com/office/drawing/2014/chart" uri="{C3380CC4-5D6E-409C-BE32-E72D297353CC}">
              <c16:uniqueId val="{0000000E-0205-4E45-B3DE-9A4403DC619D}"/>
            </c:ext>
          </c:extLst>
        </c:ser>
        <c:dLbls>
          <c:showLegendKey val="0"/>
          <c:showVal val="0"/>
          <c:showCatName val="0"/>
          <c:showSerName val="0"/>
          <c:showPercent val="0"/>
          <c:showBubbleSize val="0"/>
        </c:dLbls>
        <c:gapWidth val="80"/>
        <c:overlap val="100"/>
        <c:axId val="1738266639"/>
        <c:axId val="1"/>
      </c:barChart>
      <c:catAx>
        <c:axId val="173826663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294.39999999999998"/>
          <c:min val="-400"/>
        </c:scaling>
        <c:delete val="0"/>
        <c:axPos val="l"/>
        <c:majorGridlines>
          <c:spPr>
            <a:ln>
              <a:noFill/>
            </a:ln>
          </c:spPr>
        </c:majorGridlines>
        <c:numFmt formatCode="General" sourceLinked="1"/>
        <c:majorTickMark val="none"/>
        <c:minorTickMark val="none"/>
        <c:tickLblPos val="none"/>
        <c:spPr>
          <a:ln>
            <a:noFill/>
          </a:ln>
        </c:spPr>
        <c:crossAx val="1738266639"/>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5036109773712085E-2"/>
          <c:y val="0.1309192200557103"/>
          <c:w val="0.94992778045257587"/>
          <c:h val="0.73816155988857934"/>
        </c:manualLayout>
      </c:layout>
      <c:barChart>
        <c:barDir val="col"/>
        <c:grouping val="clustered"/>
        <c:varyColors val="0"/>
        <c:ser>
          <c:idx val="0"/>
          <c:order val="0"/>
          <c:spPr>
            <a:solidFill>
              <a:schemeClr val="accent1"/>
            </a:solidFill>
            <a:ln>
              <a:noFill/>
            </a:ln>
          </c:spPr>
          <c:invertIfNegative val="0"/>
          <c:dLbls>
            <c:dLbl>
              <c:idx val="0"/>
              <c:layout>
                <c:manualLayout>
                  <c:x val="0"/>
                  <c:y val="-0.13649025069637882"/>
                </c:manualLayout>
              </c:layout>
              <c:numFmt formatCode="#,##0;&quot;(&quot;#,##0&quot;)&quot;"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4E-4BD3-AA2D-AAD224299506}"/>
                </c:ext>
              </c:extLst>
            </c:dLbl>
            <c:dLbl>
              <c:idx val="1"/>
              <c:layout>
                <c:manualLayout>
                  <c:x val="0"/>
                  <c:y val="-0.25835654596100277"/>
                </c:manualLayout>
              </c:layout>
              <c:numFmt formatCode="#,##0;&quot;(&quot;#,##0&quot;)&quot;"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4E-4BD3-AA2D-AAD224299506}"/>
                </c:ext>
              </c:extLst>
            </c:dLbl>
            <c:dLbl>
              <c:idx val="2"/>
              <c:layout>
                <c:manualLayout>
                  <c:x val="0"/>
                  <c:y val="-0.25766016713091922"/>
                </c:manualLayout>
              </c:layout>
              <c:numFmt formatCode="#,##0;&quot;(&quot;#,##0&quot;)&quot;"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4E-4BD3-AA2D-AAD224299506}"/>
                </c:ext>
              </c:extLst>
            </c:dLbl>
            <c:dLbl>
              <c:idx val="3"/>
              <c:layout>
                <c:manualLayout>
                  <c:x val="0"/>
                  <c:y val="-0.20612813370473537"/>
                </c:manualLayout>
              </c:layout>
              <c:numFmt formatCode="#,##0;&quot;(&quot;#,##0&quot;)&quot;"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4E-4BD3-AA2D-AAD224299506}"/>
                </c:ext>
              </c:extLst>
            </c:dLbl>
            <c:dLbl>
              <c:idx val="4"/>
              <c:layout>
                <c:manualLayout>
                  <c:x val="0"/>
                  <c:y val="-0.11002785515320335"/>
                </c:manualLayout>
              </c:layout>
              <c:numFmt formatCode="#,##0;&quot;(&quot;#,##0&quot;)&quot;"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4E-4BD3-AA2D-AAD22429950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75.605256999999995</c:v>
                </c:pt>
                <c:pt idx="1">
                  <c:v>172.01736700000001</c:v>
                </c:pt>
                <c:pt idx="2">
                  <c:v>171.5</c:v>
                </c:pt>
                <c:pt idx="3">
                  <c:v>130.5</c:v>
                </c:pt>
                <c:pt idx="4">
                  <c:v>54.7</c:v>
                </c:pt>
              </c:numCache>
            </c:numRef>
          </c:val>
          <c:extLst>
            <c:ext xmlns:c16="http://schemas.microsoft.com/office/drawing/2014/chart" uri="{C3380CC4-5D6E-409C-BE32-E72D297353CC}">
              <c16:uniqueId val="{00000005-164E-4BD3-AA2D-AAD224299506}"/>
            </c:ext>
          </c:extLst>
        </c:ser>
        <c:ser>
          <c:idx val="1"/>
          <c:order val="1"/>
          <c:spPr>
            <a:solidFill>
              <a:schemeClr val="accent2"/>
            </a:solidFill>
            <a:ln>
              <a:noFill/>
            </a:ln>
          </c:spPr>
          <c:invertIfNegative val="0"/>
          <c:dLbls>
            <c:dLbl>
              <c:idx val="0"/>
              <c:layout>
                <c:manualLayout>
                  <c:x val="0"/>
                  <c:y val="-7.6601671309192198E-3"/>
                </c:manualLayout>
              </c:layout>
              <c:numFmt formatCode="#,##0;&quot;(&quot;#,##0&quot;)&quot;"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4E-4BD3-AA2D-AAD224299506}"/>
                </c:ext>
              </c:extLst>
            </c:dLbl>
            <c:dLbl>
              <c:idx val="1"/>
              <c:layout>
                <c:manualLayout>
                  <c:x val="0"/>
                  <c:y val="-0.16573816155988857"/>
                </c:manualLayout>
              </c:layout>
              <c:numFmt formatCode="#,##0;&quot;(&quot;#,##0&quot;)&quot;"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164E-4BD3-AA2D-AAD224299506}"/>
                </c:ext>
              </c:extLst>
            </c:dLbl>
            <c:dLbl>
              <c:idx val="2"/>
              <c:layout>
                <c:manualLayout>
                  <c:x val="0"/>
                  <c:y val="-0.19220055710306408"/>
                </c:manualLayout>
              </c:layout>
              <c:numFmt formatCode="#,##0;&quot;(&quot;#,##0&quot;)&quot;"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164E-4BD3-AA2D-AAD224299506}"/>
                </c:ext>
              </c:extLst>
            </c:dLbl>
            <c:dLbl>
              <c:idx val="3"/>
              <c:layout>
                <c:manualLayout>
                  <c:x val="0"/>
                  <c:y val="-0.13300835654596099"/>
                </c:manualLayout>
              </c:layout>
              <c:numFmt formatCode="#,##0;&quot;(&quot;#,##0&quot;)&quot;"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164E-4BD3-AA2D-AAD224299506}"/>
                </c:ext>
              </c:extLst>
            </c:dLbl>
            <c:dLbl>
              <c:idx val="4"/>
              <c:layout>
                <c:manualLayout>
                  <c:x val="0"/>
                  <c:y val="1.1142061281337047E-2"/>
                </c:manualLayout>
              </c:layout>
              <c:numFmt formatCode="#,##0;&quot;(&quot;#,##0&quot;)&quot;"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164E-4BD3-AA2D-AAD22429950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Sheet1!$A$2:$E$2</c:f>
              <c:numCache>
                <c:formatCode>General</c:formatCode>
                <c:ptCount val="5"/>
                <c:pt idx="0">
                  <c:v>8.9827430000000135</c:v>
                </c:pt>
                <c:pt idx="1">
                  <c:v>-98.608366999999987</c:v>
                </c:pt>
                <c:pt idx="2">
                  <c:v>-120</c:v>
                </c:pt>
                <c:pt idx="3">
                  <c:v>-72.7</c:v>
                </c:pt>
                <c:pt idx="4">
                  <c:v>1.5999999999999943</c:v>
                </c:pt>
              </c:numCache>
            </c:numRef>
          </c:val>
          <c:extLst>
            <c:ext xmlns:c16="http://schemas.microsoft.com/office/drawing/2014/chart" uri="{C3380CC4-5D6E-409C-BE32-E72D297353CC}">
              <c16:uniqueId val="{0000000B-164E-4BD3-AA2D-AAD224299506}"/>
            </c:ext>
          </c:extLst>
        </c:ser>
        <c:dLbls>
          <c:showLegendKey val="0"/>
          <c:showVal val="0"/>
          <c:showCatName val="0"/>
          <c:showSerName val="0"/>
          <c:showPercent val="0"/>
          <c:showBubbleSize val="0"/>
        </c:dLbls>
        <c:gapWidth val="80"/>
        <c:axId val="1860046191"/>
        <c:axId val="1"/>
      </c:barChart>
      <c:catAx>
        <c:axId val="186004619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172.01736700000001"/>
          <c:min val="-120"/>
        </c:scaling>
        <c:delete val="0"/>
        <c:axPos val="l"/>
        <c:majorGridlines>
          <c:spPr>
            <a:ln>
              <a:noFill/>
            </a:ln>
          </c:spPr>
        </c:majorGridlines>
        <c:numFmt formatCode="General" sourceLinked="1"/>
        <c:majorTickMark val="none"/>
        <c:minorTickMark val="none"/>
        <c:tickLblPos val="none"/>
        <c:spPr>
          <a:ln>
            <a:noFill/>
          </a:ln>
        </c:spPr>
        <c:crossAx val="1860046191"/>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8"/>
            <a:ext cx="2945659" cy="493633"/>
          </a:xfrm>
          <a:prstGeom prst="rect">
            <a:avLst/>
          </a:prstGeom>
        </p:spPr>
        <p:txBody>
          <a:bodyPr vert="horz" lIns="94916" tIns="47458" rIns="94916" bIns="47458" rtlCol="0"/>
          <a:lstStyle>
            <a:lvl1pPr algn="l">
              <a:defRPr sz="1200"/>
            </a:lvl1pPr>
          </a:lstStyle>
          <a:p>
            <a:endParaRPr lang="de-DE"/>
          </a:p>
        </p:txBody>
      </p:sp>
      <p:sp>
        <p:nvSpPr>
          <p:cNvPr id="3" name="Datumsplatzhalter 2"/>
          <p:cNvSpPr>
            <a:spLocks noGrp="1"/>
          </p:cNvSpPr>
          <p:nvPr>
            <p:ph type="dt" sz="quarter" idx="1"/>
          </p:nvPr>
        </p:nvSpPr>
        <p:spPr>
          <a:xfrm>
            <a:off x="3850443" y="8"/>
            <a:ext cx="2945659" cy="493633"/>
          </a:xfrm>
          <a:prstGeom prst="rect">
            <a:avLst/>
          </a:prstGeom>
        </p:spPr>
        <p:txBody>
          <a:bodyPr vert="horz" lIns="94916" tIns="47458" rIns="94916" bIns="47458" rtlCol="0"/>
          <a:lstStyle>
            <a:lvl1pPr algn="r">
              <a:defRPr sz="1200"/>
            </a:lvl1pPr>
          </a:lstStyle>
          <a:p>
            <a:fld id="{A17F8FCB-BA8C-4259-A9C3-0528B4E9710E}" type="datetimeFigureOut">
              <a:rPr lang="de-DE" smtClean="0"/>
              <a:t>21.09.2026</a:t>
            </a:fld>
            <a:endParaRPr lang="de-DE"/>
          </a:p>
        </p:txBody>
      </p:sp>
      <p:sp>
        <p:nvSpPr>
          <p:cNvPr id="4" name="Fußzeilenplatzhalter 3"/>
          <p:cNvSpPr>
            <a:spLocks noGrp="1"/>
          </p:cNvSpPr>
          <p:nvPr>
            <p:ph type="ftr" sz="quarter" idx="2"/>
          </p:nvPr>
        </p:nvSpPr>
        <p:spPr>
          <a:xfrm>
            <a:off x="1" y="9377339"/>
            <a:ext cx="2945659" cy="493633"/>
          </a:xfrm>
          <a:prstGeom prst="rect">
            <a:avLst/>
          </a:prstGeom>
        </p:spPr>
        <p:txBody>
          <a:bodyPr vert="horz" lIns="94916" tIns="47458" rIns="94916" bIns="47458" rtlCol="0" anchor="b"/>
          <a:lstStyle>
            <a:lvl1pPr algn="l">
              <a:defRPr sz="1200"/>
            </a:lvl1pPr>
          </a:lstStyle>
          <a:p>
            <a:endParaRPr lang="de-DE"/>
          </a:p>
        </p:txBody>
      </p:sp>
      <p:sp>
        <p:nvSpPr>
          <p:cNvPr id="5" name="Foliennummernplatzhalter 4"/>
          <p:cNvSpPr>
            <a:spLocks noGrp="1"/>
          </p:cNvSpPr>
          <p:nvPr>
            <p:ph type="sldNum" sz="quarter" idx="3"/>
          </p:nvPr>
        </p:nvSpPr>
        <p:spPr>
          <a:xfrm>
            <a:off x="3850443" y="9377339"/>
            <a:ext cx="2945659" cy="493633"/>
          </a:xfrm>
          <a:prstGeom prst="rect">
            <a:avLst/>
          </a:prstGeom>
        </p:spPr>
        <p:txBody>
          <a:bodyPr vert="horz" lIns="94916" tIns="47458" rIns="94916" bIns="47458" rtlCol="0" anchor="b"/>
          <a:lstStyle>
            <a:lvl1pPr algn="r">
              <a:defRPr sz="1200"/>
            </a:lvl1pPr>
          </a:lstStyle>
          <a:p>
            <a:fld id="{4FB70057-716B-4606-9936-AD7AECDF2CEA}" type="slidenum">
              <a:rPr lang="de-DE" smtClean="0"/>
              <a:t>‹#›</a:t>
            </a:fld>
            <a:endParaRPr lang="de-DE"/>
          </a:p>
        </p:txBody>
      </p:sp>
    </p:spTree>
    <p:extLst>
      <p:ext uri="{BB962C8B-B14F-4D97-AF65-F5344CB8AC3E}">
        <p14:creationId xmlns:p14="http://schemas.microsoft.com/office/powerpoint/2010/main" val="398274504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8"/>
            <a:ext cx="2945659" cy="493633"/>
          </a:xfrm>
          <a:prstGeom prst="rect">
            <a:avLst/>
          </a:prstGeom>
        </p:spPr>
        <p:txBody>
          <a:bodyPr vert="horz" lIns="94916" tIns="47458" rIns="94916" bIns="47458" rtlCol="0"/>
          <a:lstStyle>
            <a:lvl1pPr algn="l">
              <a:defRPr sz="1200"/>
            </a:lvl1pPr>
          </a:lstStyle>
          <a:p>
            <a:endParaRPr lang="de-DE"/>
          </a:p>
        </p:txBody>
      </p:sp>
      <p:sp>
        <p:nvSpPr>
          <p:cNvPr id="3" name="Datumsplatzhalter 2"/>
          <p:cNvSpPr>
            <a:spLocks noGrp="1"/>
          </p:cNvSpPr>
          <p:nvPr>
            <p:ph type="dt" idx="1"/>
          </p:nvPr>
        </p:nvSpPr>
        <p:spPr>
          <a:xfrm>
            <a:off x="3850443" y="8"/>
            <a:ext cx="2945659" cy="493633"/>
          </a:xfrm>
          <a:prstGeom prst="rect">
            <a:avLst/>
          </a:prstGeom>
        </p:spPr>
        <p:txBody>
          <a:bodyPr vert="horz" lIns="94916" tIns="47458" rIns="94916" bIns="47458" rtlCol="0"/>
          <a:lstStyle>
            <a:lvl1pPr algn="r">
              <a:defRPr sz="1200"/>
            </a:lvl1pPr>
          </a:lstStyle>
          <a:p>
            <a:fld id="{7040A06F-91F7-4DC0-AFC7-25CC0C331576}" type="datetimeFigureOut">
              <a:rPr lang="de-DE" smtClean="0"/>
              <a:t>21.09.2026</a:t>
            </a:fld>
            <a:endParaRPr lang="de-DE"/>
          </a:p>
        </p:txBody>
      </p:sp>
      <p:sp>
        <p:nvSpPr>
          <p:cNvPr id="4" name="Folienbildplatzhalter 3"/>
          <p:cNvSpPr>
            <a:spLocks noGrp="1" noRot="1" noChangeAspect="1"/>
          </p:cNvSpPr>
          <p:nvPr>
            <p:ph type="sldImg" idx="2"/>
          </p:nvPr>
        </p:nvSpPr>
        <p:spPr>
          <a:xfrm>
            <a:off x="782638" y="741363"/>
            <a:ext cx="5232400" cy="3700462"/>
          </a:xfrm>
          <a:prstGeom prst="rect">
            <a:avLst/>
          </a:prstGeom>
          <a:noFill/>
          <a:ln w="12700">
            <a:solidFill>
              <a:prstClr val="black"/>
            </a:solidFill>
          </a:ln>
        </p:spPr>
        <p:txBody>
          <a:bodyPr vert="horz" lIns="94916" tIns="47458" rIns="94916" bIns="47458" rtlCol="0" anchor="ctr"/>
          <a:lstStyle/>
          <a:p>
            <a:endParaRPr lang="de-DE"/>
          </a:p>
        </p:txBody>
      </p:sp>
      <p:sp>
        <p:nvSpPr>
          <p:cNvPr id="5" name="Notizenplatzhalter 4"/>
          <p:cNvSpPr>
            <a:spLocks noGrp="1"/>
          </p:cNvSpPr>
          <p:nvPr>
            <p:ph type="body" sz="quarter" idx="3"/>
          </p:nvPr>
        </p:nvSpPr>
        <p:spPr>
          <a:xfrm>
            <a:off x="679768" y="4689515"/>
            <a:ext cx="5438140" cy="4442698"/>
          </a:xfrm>
          <a:prstGeom prst="rect">
            <a:avLst/>
          </a:prstGeom>
        </p:spPr>
        <p:txBody>
          <a:bodyPr vert="horz" lIns="94916" tIns="47458" rIns="94916" bIns="47458"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1" y="9377339"/>
            <a:ext cx="2945659" cy="493633"/>
          </a:xfrm>
          <a:prstGeom prst="rect">
            <a:avLst/>
          </a:prstGeom>
        </p:spPr>
        <p:txBody>
          <a:bodyPr vert="horz" lIns="94916" tIns="47458" rIns="94916" bIns="47458"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377339"/>
            <a:ext cx="2945659" cy="493633"/>
          </a:xfrm>
          <a:prstGeom prst="rect">
            <a:avLst/>
          </a:prstGeom>
        </p:spPr>
        <p:txBody>
          <a:bodyPr vert="horz" lIns="94916" tIns="47458" rIns="94916" bIns="47458" rtlCol="0" anchor="b"/>
          <a:lstStyle>
            <a:lvl1pPr algn="r">
              <a:defRPr sz="1200"/>
            </a:lvl1pPr>
          </a:lstStyle>
          <a:p>
            <a:fld id="{3BD49269-D4ED-48C6-8A71-5DC437C6C179}" type="slidenum">
              <a:rPr lang="de-DE" smtClean="0"/>
              <a:t>‹#›</a:t>
            </a:fld>
            <a:endParaRPr lang="de-DE"/>
          </a:p>
        </p:txBody>
      </p:sp>
    </p:spTree>
    <p:extLst>
      <p:ext uri="{BB962C8B-B14F-4D97-AF65-F5344CB8AC3E}">
        <p14:creationId xmlns:p14="http://schemas.microsoft.com/office/powerpoint/2010/main" val="96766892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64DC-B6D1-587F-4205-896183434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8DFA36-8B53-CF51-AAAB-3E3F84054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DEF609-5333-DA01-7DEE-DD6F655B4717}"/>
              </a:ext>
            </a:extLst>
          </p:cNvPr>
          <p:cNvSpPr>
            <a:spLocks noGrp="1"/>
          </p:cNvSpPr>
          <p:nvPr>
            <p:ph type="body" idx="1"/>
          </p:nvPr>
        </p:nvSpPr>
        <p:spPr/>
        <p:txBody>
          <a:bodyPr/>
          <a:lstStyle/>
          <a:p>
            <a:r>
              <a:rPr lang="de-DE" dirty="0"/>
              <a:t>- JÜ vor Gewinnabführung zeigen anstatt Jahresüberschuss</a:t>
            </a:r>
          </a:p>
          <a:p>
            <a:r>
              <a:rPr lang="de-DE" dirty="0"/>
              <a:t>- Net </a:t>
            </a:r>
            <a:r>
              <a:rPr lang="de-DE" dirty="0" err="1"/>
              <a:t>Debt</a:t>
            </a:r>
            <a:r>
              <a:rPr lang="de-DE" dirty="0"/>
              <a:t> / EBITDA</a:t>
            </a:r>
          </a:p>
        </p:txBody>
      </p:sp>
    </p:spTree>
    <p:extLst>
      <p:ext uri="{BB962C8B-B14F-4D97-AF65-F5344CB8AC3E}">
        <p14:creationId xmlns:p14="http://schemas.microsoft.com/office/powerpoint/2010/main" val="20804978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_Beamer_d">
    <p:bg>
      <p:bgPr>
        <a:solidFill>
          <a:schemeClr val="bg1"/>
        </a:solidFill>
        <a:effectLst/>
      </p:bgPr>
    </p:bg>
    <p:spTree>
      <p:nvGrpSpPr>
        <p:cNvPr id="1" name=""/>
        <p:cNvGrpSpPr/>
        <p:nvPr/>
      </p:nvGrpSpPr>
      <p:grpSpPr>
        <a:xfrm>
          <a:off x="0" y="0"/>
          <a:ext cx="0" cy="0"/>
          <a:chOff x="0" y="0"/>
          <a:chExt cx="0" cy="0"/>
        </a:xfrm>
      </p:grpSpPr>
      <p:pic>
        <p:nvPicPr>
          <p:cNvPr id="5" name="Grafik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7" y="1104"/>
            <a:ext cx="10692406" cy="7559055"/>
          </a:xfrm>
          <a:prstGeom prst="rect">
            <a:avLst/>
          </a:prstGeom>
        </p:spPr>
      </p:pic>
      <p:sp>
        <p:nvSpPr>
          <p:cNvPr id="3" name="Untertitel 2"/>
          <p:cNvSpPr>
            <a:spLocks noGrp="1"/>
          </p:cNvSpPr>
          <p:nvPr>
            <p:ph type="subTitle" idx="1" hasCustomPrompt="1"/>
          </p:nvPr>
        </p:nvSpPr>
        <p:spPr>
          <a:xfrm>
            <a:off x="1081088" y="4367534"/>
            <a:ext cx="8834437" cy="1932323"/>
          </a:xfrm>
        </p:spPr>
        <p:txBody>
          <a:bodyPr anchor="b" anchorCtr="0">
            <a:noAutofit/>
          </a:bodyPr>
          <a:lstStyle>
            <a:lvl1pPr marL="0" indent="0" algn="r">
              <a:buNone/>
              <a:defRPr sz="2000" b="1">
                <a:solidFill>
                  <a:schemeClr val="bg1"/>
                </a:solidFill>
              </a:defRPr>
            </a:lvl1pPr>
            <a:lvl2pPr marL="521528" indent="0" algn="ctr">
              <a:buNone/>
              <a:defRPr>
                <a:solidFill>
                  <a:schemeClr val="tx1">
                    <a:tint val="75000"/>
                  </a:schemeClr>
                </a:solidFill>
              </a:defRPr>
            </a:lvl2pPr>
            <a:lvl3pPr marL="1043056" indent="0" algn="ctr">
              <a:buNone/>
              <a:defRPr>
                <a:solidFill>
                  <a:schemeClr val="tx1">
                    <a:tint val="75000"/>
                  </a:schemeClr>
                </a:solidFill>
              </a:defRPr>
            </a:lvl3pPr>
            <a:lvl4pPr marL="1564584" indent="0" algn="ctr">
              <a:buNone/>
              <a:defRPr>
                <a:solidFill>
                  <a:schemeClr val="tx1">
                    <a:tint val="75000"/>
                  </a:schemeClr>
                </a:solidFill>
              </a:defRPr>
            </a:lvl4pPr>
            <a:lvl5pPr marL="2086112" indent="0" algn="ctr">
              <a:buNone/>
              <a:defRPr>
                <a:solidFill>
                  <a:schemeClr val="tx1">
                    <a:tint val="75000"/>
                  </a:schemeClr>
                </a:solidFill>
              </a:defRPr>
            </a:lvl5pPr>
            <a:lvl6pPr marL="2607640" indent="0" algn="ctr">
              <a:buNone/>
              <a:defRPr>
                <a:solidFill>
                  <a:schemeClr val="tx1">
                    <a:tint val="75000"/>
                  </a:schemeClr>
                </a:solidFill>
              </a:defRPr>
            </a:lvl6pPr>
            <a:lvl7pPr marL="3129168" indent="0" algn="ctr">
              <a:buNone/>
              <a:defRPr>
                <a:solidFill>
                  <a:schemeClr val="tx1">
                    <a:tint val="75000"/>
                  </a:schemeClr>
                </a:solidFill>
              </a:defRPr>
            </a:lvl7pPr>
            <a:lvl8pPr marL="3650696" indent="0" algn="ctr">
              <a:buNone/>
              <a:defRPr>
                <a:solidFill>
                  <a:schemeClr val="tx1">
                    <a:tint val="75000"/>
                  </a:schemeClr>
                </a:solidFill>
              </a:defRPr>
            </a:lvl8pPr>
            <a:lvl9pPr marL="4172224" indent="0" algn="ctr">
              <a:buNone/>
              <a:defRPr>
                <a:solidFill>
                  <a:schemeClr val="tx1">
                    <a:tint val="75000"/>
                  </a:schemeClr>
                </a:solidFill>
              </a:defRPr>
            </a:lvl9pPr>
          </a:lstStyle>
          <a:p>
            <a:r>
              <a:rPr lang="de-DE" dirty="0"/>
              <a:t>Art der Unterlage/Kunde</a:t>
            </a:r>
          </a:p>
        </p:txBody>
      </p:sp>
      <p:sp>
        <p:nvSpPr>
          <p:cNvPr id="12" name="Textplatzhalter 11"/>
          <p:cNvSpPr>
            <a:spLocks noGrp="1"/>
          </p:cNvSpPr>
          <p:nvPr>
            <p:ph type="body" sz="quarter" idx="10" hasCustomPrompt="1"/>
          </p:nvPr>
        </p:nvSpPr>
        <p:spPr>
          <a:xfrm>
            <a:off x="1081088" y="6419692"/>
            <a:ext cx="8834437" cy="246221"/>
          </a:xfrm>
        </p:spPr>
        <p:txBody>
          <a:bodyPr wrap="square" anchor="b" anchorCtr="0">
            <a:noAutofit/>
          </a:bodyPr>
          <a:lstStyle>
            <a:lvl1pPr marL="0" indent="0" algn="r">
              <a:buFontTx/>
              <a:buNone/>
              <a:defRPr sz="1600" b="1" baseline="0">
                <a:solidFill>
                  <a:schemeClr val="bg1"/>
                </a:solidFill>
              </a:defRPr>
            </a:lvl1pPr>
            <a:lvl2pPr marL="521528" indent="0">
              <a:buFontTx/>
              <a:buNone/>
              <a:defRPr sz="2200"/>
            </a:lvl2pPr>
            <a:lvl3pPr marL="1043056" indent="0">
              <a:buFontTx/>
              <a:buNone/>
              <a:defRPr sz="2200"/>
            </a:lvl3pPr>
            <a:lvl4pPr marL="1564584" indent="0">
              <a:buFontTx/>
              <a:buNone/>
              <a:defRPr sz="2200"/>
            </a:lvl4pPr>
            <a:lvl5pPr marL="2086112" indent="0">
              <a:buFontTx/>
              <a:buNone/>
              <a:defRPr sz="2200"/>
            </a:lvl5pPr>
          </a:lstStyle>
          <a:p>
            <a:pPr lvl="0"/>
            <a:r>
              <a:rPr lang="de-DE" dirty="0"/>
              <a:t>Ort, Datum</a:t>
            </a:r>
          </a:p>
        </p:txBody>
      </p:sp>
    </p:spTree>
    <p:extLst>
      <p:ext uri="{BB962C8B-B14F-4D97-AF65-F5344CB8AC3E}">
        <p14:creationId xmlns:p14="http://schemas.microsoft.com/office/powerpoint/2010/main" val="1882254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_Beamer_e">
    <p:bg>
      <p:bgPr>
        <a:solidFill>
          <a:schemeClr val="bg1"/>
        </a:solidFill>
        <a:effectLst/>
      </p:bgPr>
    </p:bg>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7" y="1104"/>
            <a:ext cx="10692406" cy="7559055"/>
          </a:xfrm>
          <a:prstGeom prst="rect">
            <a:avLst/>
          </a:prstGeom>
        </p:spPr>
      </p:pic>
      <p:sp>
        <p:nvSpPr>
          <p:cNvPr id="3" name="Untertitel 2"/>
          <p:cNvSpPr>
            <a:spLocks noGrp="1"/>
          </p:cNvSpPr>
          <p:nvPr>
            <p:ph type="subTitle" idx="1" hasCustomPrompt="1"/>
          </p:nvPr>
        </p:nvSpPr>
        <p:spPr>
          <a:xfrm>
            <a:off x="1081088" y="4367534"/>
            <a:ext cx="8834437" cy="1932323"/>
          </a:xfrm>
        </p:spPr>
        <p:txBody>
          <a:bodyPr anchor="b" anchorCtr="0">
            <a:noAutofit/>
          </a:bodyPr>
          <a:lstStyle>
            <a:lvl1pPr marL="0" indent="0" algn="r">
              <a:buNone/>
              <a:defRPr sz="2000" b="1">
                <a:solidFill>
                  <a:schemeClr val="bg1"/>
                </a:solidFill>
              </a:defRPr>
            </a:lvl1pPr>
            <a:lvl2pPr marL="521528" indent="0" algn="ctr">
              <a:buNone/>
              <a:defRPr>
                <a:solidFill>
                  <a:schemeClr val="tx1">
                    <a:tint val="75000"/>
                  </a:schemeClr>
                </a:solidFill>
              </a:defRPr>
            </a:lvl2pPr>
            <a:lvl3pPr marL="1043056" indent="0" algn="ctr">
              <a:buNone/>
              <a:defRPr>
                <a:solidFill>
                  <a:schemeClr val="tx1">
                    <a:tint val="75000"/>
                  </a:schemeClr>
                </a:solidFill>
              </a:defRPr>
            </a:lvl3pPr>
            <a:lvl4pPr marL="1564584" indent="0" algn="ctr">
              <a:buNone/>
              <a:defRPr>
                <a:solidFill>
                  <a:schemeClr val="tx1">
                    <a:tint val="75000"/>
                  </a:schemeClr>
                </a:solidFill>
              </a:defRPr>
            </a:lvl4pPr>
            <a:lvl5pPr marL="2086112" indent="0" algn="ctr">
              <a:buNone/>
              <a:defRPr>
                <a:solidFill>
                  <a:schemeClr val="tx1">
                    <a:tint val="75000"/>
                  </a:schemeClr>
                </a:solidFill>
              </a:defRPr>
            </a:lvl5pPr>
            <a:lvl6pPr marL="2607640" indent="0" algn="ctr">
              <a:buNone/>
              <a:defRPr>
                <a:solidFill>
                  <a:schemeClr val="tx1">
                    <a:tint val="75000"/>
                  </a:schemeClr>
                </a:solidFill>
              </a:defRPr>
            </a:lvl6pPr>
            <a:lvl7pPr marL="3129168" indent="0" algn="ctr">
              <a:buNone/>
              <a:defRPr>
                <a:solidFill>
                  <a:schemeClr val="tx1">
                    <a:tint val="75000"/>
                  </a:schemeClr>
                </a:solidFill>
              </a:defRPr>
            </a:lvl7pPr>
            <a:lvl8pPr marL="3650696" indent="0" algn="ctr">
              <a:buNone/>
              <a:defRPr>
                <a:solidFill>
                  <a:schemeClr val="tx1">
                    <a:tint val="75000"/>
                  </a:schemeClr>
                </a:solidFill>
              </a:defRPr>
            </a:lvl8pPr>
            <a:lvl9pPr marL="4172224" indent="0" algn="ctr">
              <a:buNone/>
              <a:defRPr>
                <a:solidFill>
                  <a:schemeClr val="tx1">
                    <a:tint val="75000"/>
                  </a:schemeClr>
                </a:solidFill>
              </a:defRPr>
            </a:lvl9pPr>
          </a:lstStyle>
          <a:p>
            <a:r>
              <a:rPr lang="de-DE" dirty="0"/>
              <a:t>Art der Unterlage/Kunde</a:t>
            </a:r>
          </a:p>
        </p:txBody>
      </p:sp>
      <p:sp>
        <p:nvSpPr>
          <p:cNvPr id="12" name="Textplatzhalter 11"/>
          <p:cNvSpPr>
            <a:spLocks noGrp="1"/>
          </p:cNvSpPr>
          <p:nvPr>
            <p:ph type="body" sz="quarter" idx="10" hasCustomPrompt="1"/>
          </p:nvPr>
        </p:nvSpPr>
        <p:spPr>
          <a:xfrm>
            <a:off x="1081088" y="6419692"/>
            <a:ext cx="8834437" cy="246221"/>
          </a:xfrm>
        </p:spPr>
        <p:txBody>
          <a:bodyPr wrap="square" anchor="b" anchorCtr="0">
            <a:noAutofit/>
          </a:bodyPr>
          <a:lstStyle>
            <a:lvl1pPr marL="0" indent="0" algn="r">
              <a:buFontTx/>
              <a:buNone/>
              <a:defRPr sz="1600" b="1" baseline="0">
                <a:solidFill>
                  <a:schemeClr val="bg1"/>
                </a:solidFill>
              </a:defRPr>
            </a:lvl1pPr>
            <a:lvl2pPr marL="521528" indent="0">
              <a:buFontTx/>
              <a:buNone/>
              <a:defRPr sz="2200"/>
            </a:lvl2pPr>
            <a:lvl3pPr marL="1043056" indent="0">
              <a:buFontTx/>
              <a:buNone/>
              <a:defRPr sz="2200"/>
            </a:lvl3pPr>
            <a:lvl4pPr marL="1564584" indent="0">
              <a:buFontTx/>
              <a:buNone/>
              <a:defRPr sz="2200"/>
            </a:lvl4pPr>
            <a:lvl5pPr marL="2086112" indent="0">
              <a:buFontTx/>
              <a:buNone/>
              <a:defRPr sz="2200"/>
            </a:lvl5pPr>
          </a:lstStyle>
          <a:p>
            <a:pPr lvl="0"/>
            <a:r>
              <a:rPr lang="de-DE" dirty="0"/>
              <a:t>Ort, Datum</a:t>
            </a:r>
          </a:p>
        </p:txBody>
      </p:sp>
    </p:spTree>
    <p:extLst>
      <p:ext uri="{BB962C8B-B14F-4D97-AF65-F5344CB8AC3E}">
        <p14:creationId xmlns:p14="http://schemas.microsoft.com/office/powerpoint/2010/main" val="3678571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p:spTree>
      <p:nvGrpSpPr>
        <p:cNvPr id="1" name=""/>
        <p:cNvGrpSpPr/>
        <p:nvPr/>
      </p:nvGrpSpPr>
      <p:grpSpPr>
        <a:xfrm>
          <a:off x="0" y="0"/>
          <a:ext cx="0" cy="0"/>
          <a:chOff x="0" y="0"/>
          <a:chExt cx="0" cy="0"/>
        </a:xfrm>
      </p:grpSpPr>
      <p:sp>
        <p:nvSpPr>
          <p:cNvPr id="14"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6" name="Titel 1"/>
          <p:cNvSpPr>
            <a:spLocks noGrp="1"/>
          </p:cNvSpPr>
          <p:nvPr>
            <p:ph type="title" hasCustomPrompt="1"/>
          </p:nvPr>
        </p:nvSpPr>
        <p:spPr>
          <a:xfrm>
            <a:off x="684700" y="1867614"/>
            <a:ext cx="9324000" cy="324000"/>
          </a:xfrm>
          <a:prstGeom prst="rect">
            <a:avLst/>
          </a:prstGeom>
        </p:spPr>
        <p:txBody>
          <a:bodyPr anchor="t"/>
          <a:lstStyle>
            <a:lvl1pPr marL="0" marR="0" indent="0" algn="l" defTabSz="1080000" rtl="0" eaLnBrk="1" fontAlgn="auto" latinLnBrk="0" hangingPunct="1">
              <a:lnSpc>
                <a:spcPct val="100000"/>
              </a:lnSpc>
              <a:spcBef>
                <a:spcPct val="0"/>
              </a:spcBef>
              <a:spcAft>
                <a:spcPts val="0"/>
              </a:spcAft>
              <a:buClrTx/>
              <a:buSzTx/>
              <a:buFontTx/>
              <a:buNone/>
              <a:tabLst>
                <a:tab pos="540000" algn="l"/>
                <a:tab pos="6480000" algn="l"/>
                <a:tab pos="9331200" algn="r"/>
              </a:tabLst>
              <a:defRPr lang="de-DE" sz="2000" kern="0" baseline="0" dirty="0"/>
            </a:lvl1pPr>
          </a:lstStyle>
          <a:p>
            <a:r>
              <a:rPr lang="de-DE" noProof="0" dirty="0"/>
              <a:t>Layout „Titelfolie“ durch Klicken bearbeiten</a:t>
            </a:r>
          </a:p>
        </p:txBody>
      </p:sp>
      <p:sp>
        <p:nvSpPr>
          <p:cNvPr id="20" name="Titel 1"/>
          <p:cNvSpPr txBox="1">
            <a:spLocks/>
          </p:cNvSpPr>
          <p:nvPr userDrawn="1"/>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a:r>
              <a:rPr lang="de-DE" sz="1200" b="1" i="1" dirty="0">
                <a:solidFill>
                  <a:srgbClr val="003D7C"/>
                </a:solidFill>
              </a:rPr>
              <a:t>Streng vertraulich</a:t>
            </a:r>
          </a:p>
        </p:txBody>
      </p:sp>
      <p:sp>
        <p:nvSpPr>
          <p:cNvPr id="9" name="Text Placeholder 2"/>
          <p:cNvSpPr>
            <a:spLocks noGrp="1"/>
          </p:cNvSpPr>
          <p:nvPr>
            <p:ph type="body" sz="quarter" idx="15" hasCustomPrompt="1"/>
          </p:nvPr>
        </p:nvSpPr>
        <p:spPr>
          <a:xfrm>
            <a:off x="684700" y="3146425"/>
            <a:ext cx="9324000" cy="504000"/>
          </a:xfrm>
        </p:spPr>
        <p:txBody>
          <a:bodyPr/>
          <a:lstStyle>
            <a:lvl1pPr marL="0" indent="0">
              <a:buNone/>
              <a:defRPr sz="1600" b="1"/>
            </a:lvl1pPr>
          </a:lstStyle>
          <a:p>
            <a:pPr>
              <a:lnSpc>
                <a:spcPct val="105000"/>
              </a:lnSpc>
            </a:pPr>
            <a:r>
              <a:rPr lang="de-DE" dirty="0">
                <a:solidFill>
                  <a:prstClr val="black"/>
                </a:solidFill>
              </a:rPr>
              <a:t>Präsentation für</a:t>
            </a:r>
            <a:br>
              <a:rPr lang="de-DE" dirty="0">
                <a:solidFill>
                  <a:prstClr val="black"/>
                </a:solidFill>
              </a:rPr>
            </a:br>
            <a:r>
              <a:rPr lang="de-DE" dirty="0" err="1">
                <a:solidFill>
                  <a:prstClr val="black"/>
                </a:solidFill>
              </a:rPr>
              <a:t>ggf._Logo</a:t>
            </a:r>
            <a:r>
              <a:rPr lang="de-DE" dirty="0">
                <a:solidFill>
                  <a:prstClr val="black"/>
                </a:solidFill>
              </a:rPr>
              <a:t>/löschen</a:t>
            </a:r>
          </a:p>
        </p:txBody>
      </p:sp>
      <p:sp>
        <p:nvSpPr>
          <p:cNvPr id="11" name="Text Placeholder 2"/>
          <p:cNvSpPr>
            <a:spLocks noGrp="1"/>
          </p:cNvSpPr>
          <p:nvPr>
            <p:ph type="body" sz="quarter" idx="16" hasCustomPrompt="1"/>
          </p:nvPr>
        </p:nvSpPr>
        <p:spPr>
          <a:xfrm>
            <a:off x="684700" y="6156551"/>
            <a:ext cx="9324000" cy="504000"/>
          </a:xfrm>
        </p:spPr>
        <p:txBody>
          <a:bodyPr/>
          <a:lstStyle>
            <a:lvl1pPr marL="0" indent="0">
              <a:buNone/>
              <a:defRPr sz="1600" b="1"/>
            </a:lvl1pPr>
          </a:lstStyle>
          <a:p>
            <a:pPr>
              <a:spcBef>
                <a:spcPts val="500"/>
              </a:spcBef>
            </a:pPr>
            <a:r>
              <a:rPr lang="de-DE" dirty="0"/>
              <a:t>Frankfurt am Main</a:t>
            </a:r>
            <a:br>
              <a:rPr lang="de-DE" dirty="0"/>
            </a:br>
            <a:r>
              <a:rPr lang="de-DE" dirty="0"/>
              <a:t>T. MMMM 2015</a:t>
            </a:r>
          </a:p>
        </p:txBody>
      </p:sp>
    </p:spTree>
    <p:extLst>
      <p:ext uri="{BB962C8B-B14F-4D97-AF65-F5344CB8AC3E}">
        <p14:creationId xmlns:p14="http://schemas.microsoft.com/office/powerpoint/2010/main" val="429379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el">
    <p:spTree>
      <p:nvGrpSpPr>
        <p:cNvPr id="1" name=""/>
        <p:cNvGrpSpPr/>
        <p:nvPr/>
      </p:nvGrpSpPr>
      <p:grpSpPr>
        <a:xfrm>
          <a:off x="0" y="0"/>
          <a:ext cx="0" cy="0"/>
          <a:chOff x="0" y="0"/>
          <a:chExt cx="0" cy="0"/>
        </a:xfrm>
      </p:grpSpPr>
      <p:sp>
        <p:nvSpPr>
          <p:cNvPr id="14"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6" name="Titel 1"/>
          <p:cNvSpPr>
            <a:spLocks noGrp="1"/>
          </p:cNvSpPr>
          <p:nvPr>
            <p:ph type="title" hasCustomPrompt="1"/>
          </p:nvPr>
        </p:nvSpPr>
        <p:spPr>
          <a:xfrm>
            <a:off x="684700" y="1867614"/>
            <a:ext cx="9324000" cy="324000"/>
          </a:xfrm>
          <a:prstGeom prst="rect">
            <a:avLst/>
          </a:prstGeom>
        </p:spPr>
        <p:txBody>
          <a:bodyPr anchor="t"/>
          <a:lstStyle>
            <a:lvl1pPr marL="0" marR="0" indent="0" algn="l" defTabSz="1080000" rtl="0" eaLnBrk="1" fontAlgn="auto" latinLnBrk="0" hangingPunct="1">
              <a:lnSpc>
                <a:spcPct val="100000"/>
              </a:lnSpc>
              <a:spcBef>
                <a:spcPct val="0"/>
              </a:spcBef>
              <a:spcAft>
                <a:spcPts val="0"/>
              </a:spcAft>
              <a:buClrTx/>
              <a:buSzTx/>
              <a:buFontTx/>
              <a:buNone/>
              <a:tabLst>
                <a:tab pos="540000" algn="l"/>
                <a:tab pos="6480000" algn="l"/>
                <a:tab pos="9331200" algn="r"/>
              </a:tabLst>
              <a:defRPr lang="de-DE" sz="2000" kern="0" baseline="0" dirty="0"/>
            </a:lvl1pPr>
          </a:lstStyle>
          <a:p>
            <a:r>
              <a:rPr lang="de-DE" noProof="0" dirty="0"/>
              <a:t>Layout „Titelfolie“ durch Klicken bearbeiten</a:t>
            </a:r>
          </a:p>
        </p:txBody>
      </p:sp>
      <p:sp>
        <p:nvSpPr>
          <p:cNvPr id="20" name="Titel 1"/>
          <p:cNvSpPr txBox="1">
            <a:spLocks/>
          </p:cNvSpPr>
          <p:nvPr userDrawn="1"/>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a:r>
              <a:rPr lang="en-US" sz="1200" b="1" i="1" noProof="0" dirty="0">
                <a:solidFill>
                  <a:srgbClr val="003D7C"/>
                </a:solidFill>
              </a:rPr>
              <a:t>Strictly confidential</a:t>
            </a:r>
          </a:p>
        </p:txBody>
      </p:sp>
      <p:sp>
        <p:nvSpPr>
          <p:cNvPr id="9" name="Text Placeholder 2"/>
          <p:cNvSpPr>
            <a:spLocks noGrp="1"/>
          </p:cNvSpPr>
          <p:nvPr>
            <p:ph type="body" sz="quarter" idx="15" hasCustomPrompt="1"/>
          </p:nvPr>
        </p:nvSpPr>
        <p:spPr>
          <a:xfrm>
            <a:off x="684700" y="3146425"/>
            <a:ext cx="9324000" cy="504000"/>
          </a:xfrm>
        </p:spPr>
        <p:txBody>
          <a:bodyPr/>
          <a:lstStyle>
            <a:lvl1pPr marL="0" indent="0">
              <a:buNone/>
              <a:defRPr sz="1600" b="1"/>
            </a:lvl1pPr>
          </a:lstStyle>
          <a:p>
            <a:pPr>
              <a:lnSpc>
                <a:spcPct val="105000"/>
              </a:lnSpc>
            </a:pPr>
            <a:r>
              <a:rPr lang="de-DE" dirty="0">
                <a:solidFill>
                  <a:prstClr val="black"/>
                </a:solidFill>
              </a:rPr>
              <a:t>Präsentation für</a:t>
            </a:r>
            <a:br>
              <a:rPr lang="de-DE" dirty="0">
                <a:solidFill>
                  <a:prstClr val="black"/>
                </a:solidFill>
              </a:rPr>
            </a:br>
            <a:r>
              <a:rPr lang="de-DE" dirty="0" err="1">
                <a:solidFill>
                  <a:prstClr val="black"/>
                </a:solidFill>
              </a:rPr>
              <a:t>ggf._Logo</a:t>
            </a:r>
            <a:r>
              <a:rPr lang="de-DE" dirty="0">
                <a:solidFill>
                  <a:prstClr val="black"/>
                </a:solidFill>
              </a:rPr>
              <a:t>/löschen</a:t>
            </a:r>
          </a:p>
        </p:txBody>
      </p:sp>
      <p:sp>
        <p:nvSpPr>
          <p:cNvPr id="11" name="Text Placeholder 2"/>
          <p:cNvSpPr>
            <a:spLocks noGrp="1"/>
          </p:cNvSpPr>
          <p:nvPr>
            <p:ph type="body" sz="quarter" idx="16" hasCustomPrompt="1"/>
          </p:nvPr>
        </p:nvSpPr>
        <p:spPr>
          <a:xfrm>
            <a:off x="684700" y="6156551"/>
            <a:ext cx="9324000" cy="504000"/>
          </a:xfrm>
        </p:spPr>
        <p:txBody>
          <a:bodyPr/>
          <a:lstStyle>
            <a:lvl1pPr marL="0" indent="0">
              <a:buNone/>
              <a:defRPr sz="1600" b="1"/>
            </a:lvl1pPr>
          </a:lstStyle>
          <a:p>
            <a:pPr>
              <a:spcBef>
                <a:spcPts val="500"/>
              </a:spcBef>
            </a:pPr>
            <a:r>
              <a:rPr lang="de-DE" dirty="0"/>
              <a:t>Frankfurt am Main</a:t>
            </a:r>
            <a:br>
              <a:rPr lang="de-DE" dirty="0"/>
            </a:br>
            <a:r>
              <a:rPr lang="de-DE" dirty="0"/>
              <a:t>T. MMMM 2015</a:t>
            </a:r>
          </a:p>
        </p:txBody>
      </p:sp>
      <p:sp>
        <p:nvSpPr>
          <p:cNvPr id="7" name="Rechteck 6"/>
          <p:cNvSpPr/>
          <p:nvPr userDrawn="1"/>
        </p:nvSpPr>
        <p:spPr>
          <a:xfrm>
            <a:off x="234851" y="7113329"/>
            <a:ext cx="305115" cy="196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03741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19" name="Textplatzhalter 6"/>
          <p:cNvSpPr>
            <a:spLocks noGrp="1"/>
          </p:cNvSpPr>
          <p:nvPr>
            <p:ph type="body" sz="quarter" idx="14" hasCustomPrompt="1"/>
          </p:nvPr>
        </p:nvSpPr>
        <p:spPr>
          <a:xfrm>
            <a:off x="1674292" y="1767015"/>
            <a:ext cx="7252045" cy="4898897"/>
          </a:xfrm>
        </p:spPr>
        <p:txBody>
          <a:bodyPr/>
          <a:lstStyle>
            <a:lvl1pPr marL="0" marR="0" indent="0" algn="l" defTabSz="1043056" rtl="0" eaLnBrk="1" fontAlgn="auto" latinLnBrk="0" hangingPunct="1">
              <a:lnSpc>
                <a:spcPct val="250000"/>
              </a:lnSpc>
              <a:spcBef>
                <a:spcPts val="0"/>
              </a:spcBef>
              <a:spcAft>
                <a:spcPts val="600"/>
              </a:spcAft>
              <a:buClr>
                <a:schemeClr val="accent1"/>
              </a:buClr>
              <a:buSzTx/>
              <a:buFontTx/>
              <a:buNone/>
              <a:tabLst/>
              <a:defRPr lang="de-DE" sz="1400" b="1" kern="1200" dirty="0" smtClean="0">
                <a:solidFill>
                  <a:srgbClr val="003D7C"/>
                </a:solidFill>
                <a:latin typeface="+mn-lt"/>
                <a:ea typeface="+mn-ea"/>
                <a:cs typeface="+mn-cs"/>
              </a:defRPr>
            </a:lvl1pPr>
          </a:lstStyle>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p:txBody>
      </p:sp>
      <p:sp>
        <p:nvSpPr>
          <p:cNvPr id="20" name="Textplatzhalter 8"/>
          <p:cNvSpPr>
            <a:spLocks noGrp="1"/>
          </p:cNvSpPr>
          <p:nvPr>
            <p:ph type="body" sz="quarter" idx="15" hasCustomPrompt="1"/>
          </p:nvPr>
        </p:nvSpPr>
        <p:spPr>
          <a:xfrm>
            <a:off x="897413" y="1910989"/>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1</a:t>
            </a:r>
          </a:p>
        </p:txBody>
      </p:sp>
      <p:sp>
        <p:nvSpPr>
          <p:cNvPr id="16" name="Titel 1"/>
          <p:cNvSpPr>
            <a:spLocks noGrp="1"/>
          </p:cNvSpPr>
          <p:nvPr>
            <p:ph type="title" hasCustomPrompt="1"/>
          </p:nvPr>
        </p:nvSpPr>
        <p:spPr>
          <a:xfrm>
            <a:off x="381618" y="450279"/>
            <a:ext cx="9936000" cy="720000"/>
          </a:xfrm>
        </p:spPr>
        <p:txBody>
          <a:bodyPr/>
          <a:lstStyle>
            <a:lvl1pPr>
              <a:defRPr sz="2000" b="1">
                <a:solidFill>
                  <a:schemeClr val="tx1"/>
                </a:solidFill>
                <a:latin typeface="Univers for Metzler" panose="020B0503030202020203" pitchFamily="34" charset="0"/>
              </a:defRPr>
            </a:lvl1pPr>
          </a:lstStyle>
          <a:p>
            <a:r>
              <a:rPr lang="de-DE" dirty="0"/>
              <a:t>Agenda</a:t>
            </a:r>
          </a:p>
        </p:txBody>
      </p:sp>
      <p:sp>
        <p:nvSpPr>
          <p:cNvPr id="13" name="Textplatzhalter 8"/>
          <p:cNvSpPr>
            <a:spLocks noGrp="1"/>
          </p:cNvSpPr>
          <p:nvPr>
            <p:ph type="body" sz="quarter" idx="22" hasCustomPrompt="1"/>
          </p:nvPr>
        </p:nvSpPr>
        <p:spPr>
          <a:xfrm>
            <a:off x="897413" y="2519543"/>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2</a:t>
            </a:r>
          </a:p>
        </p:txBody>
      </p:sp>
      <p:sp>
        <p:nvSpPr>
          <p:cNvPr id="14" name="Textplatzhalter 8"/>
          <p:cNvSpPr>
            <a:spLocks noGrp="1"/>
          </p:cNvSpPr>
          <p:nvPr>
            <p:ph type="body" sz="quarter" idx="23" hasCustomPrompt="1"/>
          </p:nvPr>
        </p:nvSpPr>
        <p:spPr>
          <a:xfrm>
            <a:off x="897413" y="3128097"/>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3</a:t>
            </a:r>
          </a:p>
        </p:txBody>
      </p:sp>
      <p:sp>
        <p:nvSpPr>
          <p:cNvPr id="17" name="Textplatzhalter 8"/>
          <p:cNvSpPr>
            <a:spLocks noGrp="1"/>
          </p:cNvSpPr>
          <p:nvPr>
            <p:ph type="body" sz="quarter" idx="24" hasCustomPrompt="1"/>
          </p:nvPr>
        </p:nvSpPr>
        <p:spPr>
          <a:xfrm>
            <a:off x="897413" y="3736651"/>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4</a:t>
            </a:r>
          </a:p>
        </p:txBody>
      </p:sp>
      <p:sp>
        <p:nvSpPr>
          <p:cNvPr id="18" name="Textplatzhalter 8"/>
          <p:cNvSpPr>
            <a:spLocks noGrp="1"/>
          </p:cNvSpPr>
          <p:nvPr>
            <p:ph type="body" sz="quarter" idx="25" hasCustomPrompt="1"/>
          </p:nvPr>
        </p:nvSpPr>
        <p:spPr>
          <a:xfrm>
            <a:off x="897413" y="4345205"/>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5</a:t>
            </a:r>
          </a:p>
        </p:txBody>
      </p:sp>
      <p:sp>
        <p:nvSpPr>
          <p:cNvPr id="28" name="Textplatzhalter 8"/>
          <p:cNvSpPr>
            <a:spLocks noGrp="1"/>
          </p:cNvSpPr>
          <p:nvPr>
            <p:ph type="body" sz="quarter" idx="26" hasCustomPrompt="1"/>
          </p:nvPr>
        </p:nvSpPr>
        <p:spPr>
          <a:xfrm>
            <a:off x="897413" y="4953759"/>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6</a:t>
            </a:r>
          </a:p>
        </p:txBody>
      </p:sp>
      <p:sp>
        <p:nvSpPr>
          <p:cNvPr id="29" name="Textplatzhalter 8"/>
          <p:cNvSpPr>
            <a:spLocks noGrp="1"/>
          </p:cNvSpPr>
          <p:nvPr>
            <p:ph type="body" sz="quarter" idx="27" hasCustomPrompt="1"/>
          </p:nvPr>
        </p:nvSpPr>
        <p:spPr>
          <a:xfrm>
            <a:off x="897413" y="5562315"/>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7</a:t>
            </a:r>
          </a:p>
        </p:txBody>
      </p:sp>
      <p:sp>
        <p:nvSpPr>
          <p:cNvPr id="21"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Tree>
    <p:extLst>
      <p:ext uri="{BB962C8B-B14F-4D97-AF65-F5344CB8AC3E}">
        <p14:creationId xmlns:p14="http://schemas.microsoft.com/office/powerpoint/2010/main" val="1947677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6" name="Line 825"/>
          <p:cNvSpPr>
            <a:spLocks noChangeShapeType="1"/>
          </p:cNvSpPr>
          <p:nvPr userDrawn="1"/>
        </p:nvSpPr>
        <p:spPr bwMode="auto">
          <a:xfrm>
            <a:off x="381619" y="3240000"/>
            <a:ext cx="9936000" cy="0"/>
          </a:xfrm>
          <a:prstGeom prst="line">
            <a:avLst/>
          </a:prstGeom>
          <a:noFill/>
          <a:ln w="28575">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dirty="0"/>
          </a:p>
        </p:txBody>
      </p:sp>
      <p:sp>
        <p:nvSpPr>
          <p:cNvPr id="7" name="Textplatzhalter 8"/>
          <p:cNvSpPr>
            <a:spLocks noGrp="1"/>
          </p:cNvSpPr>
          <p:nvPr>
            <p:ph type="body" sz="quarter" idx="11"/>
          </p:nvPr>
        </p:nvSpPr>
        <p:spPr>
          <a:xfrm>
            <a:off x="381618" y="3616322"/>
            <a:ext cx="9375156" cy="2525713"/>
          </a:xfrm>
        </p:spPr>
        <p:txBody>
          <a:bodyPr/>
          <a:lstStyle>
            <a:lvl1pPr marL="723900" indent="-723900">
              <a:defRPr sz="2200" b="1">
                <a:solidFill>
                  <a:srgbClr val="003D7C"/>
                </a:solidFill>
              </a:defRPr>
            </a:lvl1pPr>
            <a:lvl2pPr marL="1079500" indent="-355600">
              <a:spcBef>
                <a:spcPts val="1200"/>
              </a:spcBef>
              <a:defRPr sz="2200" b="1">
                <a:solidFill>
                  <a:srgbClr val="003D7C"/>
                </a:solidFill>
              </a:defRPr>
            </a:lvl2pPr>
            <a:lvl3pPr marL="1346200" indent="-266700">
              <a:spcBef>
                <a:spcPts val="1200"/>
              </a:spcBef>
              <a:buClr>
                <a:srgbClr val="003D7C"/>
              </a:buClr>
              <a:defRPr sz="2200" b="1">
                <a:solidFill>
                  <a:srgbClr val="003D7C"/>
                </a:solidFill>
              </a:defRPr>
            </a:lvl3pPr>
            <a:lvl4pPr>
              <a:defRPr sz="2200" b="1">
                <a:solidFill>
                  <a:schemeClr val="accent1"/>
                </a:solidFill>
              </a:defRPr>
            </a:lvl4pPr>
            <a:lvl5pPr>
              <a:defRPr sz="2200" b="1">
                <a:solidFill>
                  <a:schemeClr val="accent1"/>
                </a:solidFill>
              </a:defRPr>
            </a:lvl5pPr>
          </a:lstStyle>
          <a:p>
            <a:pPr lvl="0"/>
            <a:r>
              <a:rPr lang="de-DE" dirty="0"/>
              <a:t>Textmasterformat bearbeiten</a:t>
            </a:r>
          </a:p>
          <a:p>
            <a:pPr lvl="1"/>
            <a:r>
              <a:rPr lang="de-DE" dirty="0"/>
              <a:t>Zweite Ebene</a:t>
            </a:r>
          </a:p>
          <a:p>
            <a:pPr lvl="2"/>
            <a:r>
              <a:rPr lang="de-DE" dirty="0"/>
              <a:t>Dritte Ebene</a:t>
            </a:r>
          </a:p>
        </p:txBody>
      </p:sp>
      <p:sp>
        <p:nvSpPr>
          <p:cNvPr id="8" name="Textplatzhalter 12"/>
          <p:cNvSpPr>
            <a:spLocks noGrp="1"/>
          </p:cNvSpPr>
          <p:nvPr>
            <p:ph type="body" sz="quarter" idx="10" hasCustomPrompt="1"/>
          </p:nvPr>
        </p:nvSpPr>
        <p:spPr>
          <a:xfrm>
            <a:off x="381618" y="3582988"/>
            <a:ext cx="483640" cy="411257"/>
          </a:xfrm>
          <a:solidFill>
            <a:srgbClr val="003D7C"/>
          </a:solidFill>
        </p:spPr>
        <p:txBody>
          <a:bodyPr vert="horz" wrap="none" lIns="72000" tIns="36000" rIns="72000" bIns="36000" rtlCol="0" anchor="t" anchorCtr="0">
            <a:noAutofit/>
          </a:bodyPr>
          <a:lstStyle>
            <a:lvl1pPr marL="0" indent="0" algn="ctr">
              <a:buFontTx/>
              <a:buNone/>
              <a:defRPr lang="de-DE" sz="2200" b="1" dirty="0" smtClean="0">
                <a:solidFill>
                  <a:schemeClr val="bg1"/>
                </a:solidFill>
                <a:latin typeface="+mj-lt"/>
                <a:ea typeface="+mj-ea"/>
                <a:cs typeface="+mj-cs"/>
              </a:defRPr>
            </a:lvl1pPr>
            <a:lvl2pPr marL="195573" indent="0">
              <a:buFontTx/>
              <a:buNone/>
              <a:defRPr lang="de-DE" sz="2100" dirty="0" smtClean="0"/>
            </a:lvl2pPr>
            <a:lvl3pPr marL="782292" indent="0">
              <a:buFontTx/>
              <a:buNone/>
              <a:defRPr lang="de-DE" sz="2100" dirty="0" smtClean="0"/>
            </a:lvl3pPr>
            <a:lvl4pPr marL="1303820" indent="0">
              <a:buFontTx/>
              <a:buNone/>
              <a:defRPr lang="de-DE" sz="2100" dirty="0" smtClean="0"/>
            </a:lvl4pPr>
            <a:lvl5pPr marL="1825348" indent="0">
              <a:buFontTx/>
              <a:buNone/>
              <a:defRPr lang="de-DE" sz="2100" dirty="0"/>
            </a:lvl5pPr>
          </a:lstStyle>
          <a:p>
            <a:pPr marL="0" lvl="0" algn="ctr">
              <a:spcBef>
                <a:spcPct val="0"/>
              </a:spcBef>
              <a:buNone/>
            </a:pPr>
            <a:r>
              <a:rPr lang="de-DE" dirty="0" err="1"/>
              <a:t>Nr</a:t>
            </a:r>
            <a:endParaRPr lang="de-DE" dirty="0"/>
          </a:p>
        </p:txBody>
      </p:sp>
    </p:spTree>
    <p:extLst>
      <p:ext uri="{BB962C8B-B14F-4D97-AF65-F5344CB8AC3E}">
        <p14:creationId xmlns:p14="http://schemas.microsoft.com/office/powerpoint/2010/main" val="4217982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_0">
    <p:spTree>
      <p:nvGrpSpPr>
        <p:cNvPr id="1" name=""/>
        <p:cNvGrpSpPr/>
        <p:nvPr/>
      </p:nvGrpSpPr>
      <p:grpSpPr>
        <a:xfrm>
          <a:off x="0" y="0"/>
          <a:ext cx="0" cy="0"/>
          <a:chOff x="0" y="0"/>
          <a:chExt cx="0" cy="0"/>
        </a:xfrm>
      </p:grpSpPr>
      <p:sp>
        <p:nvSpPr>
          <p:cNvPr id="2"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6"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7"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9"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
        <p:nvSpPr>
          <p:cNvPr id="10"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Tree>
    <p:extLst>
      <p:ext uri="{BB962C8B-B14F-4D97-AF65-F5344CB8AC3E}">
        <p14:creationId xmlns:p14="http://schemas.microsoft.com/office/powerpoint/2010/main" val="266441174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488389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4" name="Inhaltsplatzhalter 3"/>
          <p:cNvSpPr>
            <a:spLocks noGrp="1"/>
          </p:cNvSpPr>
          <p:nvPr>
            <p:ph sz="quarter" idx="20"/>
          </p:nvPr>
        </p:nvSpPr>
        <p:spPr>
          <a:xfrm>
            <a:off x="5418700" y="1889373"/>
            <a:ext cx="4896000" cy="488389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5"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6"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17"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8"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9"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333118807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4" name="Inhaltsplatzhalter 3"/>
          <p:cNvSpPr>
            <a:spLocks noGrp="1"/>
          </p:cNvSpPr>
          <p:nvPr>
            <p:ph sz="quarter" idx="20"/>
          </p:nvPr>
        </p:nvSpPr>
        <p:spPr>
          <a:xfrm>
            <a:off x="541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5" name="Textplatzhalter 5"/>
          <p:cNvSpPr>
            <a:spLocks noGrp="1"/>
          </p:cNvSpPr>
          <p:nvPr>
            <p:ph type="body" sz="quarter" idx="21" hasCustomPrompt="1"/>
          </p:nvPr>
        </p:nvSpPr>
        <p:spPr>
          <a:xfrm>
            <a:off x="37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6" name="Textplatzhalter 5"/>
          <p:cNvSpPr>
            <a:spLocks noGrp="1"/>
          </p:cNvSpPr>
          <p:nvPr>
            <p:ph type="body" sz="quarter" idx="22" hasCustomPrompt="1"/>
          </p:nvPr>
        </p:nvSpPr>
        <p:spPr>
          <a:xfrm>
            <a:off x="541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7" name="Inhaltsplatzhalter 3"/>
          <p:cNvSpPr>
            <a:spLocks noGrp="1"/>
          </p:cNvSpPr>
          <p:nvPr>
            <p:ph sz="quarter" idx="23"/>
          </p:nvPr>
        </p:nvSpPr>
        <p:spPr>
          <a:xfrm>
            <a:off x="37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8" name="Inhaltsplatzhalter 3"/>
          <p:cNvSpPr>
            <a:spLocks noGrp="1"/>
          </p:cNvSpPr>
          <p:nvPr>
            <p:ph sz="quarter" idx="24"/>
          </p:nvPr>
        </p:nvSpPr>
        <p:spPr>
          <a:xfrm>
            <a:off x="541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9"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20"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21"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22"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3"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246442920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4" name="Inhaltsplatzhalter 3"/>
          <p:cNvSpPr>
            <a:spLocks noGrp="1"/>
          </p:cNvSpPr>
          <p:nvPr>
            <p:ph sz="quarter" idx="20"/>
          </p:nvPr>
        </p:nvSpPr>
        <p:spPr>
          <a:xfrm>
            <a:off x="5418700" y="1889373"/>
            <a:ext cx="4896000" cy="489613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5" name="Textplatzhalter 5"/>
          <p:cNvSpPr>
            <a:spLocks noGrp="1"/>
          </p:cNvSpPr>
          <p:nvPr>
            <p:ph type="body" sz="quarter" idx="21" hasCustomPrompt="1"/>
          </p:nvPr>
        </p:nvSpPr>
        <p:spPr>
          <a:xfrm>
            <a:off x="37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7" name="Inhaltsplatzhalter 3"/>
          <p:cNvSpPr>
            <a:spLocks noGrp="1"/>
          </p:cNvSpPr>
          <p:nvPr>
            <p:ph sz="quarter" idx="23"/>
          </p:nvPr>
        </p:nvSpPr>
        <p:spPr>
          <a:xfrm>
            <a:off x="37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6"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8"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19"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20"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1"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420821261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993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3" name="Inhaltsplatzhalter 3"/>
          <p:cNvSpPr>
            <a:spLocks noGrp="1"/>
          </p:cNvSpPr>
          <p:nvPr>
            <p:ph sz="quarter" idx="10"/>
          </p:nvPr>
        </p:nvSpPr>
        <p:spPr>
          <a:xfrm>
            <a:off x="378700" y="1889371"/>
            <a:ext cx="9936000" cy="4896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2"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4"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15"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6"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7"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255452333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claimer_English">
    <p:spTree>
      <p:nvGrpSpPr>
        <p:cNvPr id="1" name=""/>
        <p:cNvGrpSpPr/>
        <p:nvPr/>
      </p:nvGrpSpPr>
      <p:grpSpPr>
        <a:xfrm>
          <a:off x="0" y="0"/>
          <a:ext cx="0" cy="0"/>
          <a:chOff x="0" y="0"/>
          <a:chExt cx="0" cy="0"/>
        </a:xfrm>
      </p:grpSpPr>
      <p:sp>
        <p:nvSpPr>
          <p:cNvPr id="10" name="Text Box 2"/>
          <p:cNvSpPr txBox="1">
            <a:spLocks noChangeArrowheads="1"/>
          </p:cNvSpPr>
          <p:nvPr userDrawn="1"/>
        </p:nvSpPr>
        <p:spPr bwMode="auto">
          <a:xfrm>
            <a:off x="378700" y="1620838"/>
            <a:ext cx="9936000" cy="3805238"/>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t" anchorCtr="0" compatLnSpc="1">
            <a:prstTxWarp prst="textNoShape">
              <a:avLst/>
            </a:prstTxWarp>
          </a:bodyPr>
          <a:lstStyle/>
          <a:p>
            <a:pPr algn="just">
              <a:lnSpc>
                <a:spcPct val="150000"/>
              </a:lnSpc>
              <a:spcAft>
                <a:spcPts val="600"/>
              </a:spcAft>
            </a:pPr>
            <a:r>
              <a:rPr lang="en-US" sz="1050" dirty="0">
                <a:latin typeface="+mn-lt"/>
                <a:ea typeface="Times New Roman"/>
                <a:cs typeface="LTUnivers 330 BasicLight"/>
              </a:rPr>
              <a:t>This presentation has been prepared by B. Metzler GmbH (hereinafter “Metzler Corporate Finance”) and is based upon information we believe to be reliable, but we make no representation (expressly or implied) as to the accuracy or completeness of such information. In furnishing this presentation Metzler Corporate Finance is not obligated to provide any additional information, to update or to correct this presentation. Metzler Corporate Finance expressly disclaims any liability for the contents or any omissions regarding this presentation or any other information made available in writing, orally or otherwise. The recipient undertakes to treat this document and the information therein as strictly confidential. This document does not serve as legal or tax advice and can not substitute such an advice.</a:t>
            </a:r>
          </a:p>
        </p:txBody>
      </p:sp>
      <p:sp>
        <p:nvSpPr>
          <p:cNvPr id="12" name="Rechteck 11"/>
          <p:cNvSpPr/>
          <p:nvPr userDrawn="1"/>
        </p:nvSpPr>
        <p:spPr>
          <a:xfrm>
            <a:off x="378700" y="4836630"/>
            <a:ext cx="5346700" cy="1954349"/>
          </a:xfrm>
          <a:prstGeom prst="rect">
            <a:avLst/>
          </a:prstGeom>
        </p:spPr>
        <p:txBody>
          <a:bodyPr lIns="91408" tIns="45704" rIns="91408" bIns="45704">
            <a:spAutoFit/>
          </a:bodyPr>
          <a:lstStyle/>
          <a:p>
            <a:pPr defTabSz="1042688"/>
            <a:r>
              <a:rPr lang="de-DE" sz="1000" b="1" dirty="0">
                <a:solidFill>
                  <a:schemeClr val="tx2"/>
                </a:solidFill>
              </a:rPr>
              <a:t>Metzler Corporate Finance</a:t>
            </a:r>
          </a:p>
          <a:p>
            <a:pPr defTabSz="1042688"/>
            <a:endParaRPr lang="de-DE" sz="1000" b="1" dirty="0">
              <a:solidFill>
                <a:schemeClr val="tx2"/>
              </a:solidFill>
            </a:endParaRPr>
          </a:p>
          <a:p>
            <a:pPr defTabSz="1042688"/>
            <a:r>
              <a:rPr lang="de-DE" sz="1000" b="1" dirty="0">
                <a:solidFill>
                  <a:schemeClr val="tx2"/>
                </a:solidFill>
              </a:rPr>
              <a:t>B. Metzler GmbH</a:t>
            </a:r>
          </a:p>
          <a:p>
            <a:pPr defTabSz="1042688"/>
            <a:r>
              <a:rPr lang="de-DE" sz="1000" b="1" dirty="0">
                <a:solidFill>
                  <a:schemeClr val="tx2"/>
                </a:solidFill>
              </a:rPr>
              <a:t>Untermainanlage 1</a:t>
            </a:r>
          </a:p>
          <a:p>
            <a:pPr defTabSz="1042688"/>
            <a:r>
              <a:rPr lang="de-DE" sz="1000" b="1" dirty="0">
                <a:solidFill>
                  <a:schemeClr val="tx2"/>
                </a:solidFill>
              </a:rPr>
              <a:t>60329 Frankfurt/Main</a:t>
            </a:r>
          </a:p>
          <a:p>
            <a:pPr defTabSz="1042688"/>
            <a:r>
              <a:rPr lang="de-DE" sz="1000" b="1" dirty="0">
                <a:solidFill>
                  <a:schemeClr val="tx2"/>
                </a:solidFill>
              </a:rPr>
              <a:t>Germany</a:t>
            </a:r>
          </a:p>
          <a:p>
            <a:pPr defTabSz="1042688"/>
            <a:r>
              <a:rPr lang="de-DE" sz="1000" b="1" dirty="0">
                <a:solidFill>
                  <a:schemeClr val="tx2"/>
                </a:solidFill>
              </a:rPr>
              <a:t>Phone (+49 69) 21 04</a:t>
            </a:r>
            <a:r>
              <a:rPr lang="de-DE" sz="300" b="1" dirty="0">
                <a:solidFill>
                  <a:schemeClr val="tx2"/>
                </a:solidFill>
              </a:rPr>
              <a:t> </a:t>
            </a:r>
            <a:r>
              <a:rPr lang="de-DE" sz="1000" b="1" dirty="0">
                <a:solidFill>
                  <a:schemeClr val="tx2"/>
                </a:solidFill>
              </a:rPr>
              <a:t>-</a:t>
            </a:r>
            <a:r>
              <a:rPr lang="de-DE" sz="300" b="1" dirty="0">
                <a:solidFill>
                  <a:schemeClr val="tx2"/>
                </a:solidFill>
              </a:rPr>
              <a:t> </a:t>
            </a:r>
            <a:r>
              <a:rPr lang="de-DE" sz="1000" b="1" dirty="0">
                <a:solidFill>
                  <a:schemeClr val="tx2"/>
                </a:solidFill>
              </a:rPr>
              <a:t>44 44</a:t>
            </a:r>
          </a:p>
          <a:p>
            <a:pPr defTabSz="1042688"/>
            <a:r>
              <a:rPr lang="de-DE" sz="1000" b="1" dirty="0">
                <a:solidFill>
                  <a:schemeClr val="tx2"/>
                </a:solidFill>
              </a:rPr>
              <a:t>Fax (+49 69) 29 26 50</a:t>
            </a:r>
          </a:p>
          <a:p>
            <a:pPr defTabSz="1042688"/>
            <a:r>
              <a:rPr lang="de-DE" sz="1000" b="1" dirty="0" err="1">
                <a:solidFill>
                  <a:schemeClr val="tx2"/>
                </a:solidFill>
              </a:rPr>
              <a:t>E-mail</a:t>
            </a:r>
            <a:r>
              <a:rPr lang="de-DE" sz="1000" b="1" dirty="0">
                <a:solidFill>
                  <a:schemeClr val="tx2"/>
                </a:solidFill>
              </a:rPr>
              <a:t> Corporate_Finance@metzler.com</a:t>
            </a:r>
          </a:p>
          <a:p>
            <a:pPr defTabSz="1042688"/>
            <a:r>
              <a:rPr lang="de-DE" sz="1000" b="1" dirty="0">
                <a:solidFill>
                  <a:schemeClr val="tx2"/>
                </a:solidFill>
              </a:rPr>
              <a:t>www.metzler.com</a:t>
            </a:r>
          </a:p>
          <a:p>
            <a:pPr defTabSz="1042688"/>
            <a:endParaRPr lang="de-DE" b="1" dirty="0">
              <a:solidFill>
                <a:schemeClr val="tx2"/>
              </a:solidFill>
            </a:endParaRPr>
          </a:p>
        </p:txBody>
      </p:sp>
      <p:sp>
        <p:nvSpPr>
          <p:cNvPr id="8"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3"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4"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1" name="Titel 1"/>
          <p:cNvSpPr txBox="1">
            <a:spLocks/>
          </p:cNvSpPr>
          <p:nvPr userDrawn="1"/>
        </p:nvSpPr>
        <p:spPr>
          <a:xfrm>
            <a:off x="378700" y="450279"/>
            <a:ext cx="9936000" cy="720000"/>
          </a:xfrm>
          <a:prstGeom prst="rect">
            <a:avLst/>
          </a:prstGeom>
        </p:spPr>
        <p:txBody>
          <a:bodyPr vert="horz" lIns="0" tIns="0" rIns="0" bIns="0" rtlCol="0" anchor="t">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r>
              <a:rPr lang="de-DE" dirty="0"/>
              <a:t>Disclaimer</a:t>
            </a:r>
          </a:p>
        </p:txBody>
      </p:sp>
    </p:spTree>
    <p:extLst>
      <p:ext uri="{BB962C8B-B14F-4D97-AF65-F5344CB8AC3E}">
        <p14:creationId xmlns:p14="http://schemas.microsoft.com/office/powerpoint/2010/main" val="302311003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claimer_deutsch">
    <p:spTree>
      <p:nvGrpSpPr>
        <p:cNvPr id="1" name=""/>
        <p:cNvGrpSpPr/>
        <p:nvPr/>
      </p:nvGrpSpPr>
      <p:grpSpPr>
        <a:xfrm>
          <a:off x="0" y="0"/>
          <a:ext cx="0" cy="0"/>
          <a:chOff x="0" y="0"/>
          <a:chExt cx="0" cy="0"/>
        </a:xfrm>
      </p:grpSpPr>
      <p:sp>
        <p:nvSpPr>
          <p:cNvPr id="10" name="Text Box 2"/>
          <p:cNvSpPr txBox="1">
            <a:spLocks noChangeArrowheads="1"/>
          </p:cNvSpPr>
          <p:nvPr userDrawn="1"/>
        </p:nvSpPr>
        <p:spPr bwMode="auto">
          <a:xfrm>
            <a:off x="378700" y="1620838"/>
            <a:ext cx="9936000" cy="3805238"/>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t" anchorCtr="0" compatLnSpc="1">
            <a:prstTxWarp prst="textNoShape">
              <a:avLst/>
            </a:prstTxWarp>
          </a:bodyPr>
          <a:lstStyle/>
          <a:p>
            <a:pPr algn="just">
              <a:lnSpc>
                <a:spcPct val="150000"/>
              </a:lnSpc>
              <a:spcAft>
                <a:spcPts val="600"/>
              </a:spcAft>
            </a:pPr>
            <a:r>
              <a:rPr lang="de-DE" sz="1050" dirty="0">
                <a:latin typeface="+mn-lt"/>
                <a:ea typeface="Times New Roman"/>
                <a:cs typeface="LTUnivers 330 BasicLight"/>
              </a:rPr>
              <a:t>Diese Präsentation wurde von der B. Metzler GmbH (nachfolgend Metzler Corporate Finance genannt) erstellt und basiert auf Information, die wir als verlässlich erachten, jedoch werden keine (ausdrücklichen oder stillschweigenden) Zusicherungen über die Richtigkeit oder Vollständigkeit der in dieser Präsentation enthaltenen Aussagen, Projektionen oder Berechnungen abgegeben. Metzler Corporate </a:t>
            </a:r>
            <a:r>
              <a:rPr lang="de-DE" sz="1050" dirty="0" err="1">
                <a:latin typeface="+mn-lt"/>
                <a:ea typeface="Times New Roman"/>
                <a:cs typeface="LTUnivers 330 BasicLight"/>
              </a:rPr>
              <a:t>Finance</a:t>
            </a:r>
            <a:r>
              <a:rPr lang="de-DE" sz="1050" dirty="0">
                <a:latin typeface="+mn-lt"/>
                <a:ea typeface="Times New Roman"/>
                <a:cs typeface="LTUnivers 330 BasicLight"/>
              </a:rPr>
              <a:t> ist nicht verpflichtet, Zugang zu weiteren Informationen zu gewähren oder diese Präsentation zu aktualisieren oder zu korrigieren. Metzler Corporate </a:t>
            </a:r>
            <a:r>
              <a:rPr lang="de-DE" sz="1050" dirty="0" err="1">
                <a:latin typeface="+mn-lt"/>
                <a:ea typeface="Times New Roman"/>
                <a:cs typeface="LTUnivers 330 BasicLight"/>
              </a:rPr>
              <a:t>Finance</a:t>
            </a:r>
            <a:r>
              <a:rPr lang="de-DE" sz="1050" dirty="0">
                <a:latin typeface="+mn-lt"/>
                <a:ea typeface="Times New Roman"/>
                <a:cs typeface="LTUnivers 330 BasicLight"/>
              </a:rPr>
              <a:t> schließt ausdrücklich jede Haftung für eine eventuelle Unrichtigkeit oder Unvollständigkeit dieser Präsentation sowie aller sonstigen Informationen aus, die dem Empfänger schriftlich, mündlich oder in sonstiger Weise übermittelt oder zugänglich gemacht werden. Der Empfänger verpflichtet sich, die Präsentation und die darin enthaltenen Informationen streng vertraulich zu behandeln. Diese Präsentation soll weder als Rechts- oder Steuerberatung dienen, noch kann sie diese ersetzen. </a:t>
            </a:r>
          </a:p>
          <a:p>
            <a:pPr marL="0" marR="0" lvl="0" indent="0" algn="just" defTabSz="914400" rtl="0" eaLnBrk="1" fontAlgn="base" latinLnBrk="0" hangingPunct="1">
              <a:lnSpc>
                <a:spcPct val="150000"/>
              </a:lnSpc>
              <a:spcBef>
                <a:spcPct val="0"/>
              </a:spcBef>
              <a:spcAft>
                <a:spcPts val="600"/>
              </a:spcAft>
              <a:buClrTx/>
              <a:buSzTx/>
              <a:buFontTx/>
              <a:buNone/>
              <a:tabLst/>
            </a:pPr>
            <a:endParaRPr kumimoji="0" lang="de-DE" sz="2000" b="0" i="0" u="none" strike="noStrike" cap="none" normalizeH="0" baseline="0" dirty="0">
              <a:ln>
                <a:noFill/>
              </a:ln>
              <a:solidFill>
                <a:schemeClr val="tx1"/>
              </a:solidFill>
              <a:effectLst/>
              <a:latin typeface="+mn-lt"/>
              <a:cs typeface="Arial" pitchFamily="34" charset="0"/>
            </a:endParaRPr>
          </a:p>
        </p:txBody>
      </p:sp>
      <p:sp>
        <p:nvSpPr>
          <p:cNvPr id="12" name="Rechteck 11"/>
          <p:cNvSpPr/>
          <p:nvPr userDrawn="1"/>
        </p:nvSpPr>
        <p:spPr>
          <a:xfrm>
            <a:off x="378700" y="4836630"/>
            <a:ext cx="5346700" cy="1954349"/>
          </a:xfrm>
          <a:prstGeom prst="rect">
            <a:avLst/>
          </a:prstGeom>
        </p:spPr>
        <p:txBody>
          <a:bodyPr lIns="91408" tIns="45704" rIns="91408" bIns="45704">
            <a:spAutoFit/>
          </a:bodyPr>
          <a:lstStyle/>
          <a:p>
            <a:pPr defTabSz="1042688"/>
            <a:r>
              <a:rPr lang="de-DE" sz="1000" b="1" dirty="0">
                <a:solidFill>
                  <a:schemeClr val="tx2"/>
                </a:solidFill>
              </a:rPr>
              <a:t>Metzler Corporate Finance</a:t>
            </a:r>
          </a:p>
          <a:p>
            <a:pPr defTabSz="1042688"/>
            <a:endParaRPr lang="de-DE" sz="1000" b="1" dirty="0">
              <a:solidFill>
                <a:schemeClr val="tx2"/>
              </a:solidFill>
            </a:endParaRPr>
          </a:p>
          <a:p>
            <a:pPr defTabSz="1042688"/>
            <a:r>
              <a:rPr lang="de-DE" sz="1000" b="1" dirty="0">
                <a:solidFill>
                  <a:schemeClr val="tx2"/>
                </a:solidFill>
              </a:rPr>
              <a:t>B. Metzler GmbH</a:t>
            </a:r>
          </a:p>
          <a:p>
            <a:pPr defTabSz="1042688"/>
            <a:r>
              <a:rPr lang="de-DE" sz="1000" b="1" dirty="0">
                <a:solidFill>
                  <a:schemeClr val="tx2"/>
                </a:solidFill>
              </a:rPr>
              <a:t>Untermainanlage 1</a:t>
            </a:r>
          </a:p>
          <a:p>
            <a:pPr defTabSz="1042688"/>
            <a:r>
              <a:rPr lang="de-DE" sz="1000" b="1" dirty="0">
                <a:solidFill>
                  <a:schemeClr val="tx2"/>
                </a:solidFill>
              </a:rPr>
              <a:t>60329 Frankfurt/Main</a:t>
            </a:r>
          </a:p>
          <a:p>
            <a:pPr defTabSz="1042688"/>
            <a:r>
              <a:rPr lang="de-DE" sz="1000" b="1" dirty="0">
                <a:solidFill>
                  <a:schemeClr val="tx2"/>
                </a:solidFill>
              </a:rPr>
              <a:t>Germany</a:t>
            </a:r>
          </a:p>
          <a:p>
            <a:pPr defTabSz="1042688"/>
            <a:r>
              <a:rPr lang="de-DE" sz="1000" b="1" dirty="0">
                <a:solidFill>
                  <a:schemeClr val="tx2"/>
                </a:solidFill>
              </a:rPr>
              <a:t>Phone (+49 69) 21 04</a:t>
            </a:r>
            <a:r>
              <a:rPr lang="de-DE" sz="300" b="1" dirty="0">
                <a:solidFill>
                  <a:schemeClr val="tx2"/>
                </a:solidFill>
              </a:rPr>
              <a:t> </a:t>
            </a:r>
            <a:r>
              <a:rPr lang="de-DE" sz="1000" b="1" dirty="0">
                <a:solidFill>
                  <a:schemeClr val="tx2"/>
                </a:solidFill>
              </a:rPr>
              <a:t>-</a:t>
            </a:r>
            <a:r>
              <a:rPr lang="de-DE" sz="300" b="1" dirty="0">
                <a:solidFill>
                  <a:schemeClr val="tx2"/>
                </a:solidFill>
              </a:rPr>
              <a:t> </a:t>
            </a:r>
            <a:r>
              <a:rPr lang="de-DE" sz="1000" b="1" dirty="0">
                <a:solidFill>
                  <a:schemeClr val="tx2"/>
                </a:solidFill>
              </a:rPr>
              <a:t>44 44</a:t>
            </a:r>
          </a:p>
          <a:p>
            <a:pPr defTabSz="1042688"/>
            <a:r>
              <a:rPr lang="de-DE" sz="1000" b="1" dirty="0">
                <a:solidFill>
                  <a:schemeClr val="tx2"/>
                </a:solidFill>
              </a:rPr>
              <a:t>Fax (+49 69) 29 26 50</a:t>
            </a:r>
          </a:p>
          <a:p>
            <a:pPr defTabSz="1042688"/>
            <a:r>
              <a:rPr lang="de-DE" sz="1000" b="1" dirty="0" err="1">
                <a:solidFill>
                  <a:schemeClr val="tx2"/>
                </a:solidFill>
              </a:rPr>
              <a:t>E-mail</a:t>
            </a:r>
            <a:r>
              <a:rPr lang="de-DE" sz="1000" b="1" dirty="0">
                <a:solidFill>
                  <a:schemeClr val="tx2"/>
                </a:solidFill>
              </a:rPr>
              <a:t> Corporate_Finance@metzler.com</a:t>
            </a:r>
          </a:p>
          <a:p>
            <a:pPr defTabSz="1042688"/>
            <a:r>
              <a:rPr lang="de-DE" sz="1000" b="1" dirty="0">
                <a:solidFill>
                  <a:schemeClr val="tx2"/>
                </a:solidFill>
              </a:rPr>
              <a:t>www.metzler.com</a:t>
            </a:r>
          </a:p>
          <a:p>
            <a:pPr defTabSz="1042688"/>
            <a:endParaRPr lang="de-DE" b="1" dirty="0">
              <a:solidFill>
                <a:schemeClr val="tx2"/>
              </a:solidFill>
            </a:endParaRPr>
          </a:p>
        </p:txBody>
      </p:sp>
      <p:sp>
        <p:nvSpPr>
          <p:cNvPr id="8"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3"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4" name="Textplatzhalter 5"/>
          <p:cNvSpPr>
            <a:spLocks noGrp="1"/>
          </p:cNvSpPr>
          <p:nvPr>
            <p:ph type="body" sz="quarter" idx="13" hasCustomPrompt="1"/>
          </p:nvPr>
        </p:nvSpPr>
        <p:spPr>
          <a:xfrm>
            <a:off x="378700" y="233868"/>
            <a:ext cx="9936000" cy="216000"/>
          </a:xfrm>
        </p:spPr>
        <p:txBody>
          <a:bodyPr anchor="t" anchorCtr="0"/>
          <a:lstStyle>
            <a:lvl1pPr marL="0" indent="0">
              <a:buFontTx/>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5" name="Titel 1"/>
          <p:cNvSpPr txBox="1">
            <a:spLocks/>
          </p:cNvSpPr>
          <p:nvPr userDrawn="1"/>
        </p:nvSpPr>
        <p:spPr>
          <a:xfrm>
            <a:off x="378700" y="450279"/>
            <a:ext cx="9936000" cy="720000"/>
          </a:xfrm>
          <a:prstGeom prst="rect">
            <a:avLst/>
          </a:prstGeom>
        </p:spPr>
        <p:txBody>
          <a:bodyPr vert="horz" lIns="0" tIns="0" rIns="0" bIns="0" rtlCol="0" anchor="t">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r>
              <a:rPr lang="de-DE" dirty="0"/>
              <a:t>Disclaimer</a:t>
            </a:r>
          </a:p>
        </p:txBody>
      </p:sp>
    </p:spTree>
    <p:extLst>
      <p:ext uri="{BB962C8B-B14F-4D97-AF65-F5344CB8AC3E}">
        <p14:creationId xmlns:p14="http://schemas.microsoft.com/office/powerpoint/2010/main" val="1321472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0CA1DC0-A297-4519-AB8F-5E1F0CAA645D}"/>
              </a:ext>
            </a:extLst>
          </p:cNvPr>
          <p:cNvGraphicFramePr>
            <a:graphicFrameLocks/>
          </p:cNvGraphicFramePr>
          <p:nvPr userDrawn="1">
            <p:custDataLst>
              <p:tags r:id="rId15"/>
            </p:custDataLst>
            <p:extLst>
              <p:ext uri="{D42A27DB-BD31-4B8C-83A1-F6EECF244321}">
                <p14:modId xmlns:p14="http://schemas.microsoft.com/office/powerpoint/2010/main" val="23914593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286" imgH="286" progId="TCLayout.ActiveDocument.1">
                  <p:embed/>
                </p:oleObj>
              </mc:Choice>
              <mc:Fallback>
                <p:oleObj name="think-cell Slide" r:id="rId16" imgW="286" imgH="286" progId="TCLayout.ActiveDocument.1">
                  <p:embed/>
                  <p:pic>
                    <p:nvPicPr>
                      <p:cNvPr id="0" name=""/>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a:xfrm>
            <a:off x="378700" y="450279"/>
            <a:ext cx="9936000" cy="720000"/>
          </a:xfrm>
          <a:prstGeom prst="rect">
            <a:avLst/>
          </a:prstGeom>
        </p:spPr>
        <p:txBody>
          <a:bodyPr vert="horz" lIns="0" tIns="0" rIns="0" bIns="0" rtlCol="0" anchor="t">
            <a:noAutofit/>
          </a:bodyPr>
          <a:lstStyle/>
          <a:p>
            <a:r>
              <a:rPr lang="de-DE" dirty="0"/>
              <a:t>Titelmasterformat durch Klicken bearbeiten</a:t>
            </a:r>
            <a:br>
              <a:rPr lang="de-DE" dirty="0"/>
            </a:br>
            <a:endParaRPr lang="de-DE" dirty="0"/>
          </a:p>
        </p:txBody>
      </p:sp>
      <p:sp>
        <p:nvSpPr>
          <p:cNvPr id="3" name="Textplatzhalter 2"/>
          <p:cNvSpPr>
            <a:spLocks noGrp="1"/>
          </p:cNvSpPr>
          <p:nvPr>
            <p:ph type="body" idx="1"/>
          </p:nvPr>
        </p:nvSpPr>
        <p:spPr>
          <a:xfrm>
            <a:off x="378700" y="1620000"/>
            <a:ext cx="9936000" cy="5040000"/>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p:txBody>
      </p:sp>
      <p:pic>
        <p:nvPicPr>
          <p:cNvPr id="8" name="Picture 3" descr="W:\UKOMM\SHARED\LOGOS\Metzler\RGB_Blau\png\MetzlerCF_RGB_Blau (2).png"/>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875500" y="6890314"/>
            <a:ext cx="1414462" cy="360362"/>
          </a:xfrm>
          <a:prstGeom prst="rect">
            <a:avLst/>
          </a:prstGeom>
          <a:noFill/>
          <a:extLst>
            <a:ext uri="{909E8E84-426E-40DD-AFC4-6F175D3DCCD1}">
              <a14:hiddenFill xmlns:a14="http://schemas.microsoft.com/office/drawing/2010/main">
                <a:solidFill>
                  <a:srgbClr val="FFFFFF"/>
                </a:solidFill>
              </a14:hiddenFill>
            </a:ext>
          </a:extLst>
        </p:spPr>
      </p:pic>
      <p:sp>
        <p:nvSpPr>
          <p:cNvPr id="9" name="Line 58"/>
          <p:cNvSpPr>
            <a:spLocks noChangeShapeType="1"/>
          </p:cNvSpPr>
          <p:nvPr/>
        </p:nvSpPr>
        <p:spPr bwMode="auto">
          <a:xfrm>
            <a:off x="378700" y="7078891"/>
            <a:ext cx="83700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0" name="Line 58"/>
          <p:cNvSpPr>
            <a:spLocks noChangeShapeType="1"/>
          </p:cNvSpPr>
          <p:nvPr/>
        </p:nvSpPr>
        <p:spPr bwMode="auto">
          <a:xfrm>
            <a:off x="10113100" y="7078891"/>
            <a:ext cx="2016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6" name="Rechteck 5"/>
          <p:cNvSpPr/>
          <p:nvPr/>
        </p:nvSpPr>
        <p:spPr>
          <a:xfrm>
            <a:off x="8875500" y="7070495"/>
            <a:ext cx="1159088"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Line 58"/>
          <p:cNvSpPr>
            <a:spLocks noChangeShapeType="1"/>
          </p:cNvSpPr>
          <p:nvPr/>
        </p:nvSpPr>
        <p:spPr bwMode="auto">
          <a:xfrm>
            <a:off x="8875499" y="7078891"/>
            <a:ext cx="1109081"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2" name="Textfeld 11"/>
          <p:cNvSpPr txBox="1"/>
          <p:nvPr userDrawn="1"/>
        </p:nvSpPr>
        <p:spPr>
          <a:xfrm>
            <a:off x="381619" y="7128798"/>
            <a:ext cx="206788" cy="123111"/>
          </a:xfrm>
          <a:prstGeom prst="rect">
            <a:avLst/>
          </a:prstGeom>
          <a:noFill/>
          <a:ln>
            <a:noFill/>
          </a:ln>
          <a:effectLst/>
        </p:spPr>
        <p:txBody>
          <a:bodyPr wrap="none" lIns="0" tIns="0" rIns="0" bIns="0" anchor="b" anchorCtr="0">
            <a:spAutoFit/>
          </a:bodyPr>
          <a:lstStyle>
            <a:defPPr>
              <a:defRPr lang="de-DE"/>
            </a:defPPr>
            <a:lvl1pPr defTabSz="863294" eaLnBrk="0" fontAlgn="base" hangingPunct="0">
              <a:spcBef>
                <a:spcPct val="0"/>
              </a:spcBef>
              <a:spcAft>
                <a:spcPct val="0"/>
              </a:spcAft>
              <a:buSzPct val="95000"/>
              <a:defRPr sz="800" baseline="0">
                <a:solidFill>
                  <a:schemeClr val="bg2"/>
                </a:solidFill>
                <a:latin typeface="Univers for Metzler Light" pitchFamily="34" charset="0"/>
              </a:defRPr>
            </a:lvl1pPr>
          </a:lstStyle>
          <a:p>
            <a:fld id="{69DC22A3-4BBA-427E-990E-76363AFABCED}" type="slidenum">
              <a:rPr lang="de-DE" sz="800" kern="0" smtClean="0">
                <a:solidFill>
                  <a:schemeClr val="tx1"/>
                </a:solidFill>
                <a:latin typeface="+mj-lt"/>
              </a:rPr>
              <a:pPr/>
              <a:t>‹#›</a:t>
            </a:fld>
            <a:endParaRPr lang="de-DE" sz="800" kern="0" dirty="0">
              <a:solidFill>
                <a:schemeClr val="tx1"/>
              </a:solidFill>
              <a:latin typeface="+mj-lt"/>
            </a:endParaRPr>
          </a:p>
        </p:txBody>
      </p:sp>
    </p:spTree>
    <p:extLst>
      <p:ext uri="{BB962C8B-B14F-4D97-AF65-F5344CB8AC3E}">
        <p14:creationId xmlns:p14="http://schemas.microsoft.com/office/powerpoint/2010/main" val="13307270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64" r:id="rId3"/>
    <p:sldLayoutId id="2147483690" r:id="rId4"/>
    <p:sldLayoutId id="2147483682" r:id="rId5"/>
    <p:sldLayoutId id="2147483667" r:id="rId6"/>
    <p:sldLayoutId id="2147483679" r:id="rId7"/>
    <p:sldLayoutId id="2147483683" r:id="rId8"/>
    <p:sldLayoutId id="2147483685" r:id="rId9"/>
    <p:sldLayoutId id="2147483687" r:id="rId10"/>
    <p:sldLayoutId id="2147483688" r:id="rId11"/>
    <p:sldLayoutId id="2147483689" r:id="rId12"/>
    <p:sldLayoutId id="2147483684" r:id="rId13"/>
  </p:sldLayoutIdLst>
  <p:txStyles>
    <p:titleStyle>
      <a:lvl1pPr algn="l" defTabSz="1043056" rtl="0" eaLnBrk="1" latinLnBrk="0" hangingPunct="1">
        <a:spcBef>
          <a:spcPct val="0"/>
        </a:spcBef>
        <a:buNone/>
        <a:defRPr sz="2000" b="1" kern="1200">
          <a:solidFill>
            <a:schemeClr val="tx1"/>
          </a:solidFill>
          <a:latin typeface="+mj-lt"/>
          <a:ea typeface="+mj-ea"/>
          <a:cs typeface="+mj-cs"/>
        </a:defRPr>
      </a:lvl1pPr>
    </p:titleStyle>
    <p:body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368" userDrawn="1">
          <p15:clr>
            <a:srgbClr val="F26B43"/>
          </p15:clr>
        </p15:guide>
        <p15:guide id="3" pos="6498" userDrawn="1">
          <p15:clr>
            <a:srgbClr val="F26B43"/>
          </p15:clr>
        </p15:guide>
        <p15:guide id="4" pos="238" userDrawn="1">
          <p15:clr>
            <a:srgbClr val="F26B43"/>
          </p15:clr>
        </p15:guide>
        <p15:guide id="5" orient="horz" pos="4287" userDrawn="1">
          <p15:clr>
            <a:srgbClr val="F26B43"/>
          </p15:clr>
        </p15:guide>
        <p15:guide id="6" orient="horz" pos="102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6.png"/><Relationship Id="rId2" Type="http://schemas.openxmlformats.org/officeDocument/2006/relationships/slideLayout" Target="../slideLayouts/slideLayout3.xml"/><Relationship Id="rId1" Type="http://schemas.openxmlformats.org/officeDocument/2006/relationships/tags" Target="../tags/tag3.xml"/><Relationship Id="rId6" Type="http://schemas.openxmlformats.org/officeDocument/2006/relationships/image" Target="../media/image2.png"/><Relationship Id="rId5" Type="http://schemas.openxmlformats.org/officeDocument/2006/relationships/image" Target="../media/image5.jp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tags" Target="../tags/tag4.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5.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5.png"/><Relationship Id="rId3" Type="http://schemas.openxmlformats.org/officeDocument/2006/relationships/oleObject" Target="../embeddings/oleObject5.bin"/><Relationship Id="rId7" Type="http://schemas.openxmlformats.org/officeDocument/2006/relationships/image" Target="../media/image10.jpeg"/><Relationship Id="rId12" Type="http://schemas.openxmlformats.org/officeDocument/2006/relationships/image" Target="../media/image14.svg"/><Relationship Id="rId2" Type="http://schemas.openxmlformats.org/officeDocument/2006/relationships/slideLayout" Target="../slideLayouts/slideLayout7.xml"/><Relationship Id="rId1" Type="http://schemas.openxmlformats.org/officeDocument/2006/relationships/tags" Target="../tags/tag6.xml"/><Relationship Id="rId6" Type="http://schemas.openxmlformats.org/officeDocument/2006/relationships/image" Target="../media/image9.jpeg"/><Relationship Id="rId11" Type="http://schemas.openxmlformats.org/officeDocument/2006/relationships/image" Target="../media/image13.png"/><Relationship Id="rId5" Type="http://schemas.openxmlformats.org/officeDocument/2006/relationships/image" Target="../media/image8.jpeg"/><Relationship Id="rId10" Type="http://schemas.openxmlformats.org/officeDocument/2006/relationships/image" Target="../media/image2.png"/><Relationship Id="rId4" Type="http://schemas.openxmlformats.org/officeDocument/2006/relationships/image" Target="../media/image7.emf"/><Relationship Id="rId9" Type="http://schemas.openxmlformats.org/officeDocument/2006/relationships/image" Target="../media/image12.svg"/><Relationship Id="rId14" Type="http://schemas.openxmlformats.org/officeDocument/2006/relationships/image" Target="../media/image16.sv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oleObject" Target="../embeddings/oleObject6.bin"/><Relationship Id="rId21" Type="http://schemas.openxmlformats.org/officeDocument/2006/relationships/image" Target="../media/image34.png"/><Relationship Id="rId7" Type="http://schemas.openxmlformats.org/officeDocument/2006/relationships/image" Target="../media/image20.png"/><Relationship Id="rId12" Type="http://schemas.openxmlformats.org/officeDocument/2006/relationships/image" Target="../media/image25.emf"/><Relationship Id="rId17" Type="http://schemas.openxmlformats.org/officeDocument/2006/relationships/image" Target="../media/image30.png"/><Relationship Id="rId2" Type="http://schemas.openxmlformats.org/officeDocument/2006/relationships/slideLayout" Target="../slideLayouts/slideLayout7.xml"/><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tags" Target="../tags/tag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7.emf"/><Relationship Id="rId9" Type="http://schemas.openxmlformats.org/officeDocument/2006/relationships/image" Target="../media/image22.png"/><Relationship Id="rId14"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tags" Target="../tags/tag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tags" Target="../tags/tag9.xml"/><Relationship Id="rId6" Type="http://schemas.openxmlformats.org/officeDocument/2006/relationships/image" Target="../media/image29.png"/><Relationship Id="rId5" Type="http://schemas.openxmlformats.org/officeDocument/2006/relationships/image" Target="../media/image37.jpeg"/><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tags" Target="../tags/tag10.xml"/><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tags" Target="../tags/tag11.xml"/><Relationship Id="rId4" Type="http://schemas.openxmlformats.org/officeDocument/2006/relationships/image" Target="../media/image38.emf"/></Relationships>
</file>

<file path=ppt/slides/_rels/slide10.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slideLayout" Target="../slideLayouts/slideLayout7.xml"/><Relationship Id="rId18" Type="http://schemas.openxmlformats.org/officeDocument/2006/relationships/chart" Target="../charts/chart1.xml"/><Relationship Id="rId3" Type="http://schemas.openxmlformats.org/officeDocument/2006/relationships/tags" Target="../tags/tag14.xml"/><Relationship Id="rId21" Type="http://schemas.openxmlformats.org/officeDocument/2006/relationships/image" Target="../media/image43.jpg"/><Relationship Id="rId7" Type="http://schemas.openxmlformats.org/officeDocument/2006/relationships/tags" Target="../tags/tag18.xml"/><Relationship Id="rId12" Type="http://schemas.openxmlformats.org/officeDocument/2006/relationships/tags" Target="../tags/tag23.xml"/><Relationship Id="rId17" Type="http://schemas.openxmlformats.org/officeDocument/2006/relationships/image" Target="../media/image40.jpg"/><Relationship Id="rId2" Type="http://schemas.openxmlformats.org/officeDocument/2006/relationships/tags" Target="../tags/tag13.xml"/><Relationship Id="rId16" Type="http://schemas.openxmlformats.org/officeDocument/2006/relationships/image" Target="../media/image39.jpeg"/><Relationship Id="rId20" Type="http://schemas.openxmlformats.org/officeDocument/2006/relationships/image" Target="../media/image42.jpg"/><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5" Type="http://schemas.openxmlformats.org/officeDocument/2006/relationships/tags" Target="../tags/tag16.xml"/><Relationship Id="rId15" Type="http://schemas.openxmlformats.org/officeDocument/2006/relationships/image" Target="../media/image38.emf"/><Relationship Id="rId10" Type="http://schemas.openxmlformats.org/officeDocument/2006/relationships/tags" Target="../tags/tag21.xml"/><Relationship Id="rId19" Type="http://schemas.openxmlformats.org/officeDocument/2006/relationships/image" Target="../media/image41.jpg"/><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oleObject" Target="../embeddings/oleObject11.bin"/><Relationship Id="rId22" Type="http://schemas.openxmlformats.org/officeDocument/2006/relationships/image" Target="../media/image44.jpg"/></Relationships>
</file>

<file path=ppt/slides/_rels/slide11.xml.rels><?xml version="1.0" encoding="UTF-8" standalone="yes"?>
<Relationships xmlns="http://schemas.openxmlformats.org/package/2006/relationships"><Relationship Id="rId13" Type="http://schemas.openxmlformats.org/officeDocument/2006/relationships/tags" Target="../tags/tag36.xml"/><Relationship Id="rId18" Type="http://schemas.openxmlformats.org/officeDocument/2006/relationships/tags" Target="../tags/tag41.xml"/><Relationship Id="rId26" Type="http://schemas.openxmlformats.org/officeDocument/2006/relationships/tags" Target="../tags/tag49.xml"/><Relationship Id="rId39" Type="http://schemas.openxmlformats.org/officeDocument/2006/relationships/tags" Target="../tags/tag62.xml"/><Relationship Id="rId21" Type="http://schemas.openxmlformats.org/officeDocument/2006/relationships/tags" Target="../tags/tag44.xml"/><Relationship Id="rId34" Type="http://schemas.openxmlformats.org/officeDocument/2006/relationships/tags" Target="../tags/tag57.xml"/><Relationship Id="rId42" Type="http://schemas.openxmlformats.org/officeDocument/2006/relationships/tags" Target="../tags/tag65.xml"/><Relationship Id="rId47" Type="http://schemas.openxmlformats.org/officeDocument/2006/relationships/slideLayout" Target="../slideLayouts/slideLayout8.xml"/><Relationship Id="rId50" Type="http://schemas.openxmlformats.org/officeDocument/2006/relationships/image" Target="../media/image17.emf"/><Relationship Id="rId7" Type="http://schemas.openxmlformats.org/officeDocument/2006/relationships/tags" Target="../tags/tag30.xml"/><Relationship Id="rId2" Type="http://schemas.openxmlformats.org/officeDocument/2006/relationships/tags" Target="../tags/tag25.xml"/><Relationship Id="rId16" Type="http://schemas.openxmlformats.org/officeDocument/2006/relationships/tags" Target="../tags/tag39.xml"/><Relationship Id="rId29" Type="http://schemas.openxmlformats.org/officeDocument/2006/relationships/tags" Target="../tags/tag52.xml"/><Relationship Id="rId11" Type="http://schemas.openxmlformats.org/officeDocument/2006/relationships/tags" Target="../tags/tag34.xml"/><Relationship Id="rId24" Type="http://schemas.openxmlformats.org/officeDocument/2006/relationships/tags" Target="../tags/tag47.xml"/><Relationship Id="rId32" Type="http://schemas.openxmlformats.org/officeDocument/2006/relationships/tags" Target="../tags/tag55.xml"/><Relationship Id="rId37" Type="http://schemas.openxmlformats.org/officeDocument/2006/relationships/tags" Target="../tags/tag60.xml"/><Relationship Id="rId40" Type="http://schemas.openxmlformats.org/officeDocument/2006/relationships/tags" Target="../tags/tag63.xml"/><Relationship Id="rId45" Type="http://schemas.openxmlformats.org/officeDocument/2006/relationships/tags" Target="../tags/tag68.xml"/><Relationship Id="rId53" Type="http://schemas.openxmlformats.org/officeDocument/2006/relationships/chart" Target="../charts/chart4.xml"/><Relationship Id="rId5" Type="http://schemas.openxmlformats.org/officeDocument/2006/relationships/tags" Target="../tags/tag28.xml"/><Relationship Id="rId10" Type="http://schemas.openxmlformats.org/officeDocument/2006/relationships/tags" Target="../tags/tag33.xml"/><Relationship Id="rId19" Type="http://schemas.openxmlformats.org/officeDocument/2006/relationships/tags" Target="../tags/tag42.xml"/><Relationship Id="rId31" Type="http://schemas.openxmlformats.org/officeDocument/2006/relationships/tags" Target="../tags/tag54.xml"/><Relationship Id="rId44" Type="http://schemas.openxmlformats.org/officeDocument/2006/relationships/tags" Target="../tags/tag67.xml"/><Relationship Id="rId52" Type="http://schemas.openxmlformats.org/officeDocument/2006/relationships/chart" Target="../charts/chart3.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37.xml"/><Relationship Id="rId22" Type="http://schemas.openxmlformats.org/officeDocument/2006/relationships/tags" Target="../tags/tag45.xml"/><Relationship Id="rId27" Type="http://schemas.openxmlformats.org/officeDocument/2006/relationships/tags" Target="../tags/tag50.xml"/><Relationship Id="rId30" Type="http://schemas.openxmlformats.org/officeDocument/2006/relationships/tags" Target="../tags/tag53.xml"/><Relationship Id="rId35" Type="http://schemas.openxmlformats.org/officeDocument/2006/relationships/tags" Target="../tags/tag58.xml"/><Relationship Id="rId43" Type="http://schemas.openxmlformats.org/officeDocument/2006/relationships/tags" Target="../tags/tag66.xml"/><Relationship Id="rId48" Type="http://schemas.openxmlformats.org/officeDocument/2006/relationships/notesSlide" Target="../notesSlides/notesSlide1.xml"/><Relationship Id="rId8" Type="http://schemas.openxmlformats.org/officeDocument/2006/relationships/tags" Target="../tags/tag31.xml"/><Relationship Id="rId51" Type="http://schemas.openxmlformats.org/officeDocument/2006/relationships/chart" Target="../charts/chart2.xml"/><Relationship Id="rId3" Type="http://schemas.openxmlformats.org/officeDocument/2006/relationships/tags" Target="../tags/tag26.xml"/><Relationship Id="rId12" Type="http://schemas.openxmlformats.org/officeDocument/2006/relationships/tags" Target="../tags/tag35.xml"/><Relationship Id="rId17" Type="http://schemas.openxmlformats.org/officeDocument/2006/relationships/tags" Target="../tags/tag40.xml"/><Relationship Id="rId25" Type="http://schemas.openxmlformats.org/officeDocument/2006/relationships/tags" Target="../tags/tag48.xml"/><Relationship Id="rId33" Type="http://schemas.openxmlformats.org/officeDocument/2006/relationships/tags" Target="../tags/tag56.xml"/><Relationship Id="rId38" Type="http://schemas.openxmlformats.org/officeDocument/2006/relationships/tags" Target="../tags/tag61.xml"/><Relationship Id="rId46" Type="http://schemas.openxmlformats.org/officeDocument/2006/relationships/tags" Target="../tags/tag69.xml"/><Relationship Id="rId20" Type="http://schemas.openxmlformats.org/officeDocument/2006/relationships/tags" Target="../tags/tag43.xml"/><Relationship Id="rId41" Type="http://schemas.openxmlformats.org/officeDocument/2006/relationships/tags" Target="../tags/tag64.xml"/><Relationship Id="rId1" Type="http://schemas.openxmlformats.org/officeDocument/2006/relationships/tags" Target="../tags/tag24.xml"/><Relationship Id="rId6" Type="http://schemas.openxmlformats.org/officeDocument/2006/relationships/tags" Target="../tags/tag29.xml"/><Relationship Id="rId15" Type="http://schemas.openxmlformats.org/officeDocument/2006/relationships/tags" Target="../tags/tag38.xml"/><Relationship Id="rId23" Type="http://schemas.openxmlformats.org/officeDocument/2006/relationships/tags" Target="../tags/tag46.xml"/><Relationship Id="rId28" Type="http://schemas.openxmlformats.org/officeDocument/2006/relationships/tags" Target="../tags/tag51.xml"/><Relationship Id="rId36" Type="http://schemas.openxmlformats.org/officeDocument/2006/relationships/tags" Target="../tags/tag59.xml"/><Relationship Id="rId49" Type="http://schemas.openxmlformats.org/officeDocument/2006/relationships/oleObject" Target="../embeddings/oleObject12.bin"/></Relationships>
</file>

<file path=ppt/slides/_rels/slide12.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54.png"/><Relationship Id="rId3" Type="http://schemas.openxmlformats.org/officeDocument/2006/relationships/oleObject" Target="../embeddings/oleObject13.bin"/><Relationship Id="rId7" Type="http://schemas.openxmlformats.org/officeDocument/2006/relationships/image" Target="../media/image48.png"/><Relationship Id="rId12" Type="http://schemas.openxmlformats.org/officeDocument/2006/relationships/image" Target="../media/image53.svg"/><Relationship Id="rId2" Type="http://schemas.openxmlformats.org/officeDocument/2006/relationships/slideLayout" Target="../slideLayouts/slideLayout8.xml"/><Relationship Id="rId16" Type="http://schemas.openxmlformats.org/officeDocument/2006/relationships/image" Target="../media/image57.svg"/><Relationship Id="rId1" Type="http://schemas.openxmlformats.org/officeDocument/2006/relationships/tags" Target="../tags/tag70.xml"/><Relationship Id="rId6" Type="http://schemas.openxmlformats.org/officeDocument/2006/relationships/image" Target="../media/image47.sv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svg"/><Relationship Id="rId4" Type="http://schemas.openxmlformats.org/officeDocument/2006/relationships/image" Target="../media/image45.emf"/><Relationship Id="rId9" Type="http://schemas.openxmlformats.org/officeDocument/2006/relationships/image" Target="../media/image50.png"/><Relationship Id="rId14" Type="http://schemas.openxmlformats.org/officeDocument/2006/relationships/image" Target="../media/image55.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oleObject" Target="../embeddings/oleObject14.bin"/><Relationship Id="rId7" Type="http://schemas.openxmlformats.org/officeDocument/2006/relationships/image" Target="../media/image61.png"/><Relationship Id="rId2" Type="http://schemas.openxmlformats.org/officeDocument/2006/relationships/slideLayout" Target="../slideLayouts/slideLayout7.xml"/><Relationship Id="rId1" Type="http://schemas.openxmlformats.org/officeDocument/2006/relationships/tags" Target="../tags/tag71.xml"/><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emf"/></Relationships>
</file>

<file path=ppt/slides/_rels/slide1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svg"/><Relationship Id="rId3" Type="http://schemas.openxmlformats.org/officeDocument/2006/relationships/oleObject" Target="../embeddings/oleObject15.bin"/><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svg"/><Relationship Id="rId2" Type="http://schemas.openxmlformats.org/officeDocument/2006/relationships/slideLayout" Target="../slideLayouts/slideLayout7.xml"/><Relationship Id="rId16" Type="http://schemas.openxmlformats.org/officeDocument/2006/relationships/image" Target="../media/image74.png"/><Relationship Id="rId1" Type="http://schemas.openxmlformats.org/officeDocument/2006/relationships/tags" Target="../tags/tag72.xml"/><Relationship Id="rId6" Type="http://schemas.openxmlformats.org/officeDocument/2006/relationships/image" Target="../media/image64.jpeg"/><Relationship Id="rId11" Type="http://schemas.openxmlformats.org/officeDocument/2006/relationships/image" Target="../media/image69.svg"/><Relationship Id="rId5" Type="http://schemas.openxmlformats.org/officeDocument/2006/relationships/image" Target="../media/image63.png"/><Relationship Id="rId15" Type="http://schemas.openxmlformats.org/officeDocument/2006/relationships/image" Target="../media/image73.svg"/><Relationship Id="rId10" Type="http://schemas.openxmlformats.org/officeDocument/2006/relationships/image" Target="../media/image68.png"/><Relationship Id="rId4" Type="http://schemas.openxmlformats.org/officeDocument/2006/relationships/image" Target="../media/image17.emf"/><Relationship Id="rId9" Type="http://schemas.openxmlformats.org/officeDocument/2006/relationships/image" Target="../media/image67.svg"/><Relationship Id="rId14" Type="http://schemas.openxmlformats.org/officeDocument/2006/relationships/image" Target="../media/image72.png"/></Relationships>
</file>

<file path=ppt/slides/_rels/slide16.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oleObject" Target="../embeddings/oleObject16.bin"/><Relationship Id="rId7" Type="http://schemas.openxmlformats.org/officeDocument/2006/relationships/image" Target="../media/image78.png"/><Relationship Id="rId2" Type="http://schemas.openxmlformats.org/officeDocument/2006/relationships/slideLayout" Target="../slideLayouts/slideLayout7.xml"/><Relationship Id="rId1" Type="http://schemas.openxmlformats.org/officeDocument/2006/relationships/tags" Target="../tags/tag73.xml"/><Relationship Id="rId6" Type="http://schemas.openxmlformats.org/officeDocument/2006/relationships/image" Target="../media/image77.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17.emf"/><Relationship Id="rId9" Type="http://schemas.openxmlformats.org/officeDocument/2006/relationships/image" Target="../media/image8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E088306D-16D9-4CF0-BB97-2EE625D20E32}"/>
              </a:ext>
            </a:extLst>
          </p:cNvPr>
          <p:cNvGraphicFramePr>
            <a:graphicFrameLocks/>
          </p:cNvGraphicFramePr>
          <p:nvPr>
            <p:custDataLst>
              <p:tags r:id="rId1"/>
            </p:custDataLst>
            <p:extLst>
              <p:ext uri="{D42A27DB-BD31-4B8C-83A1-F6EECF244321}">
                <p14:modId xmlns:p14="http://schemas.microsoft.com/office/powerpoint/2010/main" val="37799567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1" name="Object 10" hidden="1">
                        <a:extLst>
                          <a:ext uri="{FF2B5EF4-FFF2-40B4-BE49-F238E27FC236}">
                            <a16:creationId xmlns:a16="http://schemas.microsoft.com/office/drawing/2014/main" id="{E088306D-16D9-4CF0-BB97-2EE625D20E3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26" name="Picture 2">
            <a:extLst>
              <a:ext uri="{FF2B5EF4-FFF2-40B4-BE49-F238E27FC236}">
                <a16:creationId xmlns:a16="http://schemas.microsoft.com/office/drawing/2014/main" id="{70042AFD-820B-35A7-7DAC-CA417482C344}"/>
              </a:ext>
            </a:extLst>
          </p:cNvPr>
          <p:cNvPicPr>
            <a:picLocks noChangeAspect="1" noChangeArrowheads="1"/>
          </p:cNvPicPr>
          <p:nvPr/>
        </p:nvPicPr>
        <p:blipFill>
          <a:blip r:embed="rId5"/>
          <a:srcRect l="6233" r="6233"/>
          <a:stretch/>
        </p:blipFill>
        <p:spPr bwMode="auto">
          <a:xfrm>
            <a:off x="1" y="0"/>
            <a:ext cx="10693400" cy="8144203"/>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p:cNvSpPr/>
          <p:nvPr/>
        </p:nvSpPr>
        <p:spPr>
          <a:xfrm>
            <a:off x="276857" y="778598"/>
            <a:ext cx="10225135" cy="655272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el 3"/>
          <p:cNvSpPr>
            <a:spLocks noGrp="1"/>
          </p:cNvSpPr>
          <p:nvPr>
            <p:ph type="title"/>
          </p:nvPr>
        </p:nvSpPr>
        <p:spPr>
          <a:xfrm>
            <a:off x="756708" y="1867613"/>
            <a:ext cx="9324000" cy="653097"/>
          </a:xfrm>
          <a:noFill/>
        </p:spPr>
        <p:txBody>
          <a:bodyPr vert="horz" rIns="0"/>
          <a:lstStyle/>
          <a:p>
            <a:r>
              <a:rPr lang="de-DE" dirty="0"/>
              <a:t>Catch-</a:t>
            </a:r>
            <a:r>
              <a:rPr lang="de-DE" dirty="0" err="1"/>
              <a:t>up</a:t>
            </a:r>
            <a:r>
              <a:rPr lang="de-DE" dirty="0"/>
              <a:t>: Überlegungen zur Einbindung privater Investoren und Diskussion Wachstumsoptionen</a:t>
            </a:r>
          </a:p>
        </p:txBody>
      </p:sp>
      <p:sp>
        <p:nvSpPr>
          <p:cNvPr id="5" name="Textplatzhalter 4"/>
          <p:cNvSpPr>
            <a:spLocks noGrp="1"/>
          </p:cNvSpPr>
          <p:nvPr>
            <p:ph type="body" sz="quarter" idx="15"/>
          </p:nvPr>
        </p:nvSpPr>
        <p:spPr>
          <a:xfrm>
            <a:off x="756708" y="3296014"/>
            <a:ext cx="9324000" cy="543064"/>
          </a:xfrm>
          <a:noFill/>
        </p:spPr>
        <p:txBody>
          <a:bodyPr/>
          <a:lstStyle/>
          <a:p>
            <a:r>
              <a:rPr lang="en-US" b="0" dirty="0"/>
              <a:t>Herr Carsten Liedtke, Sprecher des </a:t>
            </a:r>
            <a:r>
              <a:rPr lang="en-US" b="0" dirty="0" err="1"/>
              <a:t>Vorstands</a:t>
            </a:r>
            <a:r>
              <a:rPr lang="en-US" b="0" dirty="0"/>
              <a:t>, SWK AG</a:t>
            </a:r>
          </a:p>
        </p:txBody>
      </p:sp>
      <p:sp>
        <p:nvSpPr>
          <p:cNvPr id="6" name="Textplatzhalter 5"/>
          <p:cNvSpPr>
            <a:spLocks noGrp="1"/>
          </p:cNvSpPr>
          <p:nvPr>
            <p:ph type="body" sz="quarter" idx="16"/>
          </p:nvPr>
        </p:nvSpPr>
        <p:spPr>
          <a:xfrm>
            <a:off x="684700" y="6156551"/>
            <a:ext cx="9324000" cy="504000"/>
          </a:xfrm>
          <a:noFill/>
        </p:spPr>
        <p:txBody>
          <a:bodyPr/>
          <a:lstStyle/>
          <a:p>
            <a:br>
              <a:rPr lang="de-DE" dirty="0"/>
            </a:br>
            <a:r>
              <a:rPr lang="de-DE" dirty="0"/>
              <a:t>Krefeld / Frankfurt am Main, 22. Juli 2026</a:t>
            </a:r>
          </a:p>
        </p:txBody>
      </p:sp>
      <p:sp>
        <p:nvSpPr>
          <p:cNvPr id="36" name="Line 58"/>
          <p:cNvSpPr>
            <a:spLocks noChangeShapeType="1"/>
          </p:cNvSpPr>
          <p:nvPr/>
        </p:nvSpPr>
        <p:spPr bwMode="auto">
          <a:xfrm>
            <a:off x="450708"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37" name="Titel 1"/>
          <p:cNvSpPr txBox="1">
            <a:spLocks/>
          </p:cNvSpPr>
          <p:nvPr/>
        </p:nvSpPr>
        <p:spPr>
          <a:xfrm>
            <a:off x="450708"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a:r>
              <a:rPr lang="de-DE" sz="1200" b="1" i="1" dirty="0">
                <a:solidFill>
                  <a:srgbClr val="003D7C"/>
                </a:solidFill>
              </a:rPr>
              <a:t>Streng vertraulich</a:t>
            </a:r>
          </a:p>
        </p:txBody>
      </p:sp>
      <p:grpSp>
        <p:nvGrpSpPr>
          <p:cNvPr id="16" name="Group 15"/>
          <p:cNvGrpSpPr/>
          <p:nvPr/>
        </p:nvGrpSpPr>
        <p:grpSpPr>
          <a:xfrm>
            <a:off x="450708" y="6890314"/>
            <a:ext cx="9936000" cy="360362"/>
            <a:chOff x="378700" y="6890314"/>
            <a:chExt cx="9936000" cy="360362"/>
          </a:xfrm>
        </p:grpSpPr>
        <p:sp>
          <p:nvSpPr>
            <p:cNvPr id="18" name="Line 58"/>
            <p:cNvSpPr>
              <a:spLocks noChangeShapeType="1"/>
            </p:cNvSpPr>
            <p:nvPr/>
          </p:nvSpPr>
          <p:spPr bwMode="auto">
            <a:xfrm>
              <a:off x="378700" y="7078891"/>
              <a:ext cx="83700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9" name="Line 58"/>
            <p:cNvSpPr>
              <a:spLocks noChangeShapeType="1"/>
            </p:cNvSpPr>
            <p:nvPr/>
          </p:nvSpPr>
          <p:spPr bwMode="auto">
            <a:xfrm>
              <a:off x="10113100" y="7078891"/>
              <a:ext cx="2016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20" name="Line 58"/>
            <p:cNvSpPr>
              <a:spLocks noChangeShapeType="1"/>
            </p:cNvSpPr>
            <p:nvPr/>
          </p:nvSpPr>
          <p:spPr bwMode="auto">
            <a:xfrm>
              <a:off x="8875499" y="7078891"/>
              <a:ext cx="1109081"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pic>
          <p:nvPicPr>
            <p:cNvPr id="21" name="Picture 3" descr="W:\UKOMM\SHARED\LOGOS\Metzler\RGB_Blau\png\MetzlerCF_RGB_Blau (2).png"/>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75500" y="6890314"/>
              <a:ext cx="1414462" cy="360362"/>
            </a:xfrm>
            <a:prstGeom prst="rect">
              <a:avLst/>
            </a:prstGeom>
            <a:noFill/>
            <a:extLst>
              <a:ext uri="{909E8E84-426E-40DD-AFC4-6F175D3DCCD1}">
                <a14:hiddenFill xmlns:a14="http://schemas.microsoft.com/office/drawing/2010/main">
                  <a:solidFill>
                    <a:srgbClr val="FFFFFF"/>
                  </a:solidFill>
                </a14:hiddenFill>
              </a:ext>
            </a:extLst>
          </p:spPr>
        </p:pic>
      </p:grpSp>
      <p:pic>
        <p:nvPicPr>
          <p:cNvPr id="2" name="Picture 1">
            <a:extLst>
              <a:ext uri="{FF2B5EF4-FFF2-40B4-BE49-F238E27FC236}">
                <a16:creationId xmlns:a16="http://schemas.microsoft.com/office/drawing/2014/main" id="{EA09CA5E-76C2-026E-6F36-697921F1E0EF}"/>
              </a:ext>
            </a:extLst>
          </p:cNvPr>
          <p:cNvPicPr>
            <a:picLocks noChangeAspect="1"/>
          </p:cNvPicPr>
          <p:nvPr/>
        </p:nvPicPr>
        <p:blipFill>
          <a:blip r:embed="rId7"/>
          <a:srcRect/>
          <a:stretch/>
        </p:blipFill>
        <p:spPr>
          <a:xfrm>
            <a:off x="756708" y="3983094"/>
            <a:ext cx="2757178" cy="1093681"/>
          </a:xfrm>
          <a:prstGeom prst="rect">
            <a:avLst/>
          </a:prstGeom>
        </p:spPr>
      </p:pic>
    </p:spTree>
    <p:extLst>
      <p:ext uri="{BB962C8B-B14F-4D97-AF65-F5344CB8AC3E}">
        <p14:creationId xmlns:p14="http://schemas.microsoft.com/office/powerpoint/2010/main" val="3451631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AE8885B2-4D3F-4431-A111-F6C5F0A8031E}"/>
              </a:ext>
            </a:extLst>
          </p:cNvPr>
          <p:cNvGraphicFramePr>
            <a:graphicFrameLocks/>
          </p:cNvGraphicFramePr>
          <p:nvPr>
            <p:custDataLst>
              <p:tags r:id="rId1"/>
            </p:custDataLst>
            <p:extLst>
              <p:ext uri="{D42A27DB-BD31-4B8C-83A1-F6EECF244321}">
                <p14:modId xmlns:p14="http://schemas.microsoft.com/office/powerpoint/2010/main" val="40748398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1" name="Object 10" hidden="1">
                        <a:extLst>
                          <a:ext uri="{FF2B5EF4-FFF2-40B4-BE49-F238E27FC236}">
                            <a16:creationId xmlns:a16="http://schemas.microsoft.com/office/drawing/2014/main" id="{AE8885B2-4D3F-4431-A111-F6C5F0A8031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BBF7336-3E5E-44A7-8725-58BC1C9D263D}"/>
              </a:ext>
            </a:extLst>
          </p:cNvPr>
          <p:cNvSpPr>
            <a:spLocks noGrp="1"/>
          </p:cNvSpPr>
          <p:nvPr>
            <p:ph type="body" sz="quarter" idx="14"/>
          </p:nvPr>
        </p:nvSpPr>
        <p:spPr>
          <a:xfrm>
            <a:off x="1674292" y="2050086"/>
            <a:ext cx="8643325" cy="4898897"/>
          </a:xfrm>
        </p:spPr>
        <p:txBody>
          <a:bodyPr/>
          <a:lstStyle/>
          <a:p>
            <a:r>
              <a:rPr lang="de-DE" dirty="0"/>
              <a:t>Metzler Corporate Finance – Update seit 2024</a:t>
            </a:r>
          </a:p>
          <a:p>
            <a:r>
              <a:rPr lang="de-DE" dirty="0"/>
              <a:t>Stadtwerke Krefeld – Übersicht und Herausforderungen</a:t>
            </a:r>
          </a:p>
          <a:p>
            <a:r>
              <a:rPr lang="de-DE" sz="1400" dirty="0"/>
              <a:t>Diskussion möglicher Handlungsoptionen</a:t>
            </a:r>
            <a:endParaRPr lang="de-DE" dirty="0"/>
          </a:p>
        </p:txBody>
      </p:sp>
      <p:sp>
        <p:nvSpPr>
          <p:cNvPr id="3" name="Text Placeholder 2">
            <a:extLst>
              <a:ext uri="{FF2B5EF4-FFF2-40B4-BE49-F238E27FC236}">
                <a16:creationId xmlns:a16="http://schemas.microsoft.com/office/drawing/2014/main" id="{81D2BF4D-D769-4E4F-983C-CB6630B2F637}"/>
              </a:ext>
            </a:extLst>
          </p:cNvPr>
          <p:cNvSpPr>
            <a:spLocks noGrp="1"/>
          </p:cNvSpPr>
          <p:nvPr>
            <p:ph type="body" sz="quarter" idx="15"/>
          </p:nvPr>
        </p:nvSpPr>
        <p:spPr>
          <a:xfrm>
            <a:off x="897413" y="2194060"/>
            <a:ext cx="469900" cy="380480"/>
          </a:xfrm>
        </p:spPr>
        <p:txBody>
          <a:bodyPr/>
          <a:lstStyle/>
          <a:p>
            <a:r>
              <a:rPr lang="de-DE" dirty="0"/>
              <a:t>1</a:t>
            </a:r>
          </a:p>
        </p:txBody>
      </p:sp>
      <p:sp>
        <p:nvSpPr>
          <p:cNvPr id="4" name="Title 3">
            <a:extLst>
              <a:ext uri="{FF2B5EF4-FFF2-40B4-BE49-F238E27FC236}">
                <a16:creationId xmlns:a16="http://schemas.microsoft.com/office/drawing/2014/main" id="{1371CAEA-6A41-46B2-B510-14BA12FA7ACC}"/>
              </a:ext>
            </a:extLst>
          </p:cNvPr>
          <p:cNvSpPr>
            <a:spLocks noGrp="1"/>
          </p:cNvSpPr>
          <p:nvPr>
            <p:ph type="title"/>
          </p:nvPr>
        </p:nvSpPr>
        <p:spPr/>
        <p:txBody>
          <a:bodyPr vert="horz"/>
          <a:lstStyle/>
          <a:p>
            <a:r>
              <a:rPr lang="de-DE" dirty="0"/>
              <a:t>Agenda</a:t>
            </a:r>
          </a:p>
        </p:txBody>
      </p:sp>
      <p:sp>
        <p:nvSpPr>
          <p:cNvPr id="5" name="Text Placeholder 4">
            <a:extLst>
              <a:ext uri="{FF2B5EF4-FFF2-40B4-BE49-F238E27FC236}">
                <a16:creationId xmlns:a16="http://schemas.microsoft.com/office/drawing/2014/main" id="{DA1F3027-6E3B-42FC-95A9-469CF6CBFC44}"/>
              </a:ext>
            </a:extLst>
          </p:cNvPr>
          <p:cNvSpPr>
            <a:spLocks noGrp="1"/>
          </p:cNvSpPr>
          <p:nvPr>
            <p:ph type="body" sz="quarter" idx="22"/>
          </p:nvPr>
        </p:nvSpPr>
        <p:spPr>
          <a:xfrm>
            <a:off x="897413" y="2802614"/>
            <a:ext cx="469900" cy="380480"/>
          </a:xfrm>
        </p:spPr>
        <p:txBody>
          <a:bodyPr/>
          <a:lstStyle/>
          <a:p>
            <a:r>
              <a:rPr lang="de-DE" dirty="0"/>
              <a:t>2</a:t>
            </a:r>
          </a:p>
        </p:txBody>
      </p:sp>
      <p:sp>
        <p:nvSpPr>
          <p:cNvPr id="6" name="Text Placeholder 4">
            <a:extLst>
              <a:ext uri="{FF2B5EF4-FFF2-40B4-BE49-F238E27FC236}">
                <a16:creationId xmlns:a16="http://schemas.microsoft.com/office/drawing/2014/main" id="{C108CCFE-A81A-0CA2-DB25-058F06CBB358}"/>
              </a:ext>
            </a:extLst>
          </p:cNvPr>
          <p:cNvSpPr txBox="1">
            <a:spLocks/>
          </p:cNvSpPr>
          <p:nvPr/>
        </p:nvSpPr>
        <p:spPr>
          <a:xfrm>
            <a:off x="897413" y="3408081"/>
            <a:ext cx="469900" cy="380480"/>
          </a:xfrm>
          <a:prstGeom prst="rect">
            <a:avLst/>
          </a:prstGeom>
          <a:solidFill>
            <a:srgbClr val="003D7C"/>
          </a:solidFill>
        </p:spPr>
        <p:txBody>
          <a:bodyPr vert="horz" wrap="square" lIns="36000" tIns="36000" rIns="36000" bIns="36000" rtlCol="0" anchor="t" anchorCtr="0">
            <a:spAutoFit/>
          </a:bodyPr>
          <a:lstStyle>
            <a:lvl1pPr marL="391146" indent="-391146" algn="ctr" defTabSz="1043056" rtl="0" eaLnBrk="1" latinLnBrk="0" hangingPunct="1">
              <a:spcBef>
                <a:spcPct val="20000"/>
              </a:spcBef>
              <a:buClr>
                <a:schemeClr val="accent1"/>
              </a:buClr>
              <a:buFontTx/>
              <a:buNone/>
              <a:tabLst/>
              <a:defRPr lang="de-DE" sz="2000" b="1" kern="1200" dirty="0" smtClean="0">
                <a:solidFill>
                  <a:schemeClr val="bg1"/>
                </a:solidFill>
                <a:latin typeface="+mj-lt"/>
                <a:ea typeface="+mj-ea"/>
                <a:cs typeface="+mj-cs"/>
              </a:defRPr>
            </a:lvl1pPr>
            <a:lvl2pPr marL="723900" indent="-368300" algn="l" defTabSz="1043056" rtl="0" eaLnBrk="1" latinLnBrk="0" hangingPunct="1">
              <a:spcBef>
                <a:spcPct val="20000"/>
              </a:spcBef>
              <a:buClr>
                <a:schemeClr val="accent1"/>
              </a:buClr>
              <a:buFont typeface="Arial" pitchFamily="34" charset="0"/>
              <a:buChar char="–"/>
              <a:defRPr lang="de-DE" sz="1600" b="1" kern="1200" dirty="0" smtClean="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lang="de-DE" sz="1600" b="1" kern="1200" dirty="0" smtClean="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lang="de-DE" sz="1600" b="1" kern="1200" dirty="0" smtClean="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lang="de-DE" sz="1600" b="1" kern="1200" dirty="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en-GB"/>
              <a:t>3</a:t>
            </a:r>
            <a:endParaRPr lang="en-GB" dirty="0"/>
          </a:p>
        </p:txBody>
      </p:sp>
    </p:spTree>
    <p:extLst>
      <p:ext uri="{BB962C8B-B14F-4D97-AF65-F5344CB8AC3E}">
        <p14:creationId xmlns:p14="http://schemas.microsoft.com/office/powerpoint/2010/main" val="3900190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8B534E2-9A22-4AF9-AEBA-6252401B1573}"/>
              </a:ext>
            </a:extLst>
          </p:cNvPr>
          <p:cNvGraphicFramePr>
            <a:graphicFrameLocks/>
          </p:cNvGraphicFramePr>
          <p:nvPr>
            <p:custDataLst>
              <p:tags r:id="rId1"/>
            </p:custDataLst>
            <p:extLst>
              <p:ext uri="{D42A27DB-BD31-4B8C-83A1-F6EECF244321}">
                <p14:modId xmlns:p14="http://schemas.microsoft.com/office/powerpoint/2010/main" val="21994228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ct 4" hidden="1">
                        <a:extLst>
                          <a:ext uri="{FF2B5EF4-FFF2-40B4-BE49-F238E27FC236}">
                            <a16:creationId xmlns:a16="http://schemas.microsoft.com/office/drawing/2014/main" id="{38B534E2-9A22-4AF9-AEBA-6252401B15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96A5FCF-3B5F-41C2-8E0B-887C24C71589}"/>
              </a:ext>
            </a:extLst>
          </p:cNvPr>
          <p:cNvSpPr>
            <a:spLocks noGrp="1"/>
          </p:cNvSpPr>
          <p:nvPr>
            <p:ph type="body" sz="quarter" idx="11"/>
          </p:nvPr>
        </p:nvSpPr>
        <p:spPr>
          <a:xfrm>
            <a:off x="381618" y="3616322"/>
            <a:ext cx="9861626" cy="2525713"/>
          </a:xfrm>
        </p:spPr>
        <p:txBody>
          <a:bodyPr vert="horz" lIns="0" tIns="0" rIns="0" bIns="0" rtlCol="0">
            <a:noAutofit/>
          </a:bodyPr>
          <a:lstStyle/>
          <a:p>
            <a:r>
              <a:rPr lang="de-DE" dirty="0"/>
              <a:t>Metzler Corporate Finance – Update seit 2024</a:t>
            </a:r>
          </a:p>
        </p:txBody>
      </p:sp>
      <p:sp>
        <p:nvSpPr>
          <p:cNvPr id="3" name="Text Placeholder 2">
            <a:extLst>
              <a:ext uri="{FF2B5EF4-FFF2-40B4-BE49-F238E27FC236}">
                <a16:creationId xmlns:a16="http://schemas.microsoft.com/office/drawing/2014/main" id="{A28E45DF-A7B5-49AB-A16F-D7962BAB6021}"/>
              </a:ext>
            </a:extLst>
          </p:cNvPr>
          <p:cNvSpPr>
            <a:spLocks noGrp="1"/>
          </p:cNvSpPr>
          <p:nvPr>
            <p:ph type="body" sz="quarter" idx="10"/>
          </p:nvPr>
        </p:nvSpPr>
        <p:spPr/>
        <p:txBody>
          <a:bodyPr/>
          <a:lstStyle/>
          <a:p>
            <a:r>
              <a:rPr lang="de-DE" dirty="0"/>
              <a:t>1</a:t>
            </a:r>
          </a:p>
        </p:txBody>
      </p:sp>
    </p:spTree>
    <p:extLst>
      <p:ext uri="{BB962C8B-B14F-4D97-AF65-F5344CB8AC3E}">
        <p14:creationId xmlns:p14="http://schemas.microsoft.com/office/powerpoint/2010/main" val="466922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63F5F23E-C396-4DAC-9C6F-83D9B19E0A4D}"/>
              </a:ext>
            </a:extLst>
          </p:cNvPr>
          <p:cNvGraphicFramePr>
            <a:graphicFrameLocks/>
          </p:cNvGraphicFramePr>
          <p:nvPr>
            <p:custDataLst>
              <p:tags r:id="rId1"/>
            </p:custDataLst>
            <p:extLst>
              <p:ext uri="{D42A27DB-BD31-4B8C-83A1-F6EECF244321}">
                <p14:modId xmlns:p14="http://schemas.microsoft.com/office/powerpoint/2010/main" val="29960273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7" name="Object 6" hidden="1">
                        <a:extLst>
                          <a:ext uri="{FF2B5EF4-FFF2-40B4-BE49-F238E27FC236}">
                            <a16:creationId xmlns:a16="http://schemas.microsoft.com/office/drawing/2014/main" id="{63F5F23E-C396-4DAC-9C6F-83D9B19E0A4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1" name="Rectangle 120">
            <a:extLst>
              <a:ext uri="{FF2B5EF4-FFF2-40B4-BE49-F238E27FC236}">
                <a16:creationId xmlns:a16="http://schemas.microsoft.com/office/drawing/2014/main" id="{E7F353D0-53C2-09EA-DC1F-17AF57D7EBB2}"/>
              </a:ext>
            </a:extLst>
          </p:cNvPr>
          <p:cNvSpPr/>
          <p:nvPr/>
        </p:nvSpPr>
        <p:spPr>
          <a:xfrm>
            <a:off x="378700" y="1638000"/>
            <a:ext cx="9936000" cy="5185222"/>
          </a:xfrm>
          <a:prstGeom prst="rect">
            <a:avLst/>
          </a:prstGeom>
          <a:solidFill>
            <a:srgbClr val="FFFFFF">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9" name="Picture 88">
            <a:extLst>
              <a:ext uri="{FF2B5EF4-FFF2-40B4-BE49-F238E27FC236}">
                <a16:creationId xmlns:a16="http://schemas.microsoft.com/office/drawing/2014/main" id="{3D80740B-FE09-24E6-EC5F-7EFF4A9EE65D}"/>
              </a:ext>
            </a:extLst>
          </p:cNvPr>
          <p:cNvPicPr>
            <a:picLocks noChangeAspect="1"/>
          </p:cNvPicPr>
          <p:nvPr/>
        </p:nvPicPr>
        <p:blipFill>
          <a:blip r:embed="rId5" cstate="hqprint">
            <a:lum bright="70000" contrast="-70000"/>
            <a:extLst>
              <a:ext uri="{28A0092B-C50C-407E-A947-70E740481C1C}">
                <a14:useLocalDpi xmlns:a14="http://schemas.microsoft.com/office/drawing/2010/main"/>
              </a:ext>
            </a:extLst>
          </a:blip>
          <a:srcRect r="26618"/>
          <a:stretch/>
        </p:blipFill>
        <p:spPr>
          <a:xfrm>
            <a:off x="378700" y="1638000"/>
            <a:ext cx="4968875" cy="5158800"/>
          </a:xfrm>
          <a:prstGeom prst="rect">
            <a:avLst/>
          </a:prstGeom>
        </p:spPr>
      </p:pic>
      <p:pic>
        <p:nvPicPr>
          <p:cNvPr id="97" name="Picture 96">
            <a:extLst>
              <a:ext uri="{FF2B5EF4-FFF2-40B4-BE49-F238E27FC236}">
                <a16:creationId xmlns:a16="http://schemas.microsoft.com/office/drawing/2014/main" id="{F6664EC4-A69B-F2E8-8E75-E0172CA3C9EE}"/>
              </a:ext>
            </a:extLst>
          </p:cNvPr>
          <p:cNvPicPr>
            <a:picLocks noChangeAspect="1"/>
          </p:cNvPicPr>
          <p:nvPr/>
        </p:nvPicPr>
        <p:blipFill>
          <a:blip r:embed="rId6">
            <a:lum bright="70000" contrast="-70000"/>
            <a:extLst>
              <a:ext uri="{28A0092B-C50C-407E-A947-70E740481C1C}">
                <a14:useLocalDpi xmlns:a14="http://schemas.microsoft.com/office/drawing/2010/main"/>
              </a:ext>
            </a:extLst>
          </a:blip>
          <a:srcRect/>
          <a:stretch/>
        </p:blipFill>
        <p:spPr>
          <a:xfrm>
            <a:off x="5263788" y="1638000"/>
            <a:ext cx="5050911" cy="5158800"/>
          </a:xfrm>
          <a:prstGeom prst="rect">
            <a:avLst/>
          </a:prstGeom>
        </p:spPr>
      </p:pic>
      <p:pic>
        <p:nvPicPr>
          <p:cNvPr id="120" name="Picture 119" descr="A wind turbines in a field&#10;&#10;AI-generated content may be incorrect.">
            <a:extLst>
              <a:ext uri="{FF2B5EF4-FFF2-40B4-BE49-F238E27FC236}">
                <a16:creationId xmlns:a16="http://schemas.microsoft.com/office/drawing/2014/main" id="{DF0C887E-5C0C-7565-C04E-E0B73CCD9B77}"/>
              </a:ext>
            </a:extLst>
          </p:cNvPr>
          <p:cNvPicPr>
            <a:picLocks noChangeAspect="1"/>
          </p:cNvPicPr>
          <p:nvPr/>
        </p:nvPicPr>
        <p:blipFill>
          <a:blip r:embed="rId7">
            <a:extLst>
              <a:ext uri="{28A0092B-C50C-407E-A947-70E740481C1C}">
                <a14:useLocalDpi xmlns:a14="http://schemas.microsoft.com/office/drawing/2010/main"/>
              </a:ext>
            </a:extLst>
          </a:blip>
          <a:srcRect l="2" t="6857" r="61938" b="33242"/>
          <a:stretch/>
        </p:blipFill>
        <p:spPr>
          <a:xfrm>
            <a:off x="1530700" y="1638000"/>
            <a:ext cx="7704000" cy="5022433"/>
          </a:xfrm>
          <a:custGeom>
            <a:avLst/>
            <a:gdLst>
              <a:gd name="connsiteX0" fmla="*/ 0 w 7704000"/>
              <a:gd name="connsiteY0" fmla="*/ 0 h 5022433"/>
              <a:gd name="connsiteX1" fmla="*/ 7704000 w 7704000"/>
              <a:gd name="connsiteY1" fmla="*/ 0 h 5022433"/>
              <a:gd name="connsiteX2" fmla="*/ 7679217 w 7704000"/>
              <a:gd name="connsiteY2" fmla="*/ 80783 h 5022433"/>
              <a:gd name="connsiteX3" fmla="*/ 3960016 w 7704000"/>
              <a:gd name="connsiteY3" fmla="*/ 5022433 h 5022433"/>
              <a:gd name="connsiteX4" fmla="*/ 3671984 w 7704000"/>
              <a:gd name="connsiteY4" fmla="*/ 5022433 h 5022433"/>
              <a:gd name="connsiteX5" fmla="*/ 8846 w 7704000"/>
              <a:gd name="connsiteY5" fmla="*/ 28835 h 502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4000" h="5022433">
                <a:moveTo>
                  <a:pt x="0" y="0"/>
                </a:moveTo>
                <a:lnTo>
                  <a:pt x="7704000" y="0"/>
                </a:lnTo>
                <a:lnTo>
                  <a:pt x="7679217" y="80783"/>
                </a:lnTo>
                <a:lnTo>
                  <a:pt x="3960016" y="5022433"/>
                </a:lnTo>
                <a:lnTo>
                  <a:pt x="3671984" y="5022433"/>
                </a:lnTo>
                <a:lnTo>
                  <a:pt x="8846" y="28835"/>
                </a:lnTo>
                <a:close/>
              </a:path>
            </a:pathLst>
          </a:custGeom>
        </p:spPr>
      </p:pic>
      <p:sp>
        <p:nvSpPr>
          <p:cNvPr id="2" name="Title 1">
            <a:extLst>
              <a:ext uri="{FF2B5EF4-FFF2-40B4-BE49-F238E27FC236}">
                <a16:creationId xmlns:a16="http://schemas.microsoft.com/office/drawing/2014/main" id="{2CC49068-8B2C-4DEE-9920-1CC984F4226F}"/>
              </a:ext>
            </a:extLst>
          </p:cNvPr>
          <p:cNvSpPr>
            <a:spLocks noGrp="1"/>
          </p:cNvSpPr>
          <p:nvPr>
            <p:ph type="title"/>
          </p:nvPr>
        </p:nvSpPr>
        <p:spPr>
          <a:xfrm>
            <a:off x="378700" y="450279"/>
            <a:ext cx="9936000" cy="720000"/>
          </a:xfrm>
        </p:spPr>
        <p:txBody>
          <a:bodyPr vert="horz" rIns="0"/>
          <a:lstStyle/>
          <a:p>
            <a:r>
              <a:rPr lang="de-DE" dirty="0"/>
              <a:t>Energy &amp; Infrastructure ist einer von drei Fokussektoren bei Metzler</a:t>
            </a:r>
            <a:endParaRPr lang="en-GB" dirty="0"/>
          </a:p>
        </p:txBody>
      </p:sp>
      <p:sp>
        <p:nvSpPr>
          <p:cNvPr id="4" name="Text Placeholder 3">
            <a:extLst>
              <a:ext uri="{FF2B5EF4-FFF2-40B4-BE49-F238E27FC236}">
                <a16:creationId xmlns:a16="http://schemas.microsoft.com/office/drawing/2014/main" id="{F6AF62E6-8BEC-4654-B6DF-933A59133190}"/>
              </a:ext>
            </a:extLst>
          </p:cNvPr>
          <p:cNvSpPr>
            <a:spLocks noGrp="1"/>
          </p:cNvSpPr>
          <p:nvPr>
            <p:ph type="body" sz="quarter" idx="13"/>
          </p:nvPr>
        </p:nvSpPr>
        <p:spPr/>
        <p:txBody>
          <a:bodyPr/>
          <a:lstStyle/>
          <a:p>
            <a:r>
              <a:rPr lang="en-US" dirty="0"/>
              <a:t>1. </a:t>
            </a:r>
            <a:r>
              <a:rPr lang="de-DE" dirty="0"/>
              <a:t>Metzler Corporate Finance – Update seit 2024</a:t>
            </a:r>
            <a:endParaRPr lang="en-US" dirty="0"/>
          </a:p>
        </p:txBody>
      </p:sp>
      <p:sp>
        <p:nvSpPr>
          <p:cNvPr id="5" name="Text Placeholder 4">
            <a:extLst>
              <a:ext uri="{FF2B5EF4-FFF2-40B4-BE49-F238E27FC236}">
                <a16:creationId xmlns:a16="http://schemas.microsoft.com/office/drawing/2014/main" id="{AF39FCE3-8BFB-48CE-A779-245259D6CF90}"/>
              </a:ext>
            </a:extLst>
          </p:cNvPr>
          <p:cNvSpPr>
            <a:spLocks noGrp="1"/>
          </p:cNvSpPr>
          <p:nvPr>
            <p:ph type="body" sz="quarter" idx="14"/>
          </p:nvPr>
        </p:nvSpPr>
        <p:spPr/>
        <p:txBody>
          <a:bodyPr/>
          <a:lstStyle/>
          <a:p>
            <a:endParaRPr lang="en-US"/>
          </a:p>
        </p:txBody>
      </p:sp>
      <p:cxnSp>
        <p:nvCxnSpPr>
          <p:cNvPr id="82" name="Straight Connector 81">
            <a:extLst>
              <a:ext uri="{FF2B5EF4-FFF2-40B4-BE49-F238E27FC236}">
                <a16:creationId xmlns:a16="http://schemas.microsoft.com/office/drawing/2014/main" id="{9151912F-1CB0-2E1E-0653-11976FAD3DE8}"/>
              </a:ext>
            </a:extLst>
          </p:cNvPr>
          <p:cNvCxnSpPr>
            <a:cxnSpLocks/>
          </p:cNvCxnSpPr>
          <p:nvPr/>
        </p:nvCxnSpPr>
        <p:spPr>
          <a:xfrm flipH="1" flipV="1">
            <a:off x="1386858" y="1404367"/>
            <a:ext cx="3129262" cy="4259833"/>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E6061DD-8C1C-A13F-84E0-960A0B55EDAE}"/>
              </a:ext>
            </a:extLst>
          </p:cNvPr>
          <p:cNvCxnSpPr>
            <a:cxnSpLocks/>
            <a:endCxn id="77" idx="1"/>
          </p:cNvCxnSpPr>
          <p:nvPr/>
        </p:nvCxnSpPr>
        <p:spPr>
          <a:xfrm flipH="1">
            <a:off x="6227056" y="1556514"/>
            <a:ext cx="3079487" cy="4083577"/>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Text Placeholder 2">
            <a:extLst>
              <a:ext uri="{FF2B5EF4-FFF2-40B4-BE49-F238E27FC236}">
                <a16:creationId xmlns:a16="http://schemas.microsoft.com/office/drawing/2014/main" id="{8A938EDF-8944-4B6B-703A-907C4FD1EE8A}"/>
              </a:ext>
            </a:extLst>
          </p:cNvPr>
          <p:cNvSpPr txBox="1">
            <a:spLocks noChangeArrowheads="1"/>
          </p:cNvSpPr>
          <p:nvPr/>
        </p:nvSpPr>
        <p:spPr bwMode="auto">
          <a:xfrm>
            <a:off x="3865660" y="2567898"/>
            <a:ext cx="2962080" cy="1136143"/>
          </a:xfrm>
          <a:prstGeom prst="roundRect">
            <a:avLst/>
          </a:prstGeom>
          <a:solidFill>
            <a:schemeClr val="bg1">
              <a:alpha val="80000"/>
            </a:schemeClr>
          </a:solidFill>
          <a:ln w="19050">
            <a:solidFill>
              <a:schemeClr val="accent6"/>
            </a:solidFill>
            <a:miter lim="800000"/>
            <a:headEnd/>
            <a:tailEnd/>
          </a:ln>
          <a:effectLst/>
        </p:spPr>
        <p:txBody>
          <a:bodyPr lIns="72000" tIns="36000" rIns="72000" bIns="36000" anchor="t"/>
          <a:lstStyle>
            <a:lvl1pPr>
              <a:spcBef>
                <a:spcPct val="20000"/>
              </a:spcBef>
              <a:buClr>
                <a:schemeClr val="accent1"/>
              </a:buClr>
              <a:buFont typeface="Wingdings" panose="05000000000000000000" pitchFamily="2" charset="2"/>
              <a:buChar char="n"/>
              <a:defRPr sz="1200">
                <a:solidFill>
                  <a:schemeClr val="tx1"/>
                </a:solidFill>
                <a:latin typeface="Univers for Metzler Light" panose="020B0403030202020203" pitchFamily="34" charset="0"/>
              </a:defRPr>
            </a:lvl1pPr>
            <a:lvl2pPr marL="723900" indent="-368300">
              <a:spcBef>
                <a:spcPct val="20000"/>
              </a:spcBef>
              <a:buClr>
                <a:schemeClr val="accent1"/>
              </a:buClr>
              <a:buFont typeface="Arial" panose="020B0604020202020204" pitchFamily="34" charset="0"/>
              <a:buChar char="–"/>
              <a:defRPr sz="1200">
                <a:solidFill>
                  <a:schemeClr val="tx1"/>
                </a:solidFill>
                <a:latin typeface="Univers for Metzler Light" panose="020B0403030202020203" pitchFamily="34" charset="0"/>
              </a:defRPr>
            </a:lvl2pPr>
            <a:lvl3pPr marL="990600" indent="-266700">
              <a:spcBef>
                <a:spcPct val="20000"/>
              </a:spcBef>
              <a:buClr>
                <a:schemeClr val="accent1"/>
              </a:buClr>
              <a:buSzPct val="80000"/>
              <a:buFont typeface="Wingdings" panose="05000000000000000000" pitchFamily="2" charset="2"/>
              <a:buChar char="n"/>
              <a:defRPr sz="1200">
                <a:solidFill>
                  <a:schemeClr val="tx1"/>
                </a:solidFill>
                <a:latin typeface="Univers for Metzler Light" panose="020B0403030202020203" pitchFamily="34" charset="0"/>
              </a:defRPr>
            </a:lvl3pPr>
            <a:lvl4pPr marL="1824038" indent="-260350">
              <a:spcBef>
                <a:spcPct val="20000"/>
              </a:spcBef>
              <a:buFont typeface="Arial" panose="020B0604020202020204" pitchFamily="34" charset="0"/>
              <a:buChar char="–"/>
              <a:defRPr>
                <a:solidFill>
                  <a:schemeClr val="tx1"/>
                </a:solidFill>
                <a:latin typeface="Univers for Metzler Light" panose="020B0403030202020203" pitchFamily="34" charset="0"/>
              </a:defRPr>
            </a:lvl4pPr>
            <a:lvl5pPr marL="2346325" indent="-260350">
              <a:spcBef>
                <a:spcPct val="20000"/>
              </a:spcBef>
              <a:buFont typeface="Arial" panose="020B0604020202020204" pitchFamily="34" charset="0"/>
              <a:buChar char="»"/>
              <a:defRPr>
                <a:solidFill>
                  <a:schemeClr val="tx1"/>
                </a:solidFill>
                <a:latin typeface="Univers for Metzler Light" panose="020B0403030202020203" pitchFamily="34" charset="0"/>
              </a:defRPr>
            </a:lvl5pPr>
            <a:lvl6pPr marL="2803525" indent="-260350" defTabSz="1042988" fontAlgn="base">
              <a:spcBef>
                <a:spcPct val="20000"/>
              </a:spcBef>
              <a:spcAft>
                <a:spcPct val="0"/>
              </a:spcAft>
              <a:buFont typeface="Arial" panose="020B0604020202020204" pitchFamily="34" charset="0"/>
              <a:buChar char="»"/>
              <a:defRPr>
                <a:solidFill>
                  <a:schemeClr val="tx1"/>
                </a:solidFill>
                <a:latin typeface="Univers for Metzler Light" panose="020B0403030202020203" pitchFamily="34" charset="0"/>
              </a:defRPr>
            </a:lvl6pPr>
            <a:lvl7pPr marL="3260725" indent="-260350" defTabSz="1042988" fontAlgn="base">
              <a:spcBef>
                <a:spcPct val="20000"/>
              </a:spcBef>
              <a:spcAft>
                <a:spcPct val="0"/>
              </a:spcAft>
              <a:buFont typeface="Arial" panose="020B0604020202020204" pitchFamily="34" charset="0"/>
              <a:buChar char="»"/>
              <a:defRPr>
                <a:solidFill>
                  <a:schemeClr val="tx1"/>
                </a:solidFill>
                <a:latin typeface="Univers for Metzler Light" panose="020B0403030202020203" pitchFamily="34" charset="0"/>
              </a:defRPr>
            </a:lvl7pPr>
            <a:lvl8pPr marL="3717925" indent="-260350" defTabSz="1042988" fontAlgn="base">
              <a:spcBef>
                <a:spcPct val="20000"/>
              </a:spcBef>
              <a:spcAft>
                <a:spcPct val="0"/>
              </a:spcAft>
              <a:buFont typeface="Arial" panose="020B0604020202020204" pitchFamily="34" charset="0"/>
              <a:buChar char="»"/>
              <a:defRPr>
                <a:solidFill>
                  <a:schemeClr val="tx1"/>
                </a:solidFill>
                <a:latin typeface="Univers for Metzler Light" panose="020B0403030202020203" pitchFamily="34" charset="0"/>
              </a:defRPr>
            </a:lvl8pPr>
            <a:lvl9pPr marL="4175125" indent="-260350" defTabSz="1042988" fontAlgn="base">
              <a:spcBef>
                <a:spcPct val="20000"/>
              </a:spcBef>
              <a:spcAft>
                <a:spcPct val="0"/>
              </a:spcAft>
              <a:buFont typeface="Arial" panose="020B0604020202020204" pitchFamily="34" charset="0"/>
              <a:buChar char="»"/>
              <a:defRPr>
                <a:solidFill>
                  <a:schemeClr val="tx1"/>
                </a:solidFill>
                <a:latin typeface="Univers for Metzler Light" panose="020B0403030202020203" pitchFamily="34" charset="0"/>
              </a:defRPr>
            </a:lvl9pPr>
          </a:lstStyle>
          <a:p>
            <a:pPr eaLnBrk="1" hangingPunct="1">
              <a:buFont typeface="Wingdings" panose="05000000000000000000" pitchFamily="2" charset="2"/>
              <a:buNone/>
            </a:pPr>
            <a:r>
              <a:rPr lang="de-DE" altLang="de-DE" b="1" dirty="0">
                <a:solidFill>
                  <a:schemeClr val="accent1"/>
                </a:solidFill>
              </a:rPr>
              <a:t>Energy &amp; Infrastructure</a:t>
            </a:r>
          </a:p>
          <a:p>
            <a:pPr marL="216000" marR="0" lvl="1" indent="-171450">
              <a:lnSpc>
                <a:spcPct val="100000"/>
              </a:lnSpc>
              <a:spcAft>
                <a:spcPts val="400"/>
              </a:spcAft>
              <a:buSzTx/>
              <a:buFont typeface="Wingdings" panose="05000000000000000000" pitchFamily="2" charset="2"/>
              <a:buChar char="n"/>
              <a:tabLst/>
              <a:defRPr/>
            </a:pPr>
            <a:r>
              <a:rPr lang="de-DE" dirty="0"/>
              <a:t>Alternative Energien</a:t>
            </a:r>
          </a:p>
          <a:p>
            <a:pPr marL="216000" marR="0" lvl="1" indent="-171450">
              <a:lnSpc>
                <a:spcPct val="100000"/>
              </a:lnSpc>
              <a:spcAft>
                <a:spcPts val="400"/>
              </a:spcAft>
              <a:buSzTx/>
              <a:buFont typeface="Wingdings" panose="05000000000000000000" pitchFamily="2" charset="2"/>
              <a:buChar char="n"/>
              <a:tabLst/>
              <a:defRPr/>
            </a:pPr>
            <a:r>
              <a:rPr lang="de-DE" dirty="0"/>
              <a:t>Energieinfrastruktur</a:t>
            </a:r>
          </a:p>
          <a:p>
            <a:pPr marL="216000" marR="0" lvl="1" indent="-171450">
              <a:lnSpc>
                <a:spcPct val="100000"/>
              </a:lnSpc>
              <a:spcAft>
                <a:spcPts val="400"/>
              </a:spcAft>
              <a:buSzTx/>
              <a:buFont typeface="Wingdings" panose="05000000000000000000" pitchFamily="2" charset="2"/>
              <a:buChar char="n"/>
              <a:tabLst/>
              <a:defRPr/>
            </a:pPr>
            <a:r>
              <a:rPr lang="de-DE" dirty="0"/>
              <a:t>Stadtwerke/Ver- und Entsorgung</a:t>
            </a:r>
            <a:endParaRPr lang="de-DE" altLang="de-DE" dirty="0"/>
          </a:p>
        </p:txBody>
      </p:sp>
      <p:sp>
        <p:nvSpPr>
          <p:cNvPr id="41" name="Text Placeholder 2">
            <a:extLst>
              <a:ext uri="{FF2B5EF4-FFF2-40B4-BE49-F238E27FC236}">
                <a16:creationId xmlns:a16="http://schemas.microsoft.com/office/drawing/2014/main" id="{A11F668D-9FFF-C746-E224-D26B649A44A8}"/>
              </a:ext>
            </a:extLst>
          </p:cNvPr>
          <p:cNvSpPr txBox="1">
            <a:spLocks noChangeArrowheads="1"/>
          </p:cNvSpPr>
          <p:nvPr/>
        </p:nvSpPr>
        <p:spPr bwMode="auto">
          <a:xfrm>
            <a:off x="7866700" y="3996759"/>
            <a:ext cx="2448000" cy="936000"/>
          </a:xfrm>
          <a:prstGeom prst="rect">
            <a:avLst/>
          </a:prstGeom>
          <a:noFill/>
          <a:ln w="9525">
            <a:noFill/>
            <a:miter lim="800000"/>
            <a:headEnd/>
            <a:tailEnd/>
          </a:ln>
        </p:spPr>
        <p:txBody>
          <a:bodyPr lIns="72000" tIns="36000" rIns="72000" bIns="36000" anchor="t"/>
          <a:lstStyle>
            <a:lvl1pPr>
              <a:spcBef>
                <a:spcPct val="20000"/>
              </a:spcBef>
              <a:buClr>
                <a:schemeClr val="accent1"/>
              </a:buClr>
              <a:buFont typeface="Wingdings" panose="05000000000000000000" pitchFamily="2" charset="2"/>
              <a:buChar char="n"/>
              <a:defRPr sz="1200">
                <a:solidFill>
                  <a:schemeClr val="tx1"/>
                </a:solidFill>
                <a:latin typeface="Univers for Metzler Light" panose="020B0403030202020203" pitchFamily="34" charset="0"/>
              </a:defRPr>
            </a:lvl1pPr>
            <a:lvl2pPr marL="723900" indent="-368300">
              <a:spcBef>
                <a:spcPct val="20000"/>
              </a:spcBef>
              <a:buClr>
                <a:schemeClr val="accent1"/>
              </a:buClr>
              <a:buFont typeface="Arial" panose="020B0604020202020204" pitchFamily="34" charset="0"/>
              <a:buChar char="–"/>
              <a:defRPr sz="1200">
                <a:solidFill>
                  <a:schemeClr val="tx1"/>
                </a:solidFill>
                <a:latin typeface="Univers for Metzler Light" panose="020B0403030202020203" pitchFamily="34" charset="0"/>
              </a:defRPr>
            </a:lvl2pPr>
            <a:lvl3pPr marL="990600" indent="-266700">
              <a:spcBef>
                <a:spcPct val="20000"/>
              </a:spcBef>
              <a:buClr>
                <a:schemeClr val="accent1"/>
              </a:buClr>
              <a:buSzPct val="80000"/>
              <a:buFont typeface="Wingdings" panose="05000000000000000000" pitchFamily="2" charset="2"/>
              <a:buChar char="n"/>
              <a:defRPr sz="1200">
                <a:solidFill>
                  <a:schemeClr val="tx1"/>
                </a:solidFill>
                <a:latin typeface="Univers for Metzler Light" panose="020B0403030202020203" pitchFamily="34" charset="0"/>
              </a:defRPr>
            </a:lvl3pPr>
            <a:lvl4pPr marL="1824038" indent="-260350">
              <a:spcBef>
                <a:spcPct val="20000"/>
              </a:spcBef>
              <a:buFont typeface="Arial" panose="020B0604020202020204" pitchFamily="34" charset="0"/>
              <a:buChar char="–"/>
              <a:defRPr>
                <a:solidFill>
                  <a:schemeClr val="tx1"/>
                </a:solidFill>
                <a:latin typeface="Univers for Metzler Light" panose="020B0403030202020203" pitchFamily="34" charset="0"/>
              </a:defRPr>
            </a:lvl4pPr>
            <a:lvl5pPr marL="2346325" indent="-260350">
              <a:spcBef>
                <a:spcPct val="20000"/>
              </a:spcBef>
              <a:buFont typeface="Arial" panose="020B0604020202020204" pitchFamily="34" charset="0"/>
              <a:buChar char="»"/>
              <a:defRPr>
                <a:solidFill>
                  <a:schemeClr val="tx1"/>
                </a:solidFill>
                <a:latin typeface="Univers for Metzler Light" panose="020B0403030202020203" pitchFamily="34" charset="0"/>
              </a:defRPr>
            </a:lvl5pPr>
            <a:lvl6pPr marL="2803525" indent="-260350" defTabSz="1042988" fontAlgn="base">
              <a:spcBef>
                <a:spcPct val="20000"/>
              </a:spcBef>
              <a:spcAft>
                <a:spcPct val="0"/>
              </a:spcAft>
              <a:buFont typeface="Arial" panose="020B0604020202020204" pitchFamily="34" charset="0"/>
              <a:buChar char="»"/>
              <a:defRPr>
                <a:solidFill>
                  <a:schemeClr val="tx1"/>
                </a:solidFill>
                <a:latin typeface="Univers for Metzler Light" panose="020B0403030202020203" pitchFamily="34" charset="0"/>
              </a:defRPr>
            </a:lvl6pPr>
            <a:lvl7pPr marL="3260725" indent="-260350" defTabSz="1042988" fontAlgn="base">
              <a:spcBef>
                <a:spcPct val="20000"/>
              </a:spcBef>
              <a:spcAft>
                <a:spcPct val="0"/>
              </a:spcAft>
              <a:buFont typeface="Arial" panose="020B0604020202020204" pitchFamily="34" charset="0"/>
              <a:buChar char="»"/>
              <a:defRPr>
                <a:solidFill>
                  <a:schemeClr val="tx1"/>
                </a:solidFill>
                <a:latin typeface="Univers for Metzler Light" panose="020B0403030202020203" pitchFamily="34" charset="0"/>
              </a:defRPr>
            </a:lvl7pPr>
            <a:lvl8pPr marL="3717925" indent="-260350" defTabSz="1042988" fontAlgn="base">
              <a:spcBef>
                <a:spcPct val="20000"/>
              </a:spcBef>
              <a:spcAft>
                <a:spcPct val="0"/>
              </a:spcAft>
              <a:buFont typeface="Arial" panose="020B0604020202020204" pitchFamily="34" charset="0"/>
              <a:buChar char="»"/>
              <a:defRPr>
                <a:solidFill>
                  <a:schemeClr val="tx1"/>
                </a:solidFill>
                <a:latin typeface="Univers for Metzler Light" panose="020B0403030202020203" pitchFamily="34" charset="0"/>
              </a:defRPr>
            </a:lvl8pPr>
            <a:lvl9pPr marL="4175125" indent="-260350" defTabSz="1042988" fontAlgn="base">
              <a:spcBef>
                <a:spcPct val="20000"/>
              </a:spcBef>
              <a:spcAft>
                <a:spcPct val="0"/>
              </a:spcAft>
              <a:buFont typeface="Arial" panose="020B0604020202020204" pitchFamily="34" charset="0"/>
              <a:buChar char="»"/>
              <a:defRPr>
                <a:solidFill>
                  <a:schemeClr val="tx1"/>
                </a:solidFill>
                <a:latin typeface="Univers for Metzler Light" panose="020B0403030202020203" pitchFamily="34" charset="0"/>
              </a:defRPr>
            </a:lvl9pPr>
          </a:lstStyle>
          <a:p>
            <a:pPr eaLnBrk="1" hangingPunct="1">
              <a:buFont typeface="Wingdings" panose="05000000000000000000" pitchFamily="2" charset="2"/>
              <a:buNone/>
            </a:pPr>
            <a:r>
              <a:rPr lang="de-DE" altLang="de-DE" b="1" dirty="0">
                <a:solidFill>
                  <a:schemeClr val="accent1"/>
                </a:solidFill>
              </a:rPr>
              <a:t>Industrials</a:t>
            </a:r>
          </a:p>
          <a:p>
            <a:pPr marL="216000" lvl="1" indent="-171450">
              <a:spcAft>
                <a:spcPts val="400"/>
              </a:spcAft>
              <a:buFont typeface="Wingdings" panose="05000000000000000000" pitchFamily="2" charset="2"/>
              <a:buChar char="n"/>
              <a:defRPr/>
            </a:pPr>
            <a:r>
              <a:rPr lang="de-DE" dirty="0"/>
              <a:t>Automatisierungstechnik</a:t>
            </a:r>
          </a:p>
          <a:p>
            <a:pPr marL="216000" lvl="1" indent="-171450">
              <a:spcAft>
                <a:spcPts val="400"/>
              </a:spcAft>
              <a:buFont typeface="Wingdings" panose="05000000000000000000" pitchFamily="2" charset="2"/>
              <a:buChar char="n"/>
              <a:defRPr/>
            </a:pPr>
            <a:r>
              <a:rPr lang="de-DE" dirty="0"/>
              <a:t>Elektrotechnik</a:t>
            </a:r>
          </a:p>
          <a:p>
            <a:pPr marL="216000" lvl="1" indent="-171450">
              <a:spcAft>
                <a:spcPts val="400"/>
              </a:spcAft>
              <a:buFont typeface="Wingdings" panose="05000000000000000000" pitchFamily="2" charset="2"/>
              <a:buChar char="n"/>
              <a:defRPr/>
            </a:pPr>
            <a:r>
              <a:rPr lang="de-DE" dirty="0"/>
              <a:t>Sensorik und Robotik</a:t>
            </a:r>
            <a:endParaRPr lang="de-DE" altLang="de-DE" dirty="0"/>
          </a:p>
        </p:txBody>
      </p:sp>
      <p:sp>
        <p:nvSpPr>
          <p:cNvPr id="6" name="Text Placeholder 5">
            <a:extLst>
              <a:ext uri="{FF2B5EF4-FFF2-40B4-BE49-F238E27FC236}">
                <a16:creationId xmlns:a16="http://schemas.microsoft.com/office/drawing/2014/main" id="{C21699B8-6A2E-4A80-98DC-B74C93E5D1A8}"/>
              </a:ext>
            </a:extLst>
          </p:cNvPr>
          <p:cNvSpPr>
            <a:spLocks noGrp="1"/>
          </p:cNvSpPr>
          <p:nvPr>
            <p:ph type="body" sz="quarter" idx="15"/>
          </p:nvPr>
        </p:nvSpPr>
        <p:spPr/>
        <p:txBody>
          <a:bodyPr/>
          <a:lstStyle/>
          <a:p>
            <a:endParaRPr lang="en-US" dirty="0"/>
          </a:p>
        </p:txBody>
      </p:sp>
      <p:sp>
        <p:nvSpPr>
          <p:cNvPr id="43" name="Text Placeholder 2">
            <a:extLst>
              <a:ext uri="{FF2B5EF4-FFF2-40B4-BE49-F238E27FC236}">
                <a16:creationId xmlns:a16="http://schemas.microsoft.com/office/drawing/2014/main" id="{D94DF834-45C6-13C0-F46A-B3EC803A0A40}"/>
              </a:ext>
            </a:extLst>
          </p:cNvPr>
          <p:cNvSpPr txBox="1">
            <a:spLocks noChangeArrowheads="1"/>
          </p:cNvSpPr>
          <p:nvPr/>
        </p:nvSpPr>
        <p:spPr bwMode="auto">
          <a:xfrm>
            <a:off x="654265" y="3996759"/>
            <a:ext cx="3024000" cy="936000"/>
          </a:xfrm>
          <a:prstGeom prst="rect">
            <a:avLst/>
          </a:prstGeom>
          <a:noFill/>
          <a:ln w="9525">
            <a:noFill/>
            <a:miter lim="800000"/>
            <a:headEnd/>
            <a:tailEnd/>
          </a:ln>
        </p:spPr>
        <p:txBody>
          <a:bodyPr lIns="72000" tIns="36000" rIns="72000" bIns="36000" anchor="t"/>
          <a:lstStyle>
            <a:lvl1pPr>
              <a:spcBef>
                <a:spcPct val="20000"/>
              </a:spcBef>
              <a:buClr>
                <a:schemeClr val="accent1"/>
              </a:buClr>
              <a:buFont typeface="Wingdings" panose="05000000000000000000" pitchFamily="2" charset="2"/>
              <a:buChar char="n"/>
              <a:defRPr sz="1200">
                <a:solidFill>
                  <a:schemeClr val="tx1"/>
                </a:solidFill>
                <a:latin typeface="Univers for Metzler Light" panose="020B0403030202020203" pitchFamily="34" charset="0"/>
              </a:defRPr>
            </a:lvl1pPr>
            <a:lvl2pPr marL="723900" indent="-368300">
              <a:spcBef>
                <a:spcPct val="20000"/>
              </a:spcBef>
              <a:buClr>
                <a:schemeClr val="accent1"/>
              </a:buClr>
              <a:buFont typeface="Arial" panose="020B0604020202020204" pitchFamily="34" charset="0"/>
              <a:buChar char="–"/>
              <a:defRPr sz="1200">
                <a:solidFill>
                  <a:schemeClr val="tx1"/>
                </a:solidFill>
                <a:latin typeface="Univers for Metzler Light" panose="020B0403030202020203" pitchFamily="34" charset="0"/>
              </a:defRPr>
            </a:lvl2pPr>
            <a:lvl3pPr marL="990600" indent="-266700">
              <a:spcBef>
                <a:spcPct val="20000"/>
              </a:spcBef>
              <a:buClr>
                <a:schemeClr val="accent1"/>
              </a:buClr>
              <a:buSzPct val="80000"/>
              <a:buFont typeface="Wingdings" panose="05000000000000000000" pitchFamily="2" charset="2"/>
              <a:buChar char="n"/>
              <a:defRPr sz="1200">
                <a:solidFill>
                  <a:schemeClr val="tx1"/>
                </a:solidFill>
                <a:latin typeface="Univers for Metzler Light" panose="020B0403030202020203" pitchFamily="34" charset="0"/>
              </a:defRPr>
            </a:lvl3pPr>
            <a:lvl4pPr marL="1824038" indent="-260350">
              <a:spcBef>
                <a:spcPct val="20000"/>
              </a:spcBef>
              <a:buFont typeface="Arial" panose="020B0604020202020204" pitchFamily="34" charset="0"/>
              <a:buChar char="–"/>
              <a:defRPr>
                <a:solidFill>
                  <a:schemeClr val="tx1"/>
                </a:solidFill>
                <a:latin typeface="Univers for Metzler Light" panose="020B0403030202020203" pitchFamily="34" charset="0"/>
              </a:defRPr>
            </a:lvl4pPr>
            <a:lvl5pPr marL="2346325" indent="-260350">
              <a:spcBef>
                <a:spcPct val="20000"/>
              </a:spcBef>
              <a:buFont typeface="Arial" panose="020B0604020202020204" pitchFamily="34" charset="0"/>
              <a:buChar char="»"/>
              <a:defRPr>
                <a:solidFill>
                  <a:schemeClr val="tx1"/>
                </a:solidFill>
                <a:latin typeface="Univers for Metzler Light" panose="020B0403030202020203" pitchFamily="34" charset="0"/>
              </a:defRPr>
            </a:lvl5pPr>
            <a:lvl6pPr marL="2803525" indent="-260350" defTabSz="1042988" fontAlgn="base">
              <a:spcBef>
                <a:spcPct val="20000"/>
              </a:spcBef>
              <a:spcAft>
                <a:spcPct val="0"/>
              </a:spcAft>
              <a:buFont typeface="Arial" panose="020B0604020202020204" pitchFamily="34" charset="0"/>
              <a:buChar char="»"/>
              <a:defRPr>
                <a:solidFill>
                  <a:schemeClr val="tx1"/>
                </a:solidFill>
                <a:latin typeface="Univers for Metzler Light" panose="020B0403030202020203" pitchFamily="34" charset="0"/>
              </a:defRPr>
            </a:lvl6pPr>
            <a:lvl7pPr marL="3260725" indent="-260350" defTabSz="1042988" fontAlgn="base">
              <a:spcBef>
                <a:spcPct val="20000"/>
              </a:spcBef>
              <a:spcAft>
                <a:spcPct val="0"/>
              </a:spcAft>
              <a:buFont typeface="Arial" panose="020B0604020202020204" pitchFamily="34" charset="0"/>
              <a:buChar char="»"/>
              <a:defRPr>
                <a:solidFill>
                  <a:schemeClr val="tx1"/>
                </a:solidFill>
                <a:latin typeface="Univers for Metzler Light" panose="020B0403030202020203" pitchFamily="34" charset="0"/>
              </a:defRPr>
            </a:lvl7pPr>
            <a:lvl8pPr marL="3717925" indent="-260350" defTabSz="1042988" fontAlgn="base">
              <a:spcBef>
                <a:spcPct val="20000"/>
              </a:spcBef>
              <a:spcAft>
                <a:spcPct val="0"/>
              </a:spcAft>
              <a:buFont typeface="Arial" panose="020B0604020202020204" pitchFamily="34" charset="0"/>
              <a:buChar char="»"/>
              <a:defRPr>
                <a:solidFill>
                  <a:schemeClr val="tx1"/>
                </a:solidFill>
                <a:latin typeface="Univers for Metzler Light" panose="020B0403030202020203" pitchFamily="34" charset="0"/>
              </a:defRPr>
            </a:lvl8pPr>
            <a:lvl9pPr marL="4175125" indent="-260350" defTabSz="1042988" fontAlgn="base">
              <a:spcBef>
                <a:spcPct val="20000"/>
              </a:spcBef>
              <a:spcAft>
                <a:spcPct val="0"/>
              </a:spcAft>
              <a:buFont typeface="Arial" panose="020B0604020202020204" pitchFamily="34" charset="0"/>
              <a:buChar char="»"/>
              <a:defRPr>
                <a:solidFill>
                  <a:schemeClr val="tx1"/>
                </a:solidFill>
                <a:latin typeface="Univers for Metzler Light" panose="020B0403030202020203" pitchFamily="34" charset="0"/>
              </a:defRPr>
            </a:lvl9pPr>
          </a:lstStyle>
          <a:p>
            <a:pPr eaLnBrk="1" hangingPunct="1">
              <a:buFont typeface="Wingdings" panose="05000000000000000000" pitchFamily="2" charset="2"/>
              <a:buNone/>
            </a:pPr>
            <a:r>
              <a:rPr lang="de-DE" altLang="de-DE" b="1" dirty="0">
                <a:solidFill>
                  <a:schemeClr val="accent1"/>
                </a:solidFill>
              </a:rPr>
              <a:t>Technology &amp; Services</a:t>
            </a:r>
          </a:p>
          <a:p>
            <a:pPr marL="216000" lvl="1" indent="-171450" fontAlgn="auto">
              <a:spcAft>
                <a:spcPts val="400"/>
              </a:spcAft>
              <a:buFont typeface="Wingdings" panose="05000000000000000000" pitchFamily="2" charset="2"/>
              <a:buChar char="n"/>
              <a:defRPr/>
            </a:pPr>
            <a:r>
              <a:rPr lang="de-DE" dirty="0"/>
              <a:t>Software – Horizontal &amp; Vertikal</a:t>
            </a:r>
          </a:p>
          <a:p>
            <a:pPr marL="216000" lvl="1" indent="-171450" fontAlgn="auto">
              <a:spcAft>
                <a:spcPts val="400"/>
              </a:spcAft>
              <a:buFont typeface="Wingdings" panose="05000000000000000000" pitchFamily="2" charset="2"/>
              <a:buChar char="n"/>
              <a:defRPr/>
            </a:pPr>
            <a:r>
              <a:rPr lang="de-DE" dirty="0"/>
              <a:t>Lösungen – Plattformen &amp; Innovationen</a:t>
            </a:r>
          </a:p>
          <a:p>
            <a:pPr marL="216000" lvl="1" indent="-171450" fontAlgn="auto">
              <a:spcAft>
                <a:spcPts val="400"/>
              </a:spcAft>
              <a:buFont typeface="Wingdings" panose="05000000000000000000" pitchFamily="2" charset="2"/>
              <a:buChar char="n"/>
              <a:defRPr/>
            </a:pPr>
            <a:r>
              <a:rPr lang="de-DE" dirty="0"/>
              <a:t>Services und Beratung</a:t>
            </a:r>
            <a:endParaRPr lang="de-DE" altLang="de-DE" dirty="0"/>
          </a:p>
        </p:txBody>
      </p:sp>
      <p:grpSp>
        <p:nvGrpSpPr>
          <p:cNvPr id="80" name="Group 79">
            <a:extLst>
              <a:ext uri="{FF2B5EF4-FFF2-40B4-BE49-F238E27FC236}">
                <a16:creationId xmlns:a16="http://schemas.microsoft.com/office/drawing/2014/main" id="{38D3F648-5CD9-1088-82CE-38FF05CF9F66}"/>
              </a:ext>
            </a:extLst>
          </p:cNvPr>
          <p:cNvGrpSpPr/>
          <p:nvPr/>
        </p:nvGrpSpPr>
        <p:grpSpPr>
          <a:xfrm>
            <a:off x="3132981" y="4996800"/>
            <a:ext cx="4427438" cy="3659040"/>
            <a:chOff x="2427522" y="2648154"/>
            <a:chExt cx="4427438" cy="3659040"/>
          </a:xfrm>
        </p:grpSpPr>
        <p:sp>
          <p:nvSpPr>
            <p:cNvPr id="75" name="Block Arc 74">
              <a:extLst>
                <a:ext uri="{FF2B5EF4-FFF2-40B4-BE49-F238E27FC236}">
                  <a16:creationId xmlns:a16="http://schemas.microsoft.com/office/drawing/2014/main" id="{06C4300D-B129-DFD1-66B5-A814B51F7163}"/>
                </a:ext>
              </a:extLst>
            </p:cNvPr>
            <p:cNvSpPr/>
            <p:nvPr/>
          </p:nvSpPr>
          <p:spPr>
            <a:xfrm>
              <a:off x="2427522" y="2648154"/>
              <a:ext cx="4427438" cy="3659040"/>
            </a:xfrm>
            <a:prstGeom prst="blockArc">
              <a:avLst>
                <a:gd name="adj1" fmla="val 10800000"/>
                <a:gd name="adj2" fmla="val 14087945"/>
                <a:gd name="adj3" fmla="val 25197"/>
              </a:avLst>
            </a:prstGeom>
            <a:solidFill>
              <a:schemeClr val="accent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6" name="Block Arc 75">
              <a:extLst>
                <a:ext uri="{FF2B5EF4-FFF2-40B4-BE49-F238E27FC236}">
                  <a16:creationId xmlns:a16="http://schemas.microsoft.com/office/drawing/2014/main" id="{EE144292-7ED1-1A1A-DA49-9CFCC2853DA3}"/>
                </a:ext>
              </a:extLst>
            </p:cNvPr>
            <p:cNvSpPr/>
            <p:nvPr/>
          </p:nvSpPr>
          <p:spPr>
            <a:xfrm>
              <a:off x="2427522" y="2648154"/>
              <a:ext cx="4427438" cy="3659040"/>
            </a:xfrm>
            <a:prstGeom prst="blockArc">
              <a:avLst>
                <a:gd name="adj1" fmla="val 18344626"/>
                <a:gd name="adj2" fmla="val 4037"/>
                <a:gd name="adj3" fmla="val 24791"/>
              </a:avLst>
            </a:prstGeom>
            <a:solidFill>
              <a:schemeClr val="accent3"/>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Block Arc 76">
              <a:extLst>
                <a:ext uri="{FF2B5EF4-FFF2-40B4-BE49-F238E27FC236}">
                  <a16:creationId xmlns:a16="http://schemas.microsoft.com/office/drawing/2014/main" id="{A80589D3-2698-E8C6-9EC2-F6CD7DE02118}"/>
                </a:ext>
              </a:extLst>
            </p:cNvPr>
            <p:cNvSpPr/>
            <p:nvPr/>
          </p:nvSpPr>
          <p:spPr>
            <a:xfrm>
              <a:off x="2427522" y="2648154"/>
              <a:ext cx="4427438" cy="3659040"/>
            </a:xfrm>
            <a:prstGeom prst="blockArc">
              <a:avLst>
                <a:gd name="adj1" fmla="val 14072560"/>
                <a:gd name="adj2" fmla="val 18393732"/>
                <a:gd name="adj3" fmla="val 24941"/>
              </a:avLst>
            </a:prstGeom>
            <a:solidFill>
              <a:schemeClr val="accent2"/>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9900"/>
                </a:solidFill>
              </a:endParaRPr>
            </a:p>
          </p:txBody>
        </p:sp>
      </p:grpSp>
      <p:sp>
        <p:nvSpPr>
          <p:cNvPr id="19" name="Freeform: Shape 18">
            <a:extLst>
              <a:ext uri="{FF2B5EF4-FFF2-40B4-BE49-F238E27FC236}">
                <a16:creationId xmlns:a16="http://schemas.microsoft.com/office/drawing/2014/main" id="{515BB8F4-82E9-49AE-8DB3-A54C7B175DDE}"/>
              </a:ext>
            </a:extLst>
          </p:cNvPr>
          <p:cNvSpPr/>
          <p:nvPr/>
        </p:nvSpPr>
        <p:spPr>
          <a:xfrm>
            <a:off x="3899699" y="5613297"/>
            <a:ext cx="2894003" cy="1191670"/>
          </a:xfrm>
          <a:custGeom>
            <a:avLst/>
            <a:gdLst>
              <a:gd name="connsiteX0" fmla="*/ 1078011 w 2156022"/>
              <a:gd name="connsiteY0" fmla="*/ 0 h 1040613"/>
              <a:gd name="connsiteX1" fmla="*/ 2152435 w 2156022"/>
              <a:gd name="connsiteY1" fmla="*/ 969576 h 1040613"/>
              <a:gd name="connsiteX2" fmla="*/ 2156022 w 2156022"/>
              <a:gd name="connsiteY2" fmla="*/ 1040613 h 1040613"/>
              <a:gd name="connsiteX3" fmla="*/ 0 w 2156022"/>
              <a:gd name="connsiteY3" fmla="*/ 1040613 h 1040613"/>
              <a:gd name="connsiteX4" fmla="*/ 3587 w 2156022"/>
              <a:gd name="connsiteY4" fmla="*/ 969576 h 1040613"/>
              <a:gd name="connsiteX5" fmla="*/ 1078011 w 2156022"/>
              <a:gd name="connsiteY5" fmla="*/ 0 h 1040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6022" h="1040613">
                <a:moveTo>
                  <a:pt x="1078011" y="0"/>
                </a:moveTo>
                <a:cubicBezTo>
                  <a:pt x="1637200" y="0"/>
                  <a:pt x="2097129" y="424980"/>
                  <a:pt x="2152435" y="969576"/>
                </a:cubicBezTo>
                <a:lnTo>
                  <a:pt x="2156022" y="1040613"/>
                </a:lnTo>
                <a:lnTo>
                  <a:pt x="0" y="1040613"/>
                </a:lnTo>
                <a:lnTo>
                  <a:pt x="3587" y="969576"/>
                </a:lnTo>
                <a:cubicBezTo>
                  <a:pt x="58894" y="424980"/>
                  <a:pt x="518823" y="0"/>
                  <a:pt x="1078011" y="0"/>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horz" wrap="square" rtlCol="0" anchor="ctr">
            <a:noAutofit/>
          </a:bodyPr>
          <a:lstStyle/>
          <a:p>
            <a:pPr lvl="2" algn="ctr"/>
            <a:endParaRPr lang="de-DE" dirty="0"/>
          </a:p>
        </p:txBody>
      </p:sp>
      <p:grpSp>
        <p:nvGrpSpPr>
          <p:cNvPr id="28" name="Group 27">
            <a:extLst>
              <a:ext uri="{FF2B5EF4-FFF2-40B4-BE49-F238E27FC236}">
                <a16:creationId xmlns:a16="http://schemas.microsoft.com/office/drawing/2014/main" id="{5E217780-D8B3-C581-4B42-9410BA124217}"/>
              </a:ext>
            </a:extLst>
          </p:cNvPr>
          <p:cNvGrpSpPr/>
          <p:nvPr/>
        </p:nvGrpSpPr>
        <p:grpSpPr>
          <a:xfrm>
            <a:off x="5077619" y="4860751"/>
            <a:ext cx="538163" cy="538163"/>
            <a:chOff x="4088507" y="5137150"/>
            <a:chExt cx="538163" cy="538163"/>
          </a:xfrm>
        </p:grpSpPr>
        <p:sp>
          <p:nvSpPr>
            <p:cNvPr id="29" name="Oval 28">
              <a:extLst>
                <a:ext uri="{FF2B5EF4-FFF2-40B4-BE49-F238E27FC236}">
                  <a16:creationId xmlns:a16="http://schemas.microsoft.com/office/drawing/2014/main" id="{5DF821EE-9BA2-DBB9-D4B6-CCBAAF891477}"/>
                </a:ext>
              </a:extLst>
            </p:cNvPr>
            <p:cNvSpPr>
              <a:spLocks noChangeAspect="1"/>
            </p:cNvSpPr>
            <p:nvPr/>
          </p:nvSpPr>
          <p:spPr>
            <a:xfrm>
              <a:off x="4088507" y="5137150"/>
              <a:ext cx="538163" cy="538163"/>
            </a:xfrm>
            <a:prstGeom prst="ellipse">
              <a:avLst/>
            </a:prstGeom>
            <a:solidFill>
              <a:schemeClr val="accent2"/>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1" name="Graphic 30">
              <a:extLst>
                <a:ext uri="{FF2B5EF4-FFF2-40B4-BE49-F238E27FC236}">
                  <a16:creationId xmlns:a16="http://schemas.microsoft.com/office/drawing/2014/main" id="{28044891-310C-9EAF-FDCC-EA683C54475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217499" y="5267325"/>
              <a:ext cx="282577" cy="282575"/>
            </a:xfrm>
            <a:prstGeom prst="rect">
              <a:avLst/>
            </a:prstGeom>
          </p:spPr>
        </p:pic>
      </p:grpSp>
      <p:pic>
        <p:nvPicPr>
          <p:cNvPr id="37" name="Picture 3" descr="W:\UKOMM\SHARED\LOGOS\Metzler\RGB_Blau\png\MetzlerCF_RGB_Blau (2).png">
            <a:extLst>
              <a:ext uri="{FF2B5EF4-FFF2-40B4-BE49-F238E27FC236}">
                <a16:creationId xmlns:a16="http://schemas.microsoft.com/office/drawing/2014/main" id="{A71966F1-DFF7-4AF6-2D6D-2806663037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68746" y="6156895"/>
            <a:ext cx="1555908" cy="396398"/>
          </a:xfrm>
          <a:prstGeom prst="rect">
            <a:avLst/>
          </a:prstGeom>
          <a:noFill/>
          <a:extLst>
            <a:ext uri="{909E8E84-426E-40DD-AFC4-6F175D3DCCD1}">
              <a14:hiddenFill xmlns:a14="http://schemas.microsoft.com/office/drawing/2010/main">
                <a:solidFill>
                  <a:srgbClr val="FFFFFF"/>
                </a:solidFill>
              </a14:hiddenFill>
            </a:ext>
          </a:extLst>
        </p:spPr>
      </p:pic>
      <p:grpSp>
        <p:nvGrpSpPr>
          <p:cNvPr id="123" name="Group 122">
            <a:extLst>
              <a:ext uri="{FF2B5EF4-FFF2-40B4-BE49-F238E27FC236}">
                <a16:creationId xmlns:a16="http://schemas.microsoft.com/office/drawing/2014/main" id="{1BCA9BAB-52B0-54F0-88DC-B7487EEB7394}"/>
              </a:ext>
            </a:extLst>
          </p:cNvPr>
          <p:cNvGrpSpPr/>
          <p:nvPr/>
        </p:nvGrpSpPr>
        <p:grpSpPr>
          <a:xfrm>
            <a:off x="3178191" y="5728664"/>
            <a:ext cx="538163" cy="538163"/>
            <a:chOff x="3420737" y="6011863"/>
            <a:chExt cx="538163" cy="538163"/>
          </a:xfrm>
        </p:grpSpPr>
        <p:sp>
          <p:nvSpPr>
            <p:cNvPr id="26" name="Oval 25">
              <a:extLst>
                <a:ext uri="{FF2B5EF4-FFF2-40B4-BE49-F238E27FC236}">
                  <a16:creationId xmlns:a16="http://schemas.microsoft.com/office/drawing/2014/main" id="{50C08FA7-6BBF-7E2C-654D-BC7FE452FB56}"/>
                </a:ext>
              </a:extLst>
            </p:cNvPr>
            <p:cNvSpPr>
              <a:spLocks noChangeAspect="1"/>
            </p:cNvSpPr>
            <p:nvPr/>
          </p:nvSpPr>
          <p:spPr>
            <a:xfrm>
              <a:off x="3420737" y="6011863"/>
              <a:ext cx="538163" cy="538163"/>
            </a:xfrm>
            <a:prstGeom prst="ellipse">
              <a:avLst/>
            </a:prstGeom>
            <a:solidFill>
              <a:schemeClr val="accent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7" name="Graphic 26">
              <a:extLst>
                <a:ext uri="{FF2B5EF4-FFF2-40B4-BE49-F238E27FC236}">
                  <a16:creationId xmlns:a16="http://schemas.microsoft.com/office/drawing/2014/main" id="{777020EC-926D-4C7D-E61F-679B1B89D27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25512" y="6116638"/>
              <a:ext cx="328613" cy="328613"/>
            </a:xfrm>
            <a:prstGeom prst="rect">
              <a:avLst/>
            </a:prstGeom>
          </p:spPr>
        </p:pic>
      </p:grpSp>
      <p:grpSp>
        <p:nvGrpSpPr>
          <p:cNvPr id="34" name="Group 33">
            <a:extLst>
              <a:ext uri="{FF2B5EF4-FFF2-40B4-BE49-F238E27FC236}">
                <a16:creationId xmlns:a16="http://schemas.microsoft.com/office/drawing/2014/main" id="{890F0739-A20E-A58C-0771-E81C8C5CBA8A}"/>
              </a:ext>
            </a:extLst>
          </p:cNvPr>
          <p:cNvGrpSpPr/>
          <p:nvPr/>
        </p:nvGrpSpPr>
        <p:grpSpPr>
          <a:xfrm>
            <a:off x="6975460" y="5728664"/>
            <a:ext cx="539750" cy="539750"/>
            <a:chOff x="6092499" y="5135563"/>
            <a:chExt cx="539750" cy="539750"/>
          </a:xfrm>
        </p:grpSpPr>
        <p:sp>
          <p:nvSpPr>
            <p:cNvPr id="35" name="Oval 34">
              <a:extLst>
                <a:ext uri="{FF2B5EF4-FFF2-40B4-BE49-F238E27FC236}">
                  <a16:creationId xmlns:a16="http://schemas.microsoft.com/office/drawing/2014/main" id="{98F29401-46C2-C03A-3710-5F221C8FA6C7}"/>
                </a:ext>
              </a:extLst>
            </p:cNvPr>
            <p:cNvSpPr>
              <a:spLocks noChangeAspect="1"/>
            </p:cNvSpPr>
            <p:nvPr/>
          </p:nvSpPr>
          <p:spPr>
            <a:xfrm>
              <a:off x="6092499" y="5135563"/>
              <a:ext cx="539750" cy="539750"/>
            </a:xfrm>
            <a:prstGeom prst="ellipse">
              <a:avLst/>
            </a:prstGeom>
            <a:solidFill>
              <a:srgbClr val="718BE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36" name="Graphic 35">
              <a:extLst>
                <a:ext uri="{FF2B5EF4-FFF2-40B4-BE49-F238E27FC236}">
                  <a16:creationId xmlns:a16="http://schemas.microsoft.com/office/drawing/2014/main" id="{98C4A1E6-347B-B7C7-2901-42FD8AA2E91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182375" y="5226050"/>
              <a:ext cx="358775" cy="358775"/>
            </a:xfrm>
            <a:prstGeom prst="rect">
              <a:avLst/>
            </a:prstGeom>
          </p:spPr>
        </p:pic>
      </p:grpSp>
      <p:sp>
        <p:nvSpPr>
          <p:cNvPr id="8" name="Parallelogramm 18">
            <a:extLst>
              <a:ext uri="{FF2B5EF4-FFF2-40B4-BE49-F238E27FC236}">
                <a16:creationId xmlns:a16="http://schemas.microsoft.com/office/drawing/2014/main" id="{F54F7DCD-FCEB-6633-2B38-56DE79AA9201}"/>
              </a:ext>
            </a:extLst>
          </p:cNvPr>
          <p:cNvSpPr/>
          <p:nvPr/>
        </p:nvSpPr>
        <p:spPr>
          <a:xfrm>
            <a:off x="-2070124" y="1639441"/>
            <a:ext cx="1828694" cy="124915"/>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endParaRPr lang="de-DE" sz="1200" b="1" dirty="0">
              <a:solidFill>
                <a:schemeClr val="bg1"/>
              </a:solidFill>
            </a:endParaRPr>
          </a:p>
        </p:txBody>
      </p:sp>
      <p:sp>
        <p:nvSpPr>
          <p:cNvPr id="3" name="Text Placeholder 2">
            <a:extLst>
              <a:ext uri="{FF2B5EF4-FFF2-40B4-BE49-F238E27FC236}">
                <a16:creationId xmlns:a16="http://schemas.microsoft.com/office/drawing/2014/main" id="{32053B22-EF01-4D4A-A30D-94AEB26144B8}"/>
              </a:ext>
            </a:extLst>
          </p:cNvPr>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3653662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think-cell data - do not delete" hidden="1">
            <a:extLst>
              <a:ext uri="{FF2B5EF4-FFF2-40B4-BE49-F238E27FC236}">
                <a16:creationId xmlns:a16="http://schemas.microsoft.com/office/drawing/2014/main" id="{8EA0F6E5-829D-957F-980D-A34234CFD9CA}"/>
              </a:ext>
            </a:extLst>
          </p:cNvPr>
          <p:cNvGraphicFramePr>
            <a:graphicFrameLocks/>
          </p:cNvGraphicFramePr>
          <p:nvPr>
            <p:custDataLst>
              <p:tags r:id="rId1"/>
            </p:custDataLst>
            <p:extLst>
              <p:ext uri="{D42A27DB-BD31-4B8C-83A1-F6EECF244321}">
                <p14:modId xmlns:p14="http://schemas.microsoft.com/office/powerpoint/2010/main" val="38541637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29" name="think-cell data - do not delete" hidden="1">
                        <a:extLst>
                          <a:ext uri="{FF2B5EF4-FFF2-40B4-BE49-F238E27FC236}">
                            <a16:creationId xmlns:a16="http://schemas.microsoft.com/office/drawing/2014/main" id="{8EA0F6E5-829D-957F-980D-A34234CFD9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B1D7148-46E8-1526-76E1-8567D2242797}"/>
              </a:ext>
            </a:extLst>
          </p:cNvPr>
          <p:cNvSpPr>
            <a:spLocks noGrp="1"/>
          </p:cNvSpPr>
          <p:nvPr>
            <p:ph type="title"/>
          </p:nvPr>
        </p:nvSpPr>
        <p:spPr/>
        <p:txBody>
          <a:bodyPr vert="horz" rIns="0"/>
          <a:lstStyle/>
          <a:p>
            <a:r>
              <a:rPr lang="de-DE" dirty="0"/>
              <a:t>Tiefes Branchenwissen in Energie und Infrastruktur belegt durch unseren erfolgreichen Track </a:t>
            </a:r>
            <a:r>
              <a:rPr lang="de-DE" dirty="0" err="1"/>
              <a:t>Record</a:t>
            </a:r>
            <a:r>
              <a:rPr lang="de-DE" dirty="0"/>
              <a:t>  </a:t>
            </a:r>
          </a:p>
        </p:txBody>
      </p:sp>
      <p:sp>
        <p:nvSpPr>
          <p:cNvPr id="5" name="Text Placeholder 4">
            <a:extLst>
              <a:ext uri="{FF2B5EF4-FFF2-40B4-BE49-F238E27FC236}">
                <a16:creationId xmlns:a16="http://schemas.microsoft.com/office/drawing/2014/main" id="{9B02358C-1E8E-974A-1D86-44B019D2B281}"/>
              </a:ext>
            </a:extLst>
          </p:cNvPr>
          <p:cNvSpPr>
            <a:spLocks noGrp="1"/>
          </p:cNvSpPr>
          <p:nvPr>
            <p:ph type="body" sz="quarter" idx="14"/>
          </p:nvPr>
        </p:nvSpPr>
        <p:spPr/>
        <p:txBody>
          <a:bodyPr/>
          <a:lstStyle/>
          <a:p>
            <a:endParaRPr lang="de-DE" dirty="0"/>
          </a:p>
        </p:txBody>
      </p:sp>
      <p:sp>
        <p:nvSpPr>
          <p:cNvPr id="6" name="Text Placeholder 5">
            <a:extLst>
              <a:ext uri="{FF2B5EF4-FFF2-40B4-BE49-F238E27FC236}">
                <a16:creationId xmlns:a16="http://schemas.microsoft.com/office/drawing/2014/main" id="{D77275F8-1CDE-E7DF-DD8E-799B3EAEB6F2}"/>
              </a:ext>
            </a:extLst>
          </p:cNvPr>
          <p:cNvSpPr>
            <a:spLocks noGrp="1"/>
          </p:cNvSpPr>
          <p:nvPr>
            <p:ph type="body" sz="quarter" idx="15"/>
          </p:nvPr>
        </p:nvSpPr>
        <p:spPr/>
        <p:txBody>
          <a:bodyPr/>
          <a:lstStyle/>
          <a:p>
            <a:endParaRPr lang="de-DE" dirty="0"/>
          </a:p>
        </p:txBody>
      </p:sp>
      <p:sp>
        <p:nvSpPr>
          <p:cNvPr id="1027" name="Rectangle 1026">
            <a:extLst>
              <a:ext uri="{FF2B5EF4-FFF2-40B4-BE49-F238E27FC236}">
                <a16:creationId xmlns:a16="http://schemas.microsoft.com/office/drawing/2014/main" id="{106DCF05-124A-94F3-06C0-CA12B9E8223C}"/>
              </a:ext>
            </a:extLst>
          </p:cNvPr>
          <p:cNvSpPr>
            <a:spLocks noChangeAspect="1"/>
          </p:cNvSpPr>
          <p:nvPr/>
        </p:nvSpPr>
        <p:spPr>
          <a:xfrm>
            <a:off x="378700" y="1259840"/>
            <a:ext cx="3126516" cy="1943183"/>
          </a:xfrm>
          <a:prstGeom prst="rect">
            <a:avLst/>
          </a:prstGeom>
          <a:solidFill>
            <a:schemeClr val="accent6">
              <a:lumMod val="20000"/>
              <a:lumOff val="80000"/>
            </a:schemeClr>
          </a:solidFill>
          <a:ln w="1905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41" name="Rectangle 1040">
            <a:extLst>
              <a:ext uri="{FF2B5EF4-FFF2-40B4-BE49-F238E27FC236}">
                <a16:creationId xmlns:a16="http://schemas.microsoft.com/office/drawing/2014/main" id="{C43C5102-186D-1197-B859-2176983FAB88}"/>
              </a:ext>
            </a:extLst>
          </p:cNvPr>
          <p:cNvSpPr>
            <a:spLocks noChangeAspect="1"/>
          </p:cNvSpPr>
          <p:nvPr/>
        </p:nvSpPr>
        <p:spPr>
          <a:xfrm>
            <a:off x="378700" y="1293753"/>
            <a:ext cx="1209773" cy="83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900" b="1" dirty="0">
                <a:solidFill>
                  <a:schemeClr val="accent1"/>
                </a:solidFill>
              </a:rPr>
              <a:t>Aktuelle Mandate</a:t>
            </a:r>
          </a:p>
        </p:txBody>
      </p:sp>
      <p:grpSp>
        <p:nvGrpSpPr>
          <p:cNvPr id="1024" name="Group 1023">
            <a:extLst>
              <a:ext uri="{FF2B5EF4-FFF2-40B4-BE49-F238E27FC236}">
                <a16:creationId xmlns:a16="http://schemas.microsoft.com/office/drawing/2014/main" id="{E1E66883-74D4-E678-FE3A-28EF0CB7E397}"/>
              </a:ext>
            </a:extLst>
          </p:cNvPr>
          <p:cNvGrpSpPr>
            <a:grpSpLocks noChangeAspect="1"/>
          </p:cNvGrpSpPr>
          <p:nvPr/>
        </p:nvGrpSpPr>
        <p:grpSpPr>
          <a:xfrm>
            <a:off x="2124673" y="1487624"/>
            <a:ext cx="1305818" cy="1567636"/>
            <a:chOff x="449140" y="1980431"/>
            <a:chExt cx="1299874" cy="1560214"/>
          </a:xfrm>
        </p:grpSpPr>
        <p:pic>
          <p:nvPicPr>
            <p:cNvPr id="1026" name="Grafik 11">
              <a:extLst>
                <a:ext uri="{FF2B5EF4-FFF2-40B4-BE49-F238E27FC236}">
                  <a16:creationId xmlns:a16="http://schemas.microsoft.com/office/drawing/2014/main" id="{4A4AF64A-EA95-C720-ADC7-67CC9B6F71FA}"/>
                </a:ext>
              </a:extLst>
            </p:cNvPr>
            <p:cNvPicPr>
              <a:picLocks noChangeAspect="1"/>
            </p:cNvPicPr>
            <p:nvPr/>
          </p:nvPicPr>
          <p:blipFill>
            <a:blip r:embed="rId5"/>
            <a:stretch>
              <a:fillRect/>
            </a:stretch>
          </p:blipFill>
          <p:spPr>
            <a:xfrm>
              <a:off x="449140" y="1980431"/>
              <a:ext cx="1299874" cy="1560214"/>
            </a:xfrm>
            <a:prstGeom prst="rect">
              <a:avLst/>
            </a:prstGeom>
            <a:effectLst>
              <a:outerShdw blurRad="50800" dist="38100" dir="2700000" algn="tl" rotWithShape="0">
                <a:prstClr val="black">
                  <a:alpha val="40000"/>
                </a:prstClr>
              </a:outerShdw>
            </a:effectLst>
          </p:spPr>
        </p:pic>
        <p:sp>
          <p:nvSpPr>
            <p:cNvPr id="1028" name="Rectangle 1027">
              <a:extLst>
                <a:ext uri="{FF2B5EF4-FFF2-40B4-BE49-F238E27FC236}">
                  <a16:creationId xmlns:a16="http://schemas.microsoft.com/office/drawing/2014/main" id="{6F7F66C8-FECE-4EA9-37BB-568F14C359BF}"/>
                </a:ext>
              </a:extLst>
            </p:cNvPr>
            <p:cNvSpPr/>
            <p:nvPr/>
          </p:nvSpPr>
          <p:spPr>
            <a:xfrm>
              <a:off x="509327" y="2033164"/>
              <a:ext cx="1179500" cy="14547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t" anchorCtr="0"/>
            <a:lstStyle/>
            <a:p>
              <a:pPr algn="ctr"/>
              <a:r>
                <a:rPr lang="de-DE" sz="700" b="1" dirty="0">
                  <a:solidFill>
                    <a:schemeClr val="tx1"/>
                  </a:solidFill>
                </a:rPr>
                <a:t>M&amp;A Sell-Side Mandat</a:t>
              </a:r>
            </a:p>
            <a:p>
              <a:pPr algn="ctr"/>
              <a:endParaRPr lang="de-DE" sz="700" dirty="0">
                <a:solidFill>
                  <a:schemeClr val="tx1"/>
                </a:solidFill>
              </a:endParaRPr>
            </a:p>
            <a:p>
              <a:pPr algn="ctr"/>
              <a:r>
                <a:rPr lang="de-DE" sz="700" b="1" dirty="0">
                  <a:solidFill>
                    <a:schemeClr val="tx1"/>
                  </a:solidFill>
                </a:rPr>
                <a:t>Projekt FUJIN</a:t>
              </a:r>
            </a:p>
            <a:p>
              <a:pPr algn="ctr"/>
              <a:endParaRPr lang="de-DE" sz="700" dirty="0">
                <a:solidFill>
                  <a:schemeClr val="tx1"/>
                </a:solidFill>
              </a:endParaRPr>
            </a:p>
            <a:p>
              <a:pPr algn="ctr"/>
              <a:r>
                <a:rPr lang="de-DE" sz="700" dirty="0">
                  <a:solidFill>
                    <a:schemeClr val="tx1"/>
                  </a:solidFill>
                </a:rPr>
                <a:t>Beratung eines börsennotierten Unternehmens aus dem Bereich Erneuerbare Energien bei potenziellen Kapitalmaßnahmen</a:t>
              </a:r>
            </a:p>
          </p:txBody>
        </p:sp>
      </p:grpSp>
      <p:pic>
        <p:nvPicPr>
          <p:cNvPr id="1031" name="Picture 1030" descr="W:\UKOMM\GRAFIK\STYLE\Tombstones\Tombs_PNG\EnergieKontor_d_2013.png">
            <a:extLst>
              <a:ext uri="{FF2B5EF4-FFF2-40B4-BE49-F238E27FC236}">
                <a16:creationId xmlns:a16="http://schemas.microsoft.com/office/drawing/2014/main" id="{82F5FFDA-28EE-5E37-6E8B-A35F2AA6ECC1}"/>
              </a:ext>
            </a:extLst>
          </p:cNvPr>
          <p:cNvPicPr preferRelativeResize="0">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99557" y="5159625"/>
            <a:ext cx="1305827" cy="156699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2" name="Picture 2" descr="W:\UKOMM\GRAFIK\STYLE\Tombstones\Tombs_PNG\juwi_d_2014.png">
            <a:extLst>
              <a:ext uri="{FF2B5EF4-FFF2-40B4-BE49-F238E27FC236}">
                <a16:creationId xmlns:a16="http://schemas.microsoft.com/office/drawing/2014/main" id="{D2904DE1-5721-984E-C064-6856631D8EB3}"/>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99728" y="3328280"/>
            <a:ext cx="1305827" cy="156699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3" name="Picture 32" descr="\\fss.metzde.metzler.com\profilep$\mgl\Desktop\Breeze_d_2017.png">
            <a:extLst>
              <a:ext uri="{FF2B5EF4-FFF2-40B4-BE49-F238E27FC236}">
                <a16:creationId xmlns:a16="http://schemas.microsoft.com/office/drawing/2014/main" id="{572B5942-53E8-A67B-4999-4754579AC80C}"/>
              </a:ext>
            </a:extLst>
          </p:cNvPr>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7002" y="5158917"/>
            <a:ext cx="1305827" cy="156699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Grafik 10">
            <a:extLst>
              <a:ext uri="{FF2B5EF4-FFF2-40B4-BE49-F238E27FC236}">
                <a16:creationId xmlns:a16="http://schemas.microsoft.com/office/drawing/2014/main" id="{62CD24EE-392F-1EF9-40A4-F7ECDD3FB98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124021" y="5158935"/>
            <a:ext cx="1305827" cy="1567361"/>
          </a:xfrm>
          <a:prstGeom prst="rect">
            <a:avLst/>
          </a:prstGeom>
          <a:effectLst>
            <a:outerShdw blurRad="50800" dist="38100" dir="2700000" algn="tl" rotWithShape="0">
              <a:prstClr val="black">
                <a:alpha val="40000"/>
              </a:prstClr>
            </a:outerShdw>
          </a:effectLst>
        </p:spPr>
      </p:pic>
      <p:pic>
        <p:nvPicPr>
          <p:cNvPr id="1035" name="Picture 12" descr="\\fss.metzde.metzler.com\profilep$\mgl\Desktop\Ventotec_d_2017.png">
            <a:extLst>
              <a:ext uri="{FF2B5EF4-FFF2-40B4-BE49-F238E27FC236}">
                <a16:creationId xmlns:a16="http://schemas.microsoft.com/office/drawing/2014/main" id="{05EE92B8-CE26-7B32-A593-75A9FE2CFF22}"/>
              </a:ext>
            </a:extLst>
          </p:cNvPr>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87409" y="3328280"/>
            <a:ext cx="1305827" cy="156699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6" name="Grafik 11" descr="Ein Bild, das Text enthält.&#10;&#10;Automatisch generierte Beschreibung">
            <a:extLst>
              <a:ext uri="{FF2B5EF4-FFF2-40B4-BE49-F238E27FC236}">
                <a16:creationId xmlns:a16="http://schemas.microsoft.com/office/drawing/2014/main" id="{63A54D7B-1F3E-6457-6C11-A35616BF3618}"/>
              </a:ext>
            </a:extLst>
          </p:cNvPr>
          <p:cNvPicPr>
            <a:picLocks noChangeAspect="1"/>
          </p:cNvPicPr>
          <p:nvPr/>
        </p:nvPicPr>
        <p:blipFill>
          <a:blip r:embed="rId5"/>
          <a:stretch>
            <a:fillRect/>
          </a:stretch>
        </p:blipFill>
        <p:spPr>
          <a:xfrm>
            <a:off x="3812354" y="3324866"/>
            <a:ext cx="1305520" cy="1566993"/>
          </a:xfrm>
          <a:prstGeom prst="rect">
            <a:avLst/>
          </a:prstGeom>
          <a:effectLst>
            <a:outerShdw blurRad="50800" dist="38100" dir="2700000" algn="tl" rotWithShape="0">
              <a:prstClr val="black">
                <a:alpha val="40000"/>
              </a:prstClr>
            </a:outerShdw>
          </a:effectLst>
        </p:spPr>
      </p:pic>
      <p:grpSp>
        <p:nvGrpSpPr>
          <p:cNvPr id="1037" name="Group 1036">
            <a:extLst>
              <a:ext uri="{FF2B5EF4-FFF2-40B4-BE49-F238E27FC236}">
                <a16:creationId xmlns:a16="http://schemas.microsoft.com/office/drawing/2014/main" id="{4AFBB8A4-9B98-A08C-9B02-EE712A77572F}"/>
              </a:ext>
            </a:extLst>
          </p:cNvPr>
          <p:cNvGrpSpPr>
            <a:grpSpLocks noChangeAspect="1"/>
          </p:cNvGrpSpPr>
          <p:nvPr/>
        </p:nvGrpSpPr>
        <p:grpSpPr>
          <a:xfrm>
            <a:off x="2124673" y="3324866"/>
            <a:ext cx="1305827" cy="1566993"/>
            <a:chOff x="-974423" y="3246516"/>
            <a:chExt cx="1436410" cy="1723692"/>
          </a:xfrm>
        </p:grpSpPr>
        <p:grpSp>
          <p:nvGrpSpPr>
            <p:cNvPr id="1038" name="Group 1037">
              <a:extLst>
                <a:ext uri="{FF2B5EF4-FFF2-40B4-BE49-F238E27FC236}">
                  <a16:creationId xmlns:a16="http://schemas.microsoft.com/office/drawing/2014/main" id="{0D47E516-0073-E8A9-E7C7-889DBD90A906}"/>
                </a:ext>
              </a:extLst>
            </p:cNvPr>
            <p:cNvGrpSpPr/>
            <p:nvPr/>
          </p:nvGrpSpPr>
          <p:grpSpPr>
            <a:xfrm>
              <a:off x="-974423" y="3246516"/>
              <a:ext cx="1436410" cy="1723692"/>
              <a:chOff x="4962061" y="1332359"/>
              <a:chExt cx="1436410" cy="1723692"/>
            </a:xfrm>
          </p:grpSpPr>
          <p:pic>
            <p:nvPicPr>
              <p:cNvPr id="1040" name="Picture 12" descr="\\fss.metzde.metzler.com\profilep$\mgl\Desktop\Ventotec_d_2017.png">
                <a:extLst>
                  <a:ext uri="{FF2B5EF4-FFF2-40B4-BE49-F238E27FC236}">
                    <a16:creationId xmlns:a16="http://schemas.microsoft.com/office/drawing/2014/main" id="{81856965-F6B7-6064-A037-DA33D3B0DE0C}"/>
                  </a:ext>
                </a:extLst>
              </p:cNvPr>
              <p:cNvPicPr preferRelativeResize="0">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62061" y="1332359"/>
                <a:ext cx="1436410" cy="172369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2" name="Rectangle 1041">
                <a:extLst>
                  <a:ext uri="{FF2B5EF4-FFF2-40B4-BE49-F238E27FC236}">
                    <a16:creationId xmlns:a16="http://schemas.microsoft.com/office/drawing/2014/main" id="{FE2CC4E7-69C0-A9A1-C962-D648FB22679D}"/>
                  </a:ext>
                </a:extLst>
              </p:cNvPr>
              <p:cNvSpPr>
                <a:spLocks noChangeAspect="1"/>
              </p:cNvSpPr>
              <p:nvPr/>
            </p:nvSpPr>
            <p:spPr>
              <a:xfrm>
                <a:off x="5016080" y="1394469"/>
                <a:ext cx="1328371" cy="15974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0" bIns="72000" rtlCol="0" anchor="t" anchorCtr="0"/>
              <a:lstStyle/>
              <a:p>
                <a:pPr algn="ctr"/>
                <a:br>
                  <a:rPr lang="de-DE" sz="700" b="1" dirty="0">
                    <a:solidFill>
                      <a:schemeClr val="tx1"/>
                    </a:solidFill>
                  </a:rPr>
                </a:br>
                <a:endParaRPr lang="de-DE" sz="700" b="1" dirty="0">
                  <a:solidFill>
                    <a:schemeClr val="tx1"/>
                  </a:solidFill>
                </a:endParaRPr>
              </a:p>
              <a:p>
                <a:pPr algn="ctr"/>
                <a:r>
                  <a:rPr lang="de-DE" sz="600" b="1" dirty="0">
                    <a:solidFill>
                      <a:schemeClr val="tx1"/>
                    </a:solidFill>
                  </a:rPr>
                  <a:t>Dortmunder Energie- und Wasserversorgung GmbH</a:t>
                </a:r>
                <a:br>
                  <a:rPr lang="de-DE" sz="600" b="1" dirty="0">
                    <a:solidFill>
                      <a:schemeClr val="tx1"/>
                    </a:solidFill>
                  </a:rPr>
                </a:br>
                <a:r>
                  <a:rPr lang="de-DE" sz="600" b="1" dirty="0">
                    <a:solidFill>
                      <a:schemeClr val="tx1"/>
                    </a:solidFill>
                  </a:rPr>
                  <a:t>Dortmund</a:t>
                </a:r>
              </a:p>
              <a:p>
                <a:pPr algn="ctr"/>
                <a:endParaRPr lang="de-DE" sz="600" dirty="0">
                  <a:solidFill>
                    <a:schemeClr val="tx1"/>
                  </a:solidFill>
                </a:endParaRPr>
              </a:p>
              <a:p>
                <a:pPr algn="ctr">
                  <a:spcAft>
                    <a:spcPts val="1200"/>
                  </a:spcAft>
                </a:pPr>
                <a:r>
                  <a:rPr lang="de-DE" sz="500" dirty="0">
                    <a:solidFill>
                      <a:schemeClr val="tx1"/>
                    </a:solidFill>
                  </a:rPr>
                  <a:t>hat strategische Optionen zur Kapitalflexibilisierung geprüft und </a:t>
                </a:r>
                <a:br>
                  <a:rPr lang="de-DE" sz="500" dirty="0">
                    <a:solidFill>
                      <a:schemeClr val="tx1"/>
                    </a:solidFill>
                  </a:rPr>
                </a:br>
                <a:r>
                  <a:rPr lang="de-DE" sz="500" dirty="0">
                    <a:solidFill>
                      <a:schemeClr val="tx1"/>
                    </a:solidFill>
                  </a:rPr>
                  <a:t>eine Vermarktungsstrategie für das Erneuerbare Energien Portfolio erstellt. </a:t>
                </a:r>
                <a:br>
                  <a:rPr lang="de-DE" sz="500" dirty="0">
                    <a:solidFill>
                      <a:schemeClr val="tx1"/>
                    </a:solidFill>
                  </a:rPr>
                </a:br>
                <a:br>
                  <a:rPr lang="de-DE" sz="500" dirty="0">
                    <a:solidFill>
                      <a:schemeClr val="tx1"/>
                    </a:solidFill>
                  </a:rPr>
                </a:br>
                <a:br>
                  <a:rPr lang="de-DE" sz="500" dirty="0">
                    <a:solidFill>
                      <a:schemeClr val="tx1"/>
                    </a:solidFill>
                  </a:rPr>
                </a:br>
                <a:br>
                  <a:rPr lang="de-DE" sz="500" dirty="0">
                    <a:solidFill>
                      <a:schemeClr val="tx1"/>
                    </a:solidFill>
                  </a:rPr>
                </a:br>
                <a:r>
                  <a:rPr lang="de-DE" sz="500" dirty="0">
                    <a:solidFill>
                      <a:schemeClr val="tx1"/>
                    </a:solidFill>
                  </a:rPr>
                  <a:t>Wir haben den Vorstand der DEW21 dabei beraten.</a:t>
                </a:r>
              </a:p>
            </p:txBody>
          </p:sp>
        </p:grpSp>
        <p:pic>
          <p:nvPicPr>
            <p:cNvPr id="1039" name="Picture 2">
              <a:extLst>
                <a:ext uri="{FF2B5EF4-FFF2-40B4-BE49-F238E27FC236}">
                  <a16:creationId xmlns:a16="http://schemas.microsoft.com/office/drawing/2014/main" id="{75492608-0199-AB89-7B47-CA57576BB75A}"/>
                </a:ext>
              </a:extLst>
            </p:cNvPr>
            <p:cNvPicPr>
              <a:picLocks noChangeAspect="1" noChangeArrowheads="1"/>
            </p:cNvPicPr>
            <p:nvPr/>
          </p:nvPicPr>
          <p:blipFill rotWithShape="1">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t="32142" b="33423"/>
            <a:stretch/>
          </p:blipFill>
          <p:spPr bwMode="auto">
            <a:xfrm>
              <a:off x="-669352" y="3333348"/>
              <a:ext cx="826268" cy="284526"/>
            </a:xfrm>
            <a:prstGeom prst="rect">
              <a:avLst/>
            </a:prstGeom>
            <a:noFill/>
            <a:extLst>
              <a:ext uri="{909E8E84-426E-40DD-AFC4-6F175D3DCCD1}">
                <a14:hiddenFill xmlns:a14="http://schemas.microsoft.com/office/drawing/2010/main">
                  <a:solidFill>
                    <a:srgbClr val="FFFFFF"/>
                  </a:solidFill>
                </a14:hiddenFill>
              </a:ext>
            </a:extLst>
          </p:spPr>
        </p:pic>
      </p:grpSp>
      <p:pic>
        <p:nvPicPr>
          <p:cNvPr id="1046" name="Picture 1045">
            <a:extLst>
              <a:ext uri="{FF2B5EF4-FFF2-40B4-BE49-F238E27FC236}">
                <a16:creationId xmlns:a16="http://schemas.microsoft.com/office/drawing/2014/main" id="{C9C07EA4-355D-BF58-A10F-C601421814D0}"/>
              </a:ext>
            </a:extLst>
          </p:cNvPr>
          <p:cNvPicPr>
            <a:picLocks noChangeAspect="1"/>
          </p:cNvPicPr>
          <p:nvPr/>
        </p:nvPicPr>
        <p:blipFill>
          <a:blip r:embed="rId12"/>
          <a:stretch>
            <a:fillRect/>
          </a:stretch>
        </p:blipFill>
        <p:spPr>
          <a:xfrm>
            <a:off x="437001" y="3324898"/>
            <a:ext cx="1305818" cy="1567636"/>
          </a:xfrm>
          <a:prstGeom prst="rect">
            <a:avLst/>
          </a:prstGeom>
          <a:effectLst>
            <a:outerShdw blurRad="50800" dist="38100" dir="2700000" algn="tl" rotWithShape="0">
              <a:prstClr val="black">
                <a:alpha val="40000"/>
              </a:prstClr>
            </a:outerShdw>
          </a:effectLst>
        </p:spPr>
      </p:pic>
      <p:pic>
        <p:nvPicPr>
          <p:cNvPr id="1047" name="Picture 3" descr="W:\UKOMM\GRAFIK\STYLE\Tombstones\Tombs_PNG\steag_d_2015.png">
            <a:extLst>
              <a:ext uri="{FF2B5EF4-FFF2-40B4-BE49-F238E27FC236}">
                <a16:creationId xmlns:a16="http://schemas.microsoft.com/office/drawing/2014/main" id="{C0F5CE61-244A-B8CC-139A-83C5663806F1}"/>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811040" y="5159657"/>
            <a:ext cx="1307325" cy="15676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48" name="Picture 1047" descr="A white sign with blue text and black text&#10;&#10;AI-generated content may be incorrect.">
            <a:extLst>
              <a:ext uri="{FF2B5EF4-FFF2-40B4-BE49-F238E27FC236}">
                <a16:creationId xmlns:a16="http://schemas.microsoft.com/office/drawing/2014/main" id="{8BEDE821-DD74-D2F7-BD67-7254C8DB6CBA}"/>
              </a:ext>
            </a:extLst>
          </p:cNvPr>
          <p:cNvPicPr>
            <a:picLocks noChangeAspect="1"/>
          </p:cNvPicPr>
          <p:nvPr/>
        </p:nvPicPr>
        <p:blipFill>
          <a:blip r:embed="rId14"/>
          <a:stretch>
            <a:fillRect/>
          </a:stretch>
        </p:blipFill>
        <p:spPr>
          <a:xfrm>
            <a:off x="7188185" y="1486542"/>
            <a:ext cx="1306056" cy="1567636"/>
          </a:xfrm>
          <a:prstGeom prst="rect">
            <a:avLst/>
          </a:prstGeom>
          <a:effectLst>
            <a:outerShdw blurRad="50800" dist="38100" dir="2700000" algn="tl" rotWithShape="0">
              <a:prstClr val="black">
                <a:alpha val="40000"/>
              </a:prstClr>
            </a:outerShdw>
          </a:effectLst>
        </p:spPr>
      </p:pic>
      <p:pic>
        <p:nvPicPr>
          <p:cNvPr id="1055" name="Picture 1054">
            <a:extLst>
              <a:ext uri="{FF2B5EF4-FFF2-40B4-BE49-F238E27FC236}">
                <a16:creationId xmlns:a16="http://schemas.microsoft.com/office/drawing/2014/main" id="{E0B035E7-719B-6C3F-240E-5DE1B6B0A03E}"/>
              </a:ext>
            </a:extLst>
          </p:cNvPr>
          <p:cNvPicPr>
            <a:picLocks noChangeAspect="1"/>
          </p:cNvPicPr>
          <p:nvPr/>
        </p:nvPicPr>
        <p:blipFill>
          <a:blip r:embed="rId15"/>
          <a:stretch>
            <a:fillRect/>
          </a:stretch>
        </p:blipFill>
        <p:spPr>
          <a:xfrm>
            <a:off x="5498245" y="1486591"/>
            <a:ext cx="1309091" cy="1568619"/>
          </a:xfrm>
          <a:prstGeom prst="rect">
            <a:avLst/>
          </a:prstGeom>
          <a:effectLst>
            <a:outerShdw blurRad="50800" dist="38100" dir="2700000" algn="tl" rotWithShape="0">
              <a:prstClr val="black">
                <a:alpha val="40000"/>
              </a:prstClr>
            </a:outerShdw>
          </a:effectLst>
        </p:spPr>
      </p:pic>
      <p:sp>
        <p:nvSpPr>
          <p:cNvPr id="7" name="Text Placeholder 6">
            <a:extLst>
              <a:ext uri="{FF2B5EF4-FFF2-40B4-BE49-F238E27FC236}">
                <a16:creationId xmlns:a16="http://schemas.microsoft.com/office/drawing/2014/main" id="{80BBDA34-F039-9412-3BCC-16F477003E23}"/>
              </a:ext>
            </a:extLst>
          </p:cNvPr>
          <p:cNvSpPr>
            <a:spLocks noGrp="1"/>
          </p:cNvSpPr>
          <p:nvPr>
            <p:ph type="body" sz="quarter" idx="13"/>
          </p:nvPr>
        </p:nvSpPr>
        <p:spPr/>
        <p:txBody>
          <a:bodyPr/>
          <a:lstStyle/>
          <a:p>
            <a:r>
              <a:rPr lang="en-US" dirty="0"/>
              <a:t>1. </a:t>
            </a:r>
            <a:r>
              <a:rPr lang="de-DE" dirty="0"/>
              <a:t>Metzler Corporate Finance – Update seit 2024</a:t>
            </a:r>
            <a:endParaRPr lang="en-GB" dirty="0"/>
          </a:p>
        </p:txBody>
      </p:sp>
      <p:pic>
        <p:nvPicPr>
          <p:cNvPr id="9" name="Grafik 14" descr="Ein Bild, das Text, Screenshot, Schrift, Design enthält.&#10;&#10;KI-generierte Inhalte können fehlerhaft sein.">
            <a:extLst>
              <a:ext uri="{FF2B5EF4-FFF2-40B4-BE49-F238E27FC236}">
                <a16:creationId xmlns:a16="http://schemas.microsoft.com/office/drawing/2014/main" id="{EA8164E2-2B12-59B8-F497-0F41D206B923}"/>
              </a:ext>
            </a:extLst>
          </p:cNvPr>
          <p:cNvPicPr>
            <a:picLocks noChangeAspect="1"/>
          </p:cNvPicPr>
          <p:nvPr/>
        </p:nvPicPr>
        <p:blipFill>
          <a:blip r:embed="rId16"/>
          <a:stretch>
            <a:fillRect/>
          </a:stretch>
        </p:blipFill>
        <p:spPr>
          <a:xfrm>
            <a:off x="3811340" y="1487624"/>
            <a:ext cx="1306056" cy="1567636"/>
          </a:xfrm>
          <a:prstGeom prst="rect">
            <a:avLst/>
          </a:prstGeom>
          <a:effectLst>
            <a:outerShdw blurRad="50800" dist="38100" dir="2700000" algn="tl" rotWithShape="0">
              <a:prstClr val="black">
                <a:alpha val="40000"/>
              </a:prstClr>
            </a:outerShdw>
          </a:effectLst>
        </p:spPr>
      </p:pic>
      <p:pic>
        <p:nvPicPr>
          <p:cNvPr id="10" name="Picture 2" descr="W:\UKOMM\GRAFIK\STYLE\Tombstones\Tombs_PNG\MA_MVV_d_2013.png">
            <a:extLst>
              <a:ext uri="{FF2B5EF4-FFF2-40B4-BE49-F238E27FC236}">
                <a16:creationId xmlns:a16="http://schemas.microsoft.com/office/drawing/2014/main" id="{E47F5FB7-5CD0-648F-647D-81BFE0F0980C}"/>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7186576" y="5158949"/>
            <a:ext cx="1307324" cy="15676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FCDD9D2C-D7EA-3490-72FC-E62BEB0366DB}"/>
              </a:ext>
            </a:extLst>
          </p:cNvPr>
          <p:cNvGrpSpPr>
            <a:grpSpLocks noChangeAspect="1"/>
          </p:cNvGrpSpPr>
          <p:nvPr/>
        </p:nvGrpSpPr>
        <p:grpSpPr>
          <a:xfrm>
            <a:off x="435650" y="1486541"/>
            <a:ext cx="1305818" cy="1567636"/>
            <a:chOff x="449140" y="1980431"/>
            <a:chExt cx="1299874" cy="1560214"/>
          </a:xfrm>
        </p:grpSpPr>
        <p:pic>
          <p:nvPicPr>
            <p:cNvPr id="4" name="Grafik 11">
              <a:extLst>
                <a:ext uri="{FF2B5EF4-FFF2-40B4-BE49-F238E27FC236}">
                  <a16:creationId xmlns:a16="http://schemas.microsoft.com/office/drawing/2014/main" id="{680C0F7E-4BB3-E3E3-5427-89026EE80636}"/>
                </a:ext>
              </a:extLst>
            </p:cNvPr>
            <p:cNvPicPr>
              <a:picLocks noChangeAspect="1"/>
            </p:cNvPicPr>
            <p:nvPr/>
          </p:nvPicPr>
          <p:blipFill>
            <a:blip r:embed="rId5"/>
            <a:stretch>
              <a:fillRect/>
            </a:stretch>
          </p:blipFill>
          <p:spPr>
            <a:xfrm>
              <a:off x="449140" y="1980431"/>
              <a:ext cx="1299874" cy="1560214"/>
            </a:xfrm>
            <a:prstGeom prst="rect">
              <a:avLst/>
            </a:prstGeom>
            <a:effectLst>
              <a:outerShdw blurRad="50800" dist="38100" dir="2700000" algn="tl" rotWithShape="0">
                <a:prstClr val="black">
                  <a:alpha val="40000"/>
                </a:prstClr>
              </a:outerShdw>
            </a:effectLst>
          </p:spPr>
        </p:pic>
        <p:sp>
          <p:nvSpPr>
            <p:cNvPr id="8" name="Rectangle 7">
              <a:extLst>
                <a:ext uri="{FF2B5EF4-FFF2-40B4-BE49-F238E27FC236}">
                  <a16:creationId xmlns:a16="http://schemas.microsoft.com/office/drawing/2014/main" id="{81387C1B-5726-D017-A681-81C197751BBE}"/>
                </a:ext>
              </a:extLst>
            </p:cNvPr>
            <p:cNvSpPr/>
            <p:nvPr/>
          </p:nvSpPr>
          <p:spPr>
            <a:xfrm>
              <a:off x="509327" y="2033164"/>
              <a:ext cx="1179500" cy="14547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t" anchorCtr="0"/>
            <a:lstStyle/>
            <a:p>
              <a:pPr algn="ctr"/>
              <a:r>
                <a:rPr lang="de-DE" sz="700" b="1" dirty="0">
                  <a:solidFill>
                    <a:schemeClr val="tx1"/>
                  </a:solidFill>
                </a:rPr>
                <a:t>M&amp;A Sell-Side Mandat</a:t>
              </a:r>
            </a:p>
            <a:p>
              <a:pPr algn="ctr"/>
              <a:endParaRPr lang="de-DE" sz="700" dirty="0">
                <a:solidFill>
                  <a:schemeClr val="tx1"/>
                </a:solidFill>
              </a:endParaRPr>
            </a:p>
            <a:p>
              <a:pPr algn="ctr"/>
              <a:endParaRPr lang="de-DE" sz="700" dirty="0">
                <a:solidFill>
                  <a:schemeClr val="tx1"/>
                </a:solidFill>
              </a:endParaRPr>
            </a:p>
            <a:p>
              <a:pPr algn="ctr"/>
              <a:endParaRPr lang="de-DE" sz="700" dirty="0">
                <a:solidFill>
                  <a:schemeClr val="tx1"/>
                </a:solidFill>
              </a:endParaRPr>
            </a:p>
            <a:p>
              <a:pPr algn="ctr"/>
              <a:r>
                <a:rPr lang="de-DE" sz="700" noProof="0" dirty="0">
                  <a:solidFill>
                    <a:schemeClr val="tx1"/>
                  </a:solidFill>
                </a:rPr>
                <a:t>Beratung eines unabhängigen Bestandshalters/Entwicklers beim Verkauf eines signifikanten PV-/BESS Portfolios</a:t>
              </a:r>
              <a:endParaRPr lang="en-US" sz="700" noProof="0" dirty="0">
                <a:solidFill>
                  <a:schemeClr val="tx1"/>
                </a:solidFill>
              </a:endParaRPr>
            </a:p>
          </p:txBody>
        </p:sp>
      </p:grpSp>
      <p:pic>
        <p:nvPicPr>
          <p:cNvPr id="11" name="Picture 3" descr="W:\UKOMM\GRAFIK\STYLE\Tombstones\Tombs_PNG\Dusiburg_Oberhausen_d_2001.png">
            <a:extLst>
              <a:ext uri="{FF2B5EF4-FFF2-40B4-BE49-F238E27FC236}">
                <a16:creationId xmlns:a16="http://schemas.microsoft.com/office/drawing/2014/main" id="{0BD88851-B5AC-3BAB-B030-35896BFF5A70}"/>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875092" y="3321763"/>
            <a:ext cx="1306800" cy="15696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85E347AA-C39C-B3B7-DCEC-D166D3C6EE08}"/>
              </a:ext>
            </a:extLst>
          </p:cNvPr>
          <p:cNvGrpSpPr/>
          <p:nvPr/>
        </p:nvGrpSpPr>
        <p:grpSpPr>
          <a:xfrm>
            <a:off x="8875092" y="1486542"/>
            <a:ext cx="1306800" cy="1569600"/>
            <a:chOff x="0" y="1332359"/>
            <a:chExt cx="1436072" cy="1723692"/>
          </a:xfrm>
        </p:grpSpPr>
        <p:grpSp>
          <p:nvGrpSpPr>
            <p:cNvPr id="14" name="Group 13">
              <a:extLst>
                <a:ext uri="{FF2B5EF4-FFF2-40B4-BE49-F238E27FC236}">
                  <a16:creationId xmlns:a16="http://schemas.microsoft.com/office/drawing/2014/main" id="{8300A002-35F4-4D22-C7A3-288A7EDDC6DE}"/>
                </a:ext>
              </a:extLst>
            </p:cNvPr>
            <p:cNvGrpSpPr/>
            <p:nvPr/>
          </p:nvGrpSpPr>
          <p:grpSpPr>
            <a:xfrm>
              <a:off x="0" y="1332359"/>
              <a:ext cx="1436072" cy="1723692"/>
              <a:chOff x="4082937" y="1332359"/>
              <a:chExt cx="1436072" cy="1723692"/>
            </a:xfrm>
          </p:grpSpPr>
          <p:pic>
            <p:nvPicPr>
              <p:cNvPr id="16" name="Grafik 11" descr="Ein Bild, das Text enthält.&#10;&#10;Automatisch generierte Beschreibung">
                <a:extLst>
                  <a:ext uri="{FF2B5EF4-FFF2-40B4-BE49-F238E27FC236}">
                    <a16:creationId xmlns:a16="http://schemas.microsoft.com/office/drawing/2014/main" id="{75F35E22-52E9-EFD6-391B-E76F0646D2D9}"/>
                  </a:ext>
                </a:extLst>
              </p:cNvPr>
              <p:cNvPicPr>
                <a:picLocks noChangeAspect="1"/>
              </p:cNvPicPr>
              <p:nvPr/>
            </p:nvPicPr>
            <p:blipFill>
              <a:blip r:embed="rId19" cstate="hqprint">
                <a:extLst>
                  <a:ext uri="{28A0092B-C50C-407E-A947-70E740481C1C}">
                    <a14:useLocalDpi xmlns:a14="http://schemas.microsoft.com/office/drawing/2010/main"/>
                  </a:ext>
                </a:extLst>
              </a:blip>
              <a:stretch>
                <a:fillRect/>
              </a:stretch>
            </p:blipFill>
            <p:spPr>
              <a:xfrm>
                <a:off x="4082937" y="1332359"/>
                <a:ext cx="1436072" cy="1723692"/>
              </a:xfrm>
              <a:prstGeom prst="rect">
                <a:avLst/>
              </a:prstGeom>
              <a:effectLst>
                <a:outerShdw blurRad="50800" dist="38100" dir="2700000" algn="tl" rotWithShape="0">
                  <a:prstClr val="black">
                    <a:alpha val="40000"/>
                  </a:prstClr>
                </a:outerShdw>
              </a:effectLst>
            </p:spPr>
          </p:pic>
          <p:sp>
            <p:nvSpPr>
              <p:cNvPr id="17" name="Rectangle 16">
                <a:extLst>
                  <a:ext uri="{FF2B5EF4-FFF2-40B4-BE49-F238E27FC236}">
                    <a16:creationId xmlns:a16="http://schemas.microsoft.com/office/drawing/2014/main" id="{48EF9FBB-FB4B-2636-EB7F-EFB8012386AA}"/>
                  </a:ext>
                </a:extLst>
              </p:cNvPr>
              <p:cNvSpPr/>
              <p:nvPr/>
            </p:nvSpPr>
            <p:spPr>
              <a:xfrm>
                <a:off x="4143363" y="1402377"/>
                <a:ext cx="1315219" cy="15816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t" anchorCtr="0"/>
              <a:lstStyle/>
              <a:p>
                <a:pPr algn="ctr"/>
                <a:r>
                  <a:rPr lang="de-DE" sz="700" b="1" dirty="0">
                    <a:solidFill>
                      <a:schemeClr val="tx1"/>
                    </a:solidFill>
                  </a:rPr>
                  <a:t>M&amp;A Buy-Side Mandat</a:t>
                </a:r>
              </a:p>
              <a:p>
                <a:pPr algn="ctr"/>
                <a:endParaRPr lang="de-DE" sz="700" dirty="0">
                  <a:solidFill>
                    <a:schemeClr val="tx1"/>
                  </a:solidFill>
                </a:endParaRPr>
              </a:p>
              <a:p>
                <a:pPr algn="ctr"/>
                <a:endParaRPr lang="de-DE" sz="700" dirty="0">
                  <a:solidFill>
                    <a:schemeClr val="tx1"/>
                  </a:solidFill>
                </a:endParaRPr>
              </a:p>
              <a:p>
                <a:pPr algn="ctr"/>
                <a:endParaRPr lang="de-DE" sz="700" dirty="0">
                  <a:solidFill>
                    <a:schemeClr val="tx1"/>
                  </a:solidFill>
                </a:endParaRPr>
              </a:p>
              <a:p>
                <a:pPr algn="ctr"/>
                <a:endParaRPr lang="de-DE" sz="700" dirty="0">
                  <a:solidFill>
                    <a:schemeClr val="tx1"/>
                  </a:solidFill>
                </a:endParaRPr>
              </a:p>
              <a:p>
                <a:pPr algn="ctr"/>
                <a:endParaRPr lang="de-DE" sz="700" dirty="0">
                  <a:solidFill>
                    <a:schemeClr val="tx1"/>
                  </a:solidFill>
                </a:endParaRPr>
              </a:p>
              <a:p>
                <a:pPr algn="ctr"/>
                <a:br>
                  <a:rPr lang="de-DE" sz="700" dirty="0">
                    <a:solidFill>
                      <a:schemeClr val="tx1"/>
                    </a:solidFill>
                  </a:rPr>
                </a:br>
                <a:r>
                  <a:rPr lang="de-DE" sz="700" dirty="0">
                    <a:solidFill>
                      <a:schemeClr val="tx1"/>
                    </a:solidFill>
                  </a:rPr>
                  <a:t>Beratung eines französischen Fonds beim geplanten Erwerb von 51% an der Mainova </a:t>
                </a:r>
                <a:r>
                  <a:rPr lang="de-DE" sz="700" dirty="0" err="1">
                    <a:solidFill>
                      <a:schemeClr val="tx1"/>
                    </a:solidFill>
                  </a:rPr>
                  <a:t>Webhouse</a:t>
                </a:r>
                <a:endParaRPr lang="de-DE" sz="700" dirty="0">
                  <a:solidFill>
                    <a:schemeClr val="tx1"/>
                  </a:solidFill>
                </a:endParaRPr>
              </a:p>
            </p:txBody>
          </p:sp>
        </p:grpSp>
        <p:pic>
          <p:nvPicPr>
            <p:cNvPr id="15" name="Picture 2" descr="Partner-Information | German Datacenter Conference">
              <a:extLst>
                <a:ext uri="{FF2B5EF4-FFF2-40B4-BE49-F238E27FC236}">
                  <a16:creationId xmlns:a16="http://schemas.microsoft.com/office/drawing/2014/main" id="{55C94E00-6509-5FF6-E4FF-CA3F4F0E67E4}"/>
                </a:ext>
              </a:extLst>
            </p:cNvPr>
            <p:cNvPicPr>
              <a:picLocks noChangeAspect="1" noChangeArrowheads="1"/>
            </p:cNvPicPr>
            <p:nvPr/>
          </p:nvPicPr>
          <p:blipFill>
            <a:blip r:embed="rId20" cstate="hqprint">
              <a:extLst>
                <a:ext uri="{28A0092B-C50C-407E-A947-70E740481C1C}">
                  <a14:useLocalDpi xmlns:a14="http://schemas.microsoft.com/office/drawing/2010/main"/>
                </a:ext>
              </a:extLst>
            </a:blip>
            <a:srcRect/>
            <a:stretch>
              <a:fillRect/>
            </a:stretch>
          </p:blipFill>
          <p:spPr bwMode="auto">
            <a:xfrm>
              <a:off x="175209" y="1726352"/>
              <a:ext cx="1085654" cy="366345"/>
            </a:xfrm>
            <a:prstGeom prst="rect">
              <a:avLst/>
            </a:prstGeom>
            <a:noFill/>
            <a:extLst>
              <a:ext uri="{909E8E84-426E-40DD-AFC4-6F175D3DCCD1}">
                <a14:hiddenFill xmlns:a14="http://schemas.microsoft.com/office/drawing/2010/main">
                  <a:solidFill>
                    <a:srgbClr val="FFFFFF"/>
                  </a:solidFill>
                </a14:hiddenFill>
              </a:ext>
            </a:extLst>
          </p:spPr>
        </p:pic>
      </p:grpSp>
      <p:pic>
        <p:nvPicPr>
          <p:cNvPr id="18" name="Grafik 5" descr="Ein Bild, das Text enthält.&#10;&#10;Automatisch generierte Beschreibung">
            <a:extLst>
              <a:ext uri="{FF2B5EF4-FFF2-40B4-BE49-F238E27FC236}">
                <a16:creationId xmlns:a16="http://schemas.microsoft.com/office/drawing/2014/main" id="{0434E41B-D387-A74B-F05E-730318293156}"/>
              </a:ext>
            </a:extLst>
          </p:cNvPr>
          <p:cNvPicPr>
            <a:picLocks noChangeAspect="1"/>
          </p:cNvPicPr>
          <p:nvPr/>
        </p:nvPicPr>
        <p:blipFill>
          <a:blip r:embed="rId21" cstate="hqprint">
            <a:extLst>
              <a:ext uri="{28A0092B-C50C-407E-A947-70E740481C1C}">
                <a14:useLocalDpi xmlns:a14="http://schemas.microsoft.com/office/drawing/2010/main"/>
              </a:ext>
            </a:extLst>
          </a:blip>
          <a:stretch>
            <a:fillRect/>
          </a:stretch>
        </p:blipFill>
        <p:spPr>
          <a:xfrm>
            <a:off x="8875092" y="5156985"/>
            <a:ext cx="1307692" cy="15696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729277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D0EC9-0724-3C34-B449-32722B39C9B2}"/>
            </a:ext>
          </a:extLst>
        </p:cNvPr>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2AFF8547-88DB-1559-8DB6-E57AAABE1B0D}"/>
              </a:ext>
            </a:extLst>
          </p:cNvPr>
          <p:cNvGraphicFramePr>
            <a:graphicFrameLocks/>
          </p:cNvGraphicFramePr>
          <p:nvPr>
            <p:custDataLst>
              <p:tags r:id="rId1"/>
            </p:custDataLst>
            <p:extLst>
              <p:ext uri="{D42A27DB-BD31-4B8C-83A1-F6EECF244321}">
                <p14:modId xmlns:p14="http://schemas.microsoft.com/office/powerpoint/2010/main" val="1049541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9" name="Object 8" hidden="1">
                        <a:extLst>
                          <a:ext uri="{FF2B5EF4-FFF2-40B4-BE49-F238E27FC236}">
                            <a16:creationId xmlns:a16="http://schemas.microsoft.com/office/drawing/2014/main" id="{2AFF8547-88DB-1559-8DB6-E57AAABE1B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D6C22F1-35ED-589A-3E77-E32A217D4F1A}"/>
              </a:ext>
            </a:extLst>
          </p:cNvPr>
          <p:cNvSpPr>
            <a:spLocks noGrp="1"/>
          </p:cNvSpPr>
          <p:nvPr>
            <p:ph type="title"/>
          </p:nvPr>
        </p:nvSpPr>
        <p:spPr/>
        <p:txBody>
          <a:bodyPr vert="horz" rIns="0"/>
          <a:lstStyle/>
          <a:p>
            <a:r>
              <a:rPr lang="de-DE" dirty="0"/>
              <a:t>Case Study: Beratung der EWE beim vorgelagerten Carve-Out und dem anschließenden Verkauf der WCG an </a:t>
            </a:r>
            <a:r>
              <a:rPr lang="de-DE" dirty="0" err="1"/>
              <a:t>Pioneer</a:t>
            </a:r>
            <a:r>
              <a:rPr lang="de-DE" dirty="0"/>
              <a:t> Point Partners</a:t>
            </a:r>
          </a:p>
        </p:txBody>
      </p:sp>
      <p:sp>
        <p:nvSpPr>
          <p:cNvPr id="5" name="Text Placeholder 4">
            <a:extLst>
              <a:ext uri="{FF2B5EF4-FFF2-40B4-BE49-F238E27FC236}">
                <a16:creationId xmlns:a16="http://schemas.microsoft.com/office/drawing/2014/main" id="{A20FB69B-38C8-4D66-BC9C-15968132CC43}"/>
              </a:ext>
            </a:extLst>
          </p:cNvPr>
          <p:cNvSpPr>
            <a:spLocks noGrp="1"/>
          </p:cNvSpPr>
          <p:nvPr>
            <p:ph type="body" sz="quarter" idx="14"/>
          </p:nvPr>
        </p:nvSpPr>
        <p:spPr/>
        <p:txBody>
          <a:bodyPr/>
          <a:lstStyle/>
          <a:p>
            <a:endParaRPr lang="de-DE"/>
          </a:p>
        </p:txBody>
      </p:sp>
      <p:sp>
        <p:nvSpPr>
          <p:cNvPr id="6" name="Text Placeholder 5">
            <a:extLst>
              <a:ext uri="{FF2B5EF4-FFF2-40B4-BE49-F238E27FC236}">
                <a16:creationId xmlns:a16="http://schemas.microsoft.com/office/drawing/2014/main" id="{78BE80D1-F6F3-E118-2E8B-4CC422EF1776}"/>
              </a:ext>
            </a:extLst>
          </p:cNvPr>
          <p:cNvSpPr>
            <a:spLocks noGrp="1"/>
          </p:cNvSpPr>
          <p:nvPr>
            <p:ph type="body" sz="quarter" idx="15"/>
          </p:nvPr>
        </p:nvSpPr>
        <p:spPr/>
        <p:txBody>
          <a:bodyPr/>
          <a:lstStyle/>
          <a:p>
            <a:endParaRPr lang="de-DE"/>
          </a:p>
        </p:txBody>
      </p:sp>
      <p:grpSp>
        <p:nvGrpSpPr>
          <p:cNvPr id="3" name="Group 2">
            <a:extLst>
              <a:ext uri="{FF2B5EF4-FFF2-40B4-BE49-F238E27FC236}">
                <a16:creationId xmlns:a16="http://schemas.microsoft.com/office/drawing/2014/main" id="{4360A023-8A7C-40D6-6F77-13E967152772}"/>
              </a:ext>
            </a:extLst>
          </p:cNvPr>
          <p:cNvGrpSpPr/>
          <p:nvPr/>
        </p:nvGrpSpPr>
        <p:grpSpPr>
          <a:xfrm>
            <a:off x="378700" y="1420001"/>
            <a:ext cx="9936000" cy="5384966"/>
            <a:chOff x="378700" y="1332359"/>
            <a:chExt cx="9936000" cy="5384966"/>
          </a:xfrm>
        </p:grpSpPr>
        <p:pic>
          <p:nvPicPr>
            <p:cNvPr id="15" name="Picture 14">
              <a:extLst>
                <a:ext uri="{FF2B5EF4-FFF2-40B4-BE49-F238E27FC236}">
                  <a16:creationId xmlns:a16="http://schemas.microsoft.com/office/drawing/2014/main" id="{76F6F322-953F-B2E5-6F08-9379F8A0E0CD}"/>
                </a:ext>
              </a:extLst>
            </p:cNvPr>
            <p:cNvPicPr>
              <a:picLocks noChangeAspect="1"/>
            </p:cNvPicPr>
            <p:nvPr/>
          </p:nvPicPr>
          <p:blipFill>
            <a:blip r:embed="rId5"/>
            <a:srcRect l="2211" t="33612" r="2211" b="1644"/>
            <a:stretch>
              <a:fillRect/>
            </a:stretch>
          </p:blipFill>
          <p:spPr>
            <a:xfrm>
              <a:off x="378700" y="1332359"/>
              <a:ext cx="9936000" cy="5384966"/>
            </a:xfrm>
            <a:custGeom>
              <a:avLst/>
              <a:gdLst>
                <a:gd name="connsiteX0" fmla="*/ 0 w 9936000"/>
                <a:gd name="connsiteY0" fmla="*/ 0 h 5384966"/>
                <a:gd name="connsiteX1" fmla="*/ 9936000 w 9936000"/>
                <a:gd name="connsiteY1" fmla="*/ 0 h 5384966"/>
                <a:gd name="connsiteX2" fmla="*/ 9936000 w 9936000"/>
                <a:gd name="connsiteY2" fmla="*/ 5384966 h 5384966"/>
                <a:gd name="connsiteX3" fmla="*/ 0 w 9936000"/>
                <a:gd name="connsiteY3" fmla="*/ 5384966 h 5384966"/>
              </a:gdLst>
              <a:ahLst/>
              <a:cxnLst>
                <a:cxn ang="0">
                  <a:pos x="connsiteX0" y="connsiteY0"/>
                </a:cxn>
                <a:cxn ang="0">
                  <a:pos x="connsiteX1" y="connsiteY1"/>
                </a:cxn>
                <a:cxn ang="0">
                  <a:pos x="connsiteX2" y="connsiteY2"/>
                </a:cxn>
                <a:cxn ang="0">
                  <a:pos x="connsiteX3" y="connsiteY3"/>
                </a:cxn>
              </a:cxnLst>
              <a:rect l="l" t="t" r="r" b="b"/>
              <a:pathLst>
                <a:path w="9936000" h="5384966">
                  <a:moveTo>
                    <a:pt x="0" y="0"/>
                  </a:moveTo>
                  <a:lnTo>
                    <a:pt x="9936000" y="0"/>
                  </a:lnTo>
                  <a:lnTo>
                    <a:pt x="9936000" y="5384966"/>
                  </a:lnTo>
                  <a:lnTo>
                    <a:pt x="0" y="5384966"/>
                  </a:lnTo>
                  <a:close/>
                </a:path>
              </a:pathLst>
            </a:custGeom>
          </p:spPr>
        </p:pic>
        <p:cxnSp>
          <p:nvCxnSpPr>
            <p:cNvPr id="13" name="Straight Connector 12">
              <a:extLst>
                <a:ext uri="{FF2B5EF4-FFF2-40B4-BE49-F238E27FC236}">
                  <a16:creationId xmlns:a16="http://schemas.microsoft.com/office/drawing/2014/main" id="{7779DF61-F6FD-EF2D-165B-AD3520865FD8}"/>
                </a:ext>
              </a:extLst>
            </p:cNvPr>
            <p:cNvCxnSpPr>
              <a:cxnSpLocks/>
            </p:cNvCxnSpPr>
            <p:nvPr/>
          </p:nvCxnSpPr>
          <p:spPr>
            <a:xfrm>
              <a:off x="2768207" y="1504842"/>
              <a:ext cx="0" cy="5040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6C73D9E-3630-A878-8F64-3166CF01105A}"/>
                </a:ext>
              </a:extLst>
            </p:cNvPr>
            <p:cNvSpPr/>
            <p:nvPr/>
          </p:nvSpPr>
          <p:spPr>
            <a:xfrm>
              <a:off x="2923453" y="1504842"/>
              <a:ext cx="7236000" cy="5040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indent="0">
                <a:spcBef>
                  <a:spcPts val="600"/>
                </a:spcBef>
                <a:spcAft>
                  <a:spcPts val="600"/>
                </a:spcAft>
                <a:buClrTx/>
                <a:buNone/>
              </a:pPr>
              <a:r>
                <a:rPr lang="de-DE" sz="1000" b="1" dirty="0">
                  <a:solidFill>
                    <a:srgbClr val="003D7C"/>
                  </a:solidFill>
                </a:rPr>
                <a:t>Transaktion</a:t>
              </a:r>
            </a:p>
            <a:p>
              <a:pPr marL="177800" indent="-177800">
                <a:spcAft>
                  <a:spcPts val="400"/>
                </a:spcAft>
                <a:buClr>
                  <a:schemeClr val="accent1"/>
                </a:buClr>
                <a:buFont typeface="Wingdings" pitchFamily="2" charset="2"/>
                <a:buChar char="n"/>
              </a:pPr>
              <a:r>
                <a:rPr lang="de-DE" sz="1000" dirty="0">
                  <a:solidFill>
                    <a:schemeClr val="tx1"/>
                  </a:solidFill>
                </a:rPr>
                <a:t>Vorgelagerter Carve-out des Wärme-</a:t>
              </a:r>
              <a:r>
                <a:rPr lang="de-DE" sz="1000" dirty="0" err="1">
                  <a:solidFill>
                    <a:schemeClr val="tx1"/>
                  </a:solidFill>
                </a:rPr>
                <a:t>Contracting</a:t>
              </a:r>
              <a:r>
                <a:rPr lang="de-DE" sz="1000" dirty="0">
                  <a:solidFill>
                    <a:schemeClr val="tx1"/>
                  </a:solidFill>
                </a:rPr>
                <a:t> Geschäfts der EWE AG ("EWE") und anschließender Verkauf sämtlicher Anteile der WCG Wärme </a:t>
              </a:r>
              <a:r>
                <a:rPr lang="de-DE" sz="1000" dirty="0" err="1">
                  <a:solidFill>
                    <a:schemeClr val="tx1"/>
                  </a:solidFill>
                </a:rPr>
                <a:t>Contracting</a:t>
              </a:r>
              <a:r>
                <a:rPr lang="de-DE" sz="1000" dirty="0">
                  <a:solidFill>
                    <a:schemeClr val="tx1"/>
                  </a:solidFill>
                </a:rPr>
                <a:t> GmbH ("WCG") an durch Pioneer Point Partners LLP beratene Fonds</a:t>
              </a:r>
            </a:p>
            <a:p>
              <a:pPr marL="177800" indent="-177800">
                <a:spcAft>
                  <a:spcPts val="400"/>
                </a:spcAft>
                <a:buClr>
                  <a:schemeClr val="accent1"/>
                </a:buClr>
                <a:buFont typeface="Wingdings" pitchFamily="2" charset="2"/>
                <a:buChar char="n"/>
              </a:pPr>
              <a:r>
                <a:rPr lang="de-DE" sz="1000" dirty="0">
                  <a:solidFill>
                    <a:schemeClr val="tx1"/>
                  </a:solidFill>
                </a:rPr>
                <a:t>WCG zählt zu den führenden Anbietern im deutschen Markt für Privatkunden Wärme-</a:t>
              </a:r>
              <a:r>
                <a:rPr lang="de-DE" sz="1000" dirty="0" err="1">
                  <a:solidFill>
                    <a:schemeClr val="tx1"/>
                  </a:solidFill>
                </a:rPr>
                <a:t>Contracting</a:t>
              </a:r>
              <a:r>
                <a:rPr lang="de-DE" sz="1000" dirty="0">
                  <a:solidFill>
                    <a:schemeClr val="tx1"/>
                  </a:solidFill>
                </a:rPr>
                <a:t> und versorgt rund 21.000 Kunden, überwiegend in ländlichen Regionen Norddeutschlands</a:t>
              </a:r>
            </a:p>
            <a:p>
              <a:pPr marL="177800" indent="-177800">
                <a:spcAft>
                  <a:spcPts val="400"/>
                </a:spcAft>
                <a:buClr>
                  <a:schemeClr val="accent1"/>
                </a:buClr>
                <a:buFont typeface="Wingdings" pitchFamily="2" charset="2"/>
                <a:buChar char="n"/>
              </a:pPr>
              <a:r>
                <a:rPr lang="de-DE" sz="1000" dirty="0">
                  <a:solidFill>
                    <a:schemeClr val="tx1"/>
                  </a:solidFill>
                </a:rPr>
                <a:t>WCG bietet ein integriertes "Heat-</a:t>
              </a:r>
              <a:r>
                <a:rPr lang="de-DE" sz="1000" dirty="0" err="1">
                  <a:solidFill>
                    <a:schemeClr val="tx1"/>
                  </a:solidFill>
                </a:rPr>
                <a:t>as</a:t>
              </a:r>
              <a:r>
                <a:rPr lang="de-DE" sz="1000" dirty="0">
                  <a:solidFill>
                    <a:schemeClr val="tx1"/>
                  </a:solidFill>
                </a:rPr>
                <a:t>-a-Service"-Modell und hat das Angebot um Wärmepumpenlösungen für Privathaushalte erweitert</a:t>
              </a:r>
            </a:p>
            <a:p>
              <a:pPr marL="177800" indent="-177800">
                <a:spcAft>
                  <a:spcPts val="400"/>
                </a:spcAft>
                <a:buClr>
                  <a:schemeClr val="accent1"/>
                </a:buClr>
                <a:buFont typeface="Wingdings" pitchFamily="2" charset="2"/>
                <a:buChar char="n"/>
              </a:pPr>
              <a:r>
                <a:rPr lang="de-DE" sz="1000" dirty="0">
                  <a:solidFill>
                    <a:schemeClr val="tx1"/>
                  </a:solidFill>
                  <a:latin typeface="Univers for Metzler Light"/>
                </a:rPr>
                <a:t>Gezielte Ansprache von ca. 50 nationalen und internationalen Investoren – sowohl Finanzinvestoren wie auch Strategen</a:t>
              </a:r>
              <a:endParaRPr lang="de-DE" sz="1000" dirty="0">
                <a:solidFill>
                  <a:srgbClr val="FF0000"/>
                </a:solidFill>
              </a:endParaRPr>
            </a:p>
            <a:p>
              <a:pPr>
                <a:spcBef>
                  <a:spcPts val="600"/>
                </a:spcBef>
                <a:spcAft>
                  <a:spcPts val="300"/>
                </a:spcAft>
              </a:pPr>
              <a:r>
                <a:rPr lang="de-DE" sz="1000" b="1" dirty="0">
                  <a:solidFill>
                    <a:srgbClr val="003D7C"/>
                  </a:solidFill>
                </a:rPr>
                <a:t>Rolle Metzler</a:t>
              </a:r>
            </a:p>
            <a:p>
              <a:pPr marL="174625" marR="0" lvl="0" indent="-174625" defTabSz="1043056" eaLnBrk="1" fontAlgn="auto" latinLnBrk="0" hangingPunct="1">
                <a:lnSpc>
                  <a:spcPct val="100000"/>
                </a:lnSpc>
                <a:spcAft>
                  <a:spcPts val="400"/>
                </a:spcAft>
                <a:buClr>
                  <a:srgbClr val="003D7C"/>
                </a:buClr>
                <a:buSzTx/>
                <a:buFont typeface="Wingdings" pitchFamily="2" charset="2"/>
                <a:buChar char="n"/>
                <a:tabLst/>
                <a:defRPr/>
              </a:pPr>
              <a:r>
                <a:rPr lang="de-DE" sz="1000" dirty="0">
                  <a:solidFill>
                    <a:schemeClr val="tx1"/>
                  </a:solidFill>
                  <a:latin typeface="Univers for Metzler Light"/>
                </a:rPr>
                <a:t>Metzler unterstützte den Veräußerer bei der Durchführung der Transaktion als exklusiver M&amp;A-Berater</a:t>
              </a:r>
            </a:p>
            <a:p>
              <a:pPr marL="174625" marR="0" lvl="0" indent="-174625" defTabSz="1043056" eaLnBrk="1" fontAlgn="auto" latinLnBrk="0" hangingPunct="1">
                <a:lnSpc>
                  <a:spcPct val="100000"/>
                </a:lnSpc>
                <a:spcAft>
                  <a:spcPts val="400"/>
                </a:spcAft>
                <a:buClr>
                  <a:srgbClr val="003D7C"/>
                </a:buClr>
                <a:buSzTx/>
                <a:buFont typeface="Wingdings" pitchFamily="2" charset="2"/>
                <a:buChar char="n"/>
                <a:tabLst/>
                <a:defRPr/>
              </a:pPr>
              <a:r>
                <a:rPr lang="de-DE" sz="1000" dirty="0">
                  <a:solidFill>
                    <a:schemeClr val="tx1"/>
                  </a:solidFill>
                  <a:latin typeface="Univers for Metzler Light"/>
                </a:rPr>
                <a:t>Im Rahmen der Transaktion übernahm Metzler insbesondere die folgenden M&amp;A-Beratungsleistungen:</a:t>
              </a:r>
            </a:p>
            <a:p>
              <a:pPr marL="358775" indent="-176213">
                <a:spcAft>
                  <a:spcPts val="400"/>
                </a:spcAft>
                <a:buClr>
                  <a:srgbClr val="003D7C"/>
                </a:buClr>
                <a:buFont typeface="Univers for Metzler Light" panose="020B0403030202020203" pitchFamily="34" charset="0"/>
                <a:buChar char="–"/>
                <a:defRPr/>
              </a:pPr>
              <a:r>
                <a:rPr lang="de-DE" sz="1000" dirty="0">
                  <a:solidFill>
                    <a:schemeClr val="tx1"/>
                  </a:solidFill>
                  <a:latin typeface="Univers for Metzler Light"/>
                </a:rPr>
                <a:t>Mitgestaltung des Carve-Outs zur Optimierung der Equity Story im Rahmen des Verkaufs</a:t>
              </a:r>
            </a:p>
            <a:p>
              <a:pPr marL="358775" indent="-176213">
                <a:spcAft>
                  <a:spcPts val="400"/>
                </a:spcAft>
                <a:buClr>
                  <a:srgbClr val="003D7C"/>
                </a:buClr>
                <a:buFont typeface="Univers for Metzler Light" panose="020B0403030202020203" pitchFamily="34" charset="0"/>
                <a:buChar char="–"/>
                <a:defRPr/>
              </a:pPr>
              <a:r>
                <a:rPr lang="de-DE" sz="1000" dirty="0">
                  <a:solidFill>
                    <a:schemeClr val="tx1"/>
                  </a:solidFill>
                </a:rPr>
                <a:t>Beratung und Unterstützung bei der Strukturierung der Transaktion sowie bei der Entwicklung des Investment Case </a:t>
              </a:r>
            </a:p>
            <a:p>
              <a:pPr marL="358775" indent="-176213">
                <a:spcAft>
                  <a:spcPts val="400"/>
                </a:spcAft>
                <a:buClr>
                  <a:srgbClr val="003D7C"/>
                </a:buClr>
                <a:buFont typeface="Univers for Metzler Light" panose="020B0403030202020203" pitchFamily="34" charset="0"/>
                <a:buChar char="–"/>
                <a:defRPr/>
              </a:pPr>
              <a:r>
                <a:rPr lang="de-DE" sz="1000" dirty="0">
                  <a:solidFill>
                    <a:schemeClr val="tx1"/>
                  </a:solidFill>
                  <a:latin typeface="Univers for Metzler Light"/>
                </a:rPr>
                <a:t>Erstellung von Vermarktungsunterlagen, Prozessdokumenten sowie eines Finanzmodells</a:t>
              </a:r>
            </a:p>
            <a:p>
              <a:pPr marL="358775" indent="-176213">
                <a:spcAft>
                  <a:spcPts val="400"/>
                </a:spcAft>
                <a:buClr>
                  <a:srgbClr val="003D7C"/>
                </a:buClr>
                <a:buFont typeface="Univers for Metzler Light" panose="020B0403030202020203" pitchFamily="34" charset="0"/>
                <a:buChar char="–"/>
                <a:defRPr/>
              </a:pPr>
              <a:r>
                <a:rPr lang="de-DE" sz="1000" dirty="0">
                  <a:solidFill>
                    <a:schemeClr val="tx1"/>
                  </a:solidFill>
                </a:rPr>
                <a:t>Erstellung von Entscheidungsvorlagen sowie Empfehlungen hinsichtlich Verhandlungsstrategien und -taktiken </a:t>
              </a:r>
            </a:p>
            <a:p>
              <a:pPr marL="358775" indent="-176213">
                <a:spcAft>
                  <a:spcPts val="400"/>
                </a:spcAft>
                <a:buClr>
                  <a:srgbClr val="003D7C"/>
                </a:buClr>
                <a:buFont typeface="Univers for Metzler Light" panose="020B0403030202020203" pitchFamily="34" charset="0"/>
                <a:buChar char="–"/>
                <a:defRPr/>
              </a:pPr>
              <a:r>
                <a:rPr lang="de-DE" sz="1000" dirty="0">
                  <a:solidFill>
                    <a:schemeClr val="tx1"/>
                  </a:solidFill>
                </a:rPr>
                <a:t>Koordination des Investorenprozesses sowie Organisation und Steuerung der Due Diligence </a:t>
              </a:r>
            </a:p>
            <a:p>
              <a:pPr marL="358775" indent="-176213">
                <a:spcAft>
                  <a:spcPts val="400"/>
                </a:spcAft>
                <a:buClr>
                  <a:srgbClr val="003D7C"/>
                </a:buClr>
                <a:buFont typeface="Univers for Metzler Light" panose="020B0403030202020203" pitchFamily="34" charset="0"/>
                <a:buChar char="–"/>
                <a:defRPr/>
              </a:pPr>
              <a:r>
                <a:rPr lang="de-DE" sz="1000" dirty="0">
                  <a:solidFill>
                    <a:schemeClr val="tx1"/>
                  </a:solidFill>
                </a:rPr>
                <a:t>Unterstützung bei Verhandlungen und Gesprächen mit der Käuferseite </a:t>
              </a:r>
            </a:p>
            <a:p>
              <a:pPr marL="358775" indent="-176213">
                <a:spcAft>
                  <a:spcPts val="400"/>
                </a:spcAft>
                <a:buClr>
                  <a:srgbClr val="003D7C"/>
                </a:buClr>
                <a:buFont typeface="Univers for Metzler Light" panose="020B0403030202020203" pitchFamily="34" charset="0"/>
                <a:buChar char="–"/>
                <a:defRPr/>
              </a:pPr>
              <a:r>
                <a:rPr lang="de-DE" sz="1000" dirty="0">
                  <a:solidFill>
                    <a:schemeClr val="tx1"/>
                  </a:solidFill>
                </a:rPr>
                <a:t>Beratung bei finanzwirtschaftlichen und kaufmännischen Aspekten des Kaufvertrages</a:t>
              </a:r>
            </a:p>
            <a:p>
              <a:pPr>
                <a:spcBef>
                  <a:spcPts val="600"/>
                </a:spcBef>
                <a:spcAft>
                  <a:spcPts val="300"/>
                </a:spcAft>
                <a:buClr>
                  <a:srgbClr val="003D7C"/>
                </a:buClr>
                <a:defRPr/>
              </a:pPr>
              <a:endParaRPr lang="de-DE" sz="1000" dirty="0">
                <a:solidFill>
                  <a:schemeClr val="tx1"/>
                </a:solidFill>
              </a:endParaRPr>
            </a:p>
          </p:txBody>
        </p:sp>
      </p:grpSp>
      <p:sp>
        <p:nvSpPr>
          <p:cNvPr id="8" name="Text Placeholder 7">
            <a:extLst>
              <a:ext uri="{FF2B5EF4-FFF2-40B4-BE49-F238E27FC236}">
                <a16:creationId xmlns:a16="http://schemas.microsoft.com/office/drawing/2014/main" id="{508E6354-8C43-DAF1-06E0-5A518339D87A}"/>
              </a:ext>
            </a:extLst>
          </p:cNvPr>
          <p:cNvSpPr>
            <a:spLocks noGrp="1"/>
          </p:cNvSpPr>
          <p:nvPr>
            <p:ph type="body" sz="quarter" idx="13"/>
          </p:nvPr>
        </p:nvSpPr>
        <p:spPr/>
        <p:txBody>
          <a:bodyPr vert="horz" lIns="0" tIns="0" rIns="0" bIns="0" rtlCol="0" anchor="t" anchorCtr="0">
            <a:noAutofit/>
          </a:bodyPr>
          <a:lstStyle/>
          <a:p>
            <a:r>
              <a:rPr lang="en-US" dirty="0"/>
              <a:t>1. </a:t>
            </a:r>
            <a:r>
              <a:rPr lang="de-DE" dirty="0"/>
              <a:t>Metzler Corporate Finance – Update seit 2024</a:t>
            </a:r>
          </a:p>
        </p:txBody>
      </p:sp>
      <p:pic>
        <p:nvPicPr>
          <p:cNvPr id="4" name="Picture 3">
            <a:extLst>
              <a:ext uri="{FF2B5EF4-FFF2-40B4-BE49-F238E27FC236}">
                <a16:creationId xmlns:a16="http://schemas.microsoft.com/office/drawing/2014/main" id="{5E82BA2A-4C2D-BBA5-D9B2-996BEC6B910D}"/>
              </a:ext>
            </a:extLst>
          </p:cNvPr>
          <p:cNvPicPr>
            <a:picLocks noChangeAspect="1"/>
          </p:cNvPicPr>
          <p:nvPr/>
        </p:nvPicPr>
        <p:blipFill>
          <a:blip r:embed="rId6">
            <a:alphaModFix amt="95000"/>
          </a:blip>
          <a:stretch>
            <a:fillRect/>
          </a:stretch>
        </p:blipFill>
        <p:spPr>
          <a:xfrm>
            <a:off x="568689" y="2903535"/>
            <a:ext cx="2008800" cy="2411127"/>
          </a:xfrm>
          <a:prstGeom prst="rect">
            <a:avLst/>
          </a:prstGeom>
          <a:noFill/>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90645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A72F804B-E7C6-4140-BDD4-08071892B43C}"/>
              </a:ext>
            </a:extLst>
          </p:cNvPr>
          <p:cNvGraphicFramePr>
            <a:graphicFrameLocks/>
          </p:cNvGraphicFramePr>
          <p:nvPr>
            <p:custDataLst>
              <p:tags r:id="rId1"/>
            </p:custDataLst>
            <p:extLst>
              <p:ext uri="{D42A27DB-BD31-4B8C-83A1-F6EECF244321}">
                <p14:modId xmlns:p14="http://schemas.microsoft.com/office/powerpoint/2010/main" val="15748186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9" name="Object 8" hidden="1">
                        <a:extLst>
                          <a:ext uri="{FF2B5EF4-FFF2-40B4-BE49-F238E27FC236}">
                            <a16:creationId xmlns:a16="http://schemas.microsoft.com/office/drawing/2014/main" id="{A72F804B-E7C6-4140-BDD4-08071892B4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1" name="Picture 2" descr="WIND-projekt Ingenieur- und Projektentwicklungsgesellschaft mbH | LinkedIn">
            <a:extLst>
              <a:ext uri="{FF2B5EF4-FFF2-40B4-BE49-F238E27FC236}">
                <a16:creationId xmlns:a16="http://schemas.microsoft.com/office/drawing/2014/main" id="{1DCC6819-D9FD-DFE2-1C99-E799E3ACA4F4}"/>
              </a:ext>
            </a:extLst>
          </p:cNvPr>
          <p:cNvPicPr>
            <a:picLocks noChangeAspect="1" noChangeArrowheads="1"/>
          </p:cNvPicPr>
          <p:nvPr/>
        </p:nvPicPr>
        <p:blipFill rotWithShape="1">
          <a:blip r:embed="rId5" cstate="hqprint">
            <a:extLst>
              <a:ext uri="{28A0092B-C50C-407E-A947-70E740481C1C}">
                <a14:useLocalDpi xmlns:a14="http://schemas.microsoft.com/office/drawing/2010/main"/>
              </a:ext>
            </a:extLst>
          </a:blip>
          <a:srcRect t="11211" b="15448"/>
          <a:stretch/>
        </p:blipFill>
        <p:spPr bwMode="auto">
          <a:xfrm>
            <a:off x="378700" y="1340618"/>
            <a:ext cx="9936000" cy="5464995"/>
          </a:xfrm>
          <a:prstGeom prst="rect">
            <a:avLst/>
          </a:prstGeom>
          <a:noFill/>
          <a:extLst>
            <a:ext uri="{909E8E84-426E-40DD-AFC4-6F175D3DCCD1}">
              <a14:hiddenFill xmlns:a14="http://schemas.microsoft.com/office/drawing/2010/main">
                <a:solidFill>
                  <a:srgbClr val="FFFFFF"/>
                </a:solidFill>
              </a14:hiddenFill>
            </a:ext>
          </a:extLst>
        </p:spPr>
      </p:pic>
      <p:pic>
        <p:nvPicPr>
          <p:cNvPr id="4" name="Grafik 14" descr="Ein Bild, das Text, Screenshot, Schrift, Design enthält.&#10;&#10;KI-generierte Inhalte können fehlerhaft sein.">
            <a:extLst>
              <a:ext uri="{FF2B5EF4-FFF2-40B4-BE49-F238E27FC236}">
                <a16:creationId xmlns:a16="http://schemas.microsoft.com/office/drawing/2014/main" id="{72C3BBA0-7FB0-5D1A-F2FF-DE507080C01C}"/>
              </a:ext>
            </a:extLst>
          </p:cNvPr>
          <p:cNvPicPr>
            <a:picLocks noChangeAspect="1"/>
          </p:cNvPicPr>
          <p:nvPr/>
        </p:nvPicPr>
        <p:blipFill>
          <a:blip r:embed="rId6">
            <a:alphaModFix amt="95000"/>
          </a:blip>
          <a:stretch>
            <a:fillRect/>
          </a:stretch>
        </p:blipFill>
        <p:spPr>
          <a:xfrm>
            <a:off x="553374" y="2914220"/>
            <a:ext cx="2009272" cy="2411694"/>
          </a:xfrm>
          <a:prstGeom prst="rect">
            <a:avLst/>
          </a:prstGeom>
          <a:noFill/>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0A233672-93B3-4F8F-8FEA-96800D9A769A}"/>
              </a:ext>
            </a:extLst>
          </p:cNvPr>
          <p:cNvSpPr>
            <a:spLocks noGrp="1"/>
          </p:cNvSpPr>
          <p:nvPr>
            <p:ph type="title"/>
          </p:nvPr>
        </p:nvSpPr>
        <p:spPr/>
        <p:txBody>
          <a:bodyPr vert="horz" rIns="0"/>
          <a:lstStyle/>
          <a:p>
            <a:r>
              <a:rPr lang="de-DE" sz="2000" dirty="0"/>
              <a:t>Case Study: Verkauf eines 381 MW </a:t>
            </a:r>
            <a:r>
              <a:rPr lang="de-DE" sz="2000" dirty="0" err="1"/>
              <a:t>Onshore</a:t>
            </a:r>
            <a:r>
              <a:rPr lang="de-DE" sz="2000" dirty="0"/>
              <a:t> Windparkportfolios der WIND-projekt an Blue </a:t>
            </a:r>
            <a:r>
              <a:rPr lang="de-DE" sz="2000" dirty="0" err="1"/>
              <a:t>Elephant</a:t>
            </a:r>
            <a:r>
              <a:rPr lang="de-DE" sz="2000" dirty="0"/>
              <a:t> Energy</a:t>
            </a:r>
          </a:p>
        </p:txBody>
      </p:sp>
      <p:sp>
        <p:nvSpPr>
          <p:cNvPr id="5" name="Text Placeholder 4">
            <a:extLst>
              <a:ext uri="{FF2B5EF4-FFF2-40B4-BE49-F238E27FC236}">
                <a16:creationId xmlns:a16="http://schemas.microsoft.com/office/drawing/2014/main" id="{3D1B8A8C-26C9-4FD3-A1C2-4AABE9179443}"/>
              </a:ext>
            </a:extLst>
          </p:cNvPr>
          <p:cNvSpPr>
            <a:spLocks noGrp="1"/>
          </p:cNvSpPr>
          <p:nvPr>
            <p:ph type="body" sz="quarter" idx="14"/>
          </p:nvPr>
        </p:nvSpPr>
        <p:spPr/>
        <p:txBody>
          <a:bodyPr/>
          <a:lstStyle/>
          <a:p>
            <a:endParaRPr lang="de-DE"/>
          </a:p>
        </p:txBody>
      </p:sp>
      <p:sp>
        <p:nvSpPr>
          <p:cNvPr id="6" name="Text Placeholder 5">
            <a:extLst>
              <a:ext uri="{FF2B5EF4-FFF2-40B4-BE49-F238E27FC236}">
                <a16:creationId xmlns:a16="http://schemas.microsoft.com/office/drawing/2014/main" id="{E335FE21-5AF6-4B9D-8C77-FB2E4FAC76C5}"/>
              </a:ext>
            </a:extLst>
          </p:cNvPr>
          <p:cNvSpPr>
            <a:spLocks noGrp="1"/>
          </p:cNvSpPr>
          <p:nvPr>
            <p:ph type="body" sz="quarter" idx="15"/>
          </p:nvPr>
        </p:nvSpPr>
        <p:spPr/>
        <p:txBody>
          <a:bodyPr/>
          <a:lstStyle/>
          <a:p>
            <a:endParaRPr lang="de-DE"/>
          </a:p>
        </p:txBody>
      </p:sp>
      <p:sp>
        <p:nvSpPr>
          <p:cNvPr id="14" name="Rectangle 13">
            <a:extLst>
              <a:ext uri="{FF2B5EF4-FFF2-40B4-BE49-F238E27FC236}">
                <a16:creationId xmlns:a16="http://schemas.microsoft.com/office/drawing/2014/main" id="{28500972-3D25-444E-AF2F-35AF5BA33C99}"/>
              </a:ext>
            </a:extLst>
          </p:cNvPr>
          <p:cNvSpPr/>
          <p:nvPr/>
        </p:nvSpPr>
        <p:spPr>
          <a:xfrm>
            <a:off x="2923453" y="1592484"/>
            <a:ext cx="7236000" cy="5040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indent="0">
              <a:spcAft>
                <a:spcPts val="600"/>
              </a:spcAft>
              <a:buClrTx/>
              <a:buNone/>
            </a:pPr>
            <a:r>
              <a:rPr lang="de-DE" sz="1000" b="1" dirty="0">
                <a:solidFill>
                  <a:srgbClr val="003D7C"/>
                </a:solidFill>
              </a:rPr>
              <a:t>Transaktion</a:t>
            </a:r>
          </a:p>
          <a:p>
            <a:pPr marL="177800" indent="-177800">
              <a:spcAft>
                <a:spcPts val="600"/>
              </a:spcAft>
              <a:buClr>
                <a:schemeClr val="accent1"/>
              </a:buClr>
              <a:buFont typeface="Wingdings" pitchFamily="2" charset="2"/>
              <a:buChar char="n"/>
            </a:pPr>
            <a:r>
              <a:rPr lang="de-DE" sz="1000" dirty="0">
                <a:solidFill>
                  <a:schemeClr val="tx1"/>
                </a:solidFill>
              </a:rPr>
              <a:t>Verkauf sämtlicher Anteile eines 381 MW </a:t>
            </a:r>
            <a:r>
              <a:rPr lang="de-DE" sz="1000" dirty="0" err="1">
                <a:solidFill>
                  <a:schemeClr val="tx1"/>
                </a:solidFill>
              </a:rPr>
              <a:t>Onshore</a:t>
            </a:r>
            <a:r>
              <a:rPr lang="de-DE" sz="1000" dirty="0">
                <a:solidFill>
                  <a:schemeClr val="tx1"/>
                </a:solidFill>
              </a:rPr>
              <a:t> Windparkportfolios in Mecklenburg-Vorpommern an Blue </a:t>
            </a:r>
            <a:r>
              <a:rPr lang="de-DE" sz="1000" dirty="0" err="1">
                <a:solidFill>
                  <a:schemeClr val="tx1"/>
                </a:solidFill>
              </a:rPr>
              <a:t>Elephant</a:t>
            </a:r>
            <a:r>
              <a:rPr lang="de-DE" sz="1000" dirty="0">
                <a:solidFill>
                  <a:schemeClr val="tx1"/>
                </a:solidFill>
              </a:rPr>
              <a:t> Energy. Das Portfolio setzt sich zusammen aus:</a:t>
            </a:r>
          </a:p>
          <a:p>
            <a:pPr marL="358775" indent="-176213">
              <a:spcAft>
                <a:spcPts val="600"/>
              </a:spcAft>
              <a:buClr>
                <a:srgbClr val="003D7C"/>
              </a:buClr>
              <a:buFont typeface="Univers for Metzler Light" panose="020B0403030202020203" pitchFamily="34" charset="0"/>
              <a:buChar char="–"/>
              <a:defRPr/>
            </a:pPr>
            <a:r>
              <a:rPr lang="de-DE" sz="1000" dirty="0">
                <a:solidFill>
                  <a:schemeClr val="tx1"/>
                </a:solidFill>
                <a:latin typeface="Univers for Metzler Light"/>
              </a:rPr>
              <a:t>37 operative </a:t>
            </a:r>
            <a:r>
              <a:rPr lang="de-DE" sz="1000" dirty="0" err="1">
                <a:solidFill>
                  <a:schemeClr val="tx1"/>
                </a:solidFill>
                <a:latin typeface="Univers for Metzler Light"/>
              </a:rPr>
              <a:t>Onshore</a:t>
            </a:r>
            <a:r>
              <a:rPr lang="de-DE" sz="1000" dirty="0">
                <a:solidFill>
                  <a:schemeClr val="tx1"/>
                </a:solidFill>
                <a:latin typeface="Univers for Metzler Light"/>
              </a:rPr>
              <a:t> Windparks und vier Umspannwerke mit einer Gesamtnennleistung von 260 MW</a:t>
            </a:r>
          </a:p>
          <a:p>
            <a:pPr marL="358775" indent="-176213">
              <a:spcAft>
                <a:spcPts val="600"/>
              </a:spcAft>
              <a:buClr>
                <a:srgbClr val="003D7C"/>
              </a:buClr>
              <a:buFont typeface="Univers for Metzler Light" panose="020B0403030202020203" pitchFamily="34" charset="0"/>
              <a:buChar char="–"/>
              <a:defRPr/>
            </a:pPr>
            <a:r>
              <a:rPr lang="de-DE" sz="1000" dirty="0">
                <a:solidFill>
                  <a:schemeClr val="tx1"/>
                </a:solidFill>
                <a:latin typeface="Univers for Metzler Light"/>
              </a:rPr>
              <a:t>Vier im Bau befindlichen </a:t>
            </a:r>
            <a:r>
              <a:rPr lang="de-DE" sz="1000" dirty="0" err="1">
                <a:solidFill>
                  <a:schemeClr val="tx1"/>
                </a:solidFill>
                <a:latin typeface="Univers for Metzler Light"/>
              </a:rPr>
              <a:t>Onshore</a:t>
            </a:r>
            <a:r>
              <a:rPr lang="de-DE" sz="1000" dirty="0">
                <a:solidFill>
                  <a:schemeClr val="tx1"/>
                </a:solidFill>
                <a:latin typeface="Univers for Metzler Light"/>
              </a:rPr>
              <a:t> Windparks mit einer Gesamtnennleistung von 46 MW (COD in 2026)</a:t>
            </a:r>
          </a:p>
          <a:p>
            <a:pPr marL="358775" indent="-176213">
              <a:spcAft>
                <a:spcPts val="600"/>
              </a:spcAft>
              <a:buClr>
                <a:srgbClr val="003D7C"/>
              </a:buClr>
              <a:buFont typeface="Univers for Metzler Light" panose="020B0403030202020203" pitchFamily="34" charset="0"/>
              <a:buChar char="–"/>
              <a:defRPr/>
            </a:pPr>
            <a:r>
              <a:rPr lang="de-DE" sz="1000" dirty="0">
                <a:solidFill>
                  <a:schemeClr val="tx1"/>
                </a:solidFill>
                <a:latin typeface="Univers for Metzler Light"/>
              </a:rPr>
              <a:t>Drei zur Baureife übergebene Windparks mit einer Gesamtnennleistung von 75 MW (COD in 2027)</a:t>
            </a:r>
          </a:p>
          <a:p>
            <a:pPr marL="177800" indent="-177800">
              <a:spcAft>
                <a:spcPts val="600"/>
              </a:spcAft>
              <a:buClr>
                <a:schemeClr val="accent1"/>
              </a:buClr>
              <a:buFont typeface="Wingdings" pitchFamily="2" charset="2"/>
              <a:buChar char="n"/>
            </a:pPr>
            <a:r>
              <a:rPr lang="de-DE" sz="1000" dirty="0">
                <a:solidFill>
                  <a:schemeClr val="tx1"/>
                </a:solidFill>
              </a:rPr>
              <a:t>Die erwartete jährliche Stromproduktion der insgesamt 94 Windenergieanlagen reicht aus, um rund 330.000 Haushalte ein Jahr lang mit grünem Strom zu versorgen</a:t>
            </a:r>
          </a:p>
          <a:p>
            <a:pPr marL="177800" indent="-177800">
              <a:spcAft>
                <a:spcPts val="600"/>
              </a:spcAft>
              <a:buClr>
                <a:schemeClr val="accent1"/>
              </a:buClr>
              <a:buFont typeface="Wingdings" pitchFamily="2" charset="2"/>
              <a:buChar char="n"/>
            </a:pPr>
            <a:r>
              <a:rPr lang="de-DE" sz="1000" dirty="0">
                <a:solidFill>
                  <a:schemeClr val="tx1"/>
                </a:solidFill>
              </a:rPr>
              <a:t>Insbesondere attraktive Standorte mit stabilem Vergütungsregime nach dem Erneuerbaren Energien Gesetz sowie eine langfristige Perspektive zum Repowering zeichnet das Windparkportfolio aus</a:t>
            </a:r>
          </a:p>
          <a:p>
            <a:pPr marL="177800" indent="-177800">
              <a:spcAft>
                <a:spcPts val="600"/>
              </a:spcAft>
              <a:buClr>
                <a:schemeClr val="accent1"/>
              </a:buClr>
              <a:buFont typeface="Wingdings" pitchFamily="2" charset="2"/>
              <a:buChar char="n"/>
            </a:pPr>
            <a:r>
              <a:rPr lang="de-DE" sz="1000" dirty="0">
                <a:solidFill>
                  <a:schemeClr val="tx1"/>
                </a:solidFill>
              </a:rPr>
              <a:t>Flexible Transaktionsstruktur aus Teilportfolien und Option des Gesamterwerbs</a:t>
            </a:r>
          </a:p>
          <a:p>
            <a:pPr marL="177800" indent="-177800">
              <a:spcAft>
                <a:spcPts val="600"/>
              </a:spcAft>
              <a:buClr>
                <a:schemeClr val="accent1"/>
              </a:buClr>
              <a:buFont typeface="Wingdings" pitchFamily="2" charset="2"/>
              <a:buChar char="n"/>
            </a:pPr>
            <a:r>
              <a:rPr lang="de-DE" sz="1000" dirty="0">
                <a:solidFill>
                  <a:schemeClr val="tx1"/>
                </a:solidFill>
                <a:latin typeface="Univers for Metzler Light"/>
              </a:rPr>
              <a:t>Gezielte Ansprache einer globalen Investorengruppe bestehend aus über 70 Investoren (Energieunternehmen, Infrastrukturfonds, Asset Manager, Pensionsfonds, Versicherungen sowie Family Offices) mit passendem kulturellem Fit</a:t>
            </a:r>
            <a:endParaRPr lang="de-DE" sz="1000" dirty="0">
              <a:solidFill>
                <a:srgbClr val="FF0000"/>
              </a:solidFill>
            </a:endParaRPr>
          </a:p>
          <a:p>
            <a:pPr>
              <a:spcBef>
                <a:spcPts val="600"/>
              </a:spcBef>
              <a:spcAft>
                <a:spcPts val="600"/>
              </a:spcAft>
            </a:pPr>
            <a:r>
              <a:rPr lang="de-DE" sz="1000" b="1" dirty="0">
                <a:solidFill>
                  <a:srgbClr val="003D7C"/>
                </a:solidFill>
              </a:rPr>
              <a:t>Rolle Metzler</a:t>
            </a:r>
          </a:p>
          <a:p>
            <a:pPr marL="174625" marR="0" lvl="0" indent="-174625" defTabSz="1043056" eaLnBrk="1" fontAlgn="auto" latinLnBrk="0" hangingPunct="1">
              <a:lnSpc>
                <a:spcPct val="100000"/>
              </a:lnSpc>
              <a:spcAft>
                <a:spcPts val="600"/>
              </a:spcAft>
              <a:buClr>
                <a:srgbClr val="003D7C"/>
              </a:buClr>
              <a:buSzTx/>
              <a:buFont typeface="Wingdings" pitchFamily="2" charset="2"/>
              <a:buChar char="n"/>
              <a:tabLst/>
              <a:defRPr/>
            </a:pPr>
            <a:r>
              <a:rPr lang="de-DE" sz="1000" dirty="0">
                <a:solidFill>
                  <a:schemeClr val="tx1"/>
                </a:solidFill>
                <a:latin typeface="Univers for Metzler Light"/>
              </a:rPr>
              <a:t>Metzler unterstützte den Veräußerer bei der Durchführung der Transaktion als exklusiver M&amp;A-Berater</a:t>
            </a:r>
          </a:p>
          <a:p>
            <a:pPr marL="174625" marR="0" lvl="0" indent="-174625" defTabSz="1043056" eaLnBrk="1" fontAlgn="auto" latinLnBrk="0" hangingPunct="1">
              <a:lnSpc>
                <a:spcPct val="100000"/>
              </a:lnSpc>
              <a:spcAft>
                <a:spcPts val="600"/>
              </a:spcAft>
              <a:buClr>
                <a:srgbClr val="003D7C"/>
              </a:buClr>
              <a:buSzTx/>
              <a:buFont typeface="Wingdings" pitchFamily="2" charset="2"/>
              <a:buChar char="n"/>
              <a:tabLst/>
              <a:defRPr/>
            </a:pPr>
            <a:r>
              <a:rPr lang="de-DE" sz="1000" dirty="0">
                <a:solidFill>
                  <a:schemeClr val="tx1"/>
                </a:solidFill>
                <a:latin typeface="Univers for Metzler Light"/>
              </a:rPr>
              <a:t>Im Rahmen der Transaktion übernahm Metzler neben allgemeinen M&amp;A-Beratungsleistungen insb. folgende Tätigkeiten:</a:t>
            </a:r>
          </a:p>
          <a:p>
            <a:pPr marL="358775" indent="-176213">
              <a:spcAft>
                <a:spcPts val="600"/>
              </a:spcAft>
              <a:buClr>
                <a:srgbClr val="003D7C"/>
              </a:buClr>
              <a:buFont typeface="Univers for Metzler Light" panose="020B0403030202020203" pitchFamily="34" charset="0"/>
              <a:buChar char="–"/>
              <a:defRPr/>
            </a:pPr>
            <a:r>
              <a:rPr lang="de-DE" sz="1000" dirty="0">
                <a:solidFill>
                  <a:schemeClr val="tx1"/>
                </a:solidFill>
                <a:latin typeface="Univers for Metzler Light"/>
              </a:rPr>
              <a:t>Beratung und Unterstützung bei der Strukturierung der Transaktion sowie bei der Entwicklung des Investment Case </a:t>
            </a:r>
          </a:p>
          <a:p>
            <a:pPr marL="358775" indent="-176213">
              <a:spcAft>
                <a:spcPts val="600"/>
              </a:spcAft>
              <a:buClr>
                <a:srgbClr val="003D7C"/>
              </a:buClr>
              <a:buFont typeface="Univers for Metzler Light" panose="020B0403030202020203" pitchFamily="34" charset="0"/>
              <a:buChar char="–"/>
              <a:defRPr/>
            </a:pPr>
            <a:r>
              <a:rPr lang="de-DE" sz="1000" dirty="0">
                <a:solidFill>
                  <a:schemeClr val="tx1"/>
                </a:solidFill>
                <a:latin typeface="Univers for Metzler Light"/>
              </a:rPr>
              <a:t>Erstellung von Vermarktungsunterlagen, Prozessdokumenten sowie eines parkspezifischen Finanzmodells</a:t>
            </a:r>
          </a:p>
          <a:p>
            <a:pPr marL="358775" indent="-176213">
              <a:spcAft>
                <a:spcPts val="600"/>
              </a:spcAft>
              <a:buClr>
                <a:srgbClr val="003D7C"/>
              </a:buClr>
              <a:buFont typeface="Univers for Metzler Light" panose="020B0403030202020203" pitchFamily="34" charset="0"/>
              <a:buChar char="–"/>
              <a:defRPr/>
            </a:pPr>
            <a:r>
              <a:rPr lang="de-DE" sz="1000" dirty="0">
                <a:solidFill>
                  <a:schemeClr val="tx1"/>
                </a:solidFill>
                <a:latin typeface="Univers for Metzler Light"/>
              </a:rPr>
              <a:t>Erstellung von Entscheidungsvorlagen sowie Empfehlungen hinsichtlich Verhandlungsstrategien und -taktiken </a:t>
            </a:r>
          </a:p>
          <a:p>
            <a:pPr marL="358775" indent="-176213">
              <a:spcAft>
                <a:spcPts val="600"/>
              </a:spcAft>
              <a:buClr>
                <a:srgbClr val="003D7C"/>
              </a:buClr>
              <a:buFont typeface="Univers for Metzler Light" panose="020B0403030202020203" pitchFamily="34" charset="0"/>
              <a:buChar char="–"/>
              <a:defRPr/>
            </a:pPr>
            <a:r>
              <a:rPr lang="de-DE" sz="1000" dirty="0">
                <a:solidFill>
                  <a:schemeClr val="tx1"/>
                </a:solidFill>
                <a:latin typeface="Univers for Metzler Light"/>
              </a:rPr>
              <a:t>Koordination des Investorenprozesses sowie Organisation und Steuerung der Due Diligence und Site Visits</a:t>
            </a:r>
          </a:p>
          <a:p>
            <a:pPr marL="358775" indent="-176213">
              <a:spcAft>
                <a:spcPts val="600"/>
              </a:spcAft>
              <a:buClr>
                <a:srgbClr val="003D7C"/>
              </a:buClr>
              <a:buFont typeface="Univers for Metzler Light" panose="020B0403030202020203" pitchFamily="34" charset="0"/>
              <a:buChar char="–"/>
              <a:defRPr/>
            </a:pPr>
            <a:r>
              <a:rPr lang="de-DE" sz="1000" dirty="0">
                <a:solidFill>
                  <a:schemeClr val="tx1"/>
                </a:solidFill>
                <a:latin typeface="Univers for Metzler Light"/>
              </a:rPr>
              <a:t>Unterstützung bei Verhandlungen und Gesprächen mit der Käuferseite </a:t>
            </a:r>
          </a:p>
          <a:p>
            <a:pPr marL="358775" indent="-176213">
              <a:spcAft>
                <a:spcPts val="600"/>
              </a:spcAft>
              <a:buClr>
                <a:srgbClr val="003D7C"/>
              </a:buClr>
              <a:buFont typeface="Univers for Metzler Light" panose="020B0403030202020203" pitchFamily="34" charset="0"/>
              <a:buChar char="–"/>
              <a:defRPr/>
            </a:pPr>
            <a:r>
              <a:rPr lang="de-DE" sz="1000" dirty="0">
                <a:solidFill>
                  <a:schemeClr val="tx1"/>
                </a:solidFill>
                <a:latin typeface="Univers for Metzler Light"/>
              </a:rPr>
              <a:t>Beratung bei kaufmännischen Aspekten des Kaufvertrages </a:t>
            </a:r>
          </a:p>
        </p:txBody>
      </p:sp>
      <p:sp>
        <p:nvSpPr>
          <p:cNvPr id="7" name="Text Placeholder 6">
            <a:extLst>
              <a:ext uri="{FF2B5EF4-FFF2-40B4-BE49-F238E27FC236}">
                <a16:creationId xmlns:a16="http://schemas.microsoft.com/office/drawing/2014/main" id="{D61C9FF4-4009-49D9-B1F4-0750D814092F}"/>
              </a:ext>
            </a:extLst>
          </p:cNvPr>
          <p:cNvSpPr>
            <a:spLocks noGrp="1"/>
          </p:cNvSpPr>
          <p:nvPr>
            <p:ph type="body" sz="quarter" idx="13"/>
          </p:nvPr>
        </p:nvSpPr>
        <p:spPr/>
        <p:txBody>
          <a:bodyPr/>
          <a:lstStyle/>
          <a:p>
            <a:r>
              <a:rPr lang="en-US" dirty="0"/>
              <a:t>1. </a:t>
            </a:r>
            <a:r>
              <a:rPr lang="de-DE" dirty="0"/>
              <a:t>Metzler Corporate Finance – Update seit 2024</a:t>
            </a:r>
          </a:p>
        </p:txBody>
      </p:sp>
      <p:cxnSp>
        <p:nvCxnSpPr>
          <p:cNvPr id="8" name="Straight Connector 7">
            <a:extLst>
              <a:ext uri="{FF2B5EF4-FFF2-40B4-BE49-F238E27FC236}">
                <a16:creationId xmlns:a16="http://schemas.microsoft.com/office/drawing/2014/main" id="{E5CFD06E-AEFF-5C5C-1A75-DD3D7FFB18E1}"/>
              </a:ext>
            </a:extLst>
          </p:cNvPr>
          <p:cNvCxnSpPr>
            <a:cxnSpLocks/>
          </p:cNvCxnSpPr>
          <p:nvPr/>
        </p:nvCxnSpPr>
        <p:spPr>
          <a:xfrm>
            <a:off x="2768207" y="1592484"/>
            <a:ext cx="0" cy="5040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415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8B534E2-9A22-4AF9-AEBA-6252401B1573}"/>
              </a:ext>
            </a:extLst>
          </p:cNvPr>
          <p:cNvGraphicFramePr>
            <a:graphicFrameLocks/>
          </p:cNvGraphicFramePr>
          <p:nvPr>
            <p:custDataLst>
              <p:tags r:id="rId1"/>
            </p:custDataLst>
            <p:extLst>
              <p:ext uri="{D42A27DB-BD31-4B8C-83A1-F6EECF244321}">
                <p14:modId xmlns:p14="http://schemas.microsoft.com/office/powerpoint/2010/main" val="30348559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96A5FCF-3B5F-41C2-8E0B-887C24C71589}"/>
              </a:ext>
            </a:extLst>
          </p:cNvPr>
          <p:cNvSpPr>
            <a:spLocks noGrp="1"/>
          </p:cNvSpPr>
          <p:nvPr>
            <p:ph type="body" sz="quarter" idx="11"/>
          </p:nvPr>
        </p:nvSpPr>
        <p:spPr>
          <a:xfrm>
            <a:off x="381618" y="3616322"/>
            <a:ext cx="9789618" cy="2525713"/>
          </a:xfrm>
        </p:spPr>
        <p:txBody>
          <a:bodyPr vert="horz" lIns="0" tIns="0" rIns="0" bIns="0" rtlCol="0">
            <a:noAutofit/>
          </a:bodyPr>
          <a:lstStyle/>
          <a:p>
            <a:r>
              <a:rPr lang="de-DE" dirty="0"/>
              <a:t>Stadtwerke Krefeld – Übersicht und Herausforderungen</a:t>
            </a:r>
          </a:p>
        </p:txBody>
      </p:sp>
      <p:sp>
        <p:nvSpPr>
          <p:cNvPr id="3" name="Text Placeholder 2">
            <a:extLst>
              <a:ext uri="{FF2B5EF4-FFF2-40B4-BE49-F238E27FC236}">
                <a16:creationId xmlns:a16="http://schemas.microsoft.com/office/drawing/2014/main" id="{A28E45DF-A7B5-49AB-A16F-D7962BAB6021}"/>
              </a:ext>
            </a:extLst>
          </p:cNvPr>
          <p:cNvSpPr>
            <a:spLocks noGrp="1"/>
          </p:cNvSpPr>
          <p:nvPr>
            <p:ph type="body" sz="quarter" idx="10"/>
          </p:nvPr>
        </p:nvSpPr>
        <p:spPr/>
        <p:txBody>
          <a:bodyPr/>
          <a:lstStyle/>
          <a:p>
            <a:r>
              <a:rPr lang="de-DE" dirty="0"/>
              <a:t>2</a:t>
            </a:r>
          </a:p>
        </p:txBody>
      </p:sp>
    </p:spTree>
    <p:extLst>
      <p:ext uri="{BB962C8B-B14F-4D97-AF65-F5344CB8AC3E}">
        <p14:creationId xmlns:p14="http://schemas.microsoft.com/office/powerpoint/2010/main" val="3817450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92BD58CE-E7AC-4B38-9F0C-7FB4980C3567}"/>
              </a:ext>
            </a:extLst>
          </p:cNvPr>
          <p:cNvGraphicFramePr>
            <a:graphicFrameLocks/>
          </p:cNvGraphicFramePr>
          <p:nvPr>
            <p:custDataLst>
              <p:tags r:id="rId1"/>
            </p:custDataLst>
            <p:extLst>
              <p:ext uri="{D42A27DB-BD31-4B8C-83A1-F6EECF244321}">
                <p14:modId xmlns:p14="http://schemas.microsoft.com/office/powerpoint/2010/main" val="11444189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kt 4" hidden="1">
                        <a:extLst>
                          <a:ext uri="{FF2B5EF4-FFF2-40B4-BE49-F238E27FC236}">
                            <a16:creationId xmlns:a16="http://schemas.microsoft.com/office/drawing/2014/main" id="{92BD58CE-E7AC-4B38-9F0C-7FB4980C35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p:txBody>
          <a:bodyPr vert="horz" rIns="0"/>
          <a:lstStyle/>
          <a:p>
            <a:r>
              <a:rPr lang="de-DE" dirty="0"/>
              <a:t>Unverändert hoher Investitionsbedarf durch Vorantreiben der Klima- und Wärmewende im Rahmen der Klimaneutralität</a:t>
            </a:r>
          </a:p>
        </p:txBody>
      </p:sp>
      <p:sp>
        <p:nvSpPr>
          <p:cNvPr id="6" name="Text Placeholder 5"/>
          <p:cNvSpPr>
            <a:spLocks noGrp="1"/>
          </p:cNvSpPr>
          <p:nvPr>
            <p:ph type="body" sz="quarter" idx="13"/>
          </p:nvPr>
        </p:nvSpPr>
        <p:spPr/>
        <p:txBody>
          <a:bodyPr/>
          <a:lstStyle/>
          <a:p>
            <a:r>
              <a:rPr lang="de-DE" dirty="0"/>
              <a:t>2. Stadtwerke Krefeld – Übersicht und Herausforderungen</a:t>
            </a:r>
          </a:p>
          <a:p>
            <a:endParaRPr lang="de-DE" dirty="0"/>
          </a:p>
        </p:txBody>
      </p:sp>
      <p:sp>
        <p:nvSpPr>
          <p:cNvPr id="7" name="Text Placeholder 6"/>
          <p:cNvSpPr>
            <a:spLocks noGrp="1"/>
          </p:cNvSpPr>
          <p:nvPr>
            <p:ph type="body" sz="quarter" idx="14"/>
          </p:nvPr>
        </p:nvSpPr>
        <p:spPr/>
        <p:txBody>
          <a:bodyPr/>
          <a:lstStyle/>
          <a:p>
            <a:r>
              <a:rPr lang="de-DE" dirty="0"/>
              <a:t>Quelle: Unternehmensinformationen, Metzler Research</a:t>
            </a:r>
          </a:p>
        </p:txBody>
      </p:sp>
      <p:sp>
        <p:nvSpPr>
          <p:cNvPr id="2" name="Text Placeholder 1"/>
          <p:cNvSpPr>
            <a:spLocks noGrp="1"/>
          </p:cNvSpPr>
          <p:nvPr>
            <p:ph type="body" sz="quarter" idx="12"/>
          </p:nvPr>
        </p:nvSpPr>
        <p:spPr>
          <a:xfrm>
            <a:off x="378700" y="1243937"/>
            <a:ext cx="9936000" cy="271120"/>
          </a:xfrm>
        </p:spPr>
        <p:txBody>
          <a:bodyPr/>
          <a:lstStyle/>
          <a:p>
            <a:r>
              <a:rPr lang="de-DE" dirty="0"/>
              <a:t>Unser Verständnis der Ausgangslage</a:t>
            </a:r>
          </a:p>
        </p:txBody>
      </p:sp>
      <p:sp>
        <p:nvSpPr>
          <p:cNvPr id="16" name="Text Placeholder 15">
            <a:extLst>
              <a:ext uri="{FF2B5EF4-FFF2-40B4-BE49-F238E27FC236}">
                <a16:creationId xmlns:a16="http://schemas.microsoft.com/office/drawing/2014/main" id="{072640DF-F252-4BE5-A85C-8964B69F7277}"/>
              </a:ext>
            </a:extLst>
          </p:cNvPr>
          <p:cNvSpPr>
            <a:spLocks noGrp="1"/>
          </p:cNvSpPr>
          <p:nvPr>
            <p:ph type="body" sz="quarter" idx="15"/>
          </p:nvPr>
        </p:nvSpPr>
        <p:spPr/>
        <p:txBody>
          <a:bodyPr/>
          <a:lstStyle/>
          <a:p>
            <a:endParaRPr lang="de-DE" dirty="0"/>
          </a:p>
        </p:txBody>
      </p:sp>
      <p:sp>
        <p:nvSpPr>
          <p:cNvPr id="18" name="Rectangle 17">
            <a:extLst>
              <a:ext uri="{FF2B5EF4-FFF2-40B4-BE49-F238E27FC236}">
                <a16:creationId xmlns:a16="http://schemas.microsoft.com/office/drawing/2014/main" id="{AA5EC36B-EA57-4EED-9674-BDBDC9C5B926}"/>
              </a:ext>
            </a:extLst>
          </p:cNvPr>
          <p:cNvSpPr/>
          <p:nvPr/>
        </p:nvSpPr>
        <p:spPr>
          <a:xfrm>
            <a:off x="378149" y="1620837"/>
            <a:ext cx="1241996" cy="4451190"/>
          </a:xfrm>
          <a:prstGeom prst="rect">
            <a:avLst/>
          </a:prstGeom>
          <a:solidFill>
            <a:schemeClr val="accent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540000" rIns="36000" rtlCol="0" anchor="t"/>
          <a:lstStyle/>
          <a:p>
            <a:pPr algn="ctr"/>
            <a:endParaRPr lang="de-DE" sz="1050" b="1" dirty="0"/>
          </a:p>
          <a:p>
            <a:pPr algn="ctr"/>
            <a:endParaRPr lang="de-DE" sz="1050" b="1" dirty="0"/>
          </a:p>
          <a:p>
            <a:pPr algn="ctr"/>
            <a:endParaRPr lang="de-DE" sz="1050" b="1" dirty="0"/>
          </a:p>
          <a:p>
            <a:pPr algn="ctr"/>
            <a:endParaRPr lang="de-DE" sz="1050" b="1" dirty="0"/>
          </a:p>
          <a:p>
            <a:pPr algn="ctr"/>
            <a:endParaRPr lang="de-DE" sz="1050" b="1" dirty="0"/>
          </a:p>
          <a:p>
            <a:pPr algn="ctr"/>
            <a:endParaRPr lang="de-DE" sz="1050" b="1" dirty="0"/>
          </a:p>
          <a:p>
            <a:pPr algn="ctr"/>
            <a:endParaRPr lang="de-DE" sz="1050" b="1" dirty="0"/>
          </a:p>
          <a:p>
            <a:pPr algn="ctr"/>
            <a:endParaRPr lang="de-DE" sz="1050" b="1" dirty="0"/>
          </a:p>
          <a:p>
            <a:pPr algn="ctr"/>
            <a:r>
              <a:rPr lang="de-DE" sz="1050" b="1" dirty="0"/>
              <a:t>Ausgangslage</a:t>
            </a:r>
          </a:p>
        </p:txBody>
      </p:sp>
      <p:grpSp>
        <p:nvGrpSpPr>
          <p:cNvPr id="27" name="Graphic 24">
            <a:extLst>
              <a:ext uri="{FF2B5EF4-FFF2-40B4-BE49-F238E27FC236}">
                <a16:creationId xmlns:a16="http://schemas.microsoft.com/office/drawing/2014/main" id="{C15C8E93-E86D-42EE-9918-FD785C987507}"/>
              </a:ext>
            </a:extLst>
          </p:cNvPr>
          <p:cNvGrpSpPr>
            <a:grpSpLocks noChangeAspect="1"/>
          </p:cNvGrpSpPr>
          <p:nvPr/>
        </p:nvGrpSpPr>
        <p:grpSpPr>
          <a:xfrm>
            <a:off x="711600" y="3792848"/>
            <a:ext cx="575095" cy="707863"/>
            <a:chOff x="3412238" y="1399652"/>
            <a:chExt cx="3868953" cy="4762137"/>
          </a:xfrm>
          <a:solidFill>
            <a:schemeClr val="bg1"/>
          </a:solidFill>
        </p:grpSpPr>
        <p:sp>
          <p:nvSpPr>
            <p:cNvPr id="29" name="Freeform: Shape 28">
              <a:extLst>
                <a:ext uri="{FF2B5EF4-FFF2-40B4-BE49-F238E27FC236}">
                  <a16:creationId xmlns:a16="http://schemas.microsoft.com/office/drawing/2014/main" id="{C7C5F3D8-7F34-4C2D-BE58-A9C954F642E4}"/>
                </a:ext>
              </a:extLst>
            </p:cNvPr>
            <p:cNvSpPr/>
            <p:nvPr/>
          </p:nvSpPr>
          <p:spPr>
            <a:xfrm>
              <a:off x="3412238" y="1399652"/>
              <a:ext cx="3868953" cy="4762137"/>
            </a:xfrm>
            <a:custGeom>
              <a:avLst/>
              <a:gdLst>
                <a:gd name="connsiteX0" fmla="*/ 3866490 w 3868953"/>
                <a:gd name="connsiteY0" fmla="*/ 800549 h 4762137"/>
                <a:gd name="connsiteX1" fmla="*/ 3843698 w 3868953"/>
                <a:gd name="connsiteY1" fmla="*/ 762694 h 4762137"/>
                <a:gd name="connsiteX2" fmla="*/ 2998223 w 3868953"/>
                <a:gd name="connsiteY2" fmla="*/ 18666 h 4762137"/>
                <a:gd name="connsiteX3" fmla="*/ 2998223 w 3868953"/>
                <a:gd name="connsiteY3" fmla="*/ 18690 h 4762137"/>
                <a:gd name="connsiteX4" fmla="*/ 2949069 w 3868953"/>
                <a:gd name="connsiteY4" fmla="*/ 132 h 4762137"/>
                <a:gd name="connsiteX5" fmla="*/ 243523 w 3868953"/>
                <a:gd name="connsiteY5" fmla="*/ 132 h 4762137"/>
                <a:gd name="connsiteX6" fmla="*/ 72903 w 3868953"/>
                <a:gd name="connsiteY6" fmla="*/ 65209 h 4762137"/>
                <a:gd name="connsiteX7" fmla="*/ 0 w 3868953"/>
                <a:gd name="connsiteY7" fmla="*/ 232628 h 4762137"/>
                <a:gd name="connsiteX8" fmla="*/ 0 w 3868953"/>
                <a:gd name="connsiteY8" fmla="*/ 4548030 h 4762137"/>
                <a:gd name="connsiteX9" fmla="*/ 243523 w 3868953"/>
                <a:gd name="connsiteY9" fmla="*/ 4761944 h 4762137"/>
                <a:gd name="connsiteX10" fmla="*/ 3625424 w 3868953"/>
                <a:gd name="connsiteY10" fmla="*/ 4761944 h 4762137"/>
                <a:gd name="connsiteX11" fmla="*/ 3793215 w 3868953"/>
                <a:gd name="connsiteY11" fmla="*/ 4700558 h 4762137"/>
                <a:gd name="connsiteX12" fmla="*/ 3868953 w 3868953"/>
                <a:gd name="connsiteY12" fmla="*/ 4538722 h 4762137"/>
                <a:gd name="connsiteX13" fmla="*/ 3868953 w 3868953"/>
                <a:gd name="connsiteY13" fmla="*/ 818581 h 4762137"/>
                <a:gd name="connsiteX14" fmla="*/ 3866492 w 3868953"/>
                <a:gd name="connsiteY14" fmla="*/ 800588 h 4762137"/>
                <a:gd name="connsiteX15" fmla="*/ 3589023 w 3868953"/>
                <a:gd name="connsiteY15" fmla="*/ 744160 h 4762137"/>
                <a:gd name="connsiteX16" fmla="*/ 3080264 w 3868953"/>
                <a:gd name="connsiteY16" fmla="*/ 744160 h 4762137"/>
                <a:gd name="connsiteX17" fmla="*/ 2976101 w 3868953"/>
                <a:gd name="connsiteY17" fmla="*/ 669751 h 4762137"/>
                <a:gd name="connsiteX18" fmla="*/ 2976101 w 3868953"/>
                <a:gd name="connsiteY18" fmla="*/ 233378 h 4762137"/>
                <a:gd name="connsiteX19" fmla="*/ 3625426 w 3868953"/>
                <a:gd name="connsiteY19" fmla="*/ 4613133 h 4762137"/>
                <a:gd name="connsiteX20" fmla="*/ 243525 w 3868953"/>
                <a:gd name="connsiteY20" fmla="*/ 4613108 h 4762137"/>
                <a:gd name="connsiteX21" fmla="*/ 148814 w 3868953"/>
                <a:gd name="connsiteY21" fmla="*/ 4548006 h 4762137"/>
                <a:gd name="connsiteX22" fmla="*/ 148814 w 3868953"/>
                <a:gd name="connsiteY22" fmla="*/ 232603 h 4762137"/>
                <a:gd name="connsiteX23" fmla="*/ 178375 w 3868953"/>
                <a:gd name="connsiteY23" fmla="*/ 170627 h 4762137"/>
                <a:gd name="connsiteX24" fmla="*/ 243528 w 3868953"/>
                <a:gd name="connsiteY24" fmla="*/ 148918 h 4762137"/>
                <a:gd name="connsiteX25" fmla="*/ 2827337 w 3868953"/>
                <a:gd name="connsiteY25" fmla="*/ 148918 h 4762137"/>
                <a:gd name="connsiteX26" fmla="*/ 2827337 w 3868953"/>
                <a:gd name="connsiteY26" fmla="*/ 669738 h 4762137"/>
                <a:gd name="connsiteX27" fmla="*/ 3080293 w 3868953"/>
                <a:gd name="connsiteY27" fmla="*/ 892959 h 4762137"/>
                <a:gd name="connsiteX28" fmla="*/ 3720165 w 3868953"/>
                <a:gd name="connsiteY28" fmla="*/ 892934 h 4762137"/>
                <a:gd name="connsiteX29" fmla="*/ 3720165 w 3868953"/>
                <a:gd name="connsiteY29" fmla="*/ 4538660 h 4762137"/>
                <a:gd name="connsiteX30" fmla="*/ 3625454 w 3868953"/>
                <a:gd name="connsiteY30" fmla="*/ 4613069 h 476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68953" h="4762137">
                  <a:moveTo>
                    <a:pt x="3866490" y="800549"/>
                  </a:moveTo>
                  <a:cubicBezTo>
                    <a:pt x="3862749" y="785978"/>
                    <a:pt x="3854823" y="772810"/>
                    <a:pt x="3843698" y="762694"/>
                  </a:cubicBezTo>
                  <a:lnTo>
                    <a:pt x="2998223" y="18666"/>
                  </a:lnTo>
                  <a:lnTo>
                    <a:pt x="2998223" y="18690"/>
                  </a:lnTo>
                  <a:cubicBezTo>
                    <a:pt x="2984636" y="6728"/>
                    <a:pt x="2967160" y="132"/>
                    <a:pt x="2949069" y="132"/>
                  </a:cubicBezTo>
                  <a:lnTo>
                    <a:pt x="243523" y="132"/>
                  </a:lnTo>
                  <a:cubicBezTo>
                    <a:pt x="180216" y="-1985"/>
                    <a:pt x="118706" y="21472"/>
                    <a:pt x="72903" y="65209"/>
                  </a:cubicBezTo>
                  <a:cubicBezTo>
                    <a:pt x="27101" y="108947"/>
                    <a:pt x="813" y="169302"/>
                    <a:pt x="0" y="232628"/>
                  </a:cubicBezTo>
                  <a:lnTo>
                    <a:pt x="0" y="4548030"/>
                  </a:lnTo>
                  <a:cubicBezTo>
                    <a:pt x="0" y="4663982"/>
                    <a:pt x="111522" y="4761944"/>
                    <a:pt x="243523" y="4761944"/>
                  </a:cubicBezTo>
                  <a:lnTo>
                    <a:pt x="3625424" y="4761944"/>
                  </a:lnTo>
                  <a:cubicBezTo>
                    <a:pt x="3687278" y="4764455"/>
                    <a:pt x="3747583" y="4742377"/>
                    <a:pt x="3793215" y="4700558"/>
                  </a:cubicBezTo>
                  <a:cubicBezTo>
                    <a:pt x="3838848" y="4658740"/>
                    <a:pt x="3866068" y="4600554"/>
                    <a:pt x="3868953" y="4538722"/>
                  </a:cubicBezTo>
                  <a:lnTo>
                    <a:pt x="3868953" y="818581"/>
                  </a:lnTo>
                  <a:cubicBezTo>
                    <a:pt x="3868904" y="812501"/>
                    <a:pt x="3868092" y="806471"/>
                    <a:pt x="3866492" y="800588"/>
                  </a:cubicBezTo>
                  <a:close/>
                  <a:moveTo>
                    <a:pt x="3589023" y="744160"/>
                  </a:moveTo>
                  <a:lnTo>
                    <a:pt x="3080264" y="744160"/>
                  </a:lnTo>
                  <a:cubicBezTo>
                    <a:pt x="3023800" y="744160"/>
                    <a:pt x="2976101" y="710070"/>
                    <a:pt x="2976101" y="669751"/>
                  </a:cubicBezTo>
                  <a:lnTo>
                    <a:pt x="2976101" y="233378"/>
                  </a:lnTo>
                  <a:close/>
                  <a:moveTo>
                    <a:pt x="3625426" y="4613133"/>
                  </a:moveTo>
                  <a:lnTo>
                    <a:pt x="243525" y="4613108"/>
                  </a:lnTo>
                  <a:cubicBezTo>
                    <a:pt x="191049" y="4613108"/>
                    <a:pt x="148814" y="4577493"/>
                    <a:pt x="148814" y="4548006"/>
                  </a:cubicBezTo>
                  <a:lnTo>
                    <a:pt x="148814" y="232603"/>
                  </a:lnTo>
                  <a:cubicBezTo>
                    <a:pt x="149823" y="208802"/>
                    <a:pt x="160506" y="186404"/>
                    <a:pt x="178375" y="170627"/>
                  </a:cubicBezTo>
                  <a:cubicBezTo>
                    <a:pt x="196244" y="154825"/>
                    <a:pt x="219750" y="146998"/>
                    <a:pt x="243528" y="148918"/>
                  </a:cubicBezTo>
                  <a:lnTo>
                    <a:pt x="2827337" y="148918"/>
                  </a:lnTo>
                  <a:lnTo>
                    <a:pt x="2827337" y="669738"/>
                  </a:lnTo>
                  <a:cubicBezTo>
                    <a:pt x="2827337" y="792829"/>
                    <a:pt x="2940832" y="892959"/>
                    <a:pt x="3080293" y="892959"/>
                  </a:cubicBezTo>
                  <a:lnTo>
                    <a:pt x="3720165" y="892934"/>
                  </a:lnTo>
                  <a:lnTo>
                    <a:pt x="3720165" y="4538660"/>
                  </a:lnTo>
                  <a:cubicBezTo>
                    <a:pt x="3713347" y="4584688"/>
                    <a:pt x="3671775" y="4617348"/>
                    <a:pt x="3625454" y="4613069"/>
                  </a:cubicBezTo>
                  <a:close/>
                </a:path>
              </a:pathLst>
            </a:custGeom>
            <a:grpFill/>
            <a:ln w="6294" cap="flat">
              <a:noFill/>
              <a:prstDash val="solid"/>
              <a:miter/>
            </a:ln>
          </p:spPr>
          <p:txBody>
            <a:bodyPr rtlCol="0" anchor="ctr"/>
            <a:lstStyle/>
            <a:p>
              <a:endParaRPr lang="de-DE"/>
            </a:p>
          </p:txBody>
        </p:sp>
        <p:sp>
          <p:nvSpPr>
            <p:cNvPr id="30" name="Freeform: Shape 29">
              <a:extLst>
                <a:ext uri="{FF2B5EF4-FFF2-40B4-BE49-F238E27FC236}">
                  <a16:creationId xmlns:a16="http://schemas.microsoft.com/office/drawing/2014/main" id="{595B8A8F-AF3B-4BC6-9534-24EF2387E0E2}"/>
                </a:ext>
              </a:extLst>
            </p:cNvPr>
            <p:cNvSpPr/>
            <p:nvPr/>
          </p:nvSpPr>
          <p:spPr>
            <a:xfrm>
              <a:off x="3858649" y="1883359"/>
              <a:ext cx="1785705" cy="148793"/>
            </a:xfrm>
            <a:custGeom>
              <a:avLst/>
              <a:gdLst>
                <a:gd name="connsiteX0" fmla="*/ 74409 w 1785705"/>
                <a:gd name="connsiteY0" fmla="*/ 148793 h 148793"/>
                <a:gd name="connsiteX1" fmla="*/ 1711297 w 1785705"/>
                <a:gd name="connsiteY1" fmla="*/ 148793 h 148793"/>
                <a:gd name="connsiteX2" fmla="*/ 1785706 w 1785705"/>
                <a:gd name="connsiteY2" fmla="*/ 74384 h 148793"/>
                <a:gd name="connsiteX3" fmla="*/ 1711297 w 1785705"/>
                <a:gd name="connsiteY3" fmla="*/ 0 h 148793"/>
                <a:gd name="connsiteX4" fmla="*/ 74409 w 1785705"/>
                <a:gd name="connsiteY4" fmla="*/ 0 h 148793"/>
                <a:gd name="connsiteX5" fmla="*/ 0 w 1785705"/>
                <a:gd name="connsiteY5" fmla="*/ 74384 h 148793"/>
                <a:gd name="connsiteX6" fmla="*/ 74409 w 1785705"/>
                <a:gd name="connsiteY6" fmla="*/ 148793 h 14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5705" h="148793">
                  <a:moveTo>
                    <a:pt x="74409" y="148793"/>
                  </a:moveTo>
                  <a:lnTo>
                    <a:pt x="1711297" y="148793"/>
                  </a:lnTo>
                  <a:cubicBezTo>
                    <a:pt x="1752376" y="148793"/>
                    <a:pt x="1785706" y="115491"/>
                    <a:pt x="1785706" y="74384"/>
                  </a:cubicBezTo>
                  <a:cubicBezTo>
                    <a:pt x="1785706" y="33304"/>
                    <a:pt x="1752379" y="0"/>
                    <a:pt x="1711297" y="0"/>
                  </a:cubicBezTo>
                  <a:lnTo>
                    <a:pt x="74409" y="0"/>
                  </a:lnTo>
                  <a:cubicBezTo>
                    <a:pt x="33329" y="0"/>
                    <a:pt x="0" y="33302"/>
                    <a:pt x="0" y="74384"/>
                  </a:cubicBezTo>
                  <a:cubicBezTo>
                    <a:pt x="0" y="115488"/>
                    <a:pt x="33327" y="148793"/>
                    <a:pt x="74409" y="148793"/>
                  </a:cubicBezTo>
                  <a:close/>
                </a:path>
              </a:pathLst>
            </a:custGeom>
            <a:grpFill/>
            <a:ln w="6294" cap="flat">
              <a:noFill/>
              <a:prstDash val="solid"/>
              <a:miter/>
            </a:ln>
          </p:spPr>
          <p:txBody>
            <a:bodyPr rtlCol="0" anchor="ctr"/>
            <a:lstStyle/>
            <a:p>
              <a:endParaRPr lang="de-DE"/>
            </a:p>
          </p:txBody>
        </p:sp>
        <p:sp>
          <p:nvSpPr>
            <p:cNvPr id="32" name="Freeform: Shape 31">
              <a:extLst>
                <a:ext uri="{FF2B5EF4-FFF2-40B4-BE49-F238E27FC236}">
                  <a16:creationId xmlns:a16="http://schemas.microsoft.com/office/drawing/2014/main" id="{D464D5A4-98C2-4360-83CB-720EFCA30D8A}"/>
                </a:ext>
              </a:extLst>
            </p:cNvPr>
            <p:cNvSpPr/>
            <p:nvPr/>
          </p:nvSpPr>
          <p:spPr>
            <a:xfrm>
              <a:off x="3858686" y="4115392"/>
              <a:ext cx="520861" cy="371329"/>
            </a:xfrm>
            <a:custGeom>
              <a:avLst/>
              <a:gdLst>
                <a:gd name="connsiteX0" fmla="*/ 399380 w 520861"/>
                <a:gd name="connsiteY0" fmla="*/ 16774 h 371329"/>
                <a:gd name="connsiteX1" fmla="*/ 183985 w 520861"/>
                <a:gd name="connsiteY1" fmla="*/ 192290 h 371329"/>
                <a:gd name="connsiteX2" fmla="*/ 132715 w 520861"/>
                <a:gd name="connsiteY2" fmla="*/ 127509 h 371329"/>
                <a:gd name="connsiteX3" fmla="*/ 132740 w 520861"/>
                <a:gd name="connsiteY3" fmla="*/ 127509 h 371329"/>
                <a:gd name="connsiteX4" fmla="*/ 28256 w 520861"/>
                <a:gd name="connsiteY4" fmla="*/ 115301 h 371329"/>
                <a:gd name="connsiteX5" fmla="*/ 16047 w 520861"/>
                <a:gd name="connsiteY5" fmla="*/ 219785 h 371329"/>
                <a:gd name="connsiteX6" fmla="*/ 114104 w 520861"/>
                <a:gd name="connsiteY6" fmla="*/ 343789 h 371329"/>
                <a:gd name="connsiteX7" fmla="*/ 114080 w 520861"/>
                <a:gd name="connsiteY7" fmla="*/ 343789 h 371329"/>
                <a:gd name="connsiteX8" fmla="*/ 219452 w 520861"/>
                <a:gd name="connsiteY8" fmla="*/ 355333 h 371329"/>
                <a:gd name="connsiteX9" fmla="*/ 493422 w 520861"/>
                <a:gd name="connsiteY9" fmla="*/ 132112 h 371329"/>
                <a:gd name="connsiteX10" fmla="*/ 493397 w 520861"/>
                <a:gd name="connsiteY10" fmla="*/ 132112 h 371329"/>
                <a:gd name="connsiteX11" fmla="*/ 520472 w 520861"/>
                <a:gd name="connsiteY11" fmla="*/ 81975 h 371329"/>
                <a:gd name="connsiteX12" fmla="*/ 504129 w 520861"/>
                <a:gd name="connsiteY12" fmla="*/ 27381 h 371329"/>
                <a:gd name="connsiteX13" fmla="*/ 453967 w 520861"/>
                <a:gd name="connsiteY13" fmla="*/ 380 h 371329"/>
                <a:gd name="connsiteX14" fmla="*/ 399398 w 520861"/>
                <a:gd name="connsiteY14" fmla="*/ 16773 h 371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0861" h="371329">
                  <a:moveTo>
                    <a:pt x="399380" y="16774"/>
                  </a:moveTo>
                  <a:lnTo>
                    <a:pt x="183985" y="192290"/>
                  </a:lnTo>
                  <a:lnTo>
                    <a:pt x="132715" y="127509"/>
                  </a:lnTo>
                  <a:lnTo>
                    <a:pt x="132740" y="127509"/>
                  </a:lnTo>
                  <a:cubicBezTo>
                    <a:pt x="107240" y="95290"/>
                    <a:pt x="60473" y="89825"/>
                    <a:pt x="28256" y="115301"/>
                  </a:cubicBezTo>
                  <a:cubicBezTo>
                    <a:pt x="-3964" y="140776"/>
                    <a:pt x="-9452" y="187568"/>
                    <a:pt x="16047" y="219785"/>
                  </a:cubicBezTo>
                  <a:lnTo>
                    <a:pt x="114104" y="343789"/>
                  </a:lnTo>
                  <a:lnTo>
                    <a:pt x="114080" y="343789"/>
                  </a:lnTo>
                  <a:cubicBezTo>
                    <a:pt x="140343" y="375418"/>
                    <a:pt x="186958" y="380537"/>
                    <a:pt x="219452" y="355333"/>
                  </a:cubicBezTo>
                  <a:lnTo>
                    <a:pt x="493422" y="132112"/>
                  </a:lnTo>
                  <a:lnTo>
                    <a:pt x="493397" y="132112"/>
                  </a:lnTo>
                  <a:cubicBezTo>
                    <a:pt x="508732" y="119657"/>
                    <a:pt x="518454" y="101616"/>
                    <a:pt x="520472" y="81975"/>
                  </a:cubicBezTo>
                  <a:cubicBezTo>
                    <a:pt x="522491" y="62333"/>
                    <a:pt x="516608" y="42691"/>
                    <a:pt x="504129" y="27381"/>
                  </a:cubicBezTo>
                  <a:cubicBezTo>
                    <a:pt x="491649" y="12096"/>
                    <a:pt x="473608" y="2374"/>
                    <a:pt x="453967" y="380"/>
                  </a:cubicBezTo>
                  <a:cubicBezTo>
                    <a:pt x="434300" y="-1614"/>
                    <a:pt x="414683" y="4294"/>
                    <a:pt x="399398" y="16773"/>
                  </a:cubicBezTo>
                  <a:close/>
                </a:path>
              </a:pathLst>
            </a:custGeom>
            <a:grpFill/>
            <a:ln w="6294" cap="flat">
              <a:noFill/>
              <a:prstDash val="solid"/>
              <a:miter/>
            </a:ln>
          </p:spPr>
          <p:txBody>
            <a:bodyPr rtlCol="0" anchor="ctr"/>
            <a:lstStyle/>
            <a:p>
              <a:endParaRPr lang="de-DE"/>
            </a:p>
          </p:txBody>
        </p:sp>
        <p:sp>
          <p:nvSpPr>
            <p:cNvPr id="48" name="Freeform: Shape 47">
              <a:extLst>
                <a:ext uri="{FF2B5EF4-FFF2-40B4-BE49-F238E27FC236}">
                  <a16:creationId xmlns:a16="http://schemas.microsoft.com/office/drawing/2014/main" id="{29F96764-916E-433A-8619-8094CA3B62D8}"/>
                </a:ext>
              </a:extLst>
            </p:cNvPr>
            <p:cNvSpPr/>
            <p:nvPr/>
          </p:nvSpPr>
          <p:spPr>
            <a:xfrm>
              <a:off x="3858686" y="4710652"/>
              <a:ext cx="520861" cy="371511"/>
            </a:xfrm>
            <a:custGeom>
              <a:avLst/>
              <a:gdLst>
                <a:gd name="connsiteX0" fmla="*/ 399380 w 520861"/>
                <a:gd name="connsiteY0" fmla="*/ 16775 h 371511"/>
                <a:gd name="connsiteX1" fmla="*/ 183985 w 520861"/>
                <a:gd name="connsiteY1" fmla="*/ 192291 h 371511"/>
                <a:gd name="connsiteX2" fmla="*/ 132715 w 520861"/>
                <a:gd name="connsiteY2" fmla="*/ 127510 h 371511"/>
                <a:gd name="connsiteX3" fmla="*/ 132740 w 520861"/>
                <a:gd name="connsiteY3" fmla="*/ 127510 h 371511"/>
                <a:gd name="connsiteX4" fmla="*/ 28256 w 520861"/>
                <a:gd name="connsiteY4" fmla="*/ 115301 h 371511"/>
                <a:gd name="connsiteX5" fmla="*/ 16047 w 520861"/>
                <a:gd name="connsiteY5" fmla="*/ 219786 h 371511"/>
                <a:gd name="connsiteX6" fmla="*/ 114104 w 520861"/>
                <a:gd name="connsiteY6" fmla="*/ 343790 h 371511"/>
                <a:gd name="connsiteX7" fmla="*/ 114080 w 520861"/>
                <a:gd name="connsiteY7" fmla="*/ 343790 h 371511"/>
                <a:gd name="connsiteX8" fmla="*/ 219452 w 520861"/>
                <a:gd name="connsiteY8" fmla="*/ 355334 h 371511"/>
                <a:gd name="connsiteX9" fmla="*/ 493422 w 520861"/>
                <a:gd name="connsiteY9" fmla="*/ 132113 h 371511"/>
                <a:gd name="connsiteX10" fmla="*/ 493397 w 520861"/>
                <a:gd name="connsiteY10" fmla="*/ 132113 h 371511"/>
                <a:gd name="connsiteX11" fmla="*/ 520472 w 520861"/>
                <a:gd name="connsiteY11" fmla="*/ 81975 h 371511"/>
                <a:gd name="connsiteX12" fmla="*/ 504129 w 520861"/>
                <a:gd name="connsiteY12" fmla="*/ 27382 h 371511"/>
                <a:gd name="connsiteX13" fmla="*/ 453967 w 520861"/>
                <a:gd name="connsiteY13" fmla="*/ 381 h 371511"/>
                <a:gd name="connsiteX14" fmla="*/ 399398 w 520861"/>
                <a:gd name="connsiteY14" fmla="*/ 16774 h 371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0861" h="371511">
                  <a:moveTo>
                    <a:pt x="399380" y="16775"/>
                  </a:moveTo>
                  <a:lnTo>
                    <a:pt x="183985" y="192291"/>
                  </a:lnTo>
                  <a:lnTo>
                    <a:pt x="132715" y="127510"/>
                  </a:lnTo>
                  <a:lnTo>
                    <a:pt x="132740" y="127510"/>
                  </a:lnTo>
                  <a:cubicBezTo>
                    <a:pt x="107240" y="95291"/>
                    <a:pt x="60473" y="89802"/>
                    <a:pt x="28256" y="115301"/>
                  </a:cubicBezTo>
                  <a:cubicBezTo>
                    <a:pt x="-3964" y="140777"/>
                    <a:pt x="-9452" y="187568"/>
                    <a:pt x="16047" y="219786"/>
                  </a:cubicBezTo>
                  <a:lnTo>
                    <a:pt x="114104" y="343790"/>
                  </a:lnTo>
                  <a:lnTo>
                    <a:pt x="114080" y="343790"/>
                  </a:lnTo>
                  <a:cubicBezTo>
                    <a:pt x="140219" y="375665"/>
                    <a:pt x="187033" y="380784"/>
                    <a:pt x="219452" y="355334"/>
                  </a:cubicBezTo>
                  <a:lnTo>
                    <a:pt x="493422" y="132113"/>
                  </a:lnTo>
                  <a:lnTo>
                    <a:pt x="493397" y="132113"/>
                  </a:lnTo>
                  <a:cubicBezTo>
                    <a:pt x="508732" y="119658"/>
                    <a:pt x="518454" y="101617"/>
                    <a:pt x="520472" y="81975"/>
                  </a:cubicBezTo>
                  <a:cubicBezTo>
                    <a:pt x="522491" y="62334"/>
                    <a:pt x="516608" y="42692"/>
                    <a:pt x="504129" y="27382"/>
                  </a:cubicBezTo>
                  <a:cubicBezTo>
                    <a:pt x="491649" y="12072"/>
                    <a:pt x="473608" y="2375"/>
                    <a:pt x="453967" y="381"/>
                  </a:cubicBezTo>
                  <a:cubicBezTo>
                    <a:pt x="434300" y="-1613"/>
                    <a:pt x="414683" y="4270"/>
                    <a:pt x="399398" y="16774"/>
                  </a:cubicBezTo>
                  <a:close/>
                </a:path>
              </a:pathLst>
            </a:custGeom>
            <a:grpFill/>
            <a:ln w="6294" cap="flat">
              <a:noFill/>
              <a:prstDash val="solid"/>
              <a:miter/>
            </a:ln>
          </p:spPr>
          <p:txBody>
            <a:bodyPr rtlCol="0" anchor="ctr"/>
            <a:lstStyle/>
            <a:p>
              <a:endParaRPr lang="de-DE"/>
            </a:p>
          </p:txBody>
        </p:sp>
        <p:sp>
          <p:nvSpPr>
            <p:cNvPr id="50" name="Freeform: Shape 49">
              <a:extLst>
                <a:ext uri="{FF2B5EF4-FFF2-40B4-BE49-F238E27FC236}">
                  <a16:creationId xmlns:a16="http://schemas.microsoft.com/office/drawing/2014/main" id="{77947B76-9174-4D63-9C69-7712F841197D}"/>
                </a:ext>
              </a:extLst>
            </p:cNvPr>
            <p:cNvSpPr/>
            <p:nvPr/>
          </p:nvSpPr>
          <p:spPr>
            <a:xfrm>
              <a:off x="4602740" y="5305927"/>
              <a:ext cx="2232072" cy="148818"/>
            </a:xfrm>
            <a:custGeom>
              <a:avLst/>
              <a:gdLst>
                <a:gd name="connsiteX0" fmla="*/ 2157663 w 2232072"/>
                <a:gd name="connsiteY0" fmla="*/ 0 h 148818"/>
                <a:gd name="connsiteX1" fmla="*/ 74409 w 2232072"/>
                <a:gd name="connsiteY1" fmla="*/ 0 h 148818"/>
                <a:gd name="connsiteX2" fmla="*/ 0 w 2232072"/>
                <a:gd name="connsiteY2" fmla="*/ 74409 h 148818"/>
                <a:gd name="connsiteX3" fmla="*/ 74409 w 2232072"/>
                <a:gd name="connsiteY3" fmla="*/ 148818 h 148818"/>
                <a:gd name="connsiteX4" fmla="*/ 2157663 w 2232072"/>
                <a:gd name="connsiteY4" fmla="*/ 148818 h 148818"/>
                <a:gd name="connsiteX5" fmla="*/ 2232072 w 2232072"/>
                <a:gd name="connsiteY5" fmla="*/ 74409 h 148818"/>
                <a:gd name="connsiteX6" fmla="*/ 2157663 w 2232072"/>
                <a:gd name="connsiteY6"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2072" h="148818">
                  <a:moveTo>
                    <a:pt x="2157663" y="0"/>
                  </a:moveTo>
                  <a:lnTo>
                    <a:pt x="74409" y="0"/>
                  </a:lnTo>
                  <a:cubicBezTo>
                    <a:pt x="33305" y="0"/>
                    <a:pt x="0" y="33302"/>
                    <a:pt x="0" y="74409"/>
                  </a:cubicBezTo>
                  <a:cubicBezTo>
                    <a:pt x="0" y="115489"/>
                    <a:pt x="33302" y="148818"/>
                    <a:pt x="74409" y="148818"/>
                  </a:cubicBezTo>
                  <a:lnTo>
                    <a:pt x="2157663" y="148818"/>
                  </a:lnTo>
                  <a:cubicBezTo>
                    <a:pt x="2198743" y="148818"/>
                    <a:pt x="2232072" y="115491"/>
                    <a:pt x="2232072" y="74409"/>
                  </a:cubicBezTo>
                  <a:cubicBezTo>
                    <a:pt x="2232072" y="33305"/>
                    <a:pt x="2198745" y="0"/>
                    <a:pt x="2157663" y="0"/>
                  </a:cubicBezTo>
                  <a:close/>
                </a:path>
              </a:pathLst>
            </a:custGeom>
            <a:grpFill/>
            <a:ln w="6294" cap="flat">
              <a:noFill/>
              <a:prstDash val="solid"/>
              <a:miter/>
            </a:ln>
          </p:spPr>
          <p:txBody>
            <a:bodyPr rtlCol="0" anchor="ctr"/>
            <a:lstStyle/>
            <a:p>
              <a:endParaRPr lang="de-DE"/>
            </a:p>
          </p:txBody>
        </p:sp>
        <p:sp>
          <p:nvSpPr>
            <p:cNvPr id="51" name="Freeform: Shape 50">
              <a:extLst>
                <a:ext uri="{FF2B5EF4-FFF2-40B4-BE49-F238E27FC236}">
                  <a16:creationId xmlns:a16="http://schemas.microsoft.com/office/drawing/2014/main" id="{88EF27B2-1F6D-4CB0-B34D-EB233E940B77}"/>
                </a:ext>
              </a:extLst>
            </p:cNvPr>
            <p:cNvSpPr/>
            <p:nvPr/>
          </p:nvSpPr>
          <p:spPr>
            <a:xfrm>
              <a:off x="3858686" y="5305850"/>
              <a:ext cx="520861" cy="371821"/>
            </a:xfrm>
            <a:custGeom>
              <a:avLst/>
              <a:gdLst>
                <a:gd name="connsiteX0" fmla="*/ 399380 w 520861"/>
                <a:gd name="connsiteY0" fmla="*/ 16775 h 371821"/>
                <a:gd name="connsiteX1" fmla="*/ 183985 w 520861"/>
                <a:gd name="connsiteY1" fmla="*/ 192291 h 371821"/>
                <a:gd name="connsiteX2" fmla="*/ 132715 w 520861"/>
                <a:gd name="connsiteY2" fmla="*/ 127510 h 371821"/>
                <a:gd name="connsiteX3" fmla="*/ 132740 w 520861"/>
                <a:gd name="connsiteY3" fmla="*/ 127510 h 371821"/>
                <a:gd name="connsiteX4" fmla="*/ 28256 w 520861"/>
                <a:gd name="connsiteY4" fmla="*/ 115301 h 371821"/>
                <a:gd name="connsiteX5" fmla="*/ 16047 w 520861"/>
                <a:gd name="connsiteY5" fmla="*/ 219785 h 371821"/>
                <a:gd name="connsiteX6" fmla="*/ 114104 w 520861"/>
                <a:gd name="connsiteY6" fmla="*/ 343790 h 371821"/>
                <a:gd name="connsiteX7" fmla="*/ 114080 w 520861"/>
                <a:gd name="connsiteY7" fmla="*/ 343790 h 371821"/>
                <a:gd name="connsiteX8" fmla="*/ 219452 w 520861"/>
                <a:gd name="connsiteY8" fmla="*/ 355334 h 371821"/>
                <a:gd name="connsiteX9" fmla="*/ 493422 w 520861"/>
                <a:gd name="connsiteY9" fmla="*/ 132112 h 371821"/>
                <a:gd name="connsiteX10" fmla="*/ 493397 w 520861"/>
                <a:gd name="connsiteY10" fmla="*/ 132112 h 371821"/>
                <a:gd name="connsiteX11" fmla="*/ 520472 w 520861"/>
                <a:gd name="connsiteY11" fmla="*/ 81975 h 371821"/>
                <a:gd name="connsiteX12" fmla="*/ 504129 w 520861"/>
                <a:gd name="connsiteY12" fmla="*/ 27382 h 371821"/>
                <a:gd name="connsiteX13" fmla="*/ 453967 w 520861"/>
                <a:gd name="connsiteY13" fmla="*/ 381 h 371821"/>
                <a:gd name="connsiteX14" fmla="*/ 399374 w 520861"/>
                <a:gd name="connsiteY14" fmla="*/ 16774 h 37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0861" h="371821">
                  <a:moveTo>
                    <a:pt x="399380" y="16775"/>
                  </a:moveTo>
                  <a:lnTo>
                    <a:pt x="183985" y="192291"/>
                  </a:lnTo>
                  <a:lnTo>
                    <a:pt x="132715" y="127510"/>
                  </a:lnTo>
                  <a:lnTo>
                    <a:pt x="132740" y="127510"/>
                  </a:lnTo>
                  <a:cubicBezTo>
                    <a:pt x="107240" y="95266"/>
                    <a:pt x="60473" y="89801"/>
                    <a:pt x="28256" y="115301"/>
                  </a:cubicBezTo>
                  <a:cubicBezTo>
                    <a:pt x="-3964" y="140776"/>
                    <a:pt x="-9452" y="187543"/>
                    <a:pt x="16047" y="219785"/>
                  </a:cubicBezTo>
                  <a:lnTo>
                    <a:pt x="114104" y="343790"/>
                  </a:lnTo>
                  <a:lnTo>
                    <a:pt x="114080" y="343790"/>
                  </a:lnTo>
                  <a:cubicBezTo>
                    <a:pt x="139998" y="376059"/>
                    <a:pt x="187159" y="381227"/>
                    <a:pt x="219452" y="355334"/>
                  </a:cubicBezTo>
                  <a:lnTo>
                    <a:pt x="493422" y="132112"/>
                  </a:lnTo>
                  <a:lnTo>
                    <a:pt x="493397" y="132112"/>
                  </a:lnTo>
                  <a:cubicBezTo>
                    <a:pt x="508732" y="119658"/>
                    <a:pt x="518454" y="101617"/>
                    <a:pt x="520472" y="81975"/>
                  </a:cubicBezTo>
                  <a:cubicBezTo>
                    <a:pt x="522491" y="62334"/>
                    <a:pt x="516608" y="42692"/>
                    <a:pt x="504129" y="27382"/>
                  </a:cubicBezTo>
                  <a:cubicBezTo>
                    <a:pt x="491649" y="12072"/>
                    <a:pt x="473608" y="2350"/>
                    <a:pt x="453967" y="381"/>
                  </a:cubicBezTo>
                  <a:cubicBezTo>
                    <a:pt x="434300" y="-1613"/>
                    <a:pt x="414683" y="4270"/>
                    <a:pt x="399374" y="16774"/>
                  </a:cubicBezTo>
                  <a:close/>
                </a:path>
              </a:pathLst>
            </a:custGeom>
            <a:grpFill/>
            <a:ln w="6294" cap="flat">
              <a:noFill/>
              <a:prstDash val="solid"/>
              <a:miter/>
            </a:ln>
          </p:spPr>
          <p:txBody>
            <a:bodyPr rtlCol="0" anchor="ctr"/>
            <a:lstStyle/>
            <a:p>
              <a:endParaRPr lang="de-DE"/>
            </a:p>
          </p:txBody>
        </p:sp>
        <p:sp>
          <p:nvSpPr>
            <p:cNvPr id="52" name="Freeform: Shape 51">
              <a:extLst>
                <a:ext uri="{FF2B5EF4-FFF2-40B4-BE49-F238E27FC236}">
                  <a16:creationId xmlns:a16="http://schemas.microsoft.com/office/drawing/2014/main" id="{EE5E53CA-89DB-4107-8A85-F6D1BEDF7DF8}"/>
                </a:ext>
              </a:extLst>
            </p:cNvPr>
            <p:cNvSpPr/>
            <p:nvPr/>
          </p:nvSpPr>
          <p:spPr>
            <a:xfrm>
              <a:off x="4602696" y="4710685"/>
              <a:ext cx="1144056" cy="148818"/>
            </a:xfrm>
            <a:custGeom>
              <a:avLst/>
              <a:gdLst>
                <a:gd name="connsiteX0" fmla="*/ 74390 w 1144056"/>
                <a:gd name="connsiteY0" fmla="*/ 148812 h 148818"/>
                <a:gd name="connsiteX1" fmla="*/ 1144057 w 1144056"/>
                <a:gd name="connsiteY1" fmla="*/ 148812 h 148818"/>
                <a:gd name="connsiteX2" fmla="*/ 995245 w 1144056"/>
                <a:gd name="connsiteY2" fmla="*/ 0 h 148818"/>
                <a:gd name="connsiteX3" fmla="*/ 74409 w 1144056"/>
                <a:gd name="connsiteY3" fmla="*/ 0 h 148818"/>
                <a:gd name="connsiteX4" fmla="*/ 0 w 1144056"/>
                <a:gd name="connsiteY4" fmla="*/ 74409 h 148818"/>
                <a:gd name="connsiteX5" fmla="*/ 74409 w 1144056"/>
                <a:gd name="connsiteY5" fmla="*/ 148818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4056" h="148818">
                  <a:moveTo>
                    <a:pt x="74390" y="148812"/>
                  </a:moveTo>
                  <a:lnTo>
                    <a:pt x="1144057" y="148812"/>
                  </a:lnTo>
                  <a:lnTo>
                    <a:pt x="995245" y="0"/>
                  </a:lnTo>
                  <a:lnTo>
                    <a:pt x="74409" y="0"/>
                  </a:lnTo>
                  <a:cubicBezTo>
                    <a:pt x="33305" y="0"/>
                    <a:pt x="0" y="33327"/>
                    <a:pt x="0" y="74409"/>
                  </a:cubicBezTo>
                  <a:cubicBezTo>
                    <a:pt x="0" y="115489"/>
                    <a:pt x="33302" y="148818"/>
                    <a:pt x="74409" y="148818"/>
                  </a:cubicBezTo>
                  <a:close/>
                </a:path>
              </a:pathLst>
            </a:custGeom>
            <a:grpFill/>
            <a:ln w="6294" cap="flat">
              <a:noFill/>
              <a:prstDash val="solid"/>
              <a:miter/>
            </a:ln>
          </p:spPr>
          <p:txBody>
            <a:bodyPr rtlCol="0" anchor="ctr"/>
            <a:lstStyle/>
            <a:p>
              <a:endParaRPr lang="de-DE"/>
            </a:p>
          </p:txBody>
        </p:sp>
        <p:sp>
          <p:nvSpPr>
            <p:cNvPr id="53" name="Freeform: Shape 52">
              <a:extLst>
                <a:ext uri="{FF2B5EF4-FFF2-40B4-BE49-F238E27FC236}">
                  <a16:creationId xmlns:a16="http://schemas.microsoft.com/office/drawing/2014/main" id="{0FA08784-B9D7-4898-8E17-12E9B7E2B353}"/>
                </a:ext>
              </a:extLst>
            </p:cNvPr>
            <p:cNvSpPr/>
            <p:nvPr/>
          </p:nvSpPr>
          <p:spPr>
            <a:xfrm>
              <a:off x="6601176" y="4710660"/>
              <a:ext cx="233631" cy="148818"/>
            </a:xfrm>
            <a:custGeom>
              <a:avLst/>
              <a:gdLst>
                <a:gd name="connsiteX0" fmla="*/ 159227 w 233631"/>
                <a:gd name="connsiteY0" fmla="*/ 6 h 148818"/>
                <a:gd name="connsiteX1" fmla="*/ 0 w 233631"/>
                <a:gd name="connsiteY1" fmla="*/ 6 h 148818"/>
                <a:gd name="connsiteX2" fmla="*/ 1526 w 233631"/>
                <a:gd name="connsiteY2" fmla="*/ 148818 h 148818"/>
                <a:gd name="connsiteX3" fmla="*/ 159222 w 233631"/>
                <a:gd name="connsiteY3" fmla="*/ 148818 h 148818"/>
                <a:gd name="connsiteX4" fmla="*/ 233632 w 233631"/>
                <a:gd name="connsiteY4" fmla="*/ 74409 h 148818"/>
                <a:gd name="connsiteX5" fmla="*/ 159222 w 233631"/>
                <a:gd name="connsiteY5"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631" h="148818">
                  <a:moveTo>
                    <a:pt x="159227" y="6"/>
                  </a:moveTo>
                  <a:lnTo>
                    <a:pt x="0" y="6"/>
                  </a:lnTo>
                  <a:cubicBezTo>
                    <a:pt x="13341" y="48643"/>
                    <a:pt x="13857" y="99910"/>
                    <a:pt x="1526" y="148818"/>
                  </a:cubicBezTo>
                  <a:lnTo>
                    <a:pt x="159222" y="148818"/>
                  </a:lnTo>
                  <a:cubicBezTo>
                    <a:pt x="200302" y="148818"/>
                    <a:pt x="233632" y="115491"/>
                    <a:pt x="233632" y="74409"/>
                  </a:cubicBezTo>
                  <a:cubicBezTo>
                    <a:pt x="233632" y="33329"/>
                    <a:pt x="200305" y="0"/>
                    <a:pt x="159222" y="0"/>
                  </a:cubicBezTo>
                  <a:close/>
                </a:path>
              </a:pathLst>
            </a:custGeom>
            <a:grpFill/>
            <a:ln w="6294" cap="flat">
              <a:noFill/>
              <a:prstDash val="solid"/>
              <a:miter/>
            </a:ln>
          </p:spPr>
          <p:txBody>
            <a:bodyPr rtlCol="0" anchor="ctr"/>
            <a:lstStyle/>
            <a:p>
              <a:endParaRPr lang="de-DE"/>
            </a:p>
          </p:txBody>
        </p:sp>
        <p:sp>
          <p:nvSpPr>
            <p:cNvPr id="54" name="Freeform: Shape 53">
              <a:extLst>
                <a:ext uri="{FF2B5EF4-FFF2-40B4-BE49-F238E27FC236}">
                  <a16:creationId xmlns:a16="http://schemas.microsoft.com/office/drawing/2014/main" id="{ADE4F821-4E52-4891-90DB-C6BDC8F209C1}"/>
                </a:ext>
              </a:extLst>
            </p:cNvPr>
            <p:cNvSpPr/>
            <p:nvPr/>
          </p:nvSpPr>
          <p:spPr>
            <a:xfrm>
              <a:off x="6062751" y="4115462"/>
              <a:ext cx="772055" cy="148818"/>
            </a:xfrm>
            <a:custGeom>
              <a:avLst/>
              <a:gdLst>
                <a:gd name="connsiteX0" fmla="*/ 697652 w 772055"/>
                <a:gd name="connsiteY0" fmla="*/ 7 h 148818"/>
                <a:gd name="connsiteX1" fmla="*/ 0 w 772055"/>
                <a:gd name="connsiteY1" fmla="*/ 7 h 148818"/>
                <a:gd name="connsiteX2" fmla="*/ 148812 w 772055"/>
                <a:gd name="connsiteY2" fmla="*/ 148819 h 148818"/>
                <a:gd name="connsiteX3" fmla="*/ 697646 w 772055"/>
                <a:gd name="connsiteY3" fmla="*/ 148819 h 148818"/>
                <a:gd name="connsiteX4" fmla="*/ 772055 w 772055"/>
                <a:gd name="connsiteY4" fmla="*/ 74409 h 148818"/>
                <a:gd name="connsiteX5" fmla="*/ 697646 w 772055"/>
                <a:gd name="connsiteY5"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2055" h="148818">
                  <a:moveTo>
                    <a:pt x="697652" y="7"/>
                  </a:moveTo>
                  <a:lnTo>
                    <a:pt x="0" y="7"/>
                  </a:lnTo>
                  <a:lnTo>
                    <a:pt x="148812" y="148819"/>
                  </a:lnTo>
                  <a:lnTo>
                    <a:pt x="697646" y="148819"/>
                  </a:lnTo>
                  <a:cubicBezTo>
                    <a:pt x="738726" y="148819"/>
                    <a:pt x="772055" y="115516"/>
                    <a:pt x="772055" y="74409"/>
                  </a:cubicBezTo>
                  <a:cubicBezTo>
                    <a:pt x="772055" y="33330"/>
                    <a:pt x="738728" y="0"/>
                    <a:pt x="697646" y="0"/>
                  </a:cubicBezTo>
                  <a:close/>
                </a:path>
              </a:pathLst>
            </a:custGeom>
            <a:grpFill/>
            <a:ln w="6294" cap="flat">
              <a:noFill/>
              <a:prstDash val="solid"/>
              <a:miter/>
            </a:ln>
          </p:spPr>
          <p:txBody>
            <a:bodyPr rtlCol="0" anchor="ctr"/>
            <a:lstStyle/>
            <a:p>
              <a:endParaRPr lang="de-DE"/>
            </a:p>
          </p:txBody>
        </p:sp>
        <p:sp>
          <p:nvSpPr>
            <p:cNvPr id="55" name="Freeform: Shape 54">
              <a:extLst>
                <a:ext uri="{FF2B5EF4-FFF2-40B4-BE49-F238E27FC236}">
                  <a16:creationId xmlns:a16="http://schemas.microsoft.com/office/drawing/2014/main" id="{7A03B239-387F-48A8-B64F-C023DEE84850}"/>
                </a:ext>
              </a:extLst>
            </p:cNvPr>
            <p:cNvSpPr/>
            <p:nvPr/>
          </p:nvSpPr>
          <p:spPr>
            <a:xfrm>
              <a:off x="4602679" y="4115201"/>
              <a:ext cx="548832" cy="149039"/>
            </a:xfrm>
            <a:custGeom>
              <a:avLst/>
              <a:gdLst>
                <a:gd name="connsiteX0" fmla="*/ 74407 w 548832"/>
                <a:gd name="connsiteY0" fmla="*/ 149036 h 149039"/>
                <a:gd name="connsiteX1" fmla="*/ 548833 w 548832"/>
                <a:gd name="connsiteY1" fmla="*/ 149036 h 149039"/>
                <a:gd name="connsiteX2" fmla="*/ 456825 w 548832"/>
                <a:gd name="connsiteY2" fmla="*/ 224 h 149039"/>
                <a:gd name="connsiteX3" fmla="*/ 83563 w 548832"/>
                <a:gd name="connsiteY3" fmla="*/ 224 h 149039"/>
                <a:gd name="connsiteX4" fmla="*/ 25967 w 548832"/>
                <a:gd name="connsiteY4" fmla="*/ 19668 h 149039"/>
                <a:gd name="connsiteX5" fmla="*/ 0 w 548832"/>
                <a:gd name="connsiteY5" fmla="*/ 74631 h 149039"/>
                <a:gd name="connsiteX6" fmla="*/ 74409 w 548832"/>
                <a:gd name="connsiteY6" fmla="*/ 149040 h 14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8832" h="149039">
                  <a:moveTo>
                    <a:pt x="74407" y="149036"/>
                  </a:moveTo>
                  <a:lnTo>
                    <a:pt x="548833" y="149036"/>
                  </a:lnTo>
                  <a:cubicBezTo>
                    <a:pt x="505266" y="108670"/>
                    <a:pt x="473466" y="57230"/>
                    <a:pt x="456825" y="224"/>
                  </a:cubicBezTo>
                  <a:lnTo>
                    <a:pt x="83563" y="224"/>
                  </a:lnTo>
                  <a:cubicBezTo>
                    <a:pt x="62518" y="-1376"/>
                    <a:pt x="41720" y="5639"/>
                    <a:pt x="25967" y="19668"/>
                  </a:cubicBezTo>
                  <a:cubicBezTo>
                    <a:pt x="10215" y="33698"/>
                    <a:pt x="837" y="53537"/>
                    <a:pt x="0" y="74631"/>
                  </a:cubicBezTo>
                  <a:cubicBezTo>
                    <a:pt x="0" y="115735"/>
                    <a:pt x="33302" y="149040"/>
                    <a:pt x="74409" y="149040"/>
                  </a:cubicBezTo>
                  <a:close/>
                </a:path>
              </a:pathLst>
            </a:custGeom>
            <a:grpFill/>
            <a:ln w="6294" cap="flat">
              <a:noFill/>
              <a:prstDash val="solid"/>
              <a:miter/>
            </a:ln>
          </p:spPr>
          <p:txBody>
            <a:bodyPr rtlCol="0" anchor="ctr"/>
            <a:lstStyle/>
            <a:p>
              <a:endParaRPr lang="de-DE"/>
            </a:p>
          </p:txBody>
        </p:sp>
        <p:sp>
          <p:nvSpPr>
            <p:cNvPr id="56" name="Freeform: Shape 55">
              <a:extLst>
                <a:ext uri="{FF2B5EF4-FFF2-40B4-BE49-F238E27FC236}">
                  <a16:creationId xmlns:a16="http://schemas.microsoft.com/office/drawing/2014/main" id="{7A1A7D43-603A-46D1-9E16-27C9DF4C38FF}"/>
                </a:ext>
              </a:extLst>
            </p:cNvPr>
            <p:cNvSpPr/>
            <p:nvPr/>
          </p:nvSpPr>
          <p:spPr>
            <a:xfrm>
              <a:off x="5410212" y="3520205"/>
              <a:ext cx="1424574" cy="148818"/>
            </a:xfrm>
            <a:custGeom>
              <a:avLst/>
              <a:gdLst>
                <a:gd name="connsiteX0" fmla="*/ 1350191 w 1424574"/>
                <a:gd name="connsiteY0" fmla="*/ 3 h 148818"/>
                <a:gd name="connsiteX1" fmla="*/ 55577 w 1424574"/>
                <a:gd name="connsiteY1" fmla="*/ 3 h 148818"/>
                <a:gd name="connsiteX2" fmla="*/ 0 w 1424574"/>
                <a:gd name="connsiteY2" fmla="*/ 115344 h 148818"/>
                <a:gd name="connsiteX3" fmla="*/ 45092 w 1424574"/>
                <a:gd name="connsiteY3" fmla="*/ 111628 h 148818"/>
                <a:gd name="connsiteX4" fmla="*/ 189448 w 1424574"/>
                <a:gd name="connsiteY4" fmla="*/ 148819 h 148818"/>
                <a:gd name="connsiteX5" fmla="*/ 1350166 w 1424574"/>
                <a:gd name="connsiteY5" fmla="*/ 148819 h 148818"/>
                <a:gd name="connsiteX6" fmla="*/ 1424575 w 1424574"/>
                <a:gd name="connsiteY6" fmla="*/ 74409 h 148818"/>
                <a:gd name="connsiteX7" fmla="*/ 1350166 w 1424574"/>
                <a:gd name="connsiteY7"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4574" h="148818">
                  <a:moveTo>
                    <a:pt x="1350191" y="3"/>
                  </a:moveTo>
                  <a:lnTo>
                    <a:pt x="55577" y="3"/>
                  </a:lnTo>
                  <a:cubicBezTo>
                    <a:pt x="39628" y="39632"/>
                    <a:pt x="21069" y="78174"/>
                    <a:pt x="0" y="115344"/>
                  </a:cubicBezTo>
                  <a:cubicBezTo>
                    <a:pt x="14916" y="112981"/>
                    <a:pt x="29979" y="111726"/>
                    <a:pt x="45092" y="111628"/>
                  </a:cubicBezTo>
                  <a:cubicBezTo>
                    <a:pt x="95574" y="111554"/>
                    <a:pt x="145266" y="124353"/>
                    <a:pt x="189448" y="148819"/>
                  </a:cubicBezTo>
                  <a:lnTo>
                    <a:pt x="1350166" y="148819"/>
                  </a:lnTo>
                  <a:cubicBezTo>
                    <a:pt x="1391245" y="148819"/>
                    <a:pt x="1424575" y="115516"/>
                    <a:pt x="1424575" y="74409"/>
                  </a:cubicBezTo>
                  <a:cubicBezTo>
                    <a:pt x="1424575" y="33330"/>
                    <a:pt x="1391248" y="0"/>
                    <a:pt x="1350166" y="0"/>
                  </a:cubicBezTo>
                  <a:close/>
                </a:path>
              </a:pathLst>
            </a:custGeom>
            <a:grpFill/>
            <a:ln w="6294" cap="flat">
              <a:noFill/>
              <a:prstDash val="solid"/>
              <a:miter/>
            </a:ln>
          </p:spPr>
          <p:txBody>
            <a:bodyPr rtlCol="0" anchor="ctr"/>
            <a:lstStyle/>
            <a:p>
              <a:endParaRPr lang="de-DE"/>
            </a:p>
          </p:txBody>
        </p:sp>
        <p:sp>
          <p:nvSpPr>
            <p:cNvPr id="57" name="Freeform: Shape 56">
              <a:extLst>
                <a:ext uri="{FF2B5EF4-FFF2-40B4-BE49-F238E27FC236}">
                  <a16:creationId xmlns:a16="http://schemas.microsoft.com/office/drawing/2014/main" id="{7BD36BB3-9198-477B-8617-DB542C59F6C7}"/>
                </a:ext>
              </a:extLst>
            </p:cNvPr>
            <p:cNvSpPr/>
            <p:nvPr/>
          </p:nvSpPr>
          <p:spPr>
            <a:xfrm>
              <a:off x="5514496" y="2925005"/>
              <a:ext cx="1320291" cy="148792"/>
            </a:xfrm>
            <a:custGeom>
              <a:avLst/>
              <a:gdLst>
                <a:gd name="connsiteX0" fmla="*/ 1245907 w 1320291"/>
                <a:gd name="connsiteY0" fmla="*/ 6 h 148792"/>
                <a:gd name="connsiteX1" fmla="*/ 0 w 1320291"/>
                <a:gd name="connsiteY1" fmla="*/ 6 h 148792"/>
                <a:gd name="connsiteX2" fmla="*/ 22029 w 1320291"/>
                <a:gd name="connsiteY2" fmla="*/ 148793 h 148792"/>
                <a:gd name="connsiteX3" fmla="*/ 1245882 w 1320291"/>
                <a:gd name="connsiteY3" fmla="*/ 148793 h 148792"/>
                <a:gd name="connsiteX4" fmla="*/ 1320292 w 1320291"/>
                <a:gd name="connsiteY4" fmla="*/ 74384 h 148792"/>
                <a:gd name="connsiteX5" fmla="*/ 1245882 w 1320291"/>
                <a:gd name="connsiteY5" fmla="*/ 0 h 14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291" h="148792">
                  <a:moveTo>
                    <a:pt x="1245907" y="6"/>
                  </a:moveTo>
                  <a:lnTo>
                    <a:pt x="0" y="6"/>
                  </a:lnTo>
                  <a:cubicBezTo>
                    <a:pt x="11076" y="48987"/>
                    <a:pt x="18436" y="98706"/>
                    <a:pt x="22029" y="148793"/>
                  </a:cubicBezTo>
                  <a:lnTo>
                    <a:pt x="1245882" y="148793"/>
                  </a:lnTo>
                  <a:cubicBezTo>
                    <a:pt x="1286962" y="148793"/>
                    <a:pt x="1320292" y="115491"/>
                    <a:pt x="1320292" y="74384"/>
                  </a:cubicBezTo>
                  <a:cubicBezTo>
                    <a:pt x="1320292" y="33304"/>
                    <a:pt x="1286965" y="0"/>
                    <a:pt x="1245882" y="0"/>
                  </a:cubicBezTo>
                  <a:close/>
                </a:path>
              </a:pathLst>
            </a:custGeom>
            <a:grpFill/>
            <a:ln w="6294" cap="flat">
              <a:noFill/>
              <a:prstDash val="solid"/>
              <a:miter/>
            </a:ln>
          </p:spPr>
          <p:txBody>
            <a:bodyPr rtlCol="0" anchor="ctr"/>
            <a:lstStyle/>
            <a:p>
              <a:endParaRPr lang="de-DE"/>
            </a:p>
          </p:txBody>
        </p:sp>
        <p:sp>
          <p:nvSpPr>
            <p:cNvPr id="58" name="Freeform: Shape 57">
              <a:extLst>
                <a:ext uri="{FF2B5EF4-FFF2-40B4-BE49-F238E27FC236}">
                  <a16:creationId xmlns:a16="http://schemas.microsoft.com/office/drawing/2014/main" id="{E6CBD6AA-6033-4E61-A162-BB639BFDD687}"/>
                </a:ext>
              </a:extLst>
            </p:cNvPr>
            <p:cNvSpPr/>
            <p:nvPr/>
          </p:nvSpPr>
          <p:spPr>
            <a:xfrm>
              <a:off x="4995163" y="2255348"/>
              <a:ext cx="946789" cy="148818"/>
            </a:xfrm>
            <a:custGeom>
              <a:avLst/>
              <a:gdLst>
                <a:gd name="connsiteX0" fmla="*/ 214677 w 946789"/>
                <a:gd name="connsiteY0" fmla="*/ 148818 h 148818"/>
                <a:gd name="connsiteX1" fmla="*/ 872380 w 946789"/>
                <a:gd name="connsiteY1" fmla="*/ 148818 h 148818"/>
                <a:gd name="connsiteX2" fmla="*/ 946790 w 946789"/>
                <a:gd name="connsiteY2" fmla="*/ 74409 h 148818"/>
                <a:gd name="connsiteX3" fmla="*/ 872380 w 946789"/>
                <a:gd name="connsiteY3" fmla="*/ 0 h 148818"/>
                <a:gd name="connsiteX4" fmla="*/ 0 w 946789"/>
                <a:gd name="connsiteY4" fmla="*/ 0 h 148818"/>
                <a:gd name="connsiteX5" fmla="*/ 214727 w 946789"/>
                <a:gd name="connsiteY5" fmla="*/ 148812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6789" h="148818">
                  <a:moveTo>
                    <a:pt x="214677" y="148818"/>
                  </a:moveTo>
                  <a:lnTo>
                    <a:pt x="872380" y="148818"/>
                  </a:lnTo>
                  <a:cubicBezTo>
                    <a:pt x="913485" y="148818"/>
                    <a:pt x="946790" y="115491"/>
                    <a:pt x="946790" y="74409"/>
                  </a:cubicBezTo>
                  <a:cubicBezTo>
                    <a:pt x="946790" y="33305"/>
                    <a:pt x="913487" y="0"/>
                    <a:pt x="872380" y="0"/>
                  </a:cubicBezTo>
                  <a:lnTo>
                    <a:pt x="0" y="0"/>
                  </a:lnTo>
                  <a:cubicBezTo>
                    <a:pt x="77755" y="40022"/>
                    <a:pt x="149946" y="90036"/>
                    <a:pt x="214727" y="148812"/>
                  </a:cubicBezTo>
                  <a:close/>
                </a:path>
              </a:pathLst>
            </a:custGeom>
            <a:grpFill/>
            <a:ln w="6294" cap="flat">
              <a:noFill/>
              <a:prstDash val="solid"/>
              <a:miter/>
            </a:ln>
          </p:spPr>
          <p:txBody>
            <a:bodyPr rtlCol="0" anchor="ctr"/>
            <a:lstStyle/>
            <a:p>
              <a:endParaRPr lang="de-DE"/>
            </a:p>
          </p:txBody>
        </p:sp>
        <p:sp>
          <p:nvSpPr>
            <p:cNvPr id="59" name="Freeform: Shape 58">
              <a:extLst>
                <a:ext uri="{FF2B5EF4-FFF2-40B4-BE49-F238E27FC236}">
                  <a16:creationId xmlns:a16="http://schemas.microsoft.com/office/drawing/2014/main" id="{56888D54-0F9B-445A-83F5-1986AF0D9B00}"/>
                </a:ext>
              </a:extLst>
            </p:cNvPr>
            <p:cNvSpPr/>
            <p:nvPr/>
          </p:nvSpPr>
          <p:spPr>
            <a:xfrm>
              <a:off x="3858634" y="2255398"/>
              <a:ext cx="223657" cy="133774"/>
            </a:xfrm>
            <a:custGeom>
              <a:avLst/>
              <a:gdLst>
                <a:gd name="connsiteX0" fmla="*/ 30001 w 223657"/>
                <a:gd name="connsiteY0" fmla="*/ 133772 h 133774"/>
                <a:gd name="connsiteX1" fmla="*/ 223658 w 223657"/>
                <a:gd name="connsiteY1" fmla="*/ 0 h 133774"/>
                <a:gd name="connsiteX2" fmla="*/ 74398 w 223657"/>
                <a:gd name="connsiteY2" fmla="*/ 0 h 133774"/>
                <a:gd name="connsiteX3" fmla="*/ 3783 w 223657"/>
                <a:gd name="connsiteY3" fmla="*/ 50827 h 133774"/>
                <a:gd name="connsiteX4" fmla="*/ 29996 w 223657"/>
                <a:gd name="connsiteY4" fmla="*/ 133774 h 133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57" h="133774">
                  <a:moveTo>
                    <a:pt x="30001" y="133772"/>
                  </a:moveTo>
                  <a:cubicBezTo>
                    <a:pt x="88852" y="81443"/>
                    <a:pt x="153905" y="36521"/>
                    <a:pt x="223658" y="0"/>
                  </a:cubicBezTo>
                  <a:lnTo>
                    <a:pt x="74398" y="0"/>
                  </a:lnTo>
                  <a:cubicBezTo>
                    <a:pt x="42352" y="-98"/>
                    <a:pt x="13874" y="20405"/>
                    <a:pt x="3783" y="50827"/>
                  </a:cubicBezTo>
                  <a:cubicBezTo>
                    <a:pt x="-6309" y="81225"/>
                    <a:pt x="4250" y="114701"/>
                    <a:pt x="29996" y="133774"/>
                  </a:cubicBezTo>
                  <a:close/>
                </a:path>
              </a:pathLst>
            </a:custGeom>
            <a:grpFill/>
            <a:ln w="6294" cap="flat">
              <a:noFill/>
              <a:prstDash val="solid"/>
              <a:miter/>
            </a:ln>
          </p:spPr>
          <p:txBody>
            <a:bodyPr rtlCol="0" anchor="ctr"/>
            <a:lstStyle/>
            <a:p>
              <a:endParaRPr lang="de-DE"/>
            </a:p>
          </p:txBody>
        </p:sp>
        <p:sp>
          <p:nvSpPr>
            <p:cNvPr id="60" name="Freeform: Shape 59">
              <a:extLst>
                <a:ext uri="{FF2B5EF4-FFF2-40B4-BE49-F238E27FC236}">
                  <a16:creationId xmlns:a16="http://schemas.microsoft.com/office/drawing/2014/main" id="{D298BDC8-C327-45DD-A20E-310B6FE2D739}"/>
                </a:ext>
              </a:extLst>
            </p:cNvPr>
            <p:cNvSpPr/>
            <p:nvPr/>
          </p:nvSpPr>
          <p:spPr>
            <a:xfrm>
              <a:off x="3707454" y="2290261"/>
              <a:ext cx="2755282" cy="2755242"/>
            </a:xfrm>
            <a:custGeom>
              <a:avLst/>
              <a:gdLst>
                <a:gd name="connsiteX0" fmla="*/ 1535403 w 2755282"/>
                <a:gd name="connsiteY0" fmla="*/ 1640587 h 2755242"/>
                <a:gd name="connsiteX1" fmla="*/ 1534419 w 2755282"/>
                <a:gd name="connsiteY1" fmla="*/ 1641571 h 2755242"/>
                <a:gd name="connsiteX2" fmla="*/ 1534419 w 2755282"/>
                <a:gd name="connsiteY2" fmla="*/ 1641547 h 2755242"/>
                <a:gd name="connsiteX3" fmla="*/ 1490434 w 2755282"/>
                <a:gd name="connsiteY3" fmla="*/ 1747751 h 2755242"/>
                <a:gd name="connsiteX4" fmla="*/ 1534419 w 2755282"/>
                <a:gd name="connsiteY4" fmla="*/ 1853936 h 2755242"/>
                <a:gd name="connsiteX5" fmla="*/ 2391740 w 2755282"/>
                <a:gd name="connsiteY5" fmla="*/ 2711257 h 2755242"/>
                <a:gd name="connsiteX6" fmla="*/ 2497925 w 2755282"/>
                <a:gd name="connsiteY6" fmla="*/ 2755242 h 2755242"/>
                <a:gd name="connsiteX7" fmla="*/ 2604129 w 2755282"/>
                <a:gd name="connsiteY7" fmla="*/ 2711257 h 2755242"/>
                <a:gd name="connsiteX8" fmla="*/ 2711298 w 2755282"/>
                <a:gd name="connsiteY8" fmla="*/ 2604115 h 2755242"/>
                <a:gd name="connsiteX9" fmla="*/ 2711298 w 2755282"/>
                <a:gd name="connsiteY9" fmla="*/ 2604090 h 2755242"/>
                <a:gd name="connsiteX10" fmla="*/ 2755282 w 2755282"/>
                <a:gd name="connsiteY10" fmla="*/ 2497904 h 2755242"/>
                <a:gd name="connsiteX11" fmla="*/ 2711298 w 2755282"/>
                <a:gd name="connsiteY11" fmla="*/ 2391700 h 2755242"/>
                <a:gd name="connsiteX12" fmla="*/ 1853977 w 2755282"/>
                <a:gd name="connsiteY12" fmla="*/ 1534379 h 2755242"/>
                <a:gd name="connsiteX13" fmla="*/ 1747791 w 2755282"/>
                <a:gd name="connsiteY13" fmla="*/ 1490395 h 2755242"/>
                <a:gd name="connsiteX14" fmla="*/ 1641587 w 2755282"/>
                <a:gd name="connsiteY14" fmla="*/ 1534379 h 2755242"/>
                <a:gd name="connsiteX15" fmla="*/ 1640603 w 2755282"/>
                <a:gd name="connsiteY15" fmla="*/ 1535364 h 2755242"/>
                <a:gd name="connsiteX16" fmla="*/ 1481205 w 2755282"/>
                <a:gd name="connsiteY16" fmla="*/ 1375940 h 2755242"/>
                <a:gd name="connsiteX17" fmla="*/ 1481205 w 2755282"/>
                <a:gd name="connsiteY17" fmla="*/ 1375965 h 2755242"/>
                <a:gd name="connsiteX18" fmla="*/ 1633615 w 2755282"/>
                <a:gd name="connsiteY18" fmla="*/ 573715 h 2755242"/>
                <a:gd name="connsiteX19" fmla="*/ 1031076 w 2755282"/>
                <a:gd name="connsiteY19" fmla="*/ 22499 h 2755242"/>
                <a:gd name="connsiteX20" fmla="*/ 245524 w 2755282"/>
                <a:gd name="connsiteY20" fmla="*/ 245525 h 2755242"/>
                <a:gd name="connsiteX21" fmla="*/ 22498 w 2755282"/>
                <a:gd name="connsiteY21" fmla="*/ 1031140 h 2755242"/>
                <a:gd name="connsiteX22" fmla="*/ 573740 w 2755282"/>
                <a:gd name="connsiteY22" fmla="*/ 1633653 h 2755242"/>
                <a:gd name="connsiteX23" fmla="*/ 1375990 w 2755282"/>
                <a:gd name="connsiteY23" fmla="*/ 1481224 h 2755242"/>
                <a:gd name="connsiteX24" fmla="*/ 1748776 w 2755282"/>
                <a:gd name="connsiteY24" fmla="*/ 1639627 h 2755242"/>
                <a:gd name="connsiteX25" fmla="*/ 2606097 w 2755282"/>
                <a:gd name="connsiteY25" fmla="*/ 2496948 h 2755242"/>
                <a:gd name="connsiteX26" fmla="*/ 2606072 w 2755282"/>
                <a:gd name="connsiteY26" fmla="*/ 2496948 h 2755242"/>
                <a:gd name="connsiteX27" fmla="*/ 2606072 w 2755282"/>
                <a:gd name="connsiteY27" fmla="*/ 2498868 h 2755242"/>
                <a:gd name="connsiteX28" fmla="*/ 2496938 w 2755282"/>
                <a:gd name="connsiteY28" fmla="*/ 2606036 h 2755242"/>
                <a:gd name="connsiteX29" fmla="*/ 1639680 w 2755282"/>
                <a:gd name="connsiteY29" fmla="*/ 1746762 h 2755242"/>
                <a:gd name="connsiteX30" fmla="*/ 839408 w 2755282"/>
                <a:gd name="connsiteY30" fmla="*/ 1527613 h 2755242"/>
                <a:gd name="connsiteX31" fmla="*/ 352752 w 2755282"/>
                <a:gd name="connsiteY31" fmla="*/ 1326030 h 2755242"/>
                <a:gd name="connsiteX32" fmla="*/ 151169 w 2755282"/>
                <a:gd name="connsiteY32" fmla="*/ 839374 h 2755242"/>
                <a:gd name="connsiteX33" fmla="*/ 352752 w 2755282"/>
                <a:gd name="connsiteY33" fmla="*/ 352744 h 2755242"/>
                <a:gd name="connsiteX34" fmla="*/ 839408 w 2755282"/>
                <a:gd name="connsiteY34" fmla="*/ 151161 h 2755242"/>
                <a:gd name="connsiteX35" fmla="*/ 1326038 w 2755282"/>
                <a:gd name="connsiteY35" fmla="*/ 352744 h 2755242"/>
                <a:gd name="connsiteX36" fmla="*/ 1527621 w 2755282"/>
                <a:gd name="connsiteY36" fmla="*/ 839374 h 2755242"/>
                <a:gd name="connsiteX37" fmla="*/ 1325818 w 2755282"/>
                <a:gd name="connsiteY37" fmla="*/ 1325809 h 2755242"/>
                <a:gd name="connsiteX38" fmla="*/ 839408 w 2755282"/>
                <a:gd name="connsiteY38" fmla="*/ 1527613 h 275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755282" h="2755242">
                  <a:moveTo>
                    <a:pt x="1535403" y="1640587"/>
                  </a:moveTo>
                  <a:lnTo>
                    <a:pt x="1534419" y="1641571"/>
                  </a:lnTo>
                  <a:lnTo>
                    <a:pt x="1534419" y="1641547"/>
                  </a:lnTo>
                  <a:cubicBezTo>
                    <a:pt x="1506261" y="1669705"/>
                    <a:pt x="1490434" y="1707903"/>
                    <a:pt x="1490434" y="1747751"/>
                  </a:cubicBezTo>
                  <a:cubicBezTo>
                    <a:pt x="1490434" y="1787576"/>
                    <a:pt x="1506261" y="1825777"/>
                    <a:pt x="1534419" y="1853936"/>
                  </a:cubicBezTo>
                  <a:lnTo>
                    <a:pt x="2391740" y="2711257"/>
                  </a:lnTo>
                  <a:cubicBezTo>
                    <a:pt x="2419898" y="2739416"/>
                    <a:pt x="2458097" y="2755242"/>
                    <a:pt x="2497925" y="2755242"/>
                  </a:cubicBezTo>
                  <a:cubicBezTo>
                    <a:pt x="2537750" y="2755242"/>
                    <a:pt x="2575951" y="2739416"/>
                    <a:pt x="2604129" y="2711257"/>
                  </a:cubicBezTo>
                  <a:lnTo>
                    <a:pt x="2711298" y="2604115"/>
                  </a:lnTo>
                  <a:lnTo>
                    <a:pt x="2711298" y="2604090"/>
                  </a:lnTo>
                  <a:cubicBezTo>
                    <a:pt x="2739456" y="2575932"/>
                    <a:pt x="2755282" y="2537734"/>
                    <a:pt x="2755282" y="2497904"/>
                  </a:cubicBezTo>
                  <a:cubicBezTo>
                    <a:pt x="2755282" y="2458055"/>
                    <a:pt x="2739456" y="2419853"/>
                    <a:pt x="2711298" y="2391700"/>
                  </a:cubicBezTo>
                  <a:lnTo>
                    <a:pt x="1853977" y="1534379"/>
                  </a:lnTo>
                  <a:cubicBezTo>
                    <a:pt x="1825818" y="1506221"/>
                    <a:pt x="1787620" y="1490395"/>
                    <a:pt x="1747791" y="1490395"/>
                  </a:cubicBezTo>
                  <a:cubicBezTo>
                    <a:pt x="1707967" y="1490395"/>
                    <a:pt x="1669765" y="1506221"/>
                    <a:pt x="1641587" y="1534379"/>
                  </a:cubicBezTo>
                  <a:lnTo>
                    <a:pt x="1640603" y="1535364"/>
                  </a:lnTo>
                  <a:lnTo>
                    <a:pt x="1481205" y="1375940"/>
                  </a:lnTo>
                  <a:lnTo>
                    <a:pt x="1481205" y="1375965"/>
                  </a:lnTo>
                  <a:cubicBezTo>
                    <a:pt x="1667653" y="1153040"/>
                    <a:pt x="1725320" y="849437"/>
                    <a:pt x="1633615" y="573715"/>
                  </a:cubicBezTo>
                  <a:cubicBezTo>
                    <a:pt x="1541903" y="297943"/>
                    <a:pt x="1313887" y="89372"/>
                    <a:pt x="1031076" y="22499"/>
                  </a:cubicBezTo>
                  <a:cubicBezTo>
                    <a:pt x="748266" y="-44349"/>
                    <a:pt x="450989" y="40024"/>
                    <a:pt x="245524" y="245525"/>
                  </a:cubicBezTo>
                  <a:cubicBezTo>
                    <a:pt x="40028" y="451021"/>
                    <a:pt x="-44349" y="748305"/>
                    <a:pt x="22498" y="1031140"/>
                  </a:cubicBezTo>
                  <a:cubicBezTo>
                    <a:pt x="89372" y="1313950"/>
                    <a:pt x="297974" y="1541941"/>
                    <a:pt x="573740" y="1633653"/>
                  </a:cubicBezTo>
                  <a:cubicBezTo>
                    <a:pt x="849486" y="1725340"/>
                    <a:pt x="1153090" y="1667669"/>
                    <a:pt x="1375990" y="1481224"/>
                  </a:cubicBezTo>
                  <a:close/>
                  <a:moveTo>
                    <a:pt x="1748776" y="1639627"/>
                  </a:moveTo>
                  <a:lnTo>
                    <a:pt x="2606097" y="2496948"/>
                  </a:lnTo>
                  <a:lnTo>
                    <a:pt x="2606072" y="2496948"/>
                  </a:lnTo>
                  <a:cubicBezTo>
                    <a:pt x="2606540" y="2497490"/>
                    <a:pt x="2606540" y="2498302"/>
                    <a:pt x="2606072" y="2498868"/>
                  </a:cubicBezTo>
                  <a:lnTo>
                    <a:pt x="2496938" y="2606036"/>
                  </a:lnTo>
                  <a:lnTo>
                    <a:pt x="1639680" y="1746762"/>
                  </a:lnTo>
                  <a:close/>
                  <a:moveTo>
                    <a:pt x="839408" y="1527613"/>
                  </a:moveTo>
                  <a:cubicBezTo>
                    <a:pt x="656873" y="1527613"/>
                    <a:pt x="481823" y="1455100"/>
                    <a:pt x="352752" y="1326030"/>
                  </a:cubicBezTo>
                  <a:cubicBezTo>
                    <a:pt x="223682" y="1196959"/>
                    <a:pt x="151169" y="1021903"/>
                    <a:pt x="151169" y="839374"/>
                  </a:cubicBezTo>
                  <a:cubicBezTo>
                    <a:pt x="151169" y="656864"/>
                    <a:pt x="223682" y="481790"/>
                    <a:pt x="352752" y="352744"/>
                  </a:cubicBezTo>
                  <a:cubicBezTo>
                    <a:pt x="481823" y="223673"/>
                    <a:pt x="656879" y="151161"/>
                    <a:pt x="839408" y="151161"/>
                  </a:cubicBezTo>
                  <a:cubicBezTo>
                    <a:pt x="1021937" y="151161"/>
                    <a:pt x="1196993" y="223673"/>
                    <a:pt x="1326038" y="352744"/>
                  </a:cubicBezTo>
                  <a:cubicBezTo>
                    <a:pt x="1455109" y="481790"/>
                    <a:pt x="1527621" y="656871"/>
                    <a:pt x="1527621" y="839374"/>
                  </a:cubicBezTo>
                  <a:cubicBezTo>
                    <a:pt x="1527424" y="1021859"/>
                    <a:pt x="1454838" y="1196789"/>
                    <a:pt x="1325818" y="1325809"/>
                  </a:cubicBezTo>
                  <a:cubicBezTo>
                    <a:pt x="1196791" y="1454836"/>
                    <a:pt x="1021867" y="1527418"/>
                    <a:pt x="839408" y="1527613"/>
                  </a:cubicBezTo>
                  <a:close/>
                </a:path>
              </a:pathLst>
            </a:custGeom>
            <a:grpFill/>
            <a:ln w="6294" cap="flat">
              <a:noFill/>
              <a:prstDash val="solid"/>
              <a:miter/>
            </a:ln>
          </p:spPr>
          <p:txBody>
            <a:bodyPr rtlCol="0" anchor="ctr"/>
            <a:lstStyle/>
            <a:p>
              <a:endParaRPr lang="de-DE"/>
            </a:p>
          </p:txBody>
        </p:sp>
        <p:sp>
          <p:nvSpPr>
            <p:cNvPr id="61" name="Freeform: Shape 60">
              <a:extLst>
                <a:ext uri="{FF2B5EF4-FFF2-40B4-BE49-F238E27FC236}">
                  <a16:creationId xmlns:a16="http://schemas.microsoft.com/office/drawing/2014/main" id="{1FEDA82D-C08A-413D-9C28-3A50B183ADB0}"/>
                </a:ext>
              </a:extLst>
            </p:cNvPr>
            <p:cNvSpPr/>
            <p:nvPr/>
          </p:nvSpPr>
          <p:spPr>
            <a:xfrm>
              <a:off x="4267855" y="2925034"/>
              <a:ext cx="669641" cy="445795"/>
            </a:xfrm>
            <a:custGeom>
              <a:avLst/>
              <a:gdLst>
                <a:gd name="connsiteX0" fmla="*/ 654783 w 669641"/>
                <a:gd name="connsiteY0" fmla="*/ 29782 h 445795"/>
                <a:gd name="connsiteX1" fmla="*/ 550620 w 669641"/>
                <a:gd name="connsiteY1" fmla="*/ 14841 h 445795"/>
                <a:gd name="connsiteX2" fmla="*/ 217918 w 669641"/>
                <a:gd name="connsiteY2" fmla="*/ 264123 h 445795"/>
                <a:gd name="connsiteX3" fmla="*/ 137334 w 669641"/>
                <a:gd name="connsiteY3" fmla="*/ 136502 h 445795"/>
                <a:gd name="connsiteX4" fmla="*/ 34721 w 669641"/>
                <a:gd name="connsiteY4" fmla="*/ 113291 h 445795"/>
                <a:gd name="connsiteX5" fmla="*/ 11486 w 669641"/>
                <a:gd name="connsiteY5" fmla="*/ 215904 h 445795"/>
                <a:gd name="connsiteX6" fmla="*/ 135069 w 669641"/>
                <a:gd name="connsiteY6" fmla="*/ 411703 h 445795"/>
                <a:gd name="connsiteX7" fmla="*/ 135094 w 669641"/>
                <a:gd name="connsiteY7" fmla="*/ 411703 h 445795"/>
                <a:gd name="connsiteX8" fmla="*/ 184616 w 669641"/>
                <a:gd name="connsiteY8" fmla="*/ 444537 h 445795"/>
                <a:gd name="connsiteX9" fmla="*/ 242630 w 669641"/>
                <a:gd name="connsiteY9" fmla="*/ 431541 h 445795"/>
                <a:gd name="connsiteX10" fmla="*/ 639867 w 669641"/>
                <a:gd name="connsiteY10" fmla="*/ 133942 h 445795"/>
                <a:gd name="connsiteX11" fmla="*/ 639842 w 669641"/>
                <a:gd name="connsiteY11" fmla="*/ 133942 h 445795"/>
                <a:gd name="connsiteX12" fmla="*/ 654783 w 669641"/>
                <a:gd name="connsiteY12" fmla="*/ 29780 h 44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9641" h="445795">
                  <a:moveTo>
                    <a:pt x="654783" y="29782"/>
                  </a:moveTo>
                  <a:cubicBezTo>
                    <a:pt x="630144" y="-3077"/>
                    <a:pt x="583524" y="-9772"/>
                    <a:pt x="550620" y="14841"/>
                  </a:cubicBezTo>
                  <a:lnTo>
                    <a:pt x="217918" y="264123"/>
                  </a:lnTo>
                  <a:lnTo>
                    <a:pt x="137334" y="136502"/>
                  </a:lnTo>
                  <a:cubicBezTo>
                    <a:pt x="115403" y="101748"/>
                    <a:pt x="69453" y="91360"/>
                    <a:pt x="34721" y="113291"/>
                  </a:cubicBezTo>
                  <a:cubicBezTo>
                    <a:pt x="-33" y="135197"/>
                    <a:pt x="-10445" y="181154"/>
                    <a:pt x="11486" y="215904"/>
                  </a:cubicBezTo>
                  <a:lnTo>
                    <a:pt x="135069" y="411703"/>
                  </a:lnTo>
                  <a:lnTo>
                    <a:pt x="135094" y="411703"/>
                  </a:lnTo>
                  <a:cubicBezTo>
                    <a:pt x="146440" y="428932"/>
                    <a:pt x="164334" y="440796"/>
                    <a:pt x="184616" y="444537"/>
                  </a:cubicBezTo>
                  <a:cubicBezTo>
                    <a:pt x="204922" y="448278"/>
                    <a:pt x="225868" y="443602"/>
                    <a:pt x="242630" y="431541"/>
                  </a:cubicBezTo>
                  <a:lnTo>
                    <a:pt x="639867" y="133942"/>
                  </a:lnTo>
                  <a:lnTo>
                    <a:pt x="639842" y="133942"/>
                  </a:lnTo>
                  <a:cubicBezTo>
                    <a:pt x="672726" y="109279"/>
                    <a:pt x="679421" y="62665"/>
                    <a:pt x="654783" y="29780"/>
                  </a:cubicBezTo>
                  <a:close/>
                </a:path>
              </a:pathLst>
            </a:custGeom>
            <a:grpFill/>
            <a:ln w="6294" cap="flat">
              <a:noFill/>
              <a:prstDash val="solid"/>
              <a:miter/>
            </a:ln>
          </p:spPr>
          <p:txBody>
            <a:bodyPr rtlCol="0" anchor="ctr"/>
            <a:lstStyle/>
            <a:p>
              <a:endParaRPr lang="de-DE"/>
            </a:p>
          </p:txBody>
        </p:sp>
      </p:grpSp>
      <p:sp>
        <p:nvSpPr>
          <p:cNvPr id="14" name="Rectangle 13">
            <a:extLst>
              <a:ext uri="{FF2B5EF4-FFF2-40B4-BE49-F238E27FC236}">
                <a16:creationId xmlns:a16="http://schemas.microsoft.com/office/drawing/2014/main" id="{E044495C-BE75-CDA4-6731-43B6857C9C76}"/>
              </a:ext>
            </a:extLst>
          </p:cNvPr>
          <p:cNvSpPr/>
          <p:nvPr/>
        </p:nvSpPr>
        <p:spPr>
          <a:xfrm>
            <a:off x="377825" y="6280799"/>
            <a:ext cx="9937750" cy="524168"/>
          </a:xfrm>
          <a:prstGeom prst="rect">
            <a:avLst/>
          </a:pr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32000" tIns="46800" rIns="36000" rtlCol="0" anchor="ctr">
            <a:noAutofit/>
          </a:bodyPr>
          <a:lstStyle/>
          <a:p>
            <a:pPr marL="0" lvl="1" defTabSz="447675">
              <a:spcAft>
                <a:spcPts val="2400"/>
              </a:spcAft>
              <a:buClr>
                <a:schemeClr val="accent1"/>
              </a:buClr>
              <a:buSzPct val="100000"/>
              <a:tabLst>
                <a:tab pos="1162050" algn="l"/>
              </a:tabLst>
              <a:defRPr/>
            </a:pPr>
            <a:r>
              <a:rPr lang="de-DE" sz="1050" b="1" kern="0" dirty="0">
                <a:solidFill>
                  <a:schemeClr val="accent1"/>
                </a:solidFill>
                <a:latin typeface="+mn-lt"/>
              </a:rPr>
              <a:t>Die SWK benötigt erhebliche Investitionen zur Erreichung ihrer strategischen Ziele im Spannungsfeld zwischen schwieriger makroökonomischer Lage und Ausschüttungen an die Stadt Krefeld</a:t>
            </a:r>
          </a:p>
        </p:txBody>
      </p:sp>
      <p:sp>
        <p:nvSpPr>
          <p:cNvPr id="15" name="Isosceles Triangle 14">
            <a:extLst>
              <a:ext uri="{FF2B5EF4-FFF2-40B4-BE49-F238E27FC236}">
                <a16:creationId xmlns:a16="http://schemas.microsoft.com/office/drawing/2014/main" id="{82CFABD1-C537-A228-6083-819B1288A754}"/>
              </a:ext>
            </a:extLst>
          </p:cNvPr>
          <p:cNvSpPr/>
          <p:nvPr/>
        </p:nvSpPr>
        <p:spPr>
          <a:xfrm rot="5400000">
            <a:off x="335782" y="6396706"/>
            <a:ext cx="474356" cy="29235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37">
            <a:extLst>
              <a:ext uri="{FF2B5EF4-FFF2-40B4-BE49-F238E27FC236}">
                <a16:creationId xmlns:a16="http://schemas.microsoft.com/office/drawing/2014/main" id="{5EDDB9ED-77BF-8302-E63C-47086EDBF38D}"/>
              </a:ext>
            </a:extLst>
          </p:cNvPr>
          <p:cNvSpPr txBox="1"/>
          <p:nvPr/>
        </p:nvSpPr>
        <p:spPr>
          <a:xfrm>
            <a:off x="1767431" y="1620837"/>
            <a:ext cx="8548144" cy="4451190"/>
          </a:xfrm>
          <a:prstGeom prst="rect">
            <a:avLst/>
          </a:prstGeom>
          <a:solidFill>
            <a:srgbClr val="EBF4FF"/>
          </a:solidFill>
          <a:ln>
            <a:solidFill>
              <a:schemeClr val="bg1">
                <a:lumMod val="85000"/>
              </a:schemeClr>
            </a:solidFill>
          </a:ln>
          <a:effectLst>
            <a:outerShdw blurRad="50800" dist="38100" dir="2700000" algn="tl" rotWithShape="0">
              <a:prstClr val="black">
                <a:alpha val="40000"/>
              </a:prstClr>
            </a:outerShdw>
          </a:effectLst>
        </p:spPr>
        <p:txBody>
          <a:bodyPr wrap="square" lIns="144000" rIns="144000" rtlCol="0" anchor="ctr">
            <a:noAutofit/>
          </a:bodyPr>
          <a:lstStyle/>
          <a:p>
            <a:pPr marL="360000" lvl="1" indent="-360000" defTabSz="447675">
              <a:spcBef>
                <a:spcPts val="0"/>
              </a:spcBef>
              <a:spcAft>
                <a:spcPts val="18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SWK agiert als integrierter Mehrspartenkonzern mit den Geschäftsfeldern Energie/Wasser, Entsorgung und Verkehr</a:t>
            </a:r>
          </a:p>
          <a:p>
            <a:pPr marL="360000" lvl="1" indent="-360000" defTabSz="447675">
              <a:spcBef>
                <a:spcPts val="0"/>
              </a:spcBef>
              <a:spcAft>
                <a:spcPts val="18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Der Konzern ist bundesweit tätig bei Vertrieb von Strom und Gas, u.a. durch </a:t>
            </a:r>
            <a:r>
              <a:rPr lang="de-DE" sz="1050" kern="0" dirty="0" err="1">
                <a:solidFill>
                  <a:srgbClr val="000000"/>
                </a:solidFill>
                <a:cs typeface="Arial" pitchFamily="34" charset="0"/>
              </a:rPr>
              <a:t>lekker</a:t>
            </a:r>
            <a:r>
              <a:rPr lang="de-DE" sz="1050" kern="0" dirty="0">
                <a:solidFill>
                  <a:srgbClr val="000000"/>
                </a:solidFill>
                <a:cs typeface="Arial" pitchFamily="34" charset="0"/>
              </a:rPr>
              <a:t>-Energie</a:t>
            </a:r>
          </a:p>
          <a:p>
            <a:pPr marL="360000" lvl="1" indent="-360000" defTabSz="447675">
              <a:spcBef>
                <a:spcPts val="0"/>
              </a:spcBef>
              <a:spcAft>
                <a:spcPts val="18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Die SWK erwirtschaftete 2025 einen Umsatz von 2,25 Mrd. EUR (vs. Vorjahr 2,33 Mrd. EUR) bei einem EBITDA von 108 Mio. EUR (vs. 97 Mio. im Vorjahr) und EBIT von 37 Mio. EUR (Vorjahr 35 Mio. EUR)</a:t>
            </a:r>
          </a:p>
          <a:p>
            <a:pPr marL="360000" lvl="1" indent="-360000" defTabSz="447675">
              <a:spcBef>
                <a:spcPts val="0"/>
              </a:spcBef>
              <a:spcAft>
                <a:spcPts val="18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Die Stadt Krefeld hat das Ziel, bis 2035 CO</a:t>
            </a:r>
            <a:r>
              <a:rPr lang="de-DE" sz="1050" kern="0" baseline="-25000" dirty="0">
                <a:solidFill>
                  <a:srgbClr val="000000"/>
                </a:solidFill>
                <a:cs typeface="Arial" pitchFamily="34" charset="0"/>
              </a:rPr>
              <a:t>2</a:t>
            </a:r>
            <a:r>
              <a:rPr lang="de-DE" sz="1050" kern="0" dirty="0">
                <a:solidFill>
                  <a:srgbClr val="000000"/>
                </a:solidFill>
                <a:cs typeface="Arial" pitchFamily="34" charset="0"/>
              </a:rPr>
              <a:t>-Neutralität zu erreichen. Die SWK AG plant intern vorsichtiger mit einer Erreichung des Ziels bis 2045 </a:t>
            </a:r>
          </a:p>
          <a:p>
            <a:pPr marL="360000" lvl="1" indent="-360000" defTabSz="447675">
              <a:spcBef>
                <a:spcPts val="0"/>
              </a:spcBef>
              <a:spcAft>
                <a:spcPts val="18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Maßgeblich für die Zielerreichung sind die Bereiche Energie, Mobilität und Wärme</a:t>
            </a:r>
          </a:p>
          <a:p>
            <a:pPr marL="360000" lvl="1" indent="-360000" defTabSz="447675">
              <a:spcBef>
                <a:spcPts val="0"/>
              </a:spcBef>
              <a:spcAft>
                <a:spcPts val="18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Hierfür existiert ein Investitionsbedarf von bis zu 1 Mrd. EUR</a:t>
            </a:r>
          </a:p>
          <a:p>
            <a:pPr marL="360000" lvl="1" indent="-360000" defTabSz="447675">
              <a:spcBef>
                <a:spcPts val="0"/>
              </a:spcBef>
              <a:spcAft>
                <a:spcPts val="18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Herausforderung in der Erreichung dieses Ziels ergeben sich für die SWK vor allem durch Fachkräftemangel, Genehmigungsaufwand und den bestehenden Gewinnabführungsvertrag im kommunalen Querverbund</a:t>
            </a:r>
          </a:p>
          <a:p>
            <a:pPr marL="360000" lvl="1" indent="-360000" defTabSz="447675">
              <a:spcBef>
                <a:spcPts val="0"/>
              </a:spcBef>
              <a:spcAft>
                <a:spcPts val="18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Die SWK sucht nach attraktiven Möglichkeiten, ihr Geschäftsmodell weiterzuentwickeln, beispielsweise durch </a:t>
            </a:r>
            <a:r>
              <a:rPr lang="de-DE" sz="1050" kern="0" dirty="0" err="1">
                <a:solidFill>
                  <a:srgbClr val="000000"/>
                </a:solidFill>
                <a:cs typeface="Arial" pitchFamily="34" charset="0"/>
              </a:rPr>
              <a:t>Wärmecontracting</a:t>
            </a:r>
            <a:r>
              <a:rPr lang="de-DE" sz="1050" kern="0" dirty="0">
                <a:solidFill>
                  <a:srgbClr val="000000"/>
                </a:solidFill>
                <a:cs typeface="Arial" pitchFamily="34" charset="0"/>
              </a:rPr>
              <a:t>, Kälte- und Klimatechnik oder Kühllogistik</a:t>
            </a:r>
          </a:p>
        </p:txBody>
      </p:sp>
      <p:sp>
        <p:nvSpPr>
          <p:cNvPr id="19" name="TextBox 18">
            <a:extLst>
              <a:ext uri="{FF2B5EF4-FFF2-40B4-BE49-F238E27FC236}">
                <a16:creationId xmlns:a16="http://schemas.microsoft.com/office/drawing/2014/main" id="{9D1876EE-8AEA-C95F-CE55-E6CACEBEA0E3}"/>
              </a:ext>
            </a:extLst>
          </p:cNvPr>
          <p:cNvSpPr txBox="1"/>
          <p:nvPr/>
        </p:nvSpPr>
        <p:spPr>
          <a:xfrm>
            <a:off x="11251356" y="3276575"/>
            <a:ext cx="6249528" cy="400110"/>
          </a:xfrm>
          <a:prstGeom prst="rect">
            <a:avLst/>
          </a:prstGeom>
          <a:noFill/>
        </p:spPr>
        <p:txBody>
          <a:bodyPr wrap="square">
            <a:spAutoFit/>
          </a:bodyPr>
          <a:lstStyle/>
          <a:p>
            <a:pPr marL="360000" lvl="1" indent="-360000" defTabSz="447675">
              <a:spcAft>
                <a:spcPts val="3000"/>
              </a:spcAft>
              <a:buClr>
                <a:srgbClr val="003D7C"/>
              </a:buClr>
              <a:buSzPct val="100000"/>
              <a:buFont typeface="Wingdings" pitchFamily="2" charset="2"/>
              <a:buChar char="n"/>
              <a:tabLst>
                <a:tab pos="1162050" algn="l"/>
              </a:tabLst>
            </a:pPr>
            <a:r>
              <a:rPr lang="de-DE" sz="1000" kern="0" dirty="0">
                <a:solidFill>
                  <a:srgbClr val="000000"/>
                </a:solidFill>
                <a:cs typeface="Arial" pitchFamily="34" charset="0"/>
              </a:rPr>
              <a:t>Innerhalb dessen erfolgen auch in den nächsten Jahren Investitionen in Höhezweistelliger Millionenbeträge (KA22, S24)</a:t>
            </a:r>
          </a:p>
        </p:txBody>
      </p:sp>
    </p:spTree>
    <p:extLst>
      <p:ext uri="{BB962C8B-B14F-4D97-AF65-F5344CB8AC3E}">
        <p14:creationId xmlns:p14="http://schemas.microsoft.com/office/powerpoint/2010/main" val="278463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92BD58CE-E7AC-4B38-9F0C-7FB4980C356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286" imgH="286" progId="TCLayout.ActiveDocument.1">
                  <p:embed/>
                </p:oleObj>
              </mc:Choice>
              <mc:Fallback>
                <p:oleObj name="think-cell Slide" r:id="rId14" imgW="286" imgH="286" progId="TCLayout.ActiveDocument.1">
                  <p:embed/>
                  <p:pic>
                    <p:nvPicPr>
                      <p:cNvPr id="5" name="Objekt 4" hidden="1">
                        <a:extLst>
                          <a:ext uri="{FF2B5EF4-FFF2-40B4-BE49-F238E27FC236}">
                            <a16:creationId xmlns:a16="http://schemas.microsoft.com/office/drawing/2014/main" id="{92BD58CE-E7AC-4B38-9F0C-7FB4980C3567}"/>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a:xfrm>
            <a:off x="378700" y="450279"/>
            <a:ext cx="9936000" cy="720000"/>
          </a:xfrm>
        </p:spPr>
        <p:txBody>
          <a:bodyPr vert="horz" rIns="0"/>
          <a:lstStyle/>
          <a:p>
            <a:r>
              <a:rPr lang="de-DE" dirty="0"/>
              <a:t>Trotz steigender Investitionen scheint der Finanzierungsspielraum der SWK weiterhin komfortabel zu sein</a:t>
            </a:r>
          </a:p>
        </p:txBody>
      </p:sp>
      <p:sp>
        <p:nvSpPr>
          <p:cNvPr id="6" name="Text Placeholder 5"/>
          <p:cNvSpPr>
            <a:spLocks noGrp="1"/>
          </p:cNvSpPr>
          <p:nvPr>
            <p:ph type="body" sz="quarter" idx="13"/>
          </p:nvPr>
        </p:nvSpPr>
        <p:spPr>
          <a:xfrm>
            <a:off x="378700" y="233868"/>
            <a:ext cx="9936000" cy="216000"/>
          </a:xfrm>
        </p:spPr>
        <p:txBody>
          <a:bodyPr/>
          <a:lstStyle/>
          <a:p>
            <a:r>
              <a:rPr lang="de-DE" dirty="0"/>
              <a:t>2. Stadtwerke Krefeld – Übersicht und Herausforderungen</a:t>
            </a:r>
          </a:p>
        </p:txBody>
      </p:sp>
      <p:sp>
        <p:nvSpPr>
          <p:cNvPr id="58" name="Rectangle 57">
            <a:extLst>
              <a:ext uri="{FF2B5EF4-FFF2-40B4-BE49-F238E27FC236}">
                <a16:creationId xmlns:a16="http://schemas.microsoft.com/office/drawing/2014/main" id="{E1DF4BED-7EEA-02E9-0A3A-11890CA70F0E}"/>
              </a:ext>
            </a:extLst>
          </p:cNvPr>
          <p:cNvSpPr/>
          <p:nvPr/>
        </p:nvSpPr>
        <p:spPr>
          <a:xfrm>
            <a:off x="378700" y="1504787"/>
            <a:ext cx="9936000" cy="252000"/>
          </a:xfrm>
          <a:prstGeom prst="rect">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spcAft>
                <a:spcPts val="200"/>
              </a:spcAft>
            </a:pPr>
            <a:r>
              <a:rPr lang="de-DE" sz="1000" b="1" dirty="0">
                <a:solidFill>
                  <a:schemeClr val="bg1"/>
                </a:solidFill>
              </a:rPr>
              <a:t>Investitionsbedarf</a:t>
            </a:r>
          </a:p>
        </p:txBody>
      </p:sp>
      <p:sp>
        <p:nvSpPr>
          <p:cNvPr id="2" name="Rectangle 1">
            <a:extLst>
              <a:ext uri="{FF2B5EF4-FFF2-40B4-BE49-F238E27FC236}">
                <a16:creationId xmlns:a16="http://schemas.microsoft.com/office/drawing/2014/main" id="{B8D5EB07-C9F9-44FD-036B-0945B0752B10}"/>
              </a:ext>
            </a:extLst>
          </p:cNvPr>
          <p:cNvSpPr/>
          <p:nvPr/>
        </p:nvSpPr>
        <p:spPr>
          <a:xfrm>
            <a:off x="1089040" y="1797202"/>
            <a:ext cx="9218443" cy="930517"/>
          </a:xfrm>
          <a:prstGeom prst="rect">
            <a:avLst/>
          </a:prstGeom>
          <a:solidFill>
            <a:srgbClr val="E1ED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000" b="1" dirty="0">
              <a:solidFill>
                <a:schemeClr val="accent1"/>
              </a:solidFill>
            </a:endParaRPr>
          </a:p>
        </p:txBody>
      </p:sp>
      <p:sp>
        <p:nvSpPr>
          <p:cNvPr id="29" name="Rectangle 28">
            <a:extLst>
              <a:ext uri="{FF2B5EF4-FFF2-40B4-BE49-F238E27FC236}">
                <a16:creationId xmlns:a16="http://schemas.microsoft.com/office/drawing/2014/main" id="{8FB00587-00A2-043B-1D9E-744FE95D84F0}"/>
              </a:ext>
            </a:extLst>
          </p:cNvPr>
          <p:cNvSpPr/>
          <p:nvPr/>
        </p:nvSpPr>
        <p:spPr>
          <a:xfrm>
            <a:off x="1104296" y="3225419"/>
            <a:ext cx="9218443" cy="1905228"/>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Clr>
                <a:schemeClr val="accent1"/>
              </a:buClr>
              <a:buFont typeface="Wingdings" panose="05000000000000000000" pitchFamily="2" charset="2"/>
              <a:buChar char="n"/>
            </a:pPr>
            <a:endParaRPr lang="de-DE" sz="900" b="1" dirty="0">
              <a:solidFill>
                <a:schemeClr val="accent1"/>
              </a:solidFill>
              <a:latin typeface="+mj-lt"/>
            </a:endParaRPr>
          </a:p>
        </p:txBody>
      </p:sp>
      <p:sp>
        <p:nvSpPr>
          <p:cNvPr id="72" name="Rectangle 71">
            <a:extLst>
              <a:ext uri="{FF2B5EF4-FFF2-40B4-BE49-F238E27FC236}">
                <a16:creationId xmlns:a16="http://schemas.microsoft.com/office/drawing/2014/main" id="{9037B3D3-0E4D-18FE-7F5D-547AB1349580}"/>
              </a:ext>
            </a:extLst>
          </p:cNvPr>
          <p:cNvSpPr/>
          <p:nvPr/>
        </p:nvSpPr>
        <p:spPr>
          <a:xfrm>
            <a:off x="378702" y="5196652"/>
            <a:ext cx="9936000" cy="1535935"/>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108000" tIns="18000" rIns="18000" bIns="18000" rtlCol="0" anchor="ctr"/>
          <a:lstStyle/>
          <a:p>
            <a:pPr algn="ctr">
              <a:spcAft>
                <a:spcPts val="200"/>
              </a:spcAft>
            </a:pPr>
            <a:endParaRPr lang="de-DE" sz="800" dirty="0">
              <a:solidFill>
                <a:schemeClr val="accent1"/>
              </a:solidFill>
            </a:endParaRPr>
          </a:p>
        </p:txBody>
      </p:sp>
      <p:sp>
        <p:nvSpPr>
          <p:cNvPr id="73" name="Rectangle 72">
            <a:extLst>
              <a:ext uri="{FF2B5EF4-FFF2-40B4-BE49-F238E27FC236}">
                <a16:creationId xmlns:a16="http://schemas.microsoft.com/office/drawing/2014/main" id="{5CC55A12-8DF9-5267-4975-710818C54327}"/>
              </a:ext>
            </a:extLst>
          </p:cNvPr>
          <p:cNvSpPr/>
          <p:nvPr/>
        </p:nvSpPr>
        <p:spPr>
          <a:xfrm>
            <a:off x="378702" y="5185990"/>
            <a:ext cx="9936000" cy="250825"/>
          </a:xfrm>
          <a:prstGeom prst="rect">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spcAft>
                <a:spcPts val="200"/>
              </a:spcAft>
            </a:pPr>
            <a:r>
              <a:rPr lang="de-DE" sz="1000" b="1" dirty="0">
                <a:solidFill>
                  <a:schemeClr val="bg1"/>
                </a:solidFill>
              </a:rPr>
              <a:t>Entwicklung der Verschuldung (Mio. EUR)</a:t>
            </a:r>
          </a:p>
        </p:txBody>
      </p:sp>
      <p:grpSp>
        <p:nvGrpSpPr>
          <p:cNvPr id="75" name="Group 74">
            <a:extLst>
              <a:ext uri="{FF2B5EF4-FFF2-40B4-BE49-F238E27FC236}">
                <a16:creationId xmlns:a16="http://schemas.microsoft.com/office/drawing/2014/main" id="{584A62D4-DD64-9505-05A5-1AA0525E12C5}"/>
              </a:ext>
            </a:extLst>
          </p:cNvPr>
          <p:cNvGrpSpPr/>
          <p:nvPr/>
        </p:nvGrpSpPr>
        <p:grpSpPr>
          <a:xfrm>
            <a:off x="450156" y="5508625"/>
            <a:ext cx="1248173" cy="123111"/>
            <a:chOff x="558827" y="1963983"/>
            <a:chExt cx="1248173" cy="121349"/>
          </a:xfrm>
        </p:grpSpPr>
        <p:sp>
          <p:nvSpPr>
            <p:cNvPr id="76" name="Textfeld 56">
              <a:extLst>
                <a:ext uri="{FF2B5EF4-FFF2-40B4-BE49-F238E27FC236}">
                  <a16:creationId xmlns:a16="http://schemas.microsoft.com/office/drawing/2014/main" id="{4E33ACE9-66C2-6E49-D4CC-278DADCFB07F}"/>
                </a:ext>
              </a:extLst>
            </p:cNvPr>
            <p:cNvSpPr txBox="1"/>
            <p:nvPr/>
          </p:nvSpPr>
          <p:spPr>
            <a:xfrm>
              <a:off x="716390" y="1963983"/>
              <a:ext cx="1090610" cy="121349"/>
            </a:xfrm>
            <a:prstGeom prst="rect">
              <a:avLst/>
            </a:prstGeom>
            <a:noFill/>
            <a:ln>
              <a:noFill/>
            </a:ln>
          </p:spPr>
          <p:txBody>
            <a:bodyPr wrap="none" lIns="72000" tIns="0" rIns="0" bIns="0" rtlCol="0" anchor="ctr" anchorCtr="0">
              <a:spAutoFit/>
            </a:bodyPr>
            <a:lstStyle/>
            <a:p>
              <a:r>
                <a:rPr lang="de-DE" sz="800" dirty="0"/>
                <a:t> Net </a:t>
              </a:r>
              <a:r>
                <a:rPr lang="de-DE" sz="800" dirty="0" err="1"/>
                <a:t>Debt</a:t>
              </a:r>
              <a:r>
                <a:rPr lang="de-DE" sz="800" dirty="0"/>
                <a:t>/(Net Cash)</a:t>
              </a:r>
              <a:r>
                <a:rPr lang="de-DE" sz="800" baseline="30000" dirty="0"/>
                <a:t>2)</a:t>
              </a:r>
              <a:endParaRPr lang="de-DE" sz="900" baseline="30000" dirty="0"/>
            </a:p>
          </p:txBody>
        </p:sp>
        <p:sp>
          <p:nvSpPr>
            <p:cNvPr id="77" name="Rechteck 55">
              <a:extLst>
                <a:ext uri="{FF2B5EF4-FFF2-40B4-BE49-F238E27FC236}">
                  <a16:creationId xmlns:a16="http://schemas.microsoft.com/office/drawing/2014/main" id="{59CDF9C9-14F9-F9A9-C2C3-BFB50F9C64FE}"/>
                </a:ext>
              </a:extLst>
            </p:cNvPr>
            <p:cNvSpPr/>
            <p:nvPr/>
          </p:nvSpPr>
          <p:spPr>
            <a:xfrm>
              <a:off x="558827" y="1965007"/>
              <a:ext cx="209920" cy="11931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dirty="0">
                <a:solidFill>
                  <a:schemeClr val="tx1"/>
                </a:solidFill>
              </a:endParaRPr>
            </a:p>
          </p:txBody>
        </p:sp>
      </p:grpSp>
      <p:grpSp>
        <p:nvGrpSpPr>
          <p:cNvPr id="78" name="Group 77">
            <a:extLst>
              <a:ext uri="{FF2B5EF4-FFF2-40B4-BE49-F238E27FC236}">
                <a16:creationId xmlns:a16="http://schemas.microsoft.com/office/drawing/2014/main" id="{A131CDCF-16A6-27BA-5BB2-2EBAC24FBC95}"/>
              </a:ext>
            </a:extLst>
          </p:cNvPr>
          <p:cNvGrpSpPr/>
          <p:nvPr/>
        </p:nvGrpSpPr>
        <p:grpSpPr>
          <a:xfrm>
            <a:off x="1818308" y="5508625"/>
            <a:ext cx="1124742" cy="123825"/>
            <a:chOff x="558827" y="1963631"/>
            <a:chExt cx="1124742" cy="122053"/>
          </a:xfrm>
        </p:grpSpPr>
        <p:sp>
          <p:nvSpPr>
            <p:cNvPr id="79" name="Textfeld 56">
              <a:extLst>
                <a:ext uri="{FF2B5EF4-FFF2-40B4-BE49-F238E27FC236}">
                  <a16:creationId xmlns:a16="http://schemas.microsoft.com/office/drawing/2014/main" id="{256B1B6B-F926-B90C-D947-3003800B0227}"/>
                </a:ext>
              </a:extLst>
            </p:cNvPr>
            <p:cNvSpPr txBox="1"/>
            <p:nvPr/>
          </p:nvSpPr>
          <p:spPr>
            <a:xfrm>
              <a:off x="716390" y="1963631"/>
              <a:ext cx="967179" cy="122053"/>
            </a:xfrm>
            <a:prstGeom prst="rect">
              <a:avLst/>
            </a:prstGeom>
            <a:noFill/>
            <a:ln>
              <a:noFill/>
            </a:ln>
          </p:spPr>
          <p:txBody>
            <a:bodyPr wrap="none" lIns="72000" tIns="0" rIns="0" bIns="0" rtlCol="0" anchor="ctr" anchorCtr="0">
              <a:spAutoFit/>
            </a:bodyPr>
            <a:lstStyle/>
            <a:p>
              <a:r>
                <a:rPr lang="de-DE" sz="800" dirty="0"/>
                <a:t> Net </a:t>
              </a:r>
              <a:r>
                <a:rPr lang="de-DE" sz="800" dirty="0" err="1"/>
                <a:t>Debt</a:t>
              </a:r>
              <a:r>
                <a:rPr lang="de-DE" sz="800" dirty="0"/>
                <a:t> / EBITDA</a:t>
              </a:r>
              <a:endParaRPr lang="de-DE" sz="900" baseline="30000" dirty="0"/>
            </a:p>
          </p:txBody>
        </p:sp>
        <p:sp>
          <p:nvSpPr>
            <p:cNvPr id="80" name="Rechteck 55">
              <a:extLst>
                <a:ext uri="{FF2B5EF4-FFF2-40B4-BE49-F238E27FC236}">
                  <a16:creationId xmlns:a16="http://schemas.microsoft.com/office/drawing/2014/main" id="{324ED9EF-65A4-97FB-F548-5B689F580FF8}"/>
                </a:ext>
              </a:extLst>
            </p:cNvPr>
            <p:cNvSpPr/>
            <p:nvPr/>
          </p:nvSpPr>
          <p:spPr>
            <a:xfrm>
              <a:off x="558827" y="1965007"/>
              <a:ext cx="209920" cy="11931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dirty="0">
                <a:solidFill>
                  <a:schemeClr val="tx1"/>
                </a:solidFill>
              </a:endParaRPr>
            </a:p>
          </p:txBody>
        </p:sp>
      </p:grpSp>
      <p:sp>
        <p:nvSpPr>
          <p:cNvPr id="81" name="Rechteck 55">
            <a:extLst>
              <a:ext uri="{FF2B5EF4-FFF2-40B4-BE49-F238E27FC236}">
                <a16:creationId xmlns:a16="http://schemas.microsoft.com/office/drawing/2014/main" id="{DCFB99B8-9D82-038A-5335-F68F55000D16}"/>
              </a:ext>
            </a:extLst>
          </p:cNvPr>
          <p:cNvSpPr/>
          <p:nvPr/>
        </p:nvSpPr>
        <p:spPr>
          <a:xfrm>
            <a:off x="2010606" y="5730875"/>
            <a:ext cx="547084" cy="18996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(0,8)x</a:t>
            </a:r>
          </a:p>
        </p:txBody>
      </p:sp>
      <p:sp>
        <p:nvSpPr>
          <p:cNvPr id="82" name="Rechteck 55">
            <a:extLst>
              <a:ext uri="{FF2B5EF4-FFF2-40B4-BE49-F238E27FC236}">
                <a16:creationId xmlns:a16="http://schemas.microsoft.com/office/drawing/2014/main" id="{C43755F0-F41A-5825-001C-7D46DD103266}"/>
              </a:ext>
            </a:extLst>
          </p:cNvPr>
          <p:cNvSpPr/>
          <p:nvPr/>
        </p:nvSpPr>
        <p:spPr>
          <a:xfrm>
            <a:off x="3204156" y="5730875"/>
            <a:ext cx="547084" cy="18996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(0,7)x </a:t>
            </a:r>
          </a:p>
        </p:txBody>
      </p:sp>
      <p:sp>
        <p:nvSpPr>
          <p:cNvPr id="83" name="Rechteck 55">
            <a:extLst>
              <a:ext uri="{FF2B5EF4-FFF2-40B4-BE49-F238E27FC236}">
                <a16:creationId xmlns:a16="http://schemas.microsoft.com/office/drawing/2014/main" id="{3890B706-E086-D5DC-29A5-17194FD5221C}"/>
              </a:ext>
            </a:extLst>
          </p:cNvPr>
          <p:cNvSpPr/>
          <p:nvPr/>
        </p:nvSpPr>
        <p:spPr>
          <a:xfrm>
            <a:off x="4397706" y="5730875"/>
            <a:ext cx="547084" cy="18996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(0,8)x </a:t>
            </a:r>
          </a:p>
        </p:txBody>
      </p:sp>
      <p:sp>
        <p:nvSpPr>
          <p:cNvPr id="84" name="Rechteck 55">
            <a:extLst>
              <a:ext uri="{FF2B5EF4-FFF2-40B4-BE49-F238E27FC236}">
                <a16:creationId xmlns:a16="http://schemas.microsoft.com/office/drawing/2014/main" id="{DDF8EF4D-42B6-A0BC-2753-976758DAD30D}"/>
              </a:ext>
            </a:extLst>
          </p:cNvPr>
          <p:cNvSpPr/>
          <p:nvPr/>
        </p:nvSpPr>
        <p:spPr>
          <a:xfrm>
            <a:off x="5591255" y="5730875"/>
            <a:ext cx="547084" cy="18996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0,0x</a:t>
            </a:r>
          </a:p>
        </p:txBody>
      </p:sp>
      <p:sp>
        <p:nvSpPr>
          <p:cNvPr id="85" name="Rechteck 55">
            <a:extLst>
              <a:ext uri="{FF2B5EF4-FFF2-40B4-BE49-F238E27FC236}">
                <a16:creationId xmlns:a16="http://schemas.microsoft.com/office/drawing/2014/main" id="{37E472DD-A9A0-2ED9-BAA9-67815C7E318B}"/>
              </a:ext>
            </a:extLst>
          </p:cNvPr>
          <p:cNvSpPr/>
          <p:nvPr/>
        </p:nvSpPr>
        <p:spPr>
          <a:xfrm>
            <a:off x="753158" y="5730875"/>
            <a:ext cx="547084" cy="18996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0,1x</a:t>
            </a:r>
          </a:p>
        </p:txBody>
      </p:sp>
      <p:sp>
        <p:nvSpPr>
          <p:cNvPr id="20" name="Text Placeholder 6">
            <a:extLst>
              <a:ext uri="{FF2B5EF4-FFF2-40B4-BE49-F238E27FC236}">
                <a16:creationId xmlns:a16="http://schemas.microsoft.com/office/drawing/2014/main" id="{8321C599-9661-B88C-C2AA-0B00B3F245A0}"/>
              </a:ext>
            </a:extLst>
          </p:cNvPr>
          <p:cNvSpPr txBox="1">
            <a:spLocks/>
          </p:cNvSpPr>
          <p:nvPr/>
        </p:nvSpPr>
        <p:spPr>
          <a:xfrm>
            <a:off x="603250" y="7133281"/>
            <a:ext cx="8150225" cy="168344"/>
          </a:xfrm>
          <a:prstGeom prst="rect">
            <a:avLst/>
          </a:prstGeom>
        </p:spPr>
        <p:txBody>
          <a:bodyPr vert="horz" lIns="0" tIns="0" rIns="0" bIns="0" rtlCol="0">
            <a:noAutofit/>
          </a:bodyPr>
          <a:lstStyle>
            <a:lvl1pPr marL="0" indent="0" algn="l" defTabSz="1043056" rtl="0" eaLnBrk="1" latinLnBrk="0" hangingPunct="1">
              <a:spcBef>
                <a:spcPct val="20000"/>
              </a:spcBef>
              <a:buClr>
                <a:schemeClr val="accent1"/>
              </a:buClr>
              <a:buFont typeface="Wingdings" pitchFamily="2" charset="2"/>
              <a:buNone/>
              <a:tabLst/>
              <a:defRPr sz="800" b="0" kern="1200">
                <a:solidFill>
                  <a:schemeClr val="tx1"/>
                </a:solidFill>
                <a:latin typeface="+mn-lt"/>
                <a:ea typeface="+mn-ea"/>
                <a:cs typeface="+mn-cs"/>
              </a:defRPr>
            </a:lvl1pPr>
            <a:lvl2pPr marL="521528" indent="0" algn="l" defTabSz="1043056" rtl="0" eaLnBrk="1" latinLnBrk="0" hangingPunct="1">
              <a:spcBef>
                <a:spcPct val="20000"/>
              </a:spcBef>
              <a:buClr>
                <a:schemeClr val="accent1"/>
              </a:buClr>
              <a:buFont typeface="Arial" pitchFamily="34" charset="0"/>
              <a:buNone/>
              <a:defRPr sz="1600" b="1" kern="1200">
                <a:solidFill>
                  <a:schemeClr val="tx1"/>
                </a:solidFill>
                <a:latin typeface="+mn-lt"/>
                <a:ea typeface="+mn-ea"/>
                <a:cs typeface="+mn-cs"/>
              </a:defRPr>
            </a:lvl2pPr>
            <a:lvl3pPr marL="1043056" indent="0" algn="l" defTabSz="1043056" rtl="0" eaLnBrk="1" latinLnBrk="0" hangingPunct="1">
              <a:spcBef>
                <a:spcPct val="20000"/>
              </a:spcBef>
              <a:buClr>
                <a:schemeClr val="accent1"/>
              </a:buClr>
              <a:buSzPct val="80000"/>
              <a:buFont typeface="Wingdings" pitchFamily="2" charset="2"/>
              <a:buNone/>
              <a:defRPr sz="1600" b="1" kern="1200">
                <a:solidFill>
                  <a:schemeClr val="tx1"/>
                </a:solidFill>
                <a:latin typeface="+mn-lt"/>
                <a:ea typeface="+mn-ea"/>
                <a:cs typeface="+mn-cs"/>
              </a:defRPr>
            </a:lvl3pPr>
            <a:lvl4pPr marL="1564584" indent="0" algn="l" defTabSz="1043056" rtl="0" eaLnBrk="1" latinLnBrk="0" hangingPunct="1">
              <a:spcBef>
                <a:spcPct val="20000"/>
              </a:spcBef>
              <a:buFont typeface="Arial" pitchFamily="34" charset="0"/>
              <a:buNone/>
              <a:defRPr sz="1600" b="1" kern="1200">
                <a:solidFill>
                  <a:schemeClr val="tx1"/>
                </a:solidFill>
                <a:latin typeface="+mn-lt"/>
                <a:ea typeface="+mn-ea"/>
                <a:cs typeface="+mn-cs"/>
              </a:defRPr>
            </a:lvl4pPr>
            <a:lvl5pPr marL="2086112" indent="0" algn="l" defTabSz="1043056" rtl="0" eaLnBrk="1" latinLnBrk="0" hangingPunct="1">
              <a:spcBef>
                <a:spcPct val="20000"/>
              </a:spcBef>
              <a:buFont typeface="Arial" pitchFamily="34" charset="0"/>
              <a:buNone/>
              <a:defRPr sz="1600" b="1"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de-DE" dirty="0"/>
              <a:t>Quelle: Unternehmensinformationen, Metzler Research</a:t>
            </a:r>
          </a:p>
        </p:txBody>
      </p:sp>
      <p:pic>
        <p:nvPicPr>
          <p:cNvPr id="2052" name="Picture 4">
            <a:extLst>
              <a:ext uri="{FF2B5EF4-FFF2-40B4-BE49-F238E27FC236}">
                <a16:creationId xmlns:a16="http://schemas.microsoft.com/office/drawing/2014/main" id="{7D84E907-A099-150B-C1D0-9C5A541CFEBC}"/>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30451" t="509" r="2883" b="-509"/>
          <a:stretch/>
        </p:blipFill>
        <p:spPr bwMode="auto">
          <a:xfrm>
            <a:off x="1514746" y="1914431"/>
            <a:ext cx="535624" cy="535624"/>
          </a:xfrm>
          <a:prstGeom prst="ellipse">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D8C082D9-63D3-BBFA-1F3C-846EC6D42634}"/>
              </a:ext>
            </a:extLst>
          </p:cNvPr>
          <p:cNvPicPr>
            <a:picLocks noChangeAspect="1" noChangeArrowheads="1"/>
          </p:cNvPicPr>
          <p:nvPr/>
        </p:nvPicPr>
        <p:blipFill rotWithShape="1">
          <a:blip r:embed="rId17"/>
          <a:srcRect l="26973" t="11" r="16777" b="-11"/>
          <a:stretch/>
        </p:blipFill>
        <p:spPr bwMode="auto">
          <a:xfrm>
            <a:off x="3080585" y="1914451"/>
            <a:ext cx="535265" cy="535265"/>
          </a:xfrm>
          <a:prstGeom prst="ellipse">
            <a:avLst/>
          </a:prstGeom>
          <a:noFill/>
          <a:extLst>
            <a:ext uri="{909E8E84-426E-40DD-AFC4-6F175D3DCCD1}">
              <a14:hiddenFill xmlns:a14="http://schemas.microsoft.com/office/drawing/2010/main">
                <a:solidFill>
                  <a:srgbClr val="FFFFFF"/>
                </a:solidFill>
              </a14:hiddenFill>
            </a:ext>
          </a:extLst>
        </p:spPr>
      </p:pic>
      <p:sp>
        <p:nvSpPr>
          <p:cNvPr id="52" name="Textfeld 51">
            <a:extLst>
              <a:ext uri="{FF2B5EF4-FFF2-40B4-BE49-F238E27FC236}">
                <a16:creationId xmlns:a16="http://schemas.microsoft.com/office/drawing/2014/main" id="{697FE61A-2CA4-D951-AF55-F3CCCF0989B6}"/>
              </a:ext>
            </a:extLst>
          </p:cNvPr>
          <p:cNvSpPr txBox="1"/>
          <p:nvPr/>
        </p:nvSpPr>
        <p:spPr>
          <a:xfrm>
            <a:off x="2592915" y="3225419"/>
            <a:ext cx="1463040" cy="1831271"/>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Spartenübergreifende Modernisierung und </a:t>
            </a:r>
            <a:r>
              <a:rPr lang="de-DE" sz="900" dirty="0" err="1">
                <a:latin typeface="+mj-lt"/>
              </a:rPr>
              <a:t>Resilienzsteigerung</a:t>
            </a:r>
            <a:r>
              <a:rPr lang="de-DE" sz="900" dirty="0">
                <a:latin typeface="+mj-lt"/>
              </a:rPr>
              <a:t> der Versorgungs-infrastruktur</a:t>
            </a:r>
          </a:p>
          <a:p>
            <a:pPr marL="144000" indent="-144000">
              <a:spcAft>
                <a:spcPts val="300"/>
              </a:spcAft>
              <a:buClr>
                <a:schemeClr val="accent1"/>
              </a:buClr>
              <a:buFont typeface="Wingdings" panose="05000000000000000000" pitchFamily="2" charset="2"/>
              <a:buChar char="n"/>
            </a:pPr>
            <a:r>
              <a:rPr lang="de-DE" sz="900" dirty="0">
                <a:latin typeface="+mj-lt"/>
              </a:rPr>
              <a:t>Fortlaufende Erneuerung und Instandhaltung des Gasnetzes</a:t>
            </a:r>
          </a:p>
          <a:p>
            <a:pPr marL="144000" indent="-144000">
              <a:spcAft>
                <a:spcPts val="300"/>
              </a:spcAft>
              <a:buClr>
                <a:schemeClr val="accent1"/>
              </a:buClr>
              <a:buFont typeface="Wingdings" panose="05000000000000000000" pitchFamily="2" charset="2"/>
              <a:buChar char="n"/>
            </a:pPr>
            <a:r>
              <a:rPr lang="de-DE" sz="900" dirty="0">
                <a:latin typeface="+mj-lt"/>
              </a:rPr>
              <a:t>Vorbereitung der H</a:t>
            </a:r>
            <a:r>
              <a:rPr lang="de-DE" sz="900" baseline="-25000" dirty="0">
                <a:latin typeface="+mj-lt"/>
              </a:rPr>
              <a:t>2</a:t>
            </a:r>
            <a:r>
              <a:rPr lang="de-DE" sz="900" dirty="0">
                <a:latin typeface="+mj-lt"/>
              </a:rPr>
              <a:t>-Umstellung von Gaskraftwerken</a:t>
            </a:r>
          </a:p>
        </p:txBody>
      </p:sp>
      <p:sp>
        <p:nvSpPr>
          <p:cNvPr id="53" name="Textfeld 52">
            <a:extLst>
              <a:ext uri="{FF2B5EF4-FFF2-40B4-BE49-F238E27FC236}">
                <a16:creationId xmlns:a16="http://schemas.microsoft.com/office/drawing/2014/main" id="{DA36F52E-5608-B8E6-C509-AADE8AF2DB35}"/>
              </a:ext>
            </a:extLst>
          </p:cNvPr>
          <p:cNvSpPr txBox="1"/>
          <p:nvPr/>
        </p:nvSpPr>
        <p:spPr>
          <a:xfrm>
            <a:off x="4159611" y="3225419"/>
            <a:ext cx="1463040" cy="1654299"/>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Projekt „Fernwärme 3.0“ zur Absenkung der Netztemperatur und Digitalisierung der Wärmemengenzähler</a:t>
            </a:r>
          </a:p>
          <a:p>
            <a:pPr marL="144000" indent="-144000">
              <a:spcAft>
                <a:spcPts val="300"/>
              </a:spcAft>
              <a:buClr>
                <a:schemeClr val="accent1"/>
              </a:buClr>
              <a:buFont typeface="Wingdings" panose="05000000000000000000" pitchFamily="2" charset="2"/>
              <a:buChar char="n"/>
            </a:pPr>
            <a:r>
              <a:rPr lang="de-DE" sz="900" dirty="0">
                <a:latin typeface="+mj-lt"/>
              </a:rPr>
              <a:t>Erstellung eines Transformationsplans für die klimaneutrale Fernwärmeerzeugung bis 2045</a:t>
            </a:r>
          </a:p>
        </p:txBody>
      </p:sp>
      <p:sp>
        <p:nvSpPr>
          <p:cNvPr id="54" name="Textfeld 53">
            <a:extLst>
              <a:ext uri="{FF2B5EF4-FFF2-40B4-BE49-F238E27FC236}">
                <a16:creationId xmlns:a16="http://schemas.microsoft.com/office/drawing/2014/main" id="{76D9CA10-CCDF-8694-5276-5812427E38A2}"/>
              </a:ext>
            </a:extLst>
          </p:cNvPr>
          <p:cNvSpPr txBox="1"/>
          <p:nvPr/>
        </p:nvSpPr>
        <p:spPr>
          <a:xfrm>
            <a:off x="8859699" y="3225419"/>
            <a:ext cx="1463040" cy="1377300"/>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Ausbau der Wasserstoffbusflotte und Errichtung eines eigenen Elektrolyseurs</a:t>
            </a:r>
          </a:p>
          <a:p>
            <a:pPr marL="144000" indent="-144000">
              <a:spcAft>
                <a:spcPts val="300"/>
              </a:spcAft>
              <a:buClr>
                <a:schemeClr val="accent1"/>
              </a:buClr>
              <a:buFont typeface="Wingdings" panose="05000000000000000000" pitchFamily="2" charset="2"/>
              <a:buChar char="n"/>
            </a:pPr>
            <a:r>
              <a:rPr lang="de-DE" sz="900" dirty="0">
                <a:latin typeface="+mj-lt"/>
              </a:rPr>
              <a:t>Beschaffung neuer Straßenbahnen und Erneuerung der Fahrzeugflotte</a:t>
            </a:r>
          </a:p>
        </p:txBody>
      </p:sp>
      <p:sp>
        <p:nvSpPr>
          <p:cNvPr id="55" name="Textfeld 54">
            <a:extLst>
              <a:ext uri="{FF2B5EF4-FFF2-40B4-BE49-F238E27FC236}">
                <a16:creationId xmlns:a16="http://schemas.microsoft.com/office/drawing/2014/main" id="{00213737-D631-D8C9-D3F3-58F5F7A20A25}"/>
              </a:ext>
            </a:extLst>
          </p:cNvPr>
          <p:cNvSpPr txBox="1"/>
          <p:nvPr/>
        </p:nvSpPr>
        <p:spPr>
          <a:xfrm>
            <a:off x="5726307" y="3225419"/>
            <a:ext cx="1463040" cy="1377300"/>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Fortlaufende Erneuerung und Modernisierung des Wassernetzes</a:t>
            </a:r>
          </a:p>
          <a:p>
            <a:pPr marL="144000" indent="-144000">
              <a:spcAft>
                <a:spcPts val="300"/>
              </a:spcAft>
              <a:buClr>
                <a:schemeClr val="accent1"/>
              </a:buClr>
              <a:buFont typeface="Wingdings" panose="05000000000000000000" pitchFamily="2" charset="2"/>
              <a:buChar char="n"/>
            </a:pPr>
            <a:r>
              <a:rPr lang="de-DE" sz="900" dirty="0">
                <a:latin typeface="+mj-lt"/>
              </a:rPr>
              <a:t>Untersuchung und Vorbereitung von Sanierungs-</a:t>
            </a:r>
            <a:r>
              <a:rPr lang="de-DE" sz="900" dirty="0" err="1">
                <a:latin typeface="+mj-lt"/>
              </a:rPr>
              <a:t>maßnahmen</a:t>
            </a:r>
            <a:r>
              <a:rPr lang="de-DE" sz="900" dirty="0">
                <a:latin typeface="+mj-lt"/>
              </a:rPr>
              <a:t> am PFAS-Eintragsort Bruchweg</a:t>
            </a:r>
          </a:p>
        </p:txBody>
      </p:sp>
      <p:sp>
        <p:nvSpPr>
          <p:cNvPr id="56" name="Textfeld 55">
            <a:extLst>
              <a:ext uri="{FF2B5EF4-FFF2-40B4-BE49-F238E27FC236}">
                <a16:creationId xmlns:a16="http://schemas.microsoft.com/office/drawing/2014/main" id="{3FAACEE8-671A-7CFE-1DF0-59CA25774C43}"/>
              </a:ext>
            </a:extLst>
          </p:cNvPr>
          <p:cNvSpPr txBox="1"/>
          <p:nvPr/>
        </p:nvSpPr>
        <p:spPr>
          <a:xfrm>
            <a:off x="1104296" y="3225419"/>
            <a:ext cx="1463040" cy="1931298"/>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Modernisierung und Verstärkung des Stromnetzes für Industrie-elektrifizierung, Photovoltaik und Elektromobilität</a:t>
            </a:r>
          </a:p>
          <a:p>
            <a:pPr marL="144000" indent="-144000">
              <a:spcAft>
                <a:spcPts val="300"/>
              </a:spcAft>
              <a:buClr>
                <a:schemeClr val="accent1"/>
              </a:buClr>
              <a:buFont typeface="Wingdings" panose="05000000000000000000" pitchFamily="2" charset="2"/>
              <a:buChar char="n"/>
            </a:pPr>
            <a:r>
              <a:rPr lang="de-DE" sz="900" dirty="0">
                <a:latin typeface="+mj-lt"/>
              </a:rPr>
              <a:t>Einsatz eines digitalen Netzzwillings zur bedarfsgerechteren Planung und Reduzierung der Netzausbaukosten</a:t>
            </a:r>
          </a:p>
        </p:txBody>
      </p:sp>
      <p:graphicFrame>
        <p:nvGraphicFramePr>
          <p:cNvPr id="37" name="Chart 36">
            <a:extLst>
              <a:ext uri="{FF2B5EF4-FFF2-40B4-BE49-F238E27FC236}">
                <a16:creationId xmlns:a16="http://schemas.microsoft.com/office/drawing/2014/main" id="{1E33997B-5BE3-F7C5-A93C-443DEF19DA7A}"/>
              </a:ext>
            </a:extLst>
          </p:cNvPr>
          <p:cNvGraphicFramePr/>
          <p:nvPr>
            <p:custDataLst>
              <p:tags r:id="rId2"/>
            </p:custDataLst>
          </p:nvPr>
        </p:nvGraphicFramePr>
        <p:xfrm>
          <a:off x="415925" y="6008688"/>
          <a:ext cx="6129338" cy="469900"/>
        </p:xfrm>
        <a:graphic>
          <a:graphicData uri="http://schemas.openxmlformats.org/drawingml/2006/chart">
            <c:chart xmlns:c="http://schemas.openxmlformats.org/drawingml/2006/chart" xmlns:r="http://schemas.openxmlformats.org/officeDocument/2006/relationships" r:id="rId18"/>
          </a:graphicData>
        </a:graphic>
      </p:graphicFrame>
      <p:sp>
        <p:nvSpPr>
          <p:cNvPr id="12" name="Textplatzhalter 2">
            <a:extLst>
              <a:ext uri="{FF2B5EF4-FFF2-40B4-BE49-F238E27FC236}">
                <a16:creationId xmlns:a16="http://schemas.microsoft.com/office/drawing/2014/main" id="{716F403D-85BD-0DB8-1B4C-0D2056E6A4D0}"/>
              </a:ext>
            </a:extLst>
          </p:cNvPr>
          <p:cNvSpPr>
            <a:spLocks/>
          </p:cNvSpPr>
          <p:nvPr>
            <p:custDataLst>
              <p:tags r:id="rId3"/>
            </p:custDataLst>
          </p:nvPr>
        </p:nvSpPr>
        <p:spPr bwMode="auto">
          <a:xfrm>
            <a:off x="960438" y="6596063"/>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C50BDB7B-896E-4A34-AFA5-EEFD6BA3AA07}" type="datetime'''''2''''''''''''''''''''''''''0''''''''''2''1'''''''''">
              <a:rPr lang="de-DE" altLang="en-US" sz="900" smtClean="0"/>
              <a:pPr marL="0" lvl="0" indent="0" algn="ctr">
                <a:spcBef>
                  <a:spcPct val="0"/>
                </a:spcBef>
                <a:spcAft>
                  <a:spcPct val="0"/>
                </a:spcAft>
                <a:buNone/>
              </a:pPr>
              <a:t>2021</a:t>
            </a:fld>
            <a:endParaRPr lang="de-DE" sz="900" dirty="0"/>
          </a:p>
        </p:txBody>
      </p:sp>
      <p:sp>
        <p:nvSpPr>
          <p:cNvPr id="87" name="Textplatzhalter 2">
            <a:extLst>
              <a:ext uri="{FF2B5EF4-FFF2-40B4-BE49-F238E27FC236}">
                <a16:creationId xmlns:a16="http://schemas.microsoft.com/office/drawing/2014/main" id="{577D77E2-B599-A128-C132-1C3E98036614}"/>
              </a:ext>
            </a:extLst>
          </p:cNvPr>
          <p:cNvSpPr>
            <a:spLocks/>
          </p:cNvSpPr>
          <p:nvPr>
            <p:custDataLst>
              <p:tags r:id="rId4"/>
            </p:custDataLst>
          </p:nvPr>
        </p:nvSpPr>
        <p:spPr bwMode="auto">
          <a:xfrm>
            <a:off x="2154238" y="6596063"/>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8D1DEC8E-7220-4749-B7A1-90CC5BA7C62A}" type="datetime'''''''''''''''2''''''''0''2''''''''''''''''''''''''''2'''">
              <a:rPr lang="de-DE" altLang="en-US" sz="900" smtClean="0"/>
              <a:pPr marL="0" lvl="0" indent="0" algn="ctr">
                <a:spcBef>
                  <a:spcPct val="0"/>
                </a:spcBef>
                <a:spcAft>
                  <a:spcPct val="0"/>
                </a:spcAft>
                <a:buNone/>
              </a:pPr>
              <a:t>2022</a:t>
            </a:fld>
            <a:endParaRPr lang="de-DE" sz="900" dirty="0"/>
          </a:p>
        </p:txBody>
      </p:sp>
      <p:sp>
        <p:nvSpPr>
          <p:cNvPr id="90" name="Textplatzhalter 2">
            <a:extLst>
              <a:ext uri="{FF2B5EF4-FFF2-40B4-BE49-F238E27FC236}">
                <a16:creationId xmlns:a16="http://schemas.microsoft.com/office/drawing/2014/main" id="{DA160627-D049-2144-68FE-E918F80BF956}"/>
              </a:ext>
            </a:extLst>
          </p:cNvPr>
          <p:cNvSpPr>
            <a:spLocks/>
          </p:cNvSpPr>
          <p:nvPr>
            <p:custDataLst>
              <p:tags r:id="rId5"/>
            </p:custDataLst>
          </p:nvPr>
        </p:nvSpPr>
        <p:spPr bwMode="auto">
          <a:xfrm>
            <a:off x="3346450" y="6596063"/>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73D0204A-088C-4D8B-B886-488F5844AA3B}" type="datetime'''''''''''''2''''''''''''''''''''0''''''''''''''''2''''3'''">
              <a:rPr lang="de-DE" altLang="en-US" sz="900" smtClean="0"/>
              <a:pPr marL="0" lvl="0" indent="0" algn="ctr">
                <a:spcBef>
                  <a:spcPct val="0"/>
                </a:spcBef>
                <a:spcAft>
                  <a:spcPct val="0"/>
                </a:spcAft>
                <a:buNone/>
              </a:pPr>
              <a:t>2023</a:t>
            </a:fld>
            <a:endParaRPr lang="de-DE" sz="900" dirty="0"/>
          </a:p>
        </p:txBody>
      </p:sp>
      <p:sp>
        <p:nvSpPr>
          <p:cNvPr id="93" name="Textplatzhalter 2">
            <a:extLst>
              <a:ext uri="{FF2B5EF4-FFF2-40B4-BE49-F238E27FC236}">
                <a16:creationId xmlns:a16="http://schemas.microsoft.com/office/drawing/2014/main" id="{4E6BC9E2-683C-203E-6814-1679658ACE90}"/>
              </a:ext>
            </a:extLst>
          </p:cNvPr>
          <p:cNvSpPr>
            <a:spLocks/>
          </p:cNvSpPr>
          <p:nvPr>
            <p:custDataLst>
              <p:tags r:id="rId6"/>
            </p:custDataLst>
          </p:nvPr>
        </p:nvSpPr>
        <p:spPr bwMode="auto">
          <a:xfrm>
            <a:off x="4540250" y="6596063"/>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154EF0CF-D18F-4A29-8BCE-AAC3064DC276}" type="datetime'20''''''''''2''''''''''''4'''">
              <a:rPr lang="de-DE" altLang="en-US" sz="900" smtClean="0"/>
              <a:pPr marL="0" lvl="0" indent="0" algn="ctr">
                <a:spcBef>
                  <a:spcPct val="0"/>
                </a:spcBef>
                <a:spcAft>
                  <a:spcPct val="0"/>
                </a:spcAft>
                <a:buNone/>
              </a:pPr>
              <a:t>2024</a:t>
            </a:fld>
            <a:endParaRPr lang="de-DE" sz="900" dirty="0"/>
          </a:p>
        </p:txBody>
      </p:sp>
      <p:sp>
        <p:nvSpPr>
          <p:cNvPr id="2080" name="Textplatzhalter 2">
            <a:extLst>
              <a:ext uri="{FF2B5EF4-FFF2-40B4-BE49-F238E27FC236}">
                <a16:creationId xmlns:a16="http://schemas.microsoft.com/office/drawing/2014/main" id="{18D50374-FCE0-3CA2-ED71-53BA57D44E01}"/>
              </a:ext>
            </a:extLst>
          </p:cNvPr>
          <p:cNvSpPr>
            <a:spLocks/>
          </p:cNvSpPr>
          <p:nvPr>
            <p:custDataLst>
              <p:tags r:id="rId7"/>
            </p:custDataLst>
          </p:nvPr>
        </p:nvSpPr>
        <p:spPr bwMode="auto">
          <a:xfrm>
            <a:off x="5732463" y="6596063"/>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1F9DC55B-54DC-4DC8-8BDC-C75CA7B8DFE2}" type="datetime'''''''''2''''''''''''0''''''''''''''''2''''''5'''''''''''''''">
              <a:rPr lang="de-DE" altLang="en-US" sz="900" smtClean="0"/>
              <a:pPr marL="0" lvl="0" indent="0" algn="ctr">
                <a:spcBef>
                  <a:spcPct val="0"/>
                </a:spcBef>
                <a:spcAft>
                  <a:spcPct val="0"/>
                </a:spcAft>
                <a:buNone/>
              </a:pPr>
              <a:t>2025</a:t>
            </a:fld>
            <a:endParaRPr lang="de-DE" sz="900" dirty="0"/>
          </a:p>
        </p:txBody>
      </p:sp>
      <p:sp>
        <p:nvSpPr>
          <p:cNvPr id="16" name="Textplatzhalter 2">
            <a:extLst>
              <a:ext uri="{FF2B5EF4-FFF2-40B4-BE49-F238E27FC236}">
                <a16:creationId xmlns:a16="http://schemas.microsoft.com/office/drawing/2014/main" id="{264E1426-E197-A3C8-4871-1D88FABF5EFA}"/>
              </a:ext>
            </a:extLst>
          </p:cNvPr>
          <p:cNvSpPr>
            <a:spLocks/>
          </p:cNvSpPr>
          <p:nvPr>
            <p:custDataLst>
              <p:tags r:id="rId8"/>
            </p:custDataLst>
          </p:nvPr>
        </p:nvSpPr>
        <p:spPr bwMode="gray">
          <a:xfrm>
            <a:off x="998538" y="5929313"/>
            <a:ext cx="1905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b">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06E3DB76-C067-4C47-AFE3-1A17253AE31F}" type="datetime'''''''9'''''''''''''''''''''''',''0'''''''''''''''''''">
              <a:rPr lang="de-DE" altLang="en-US" sz="900" smtClean="0"/>
              <a:pPr marL="0" lvl="0" indent="0" algn="ctr">
                <a:spcBef>
                  <a:spcPct val="0"/>
                </a:spcBef>
                <a:spcAft>
                  <a:spcPct val="0"/>
                </a:spcAft>
                <a:buNone/>
              </a:pPr>
              <a:t>9,0</a:t>
            </a:fld>
            <a:endParaRPr lang="de-DE" sz="900" dirty="0"/>
          </a:p>
        </p:txBody>
      </p:sp>
      <p:sp>
        <p:nvSpPr>
          <p:cNvPr id="22" name="Textplatzhalter 2">
            <a:extLst>
              <a:ext uri="{FF2B5EF4-FFF2-40B4-BE49-F238E27FC236}">
                <a16:creationId xmlns:a16="http://schemas.microsoft.com/office/drawing/2014/main" id="{85AF39F2-5D5D-4B11-FFF1-ED4F253CA694}"/>
              </a:ext>
            </a:extLst>
          </p:cNvPr>
          <p:cNvSpPr>
            <a:spLocks/>
          </p:cNvSpPr>
          <p:nvPr>
            <p:custDataLst>
              <p:tags r:id="rId9"/>
            </p:custDataLst>
          </p:nvPr>
        </p:nvSpPr>
        <p:spPr bwMode="gray">
          <a:xfrm>
            <a:off x="2127250" y="6370638"/>
            <a:ext cx="3206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37D84034-DF46-4A4D-B6F0-2CB8E39E0966}" type="datetime'''''''''''''(''''''98'''''''''''''',6'''''''''''''''')'''''">
              <a:rPr lang="de-DE" altLang="en-US" sz="900" smtClean="0"/>
              <a:pPr marL="0" lvl="0" indent="0" algn="ctr">
                <a:spcBef>
                  <a:spcPct val="0"/>
                </a:spcBef>
                <a:spcAft>
                  <a:spcPct val="0"/>
                </a:spcAft>
                <a:buNone/>
              </a:pPr>
              <a:t>(98,6)</a:t>
            </a:fld>
            <a:endParaRPr lang="de-DE" sz="900" dirty="0"/>
          </a:p>
        </p:txBody>
      </p:sp>
      <p:sp>
        <p:nvSpPr>
          <p:cNvPr id="23" name="Textplatzhalter 2">
            <a:extLst>
              <a:ext uri="{FF2B5EF4-FFF2-40B4-BE49-F238E27FC236}">
                <a16:creationId xmlns:a16="http://schemas.microsoft.com/office/drawing/2014/main" id="{E18D68B8-ECE4-AC93-C3B1-FDEDE22A8128}"/>
              </a:ext>
            </a:extLst>
          </p:cNvPr>
          <p:cNvSpPr>
            <a:spLocks/>
          </p:cNvSpPr>
          <p:nvPr>
            <p:custDataLst>
              <p:tags r:id="rId10"/>
            </p:custDataLst>
          </p:nvPr>
        </p:nvSpPr>
        <p:spPr bwMode="gray">
          <a:xfrm>
            <a:off x="3287713" y="6421438"/>
            <a:ext cx="3841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16F3FD99-B121-4D21-A5C0-171232C532A0}" type="datetime'(''''''''''1''2''0'''',''''''''0'''''''''''')'''''''''''">
              <a:rPr lang="de-DE" altLang="en-US" sz="900" smtClean="0"/>
              <a:pPr marL="0" lvl="0" indent="0" algn="ctr">
                <a:spcBef>
                  <a:spcPct val="0"/>
                </a:spcBef>
                <a:spcAft>
                  <a:spcPct val="0"/>
                </a:spcAft>
                <a:buNone/>
              </a:pPr>
              <a:t>(120,0)</a:t>
            </a:fld>
            <a:endParaRPr lang="de-DE" sz="900" dirty="0"/>
          </a:p>
        </p:txBody>
      </p:sp>
      <p:sp>
        <p:nvSpPr>
          <p:cNvPr id="24" name="Textplatzhalter 2">
            <a:extLst>
              <a:ext uri="{FF2B5EF4-FFF2-40B4-BE49-F238E27FC236}">
                <a16:creationId xmlns:a16="http://schemas.microsoft.com/office/drawing/2014/main" id="{E651526C-C77B-7A3F-9A2C-D279475F22A1}"/>
              </a:ext>
            </a:extLst>
          </p:cNvPr>
          <p:cNvSpPr>
            <a:spLocks/>
          </p:cNvSpPr>
          <p:nvPr>
            <p:custDataLst>
              <p:tags r:id="rId11"/>
            </p:custDataLst>
          </p:nvPr>
        </p:nvSpPr>
        <p:spPr bwMode="gray">
          <a:xfrm>
            <a:off x="4513263" y="6310313"/>
            <a:ext cx="3206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DF3B3B71-852E-486B-8EF4-3098E3E67529}" type="datetime'''(''''7''2'',''''''7'''''''''''''''''''')'''''''">
              <a:rPr lang="de-DE" altLang="en-US" sz="900" smtClean="0"/>
              <a:pPr marL="0" lvl="0" indent="0" algn="ctr">
                <a:spcBef>
                  <a:spcPct val="0"/>
                </a:spcBef>
                <a:spcAft>
                  <a:spcPct val="0"/>
                </a:spcAft>
                <a:buNone/>
              </a:pPr>
              <a:t>(72,7)</a:t>
            </a:fld>
            <a:endParaRPr lang="de-DE" sz="900" dirty="0"/>
          </a:p>
        </p:txBody>
      </p:sp>
      <p:sp>
        <p:nvSpPr>
          <p:cNvPr id="31" name="Textplatzhalter 2">
            <a:extLst>
              <a:ext uri="{FF2B5EF4-FFF2-40B4-BE49-F238E27FC236}">
                <a16:creationId xmlns:a16="http://schemas.microsoft.com/office/drawing/2014/main" id="{C47C9A8F-F2BB-2E0C-0DB0-06500680680D}"/>
              </a:ext>
            </a:extLst>
          </p:cNvPr>
          <p:cNvSpPr>
            <a:spLocks/>
          </p:cNvSpPr>
          <p:nvPr>
            <p:custDataLst>
              <p:tags r:id="rId12"/>
            </p:custDataLst>
          </p:nvPr>
        </p:nvSpPr>
        <p:spPr bwMode="gray">
          <a:xfrm>
            <a:off x="5770563" y="5946775"/>
            <a:ext cx="1905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b">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BED14DBC-40A4-4D56-A96F-AD9E5B4C70FC}" type="datetime'1'''''''',''6'''''''''''''''''">
              <a:rPr lang="de-DE" altLang="en-US" sz="900" smtClean="0"/>
              <a:pPr marL="0" lvl="0" indent="0" algn="ctr">
                <a:spcBef>
                  <a:spcPct val="0"/>
                </a:spcBef>
                <a:spcAft>
                  <a:spcPct val="0"/>
                </a:spcAft>
                <a:buNone/>
              </a:pPr>
              <a:t>1,6</a:t>
            </a:fld>
            <a:endParaRPr lang="de-DE" sz="900" dirty="0"/>
          </a:p>
        </p:txBody>
      </p:sp>
      <p:sp>
        <p:nvSpPr>
          <p:cNvPr id="28" name="Rectangle 27">
            <a:extLst>
              <a:ext uri="{FF2B5EF4-FFF2-40B4-BE49-F238E27FC236}">
                <a16:creationId xmlns:a16="http://schemas.microsoft.com/office/drawing/2014/main" id="{4F682898-B2FF-201E-C794-D4FCB8EE2586}"/>
              </a:ext>
            </a:extLst>
          </p:cNvPr>
          <p:cNvSpPr/>
          <p:nvPr/>
        </p:nvSpPr>
        <p:spPr>
          <a:xfrm>
            <a:off x="1089040" y="2751341"/>
            <a:ext cx="9218443" cy="46181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0" rtlCol="0" anchor="ctr"/>
          <a:lstStyle/>
          <a:p>
            <a:pPr marL="174625" indent="-174625">
              <a:spcAft>
                <a:spcPts val="600"/>
              </a:spcAft>
              <a:buClr>
                <a:srgbClr val="003D7C"/>
              </a:buClr>
              <a:buFont typeface="Wingdings" panose="05000000000000000000" pitchFamily="2" charset="2"/>
              <a:buChar char="è"/>
              <a:defRPr/>
            </a:pPr>
            <a:endParaRPr lang="de-DE" sz="1000" b="1" dirty="0">
              <a:solidFill>
                <a:schemeClr val="accent1"/>
              </a:solidFill>
            </a:endParaRPr>
          </a:p>
        </p:txBody>
      </p:sp>
      <p:sp>
        <p:nvSpPr>
          <p:cNvPr id="43" name="Rectangle 42">
            <a:extLst>
              <a:ext uri="{FF2B5EF4-FFF2-40B4-BE49-F238E27FC236}">
                <a16:creationId xmlns:a16="http://schemas.microsoft.com/office/drawing/2014/main" id="{E977B405-8C79-2CC9-3D1F-6D78C72F7488}"/>
              </a:ext>
            </a:extLst>
          </p:cNvPr>
          <p:cNvSpPr/>
          <p:nvPr/>
        </p:nvSpPr>
        <p:spPr>
          <a:xfrm>
            <a:off x="1090077"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Strom</a:t>
            </a:r>
          </a:p>
        </p:txBody>
      </p:sp>
      <p:sp>
        <p:nvSpPr>
          <p:cNvPr id="7" name="Rectangle 42">
            <a:extLst>
              <a:ext uri="{FF2B5EF4-FFF2-40B4-BE49-F238E27FC236}">
                <a16:creationId xmlns:a16="http://schemas.microsoft.com/office/drawing/2014/main" id="{79993FDE-4B19-468F-E65D-64F74C6A7F9A}"/>
              </a:ext>
            </a:extLst>
          </p:cNvPr>
          <p:cNvSpPr/>
          <p:nvPr/>
        </p:nvSpPr>
        <p:spPr>
          <a:xfrm>
            <a:off x="2655736"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Gas</a:t>
            </a:r>
          </a:p>
        </p:txBody>
      </p:sp>
      <p:sp>
        <p:nvSpPr>
          <p:cNvPr id="13" name="Rectangle 42">
            <a:extLst>
              <a:ext uri="{FF2B5EF4-FFF2-40B4-BE49-F238E27FC236}">
                <a16:creationId xmlns:a16="http://schemas.microsoft.com/office/drawing/2014/main" id="{69310E72-9848-E12D-15CE-A413C07F5547}"/>
              </a:ext>
            </a:extLst>
          </p:cNvPr>
          <p:cNvSpPr/>
          <p:nvPr/>
        </p:nvSpPr>
        <p:spPr>
          <a:xfrm>
            <a:off x="4222432"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Wärme</a:t>
            </a:r>
          </a:p>
        </p:txBody>
      </p:sp>
      <p:sp>
        <p:nvSpPr>
          <p:cNvPr id="19" name="Rectangle 42">
            <a:extLst>
              <a:ext uri="{FF2B5EF4-FFF2-40B4-BE49-F238E27FC236}">
                <a16:creationId xmlns:a16="http://schemas.microsoft.com/office/drawing/2014/main" id="{B1EDF3C9-B037-4577-EA1A-5B1419C5F9E4}"/>
              </a:ext>
            </a:extLst>
          </p:cNvPr>
          <p:cNvSpPr/>
          <p:nvPr/>
        </p:nvSpPr>
        <p:spPr>
          <a:xfrm>
            <a:off x="5789128"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Trinkwasser</a:t>
            </a:r>
          </a:p>
        </p:txBody>
      </p:sp>
      <p:sp>
        <p:nvSpPr>
          <p:cNvPr id="21" name="Rectangle 42">
            <a:extLst>
              <a:ext uri="{FF2B5EF4-FFF2-40B4-BE49-F238E27FC236}">
                <a16:creationId xmlns:a16="http://schemas.microsoft.com/office/drawing/2014/main" id="{5A7CA617-8D9D-B8D7-FBE8-D5A2396D4312}"/>
              </a:ext>
            </a:extLst>
          </p:cNvPr>
          <p:cNvSpPr/>
          <p:nvPr/>
        </p:nvSpPr>
        <p:spPr>
          <a:xfrm>
            <a:off x="7355824"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Entsorgung</a:t>
            </a:r>
          </a:p>
        </p:txBody>
      </p:sp>
      <p:sp>
        <p:nvSpPr>
          <p:cNvPr id="30" name="Rectangle 42">
            <a:extLst>
              <a:ext uri="{FF2B5EF4-FFF2-40B4-BE49-F238E27FC236}">
                <a16:creationId xmlns:a16="http://schemas.microsoft.com/office/drawing/2014/main" id="{378A05D5-48C7-B4F9-C0E5-E21391718D3C}"/>
              </a:ext>
            </a:extLst>
          </p:cNvPr>
          <p:cNvSpPr/>
          <p:nvPr/>
        </p:nvSpPr>
        <p:spPr>
          <a:xfrm>
            <a:off x="8922520"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Verkehr</a:t>
            </a:r>
          </a:p>
        </p:txBody>
      </p:sp>
      <p:sp>
        <p:nvSpPr>
          <p:cNvPr id="35" name="Textfeld 54">
            <a:extLst>
              <a:ext uri="{FF2B5EF4-FFF2-40B4-BE49-F238E27FC236}">
                <a16:creationId xmlns:a16="http://schemas.microsoft.com/office/drawing/2014/main" id="{D20CD97D-D52A-87CF-4F49-FE73C6055AFC}"/>
              </a:ext>
            </a:extLst>
          </p:cNvPr>
          <p:cNvSpPr txBox="1"/>
          <p:nvPr/>
        </p:nvSpPr>
        <p:spPr>
          <a:xfrm>
            <a:off x="7293003" y="3225419"/>
            <a:ext cx="1463040" cy="1377300"/>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Bau einer innovativen Kunststoffsortieranlage in Viersen-Süchteln gemeinsam mit TOMRA</a:t>
            </a:r>
          </a:p>
          <a:p>
            <a:pPr marL="144000" indent="-144000">
              <a:spcAft>
                <a:spcPts val="300"/>
              </a:spcAft>
              <a:buClr>
                <a:schemeClr val="accent1"/>
              </a:buClr>
              <a:buFont typeface="Wingdings" panose="05000000000000000000" pitchFamily="2" charset="2"/>
              <a:buChar char="n"/>
            </a:pPr>
            <a:r>
              <a:rPr lang="de-DE" sz="900" dirty="0">
                <a:latin typeface="+mj-lt"/>
              </a:rPr>
              <a:t>Aufbau einer neuen Deponie in Grevenbroich-Frimmersdorf</a:t>
            </a:r>
          </a:p>
        </p:txBody>
      </p:sp>
      <p:sp>
        <p:nvSpPr>
          <p:cNvPr id="45" name="TextBox 44">
            <a:extLst>
              <a:ext uri="{FF2B5EF4-FFF2-40B4-BE49-F238E27FC236}">
                <a16:creationId xmlns:a16="http://schemas.microsoft.com/office/drawing/2014/main" id="{5D011DCE-228C-6262-1317-2A960198A55D}"/>
              </a:ext>
            </a:extLst>
          </p:cNvPr>
          <p:cNvSpPr txBox="1"/>
          <p:nvPr/>
        </p:nvSpPr>
        <p:spPr>
          <a:xfrm>
            <a:off x="7439772" y="2797584"/>
            <a:ext cx="1217066" cy="369332"/>
          </a:xfrm>
          <a:prstGeom prst="rect">
            <a:avLst/>
          </a:prstGeom>
          <a:noFill/>
        </p:spPr>
        <p:txBody>
          <a:bodyPr wrap="square" rtlCol="0">
            <a:spAutoFit/>
          </a:bodyPr>
          <a:lstStyle/>
          <a:p>
            <a:pPr algn="ctr"/>
            <a:r>
              <a:rPr lang="de-DE" sz="900" b="1" dirty="0">
                <a:solidFill>
                  <a:schemeClr val="accent1"/>
                </a:solidFill>
              </a:rPr>
              <a:t>~56,3 Mio. EUR</a:t>
            </a:r>
          </a:p>
          <a:p>
            <a:pPr algn="ctr"/>
            <a:r>
              <a:rPr lang="de-DE" sz="900" dirty="0">
                <a:solidFill>
                  <a:schemeClr val="accent1"/>
                </a:solidFill>
              </a:rPr>
              <a:t>(~ 39 Mio. EUR)</a:t>
            </a:r>
            <a:endParaRPr lang="de-DE" sz="900" b="1" baseline="30000" dirty="0">
              <a:solidFill>
                <a:schemeClr val="accent1"/>
              </a:solidFill>
            </a:endParaRPr>
          </a:p>
        </p:txBody>
      </p:sp>
      <p:sp>
        <p:nvSpPr>
          <p:cNvPr id="2048" name="TextBox 2047">
            <a:extLst>
              <a:ext uri="{FF2B5EF4-FFF2-40B4-BE49-F238E27FC236}">
                <a16:creationId xmlns:a16="http://schemas.microsoft.com/office/drawing/2014/main" id="{2329C2C8-2FF2-4512-1424-919881F81811}"/>
              </a:ext>
            </a:extLst>
          </p:cNvPr>
          <p:cNvSpPr txBox="1"/>
          <p:nvPr/>
        </p:nvSpPr>
        <p:spPr>
          <a:xfrm>
            <a:off x="9061789" y="2797584"/>
            <a:ext cx="1106424" cy="369332"/>
          </a:xfrm>
          <a:prstGeom prst="rect">
            <a:avLst/>
          </a:prstGeom>
          <a:noFill/>
        </p:spPr>
        <p:txBody>
          <a:bodyPr wrap="square" rtlCol="0">
            <a:spAutoFit/>
          </a:bodyPr>
          <a:lstStyle/>
          <a:p>
            <a:pPr algn="ctr"/>
            <a:r>
              <a:rPr lang="de-DE" sz="900" b="1" dirty="0">
                <a:solidFill>
                  <a:schemeClr val="accent1"/>
                </a:solidFill>
              </a:rPr>
              <a:t>~36,2 Mio. EUR</a:t>
            </a:r>
          </a:p>
          <a:p>
            <a:pPr algn="ctr"/>
            <a:r>
              <a:rPr lang="de-DE" sz="900" dirty="0">
                <a:solidFill>
                  <a:schemeClr val="accent1"/>
                </a:solidFill>
              </a:rPr>
              <a:t>(~ 15 Mio. EUR)</a:t>
            </a:r>
            <a:endParaRPr lang="de-DE" sz="900" b="1" dirty="0">
              <a:solidFill>
                <a:schemeClr val="accent1"/>
              </a:solidFill>
            </a:endParaRPr>
          </a:p>
        </p:txBody>
      </p:sp>
      <p:sp>
        <p:nvSpPr>
          <p:cNvPr id="3" name="Rectangle 2">
            <a:extLst>
              <a:ext uri="{FF2B5EF4-FFF2-40B4-BE49-F238E27FC236}">
                <a16:creationId xmlns:a16="http://schemas.microsoft.com/office/drawing/2014/main" id="{1675956D-8F03-73EE-0197-5CC89598B89E}"/>
              </a:ext>
            </a:extLst>
          </p:cNvPr>
          <p:cNvSpPr/>
          <p:nvPr/>
        </p:nvSpPr>
        <p:spPr>
          <a:xfrm>
            <a:off x="378701" y="1797202"/>
            <a:ext cx="648000" cy="930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1000" b="1" dirty="0"/>
              <a:t>Segment</a:t>
            </a:r>
          </a:p>
        </p:txBody>
      </p:sp>
      <p:sp>
        <p:nvSpPr>
          <p:cNvPr id="26" name="Rectangle 25">
            <a:extLst>
              <a:ext uri="{FF2B5EF4-FFF2-40B4-BE49-F238E27FC236}">
                <a16:creationId xmlns:a16="http://schemas.microsoft.com/office/drawing/2014/main" id="{E5042515-9A71-E6EE-B89D-B203B9234344}"/>
              </a:ext>
            </a:extLst>
          </p:cNvPr>
          <p:cNvSpPr/>
          <p:nvPr/>
        </p:nvSpPr>
        <p:spPr>
          <a:xfrm>
            <a:off x="378701" y="3225776"/>
            <a:ext cx="648000" cy="190487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1000" b="1" dirty="0"/>
              <a:t>Geplante Projekte</a:t>
            </a:r>
          </a:p>
        </p:txBody>
      </p:sp>
      <p:sp>
        <p:nvSpPr>
          <p:cNvPr id="25" name="Rectangle 24">
            <a:extLst>
              <a:ext uri="{FF2B5EF4-FFF2-40B4-BE49-F238E27FC236}">
                <a16:creationId xmlns:a16="http://schemas.microsoft.com/office/drawing/2014/main" id="{2B33F99B-BFF5-B846-C204-8983ED714791}"/>
              </a:ext>
            </a:extLst>
          </p:cNvPr>
          <p:cNvSpPr/>
          <p:nvPr/>
        </p:nvSpPr>
        <p:spPr>
          <a:xfrm>
            <a:off x="378701" y="2749008"/>
            <a:ext cx="648000" cy="461818"/>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de-DE" sz="1000" b="1" dirty="0"/>
              <a:t>Capex</a:t>
            </a:r>
            <a:r>
              <a:rPr lang="de-DE" sz="1000" b="1" baseline="30000" dirty="0"/>
              <a:t>1)</a:t>
            </a:r>
            <a:br>
              <a:rPr lang="de-DE" sz="1000" b="1" dirty="0"/>
            </a:br>
            <a:r>
              <a:rPr lang="de-DE" sz="1000" b="1" dirty="0"/>
              <a:t>2025</a:t>
            </a:r>
            <a:br>
              <a:rPr lang="de-DE" sz="1000" b="1" dirty="0"/>
            </a:br>
            <a:r>
              <a:rPr lang="de-DE" sz="1000" dirty="0"/>
              <a:t>(2022)</a:t>
            </a:r>
            <a:endParaRPr lang="de-DE" sz="1000" baseline="30000" dirty="0"/>
          </a:p>
        </p:txBody>
      </p:sp>
      <p:sp>
        <p:nvSpPr>
          <p:cNvPr id="91" name="Arrow: Right 90">
            <a:extLst>
              <a:ext uri="{FF2B5EF4-FFF2-40B4-BE49-F238E27FC236}">
                <a16:creationId xmlns:a16="http://schemas.microsoft.com/office/drawing/2014/main" id="{3F477389-387F-4769-4C7C-DCC557266B60}"/>
              </a:ext>
            </a:extLst>
          </p:cNvPr>
          <p:cNvSpPr/>
          <p:nvPr/>
        </p:nvSpPr>
        <p:spPr>
          <a:xfrm>
            <a:off x="6570836" y="5748338"/>
            <a:ext cx="298277" cy="22406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77E4D4B2-B3E0-6260-61F0-36A7E6BF8DE2}"/>
              </a:ext>
            </a:extLst>
          </p:cNvPr>
          <p:cNvSpPr txBox="1"/>
          <p:nvPr/>
        </p:nvSpPr>
        <p:spPr>
          <a:xfrm>
            <a:off x="6839617" y="5734050"/>
            <a:ext cx="3467866" cy="553998"/>
          </a:xfrm>
          <a:prstGeom prst="rect">
            <a:avLst/>
          </a:prstGeom>
          <a:noFill/>
          <a:ln>
            <a:noFill/>
          </a:ln>
        </p:spPr>
        <p:txBody>
          <a:bodyPr wrap="square" rtlCol="0">
            <a:spAutoFit/>
          </a:bodyPr>
          <a:lstStyle/>
          <a:p>
            <a:r>
              <a:rPr lang="de-DE" sz="1000" b="1" dirty="0">
                <a:solidFill>
                  <a:schemeClr val="accent1"/>
                </a:solidFill>
                <a:latin typeface="+mj-lt"/>
              </a:rPr>
              <a:t>Trotz Abbau des Net-Cash-Puffers bleibt die Verschuldung 2025 mit 0,0x Net </a:t>
            </a:r>
            <a:r>
              <a:rPr lang="de-DE" sz="1000" b="1" dirty="0" err="1">
                <a:solidFill>
                  <a:schemeClr val="accent1"/>
                </a:solidFill>
                <a:latin typeface="+mj-lt"/>
              </a:rPr>
              <a:t>Debt</a:t>
            </a:r>
            <a:r>
              <a:rPr lang="de-DE" sz="1000" b="1" dirty="0">
                <a:solidFill>
                  <a:schemeClr val="accent1"/>
                </a:solidFill>
                <a:latin typeface="+mj-lt"/>
              </a:rPr>
              <a:t> / EBITDA sehr niedrig</a:t>
            </a:r>
            <a:endParaRPr lang="en-US" sz="1000" b="1" dirty="0">
              <a:solidFill>
                <a:schemeClr val="accent1"/>
              </a:solidFill>
              <a:latin typeface="+mj-lt"/>
            </a:endParaRPr>
          </a:p>
        </p:txBody>
      </p:sp>
      <p:pic>
        <p:nvPicPr>
          <p:cNvPr id="2049" name="Picture 2">
            <a:extLst>
              <a:ext uri="{FF2B5EF4-FFF2-40B4-BE49-F238E27FC236}">
                <a16:creationId xmlns:a16="http://schemas.microsoft.com/office/drawing/2014/main" id="{D9010030-3873-4004-4563-1C50C3304437}"/>
              </a:ext>
            </a:extLst>
          </p:cNvPr>
          <p:cNvPicPr>
            <a:picLocks noChangeAspect="1" noChangeArrowheads="1"/>
          </p:cNvPicPr>
          <p:nvPr/>
        </p:nvPicPr>
        <p:blipFill>
          <a:blip r:embed="rId19"/>
          <a:srcRect/>
          <a:stretch/>
        </p:blipFill>
        <p:spPr bwMode="auto">
          <a:xfrm>
            <a:off x="7779672" y="1914342"/>
            <a:ext cx="537266" cy="537266"/>
          </a:xfrm>
          <a:prstGeom prst="ellipse">
            <a:avLst/>
          </a:prstGeom>
          <a:noFill/>
          <a:extLst>
            <a:ext uri="{909E8E84-426E-40DD-AFC4-6F175D3DCCD1}">
              <a14:hiddenFill xmlns:a14="http://schemas.microsoft.com/office/drawing/2010/main">
                <a:solidFill>
                  <a:srgbClr val="FFFFFF"/>
                </a:solidFill>
              </a14:hiddenFill>
            </a:ext>
          </a:extLst>
        </p:spPr>
      </p:pic>
      <p:pic>
        <p:nvPicPr>
          <p:cNvPr id="2053" name="Picture 4">
            <a:extLst>
              <a:ext uri="{FF2B5EF4-FFF2-40B4-BE49-F238E27FC236}">
                <a16:creationId xmlns:a16="http://schemas.microsoft.com/office/drawing/2014/main" id="{6BCCEFB5-4975-F05B-B98B-9773A02F7672}"/>
              </a:ext>
            </a:extLst>
          </p:cNvPr>
          <p:cNvPicPr>
            <a:picLocks noChangeAspect="1" noChangeArrowheads="1"/>
          </p:cNvPicPr>
          <p:nvPr/>
        </p:nvPicPr>
        <p:blipFill>
          <a:blip r:embed="rId20"/>
          <a:srcRect l="21824" r="21824"/>
          <a:stretch/>
        </p:blipFill>
        <p:spPr bwMode="auto">
          <a:xfrm>
            <a:off x="6212976" y="1914342"/>
            <a:ext cx="537266" cy="537266"/>
          </a:xfrm>
          <a:prstGeom prst="ellipse">
            <a:avLst/>
          </a:prstGeom>
          <a:noFill/>
          <a:extLst>
            <a:ext uri="{909E8E84-426E-40DD-AFC4-6F175D3DCCD1}">
              <a14:hiddenFill xmlns:a14="http://schemas.microsoft.com/office/drawing/2010/main">
                <a:solidFill>
                  <a:srgbClr val="FFFFFF"/>
                </a:solidFill>
              </a14:hiddenFill>
            </a:ext>
          </a:extLst>
        </p:spPr>
      </p:pic>
      <p:pic>
        <p:nvPicPr>
          <p:cNvPr id="2062" name="Picture 10">
            <a:extLst>
              <a:ext uri="{FF2B5EF4-FFF2-40B4-BE49-F238E27FC236}">
                <a16:creationId xmlns:a16="http://schemas.microsoft.com/office/drawing/2014/main" id="{196301B4-62BE-6CB7-60BA-04224CB2BC8C}"/>
              </a:ext>
            </a:extLst>
          </p:cNvPr>
          <p:cNvPicPr>
            <a:picLocks noChangeAspect="1" noChangeArrowheads="1"/>
          </p:cNvPicPr>
          <p:nvPr/>
        </p:nvPicPr>
        <p:blipFill>
          <a:blip r:embed="rId21"/>
          <a:srcRect l="19728" r="19728"/>
          <a:stretch/>
        </p:blipFill>
        <p:spPr bwMode="auto">
          <a:xfrm>
            <a:off x="4646280" y="1914342"/>
            <a:ext cx="537266" cy="537266"/>
          </a:xfrm>
          <a:prstGeom prst="ellipse">
            <a:avLst/>
          </a:prstGeom>
          <a:noFill/>
          <a:extLst>
            <a:ext uri="{909E8E84-426E-40DD-AFC4-6F175D3DCCD1}">
              <a14:hiddenFill xmlns:a14="http://schemas.microsoft.com/office/drawing/2010/main">
                <a:solidFill>
                  <a:srgbClr val="FFFFFF"/>
                </a:solidFill>
              </a14:hiddenFill>
            </a:ext>
          </a:extLst>
        </p:spPr>
      </p:pic>
      <p:cxnSp>
        <p:nvCxnSpPr>
          <p:cNvPr id="44" name="Straight Connector 43">
            <a:extLst>
              <a:ext uri="{FF2B5EF4-FFF2-40B4-BE49-F238E27FC236}">
                <a16:creationId xmlns:a16="http://schemas.microsoft.com/office/drawing/2014/main" id="{F6839A57-BDD7-2DC1-3F38-C966CB63516F}"/>
              </a:ext>
            </a:extLst>
          </p:cNvPr>
          <p:cNvCxnSpPr>
            <a:cxnSpLocks/>
          </p:cNvCxnSpPr>
          <p:nvPr/>
        </p:nvCxnSpPr>
        <p:spPr>
          <a:xfrm>
            <a:off x="4131119" y="1862004"/>
            <a:ext cx="0" cy="800912"/>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60F3020-9042-E794-2AE3-8276BB404106}"/>
              </a:ext>
            </a:extLst>
          </p:cNvPr>
          <p:cNvCxnSpPr>
            <a:cxnSpLocks/>
          </p:cNvCxnSpPr>
          <p:nvPr/>
        </p:nvCxnSpPr>
        <p:spPr>
          <a:xfrm>
            <a:off x="4131119" y="3324549"/>
            <a:ext cx="0" cy="1706969"/>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51" name="Straight Connector 2050">
            <a:extLst>
              <a:ext uri="{FF2B5EF4-FFF2-40B4-BE49-F238E27FC236}">
                <a16:creationId xmlns:a16="http://schemas.microsoft.com/office/drawing/2014/main" id="{0A33B2FC-52E3-E7E0-0A0B-18DD14E5EDBE}"/>
              </a:ext>
            </a:extLst>
          </p:cNvPr>
          <p:cNvCxnSpPr>
            <a:cxnSpLocks/>
          </p:cNvCxnSpPr>
          <p:nvPr/>
        </p:nvCxnSpPr>
        <p:spPr>
          <a:xfrm>
            <a:off x="2564949" y="1862004"/>
            <a:ext cx="0" cy="800912"/>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57" name="Straight Connector 2056">
            <a:extLst>
              <a:ext uri="{FF2B5EF4-FFF2-40B4-BE49-F238E27FC236}">
                <a16:creationId xmlns:a16="http://schemas.microsoft.com/office/drawing/2014/main" id="{52F7F9AE-7A19-89E4-DE8E-B2A239B460F4}"/>
              </a:ext>
            </a:extLst>
          </p:cNvPr>
          <p:cNvCxnSpPr>
            <a:cxnSpLocks/>
          </p:cNvCxnSpPr>
          <p:nvPr/>
        </p:nvCxnSpPr>
        <p:spPr>
          <a:xfrm>
            <a:off x="2564949" y="3324549"/>
            <a:ext cx="0" cy="1706969"/>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060" name="Picture 4">
            <a:extLst>
              <a:ext uri="{FF2B5EF4-FFF2-40B4-BE49-F238E27FC236}">
                <a16:creationId xmlns:a16="http://schemas.microsoft.com/office/drawing/2014/main" id="{26703CB4-C9FA-C246-665C-84922EE53F76}"/>
              </a:ext>
            </a:extLst>
          </p:cNvPr>
          <p:cNvPicPr>
            <a:picLocks noChangeAspect="1" noChangeArrowheads="1"/>
          </p:cNvPicPr>
          <p:nvPr/>
        </p:nvPicPr>
        <p:blipFill>
          <a:blip r:embed="rId22"/>
          <a:srcRect/>
          <a:stretch/>
        </p:blipFill>
        <p:spPr bwMode="auto">
          <a:xfrm>
            <a:off x="9346368" y="1914342"/>
            <a:ext cx="537266" cy="537266"/>
          </a:xfrm>
          <a:prstGeom prst="ellipse">
            <a:avLst/>
          </a:prstGeom>
          <a:noFill/>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4AB660B3-3817-542B-69A6-640405CD49A9}"/>
              </a:ext>
            </a:extLst>
          </p:cNvPr>
          <p:cNvCxnSpPr>
            <a:cxnSpLocks/>
          </p:cNvCxnSpPr>
          <p:nvPr/>
        </p:nvCxnSpPr>
        <p:spPr>
          <a:xfrm>
            <a:off x="5698261" y="1862004"/>
            <a:ext cx="0" cy="800912"/>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062070C-395F-7E99-0F86-1CFBE7278862}"/>
              </a:ext>
            </a:extLst>
          </p:cNvPr>
          <p:cNvCxnSpPr>
            <a:cxnSpLocks/>
          </p:cNvCxnSpPr>
          <p:nvPr/>
        </p:nvCxnSpPr>
        <p:spPr>
          <a:xfrm>
            <a:off x="5698261" y="3324549"/>
            <a:ext cx="0" cy="1706969"/>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7" name="Text Placeholder 46">
            <a:extLst>
              <a:ext uri="{FF2B5EF4-FFF2-40B4-BE49-F238E27FC236}">
                <a16:creationId xmlns:a16="http://schemas.microsoft.com/office/drawing/2014/main" id="{96099659-CC79-7EBB-25F3-141B09565D4A}"/>
              </a:ext>
            </a:extLst>
          </p:cNvPr>
          <p:cNvSpPr>
            <a:spLocks noGrp="1"/>
          </p:cNvSpPr>
          <p:nvPr>
            <p:ph type="body" sz="quarter" idx="15"/>
          </p:nvPr>
        </p:nvSpPr>
        <p:spPr/>
        <p:txBody>
          <a:bodyPr/>
          <a:lstStyle/>
          <a:p>
            <a:r>
              <a:rPr lang="de-DE" dirty="0"/>
              <a:t>1) Capex ohne Investitionen in immaterielles Anlagevermögen und Investitionen in Finanzanlagen, 2) Net </a:t>
            </a:r>
            <a:r>
              <a:rPr lang="de-DE" dirty="0" err="1"/>
              <a:t>Debt</a:t>
            </a:r>
            <a:r>
              <a:rPr lang="de-DE" dirty="0"/>
              <a:t> = Finanzverbindlichkeiten + Pensionsrückstellungen + Verbindlichkeiten gegen verbundene/assoziierte Unternehmen - liquide Mittel - Forderungen gegen verbundene/assoziierte Unternehmen</a:t>
            </a:r>
          </a:p>
        </p:txBody>
      </p:sp>
      <p:grpSp>
        <p:nvGrpSpPr>
          <p:cNvPr id="41" name="Group 40">
            <a:extLst>
              <a:ext uri="{FF2B5EF4-FFF2-40B4-BE49-F238E27FC236}">
                <a16:creationId xmlns:a16="http://schemas.microsoft.com/office/drawing/2014/main" id="{DDE98C90-B758-B88E-9670-D75424F01D8F}"/>
              </a:ext>
            </a:extLst>
          </p:cNvPr>
          <p:cNvGrpSpPr/>
          <p:nvPr/>
        </p:nvGrpSpPr>
        <p:grpSpPr>
          <a:xfrm>
            <a:off x="1140584" y="2902234"/>
            <a:ext cx="6078324" cy="160032"/>
            <a:chOff x="1411902" y="2953143"/>
            <a:chExt cx="5439631" cy="160032"/>
          </a:xfrm>
        </p:grpSpPr>
        <p:cxnSp>
          <p:nvCxnSpPr>
            <p:cNvPr id="27" name="Straight Arrow Connector 26">
              <a:extLst>
                <a:ext uri="{FF2B5EF4-FFF2-40B4-BE49-F238E27FC236}">
                  <a16:creationId xmlns:a16="http://schemas.microsoft.com/office/drawing/2014/main" id="{8E803ADB-445C-61C9-5537-731B3FB8321B}"/>
                </a:ext>
              </a:extLst>
            </p:cNvPr>
            <p:cNvCxnSpPr>
              <a:cxnSpLocks/>
            </p:cNvCxnSpPr>
            <p:nvPr/>
          </p:nvCxnSpPr>
          <p:spPr>
            <a:xfrm>
              <a:off x="1411902" y="3033159"/>
              <a:ext cx="5439631" cy="0"/>
            </a:xfrm>
            <a:prstGeom prst="straightConnector1">
              <a:avLst/>
            </a:prstGeom>
            <a:ln w="1905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E4F73AA-7688-2799-1FE5-CCF71D9C5374}"/>
                </a:ext>
              </a:extLst>
            </p:cNvPr>
            <p:cNvCxnSpPr>
              <a:cxnSpLocks/>
            </p:cNvCxnSpPr>
            <p:nvPr/>
          </p:nvCxnSpPr>
          <p:spPr>
            <a:xfrm>
              <a:off x="1411902" y="2953143"/>
              <a:ext cx="0" cy="1600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8D30C70-D95C-E6F9-0B92-0EB2D5B90A5B}"/>
                </a:ext>
              </a:extLst>
            </p:cNvPr>
            <p:cNvCxnSpPr>
              <a:cxnSpLocks/>
            </p:cNvCxnSpPr>
            <p:nvPr/>
          </p:nvCxnSpPr>
          <p:spPr>
            <a:xfrm>
              <a:off x="6851533" y="2953143"/>
              <a:ext cx="0" cy="160032"/>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2061" name="TextBox 2060">
            <a:extLst>
              <a:ext uri="{FF2B5EF4-FFF2-40B4-BE49-F238E27FC236}">
                <a16:creationId xmlns:a16="http://schemas.microsoft.com/office/drawing/2014/main" id="{473237BE-7FDB-2E7E-CC3E-D7B64A6C7A6E}"/>
              </a:ext>
            </a:extLst>
          </p:cNvPr>
          <p:cNvSpPr txBox="1"/>
          <p:nvPr/>
        </p:nvSpPr>
        <p:spPr>
          <a:xfrm>
            <a:off x="3637435" y="2829633"/>
            <a:ext cx="1084623" cy="305234"/>
          </a:xfrm>
          <a:prstGeom prst="rect">
            <a:avLst/>
          </a:prstGeom>
          <a:solidFill>
            <a:srgbClr val="FFEBCC"/>
          </a:solidFill>
        </p:spPr>
        <p:txBody>
          <a:bodyPr wrap="square" lIns="36000" rIns="36000" rtlCol="0" anchor="ctr">
            <a:spAutoFit/>
          </a:bodyPr>
          <a:lstStyle/>
          <a:p>
            <a:pPr algn="ctr"/>
            <a:r>
              <a:rPr lang="de-DE" sz="900" b="1" dirty="0">
                <a:solidFill>
                  <a:schemeClr val="accent1"/>
                </a:solidFill>
              </a:rPr>
              <a:t>~41,0 Mio. EUR</a:t>
            </a:r>
          </a:p>
          <a:p>
            <a:pPr algn="ctr"/>
            <a:r>
              <a:rPr lang="de-DE" sz="900" dirty="0">
                <a:solidFill>
                  <a:schemeClr val="accent1"/>
                </a:solidFill>
              </a:rPr>
              <a:t>(~ 26 Mio. EUR)</a:t>
            </a:r>
          </a:p>
        </p:txBody>
      </p:sp>
      <p:cxnSp>
        <p:nvCxnSpPr>
          <p:cNvPr id="42" name="Straight Connector 41">
            <a:extLst>
              <a:ext uri="{FF2B5EF4-FFF2-40B4-BE49-F238E27FC236}">
                <a16:creationId xmlns:a16="http://schemas.microsoft.com/office/drawing/2014/main" id="{5CC10D78-E5EE-5E81-D3FD-BF49E8A248A8}"/>
              </a:ext>
            </a:extLst>
          </p:cNvPr>
          <p:cNvCxnSpPr>
            <a:cxnSpLocks/>
          </p:cNvCxnSpPr>
          <p:nvPr/>
        </p:nvCxnSpPr>
        <p:spPr>
          <a:xfrm>
            <a:off x="7264957" y="1862004"/>
            <a:ext cx="0" cy="800912"/>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9314BE5-D995-9515-9F46-02F8B2504F4A}"/>
              </a:ext>
            </a:extLst>
          </p:cNvPr>
          <p:cNvCxnSpPr>
            <a:cxnSpLocks/>
          </p:cNvCxnSpPr>
          <p:nvPr/>
        </p:nvCxnSpPr>
        <p:spPr>
          <a:xfrm>
            <a:off x="7264957" y="3324549"/>
            <a:ext cx="0" cy="1706969"/>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FCEF50F-9FAB-7BE7-C8C2-91493FB90DC9}"/>
              </a:ext>
            </a:extLst>
          </p:cNvPr>
          <p:cNvCxnSpPr>
            <a:cxnSpLocks/>
          </p:cNvCxnSpPr>
          <p:nvPr/>
        </p:nvCxnSpPr>
        <p:spPr>
          <a:xfrm>
            <a:off x="8831653" y="1862004"/>
            <a:ext cx="0" cy="800912"/>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14C9205-082C-1E98-F6A2-3FDC8377A502}"/>
              </a:ext>
            </a:extLst>
          </p:cNvPr>
          <p:cNvCxnSpPr>
            <a:cxnSpLocks/>
          </p:cNvCxnSpPr>
          <p:nvPr/>
        </p:nvCxnSpPr>
        <p:spPr>
          <a:xfrm>
            <a:off x="8831653" y="3324549"/>
            <a:ext cx="0" cy="1706969"/>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4669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BE10A-F960-9552-5B6E-D1625BAD7C61}"/>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9DC1184-1198-F6A9-1BF9-245ABE0002CC}"/>
              </a:ext>
            </a:extLst>
          </p:cNvPr>
          <p:cNvGraphicFramePr>
            <a:graphicFrameLocks/>
          </p:cNvGraphicFramePr>
          <p:nvPr>
            <p:custDataLst>
              <p:tags r:id="rId1"/>
            </p:custDataLst>
            <p:extLst>
              <p:ext uri="{D42A27DB-BD31-4B8C-83A1-F6EECF244321}">
                <p14:modId xmlns:p14="http://schemas.microsoft.com/office/powerpoint/2010/main" val="967510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9" imgW="286" imgH="286" progId="TCLayout.ActiveDocument.1">
                  <p:embed/>
                </p:oleObj>
              </mc:Choice>
              <mc:Fallback>
                <p:oleObj name="think-cell Slide" r:id="rId49" imgW="286" imgH="286" progId="TCLayout.ActiveDocument.1">
                  <p:embed/>
                  <p:pic>
                    <p:nvPicPr>
                      <p:cNvPr id="7" name="Object 6" hidden="1">
                        <a:extLst>
                          <a:ext uri="{FF2B5EF4-FFF2-40B4-BE49-F238E27FC236}">
                            <a16:creationId xmlns:a16="http://schemas.microsoft.com/office/drawing/2014/main" id="{B9DC1184-1198-F6A9-1BF9-245ABE0002CC}"/>
                          </a:ext>
                        </a:extLst>
                      </p:cNvPr>
                      <p:cNvPicPr/>
                      <p:nvPr/>
                    </p:nvPicPr>
                    <p:blipFill>
                      <a:blip r:embed="rId50"/>
                      <a:stretch>
                        <a:fillRect/>
                      </a:stretch>
                    </p:blipFill>
                    <p:spPr>
                      <a:xfrm>
                        <a:off x="1588" y="1588"/>
                        <a:ext cx="1588" cy="1588"/>
                      </a:xfrm>
                      <a:prstGeom prst="rect">
                        <a:avLst/>
                      </a:prstGeom>
                    </p:spPr>
                  </p:pic>
                </p:oleObj>
              </mc:Fallback>
            </mc:AlternateContent>
          </a:graphicData>
        </a:graphic>
      </p:graphicFrame>
      <p:sp>
        <p:nvSpPr>
          <p:cNvPr id="53" name="Text Placeholder 52">
            <a:extLst>
              <a:ext uri="{FF2B5EF4-FFF2-40B4-BE49-F238E27FC236}">
                <a16:creationId xmlns:a16="http://schemas.microsoft.com/office/drawing/2014/main" id="{C4034576-1DA9-C90D-0A47-53FE80248E1E}"/>
              </a:ext>
            </a:extLst>
          </p:cNvPr>
          <p:cNvSpPr>
            <a:spLocks noGrp="1"/>
          </p:cNvSpPr>
          <p:nvPr>
            <p:ph type="body" sz="quarter" idx="12"/>
          </p:nvPr>
        </p:nvSpPr>
        <p:spPr>
          <a:xfrm>
            <a:off x="378700" y="1243937"/>
            <a:ext cx="9936000" cy="271120"/>
          </a:xfrm>
        </p:spPr>
        <p:txBody>
          <a:bodyPr/>
          <a:lstStyle/>
          <a:p>
            <a:endParaRPr lang="de-DE" dirty="0"/>
          </a:p>
        </p:txBody>
      </p:sp>
      <p:sp>
        <p:nvSpPr>
          <p:cNvPr id="15" name="Text Placeholder 14">
            <a:extLst>
              <a:ext uri="{FF2B5EF4-FFF2-40B4-BE49-F238E27FC236}">
                <a16:creationId xmlns:a16="http://schemas.microsoft.com/office/drawing/2014/main" id="{9A3C27DC-D1A4-AF24-10C6-3368AFDCADCC}"/>
              </a:ext>
            </a:extLst>
          </p:cNvPr>
          <p:cNvSpPr>
            <a:spLocks noGrp="1"/>
          </p:cNvSpPr>
          <p:nvPr>
            <p:ph type="body" sz="quarter" idx="14"/>
          </p:nvPr>
        </p:nvSpPr>
        <p:spPr/>
        <p:txBody>
          <a:bodyPr/>
          <a:lstStyle/>
          <a:p>
            <a:r>
              <a:rPr lang="de-DE" dirty="0"/>
              <a:t>Quelle: Unternehmensinformationen, Metzler Research</a:t>
            </a:r>
          </a:p>
        </p:txBody>
      </p:sp>
      <p:sp>
        <p:nvSpPr>
          <p:cNvPr id="2" name="Title 1">
            <a:extLst>
              <a:ext uri="{FF2B5EF4-FFF2-40B4-BE49-F238E27FC236}">
                <a16:creationId xmlns:a16="http://schemas.microsoft.com/office/drawing/2014/main" id="{A0F08765-06B0-9E9A-CA49-E2F966FE8947}"/>
              </a:ext>
            </a:extLst>
          </p:cNvPr>
          <p:cNvSpPr>
            <a:spLocks noGrp="1"/>
          </p:cNvSpPr>
          <p:nvPr>
            <p:ph type="title"/>
          </p:nvPr>
        </p:nvSpPr>
        <p:spPr>
          <a:xfrm>
            <a:off x="378700" y="450279"/>
            <a:ext cx="9936000" cy="720000"/>
          </a:xfrm>
        </p:spPr>
        <p:txBody>
          <a:bodyPr vert="horz" rIns="0"/>
          <a:lstStyle/>
          <a:p>
            <a:r>
              <a:rPr lang="de-DE" dirty="0"/>
              <a:t>SWK verbessert trotz Umsatzrückgang die operative Profitabilität, hohe Investitionen zehren jedoch den Liquiditätspuffer auf</a:t>
            </a:r>
          </a:p>
        </p:txBody>
      </p:sp>
      <p:sp>
        <p:nvSpPr>
          <p:cNvPr id="14" name="Text Placeholder 13">
            <a:extLst>
              <a:ext uri="{FF2B5EF4-FFF2-40B4-BE49-F238E27FC236}">
                <a16:creationId xmlns:a16="http://schemas.microsoft.com/office/drawing/2014/main" id="{48464D05-6D42-1247-0803-9D5285A18828}"/>
              </a:ext>
            </a:extLst>
          </p:cNvPr>
          <p:cNvSpPr>
            <a:spLocks noGrp="1"/>
          </p:cNvSpPr>
          <p:nvPr>
            <p:ph type="body" sz="quarter" idx="13"/>
          </p:nvPr>
        </p:nvSpPr>
        <p:spPr/>
        <p:txBody>
          <a:bodyPr/>
          <a:lstStyle/>
          <a:p>
            <a:r>
              <a:rPr lang="de-DE" dirty="0"/>
              <a:t>2. Stadtwerke Krefeld – Übersicht und Herausforderungen</a:t>
            </a:r>
          </a:p>
        </p:txBody>
      </p:sp>
      <p:sp>
        <p:nvSpPr>
          <p:cNvPr id="5" name="Text Placeholder 4">
            <a:extLst>
              <a:ext uri="{FF2B5EF4-FFF2-40B4-BE49-F238E27FC236}">
                <a16:creationId xmlns:a16="http://schemas.microsoft.com/office/drawing/2014/main" id="{3A69D438-326B-F1B0-8B53-E99E7B6DE9F5}"/>
              </a:ext>
            </a:extLst>
          </p:cNvPr>
          <p:cNvSpPr>
            <a:spLocks noGrp="1"/>
          </p:cNvSpPr>
          <p:nvPr>
            <p:ph type="body" sz="quarter" idx="15"/>
          </p:nvPr>
        </p:nvSpPr>
        <p:spPr/>
        <p:txBody>
          <a:bodyPr/>
          <a:lstStyle/>
          <a:p>
            <a:r>
              <a:rPr lang="de-DE" dirty="0"/>
              <a:t>1) Übernahme des Gas-Kundenportfolios der TELESON Energie GmbH zum 1. August 2025; 2) Enthalten sind primär Investitionen in die Modernisierung und Erhöhung der Energieeffizienz bestehender Anlagen und Gebäude</a:t>
            </a:r>
          </a:p>
        </p:txBody>
      </p:sp>
      <p:sp>
        <p:nvSpPr>
          <p:cNvPr id="6" name="Rectangle 5">
            <a:extLst>
              <a:ext uri="{FF2B5EF4-FFF2-40B4-BE49-F238E27FC236}">
                <a16:creationId xmlns:a16="http://schemas.microsoft.com/office/drawing/2014/main" id="{873BEF3A-0785-64FE-2E3B-511181F0D5D9}"/>
              </a:ext>
            </a:extLst>
          </p:cNvPr>
          <p:cNvSpPr/>
          <p:nvPr/>
        </p:nvSpPr>
        <p:spPr>
          <a:xfrm>
            <a:off x="378148" y="1504787"/>
            <a:ext cx="3168352" cy="227499"/>
          </a:xfrm>
          <a:prstGeom prst="rect">
            <a:avLst/>
          </a:prstGeom>
          <a:solidFill>
            <a:schemeClr val="accent2"/>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050" b="1" dirty="0">
                <a:solidFill>
                  <a:schemeClr val="bg1"/>
                </a:solidFill>
              </a:rPr>
              <a:t>Gewinn- und Verlustrechnung (Mio. EUR)</a:t>
            </a:r>
          </a:p>
        </p:txBody>
      </p:sp>
      <p:sp>
        <p:nvSpPr>
          <p:cNvPr id="16" name="Rectangle 15">
            <a:extLst>
              <a:ext uri="{FF2B5EF4-FFF2-40B4-BE49-F238E27FC236}">
                <a16:creationId xmlns:a16="http://schemas.microsoft.com/office/drawing/2014/main" id="{F9B081AB-F610-570C-7B90-3995697F6CA4}"/>
              </a:ext>
            </a:extLst>
          </p:cNvPr>
          <p:cNvSpPr/>
          <p:nvPr/>
        </p:nvSpPr>
        <p:spPr>
          <a:xfrm>
            <a:off x="3762248" y="1504787"/>
            <a:ext cx="3168352" cy="227499"/>
          </a:xfrm>
          <a:prstGeom prst="rect">
            <a:avLst/>
          </a:prstGeom>
          <a:solidFill>
            <a:schemeClr val="accent3"/>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050" b="1" dirty="0">
                <a:solidFill>
                  <a:schemeClr val="bg1"/>
                </a:solidFill>
              </a:rPr>
              <a:t>Kapitalflussrechnung (Mio. EUR)</a:t>
            </a:r>
          </a:p>
        </p:txBody>
      </p:sp>
      <p:sp>
        <p:nvSpPr>
          <p:cNvPr id="17" name="Rectangle 16">
            <a:extLst>
              <a:ext uri="{FF2B5EF4-FFF2-40B4-BE49-F238E27FC236}">
                <a16:creationId xmlns:a16="http://schemas.microsoft.com/office/drawing/2014/main" id="{C0B3EEBF-8E7E-94E8-0FBC-81EDB67B9B12}"/>
              </a:ext>
            </a:extLst>
          </p:cNvPr>
          <p:cNvSpPr/>
          <p:nvPr/>
        </p:nvSpPr>
        <p:spPr>
          <a:xfrm>
            <a:off x="7146348" y="1504787"/>
            <a:ext cx="3168352" cy="227499"/>
          </a:xfrm>
          <a:prstGeom prst="rect">
            <a:avLst/>
          </a:prstGeom>
          <a:solidFill>
            <a:schemeClr val="accent4"/>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050" b="1" dirty="0">
                <a:solidFill>
                  <a:schemeClr val="bg1"/>
                </a:solidFill>
              </a:rPr>
              <a:t>Bilanzpositionen (Mio. EUR)</a:t>
            </a:r>
          </a:p>
        </p:txBody>
      </p:sp>
      <p:graphicFrame>
        <p:nvGraphicFramePr>
          <p:cNvPr id="22" name="Chart 21">
            <a:extLst>
              <a:ext uri="{FF2B5EF4-FFF2-40B4-BE49-F238E27FC236}">
                <a16:creationId xmlns:a16="http://schemas.microsoft.com/office/drawing/2014/main" id="{35285633-3EB1-C119-C818-CC71A77DAF78}"/>
              </a:ext>
            </a:extLst>
          </p:cNvPr>
          <p:cNvGraphicFramePr/>
          <p:nvPr>
            <p:custDataLst>
              <p:tags r:id="rId2"/>
            </p:custDataLst>
            <p:extLst>
              <p:ext uri="{D42A27DB-BD31-4B8C-83A1-F6EECF244321}">
                <p14:modId xmlns:p14="http://schemas.microsoft.com/office/powerpoint/2010/main" val="2959977100"/>
              </p:ext>
            </p:extLst>
          </p:nvPr>
        </p:nvGraphicFramePr>
        <p:xfrm>
          <a:off x="295275" y="3382963"/>
          <a:ext cx="3333750" cy="1920875"/>
        </p:xfrm>
        <a:graphic>
          <a:graphicData uri="http://schemas.openxmlformats.org/drawingml/2006/chart">
            <c:chart xmlns:c="http://schemas.openxmlformats.org/drawingml/2006/chart" xmlns:r="http://schemas.openxmlformats.org/officeDocument/2006/relationships" r:id="rId51"/>
          </a:graphicData>
        </a:graphic>
      </p:graphicFrame>
      <p:cxnSp>
        <p:nvCxnSpPr>
          <p:cNvPr id="554" name="Straight Connector 553">
            <a:extLst>
              <a:ext uri="{FF2B5EF4-FFF2-40B4-BE49-F238E27FC236}">
                <a16:creationId xmlns:a16="http://schemas.microsoft.com/office/drawing/2014/main" id="{8F8B740B-3095-77AF-B508-5EE20FE74FE6}"/>
              </a:ext>
            </a:extLst>
          </p:cNvPr>
          <p:cNvCxnSpPr/>
          <p:nvPr>
            <p:custDataLst>
              <p:tags r:id="rId3"/>
            </p:custDataLst>
          </p:nvPr>
        </p:nvCxnSpPr>
        <p:spPr bwMode="gray">
          <a:xfrm flipV="1">
            <a:off x="581025" y="3092449"/>
            <a:ext cx="2535238" cy="457200"/>
          </a:xfrm>
          <a:prstGeom prst="line">
            <a:avLst/>
          </a:prstGeom>
          <a:ln w="28575" cap="flat" cmpd="sng" algn="ctr">
            <a:solidFill>
              <a:schemeClr val="accent6"/>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53" name="Textplatzhalter 2">
            <a:extLst>
              <a:ext uri="{FF2B5EF4-FFF2-40B4-BE49-F238E27FC236}">
                <a16:creationId xmlns:a16="http://schemas.microsoft.com/office/drawing/2014/main" id="{94CFE787-B87A-B08D-3D15-8275EEC88337}"/>
              </a:ext>
            </a:extLst>
          </p:cNvPr>
          <p:cNvSpPr>
            <a:spLocks/>
          </p:cNvSpPr>
          <p:nvPr>
            <p:custDataLst>
              <p:tags r:id="rId4"/>
            </p:custDataLst>
          </p:nvPr>
        </p:nvSpPr>
        <p:spPr bwMode="auto">
          <a:xfrm>
            <a:off x="560388"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9BC9F590-E5C0-4E6B-B336-F14973FE978F}" type="datetime'2''''''''''''''''''''''''''''0''''2''''''''''1'">
              <a:rPr lang="de-DE" altLang="en-US" sz="900" smtClean="0"/>
              <a:pPr marL="0" lvl="0" indent="0" algn="ctr">
                <a:spcBef>
                  <a:spcPct val="0"/>
                </a:spcBef>
                <a:spcAft>
                  <a:spcPct val="0"/>
                </a:spcAft>
                <a:buNone/>
              </a:pPr>
              <a:t>2021</a:t>
            </a:fld>
            <a:endParaRPr lang="de-DE" sz="900" dirty="0"/>
          </a:p>
        </p:txBody>
      </p:sp>
      <p:sp>
        <p:nvSpPr>
          <p:cNvPr id="162" name="Textplatzhalter 2">
            <a:extLst>
              <a:ext uri="{FF2B5EF4-FFF2-40B4-BE49-F238E27FC236}">
                <a16:creationId xmlns:a16="http://schemas.microsoft.com/office/drawing/2014/main" id="{032D2670-E4D5-D25C-DDD9-C788A0AAE2E5}"/>
              </a:ext>
            </a:extLst>
          </p:cNvPr>
          <p:cNvSpPr>
            <a:spLocks/>
          </p:cNvSpPr>
          <p:nvPr>
            <p:custDataLst>
              <p:tags r:id="rId5"/>
            </p:custDataLst>
          </p:nvPr>
        </p:nvSpPr>
        <p:spPr bwMode="auto">
          <a:xfrm>
            <a:off x="1193800"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61EDE6D2-7BBD-4052-8EFE-DA6E0BD2FABD}" type="datetime'''''''''2''''''''0''''''''2''''''''''''''''2'''''''''''''">
              <a:rPr lang="de-DE" altLang="en-US" sz="900" smtClean="0"/>
              <a:pPr marL="0" lvl="0" indent="0" algn="ctr">
                <a:spcBef>
                  <a:spcPct val="0"/>
                </a:spcBef>
                <a:spcAft>
                  <a:spcPct val="0"/>
                </a:spcAft>
                <a:buNone/>
              </a:pPr>
              <a:t>2022</a:t>
            </a:fld>
            <a:endParaRPr lang="de-DE" sz="900" dirty="0"/>
          </a:p>
        </p:txBody>
      </p:sp>
      <p:sp>
        <p:nvSpPr>
          <p:cNvPr id="163" name="Textplatzhalter 2">
            <a:extLst>
              <a:ext uri="{FF2B5EF4-FFF2-40B4-BE49-F238E27FC236}">
                <a16:creationId xmlns:a16="http://schemas.microsoft.com/office/drawing/2014/main" id="{86F81B13-A12F-FFC5-0000-3D43E814048C}"/>
              </a:ext>
            </a:extLst>
          </p:cNvPr>
          <p:cNvSpPr>
            <a:spLocks/>
          </p:cNvSpPr>
          <p:nvPr>
            <p:custDataLst>
              <p:tags r:id="rId6"/>
            </p:custDataLst>
          </p:nvPr>
        </p:nvSpPr>
        <p:spPr bwMode="auto">
          <a:xfrm>
            <a:off x="1828800"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E9B560B3-EB2A-4F9B-870C-BA33D804A6DF}" type="datetime'''''2''''''''''''''''''''''''''''''''''''''''''''''023'''''">
              <a:rPr lang="de-DE" altLang="en-US" sz="900" smtClean="0"/>
              <a:pPr marL="0" lvl="0" indent="0" algn="ctr">
                <a:spcBef>
                  <a:spcPct val="0"/>
                </a:spcBef>
                <a:spcAft>
                  <a:spcPct val="0"/>
                </a:spcAft>
                <a:buNone/>
              </a:pPr>
              <a:t>2023</a:t>
            </a:fld>
            <a:endParaRPr lang="de-DE" sz="900" dirty="0"/>
          </a:p>
        </p:txBody>
      </p:sp>
      <p:sp>
        <p:nvSpPr>
          <p:cNvPr id="154" name="Textplatzhalter 2">
            <a:extLst>
              <a:ext uri="{FF2B5EF4-FFF2-40B4-BE49-F238E27FC236}">
                <a16:creationId xmlns:a16="http://schemas.microsoft.com/office/drawing/2014/main" id="{845B21E9-7974-7B4C-6059-31F045275956}"/>
              </a:ext>
            </a:extLst>
          </p:cNvPr>
          <p:cNvSpPr>
            <a:spLocks/>
          </p:cNvSpPr>
          <p:nvPr>
            <p:custDataLst>
              <p:tags r:id="rId7"/>
            </p:custDataLst>
          </p:nvPr>
        </p:nvSpPr>
        <p:spPr bwMode="auto">
          <a:xfrm>
            <a:off x="2462213"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65736CFB-8523-4D6C-A983-9EED3F4A8DCE}" type="datetime'''''''''2''''''''''''''''''''''''0''''24'''''''''''''''">
              <a:rPr lang="de-DE" altLang="en-US" sz="900" smtClean="0"/>
              <a:pPr marL="0" lvl="0" indent="0" algn="ctr">
                <a:spcBef>
                  <a:spcPct val="0"/>
                </a:spcBef>
                <a:spcAft>
                  <a:spcPct val="0"/>
                </a:spcAft>
                <a:buNone/>
              </a:pPr>
              <a:t>2024</a:t>
            </a:fld>
            <a:endParaRPr lang="de-DE" sz="900" dirty="0"/>
          </a:p>
        </p:txBody>
      </p:sp>
      <p:sp>
        <p:nvSpPr>
          <p:cNvPr id="155" name="Textplatzhalter 2">
            <a:extLst>
              <a:ext uri="{FF2B5EF4-FFF2-40B4-BE49-F238E27FC236}">
                <a16:creationId xmlns:a16="http://schemas.microsoft.com/office/drawing/2014/main" id="{B224ABCD-72F3-63F8-5565-21ACE85F0758}"/>
              </a:ext>
            </a:extLst>
          </p:cNvPr>
          <p:cNvSpPr>
            <a:spLocks/>
          </p:cNvSpPr>
          <p:nvPr>
            <p:custDataLst>
              <p:tags r:id="rId8"/>
            </p:custDataLst>
          </p:nvPr>
        </p:nvSpPr>
        <p:spPr bwMode="auto">
          <a:xfrm>
            <a:off x="3095625"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49DF7071-7479-4F04-A6B8-44AECE7A3D18}" type="datetime'2''''''''''0''''''2''''''''''''''5'''''">
              <a:rPr lang="de-DE" altLang="en-US" sz="900" smtClean="0"/>
              <a:pPr marL="0" lvl="0" indent="0" algn="ctr">
                <a:spcBef>
                  <a:spcPct val="0"/>
                </a:spcBef>
                <a:spcAft>
                  <a:spcPct val="0"/>
                </a:spcAft>
                <a:buNone/>
              </a:pPr>
              <a:t>2025</a:t>
            </a:fld>
            <a:endParaRPr lang="de-DE" sz="900" dirty="0"/>
          </a:p>
        </p:txBody>
      </p:sp>
      <p:sp>
        <p:nvSpPr>
          <p:cNvPr id="552" name="Textplatzhalter 2">
            <a:extLst>
              <a:ext uri="{FF2B5EF4-FFF2-40B4-BE49-F238E27FC236}">
                <a16:creationId xmlns:a16="http://schemas.microsoft.com/office/drawing/2014/main" id="{F2D00FB6-6C5B-6D19-BE70-3EB2CE35BBCC}"/>
              </a:ext>
            </a:extLst>
          </p:cNvPr>
          <p:cNvSpPr>
            <a:spLocks/>
          </p:cNvSpPr>
          <p:nvPr>
            <p:custDataLst>
              <p:tags r:id="rId9"/>
            </p:custDataLst>
          </p:nvPr>
        </p:nvSpPr>
        <p:spPr bwMode="auto">
          <a:xfrm>
            <a:off x="1443038" y="3224213"/>
            <a:ext cx="809625" cy="193675"/>
          </a:xfrm>
          <a:prstGeom prst="ellipse">
            <a:avLst/>
          </a:prstGeom>
          <a:solidFill>
            <a:schemeClr val="bg1"/>
          </a:solidFill>
          <a:ln w="9525" cmpd="sng" algn="ctr">
            <a:solidFill>
              <a:schemeClr val="accent6"/>
            </a:solidFill>
          </a:ln>
          <a:effectLst/>
        </p:spPr>
        <p:txBody>
          <a:bodyPr vert="horz" wrap="none" lIns="0" tIns="0" rIns="0"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D977EC19-B393-4021-9070-5C8143B51044}" type="datetime'''+''''''''''''''''1''''''''''1''%'''''''">
              <a:rPr lang="de-DE" altLang="en-US" sz="900" b="1" smtClean="0">
                <a:effectLst/>
              </a:rPr>
              <a:pPr marL="0" lvl="0" indent="0" algn="ctr">
                <a:spcBef>
                  <a:spcPct val="0"/>
                </a:spcBef>
                <a:spcAft>
                  <a:spcPct val="0"/>
                </a:spcAft>
                <a:buNone/>
              </a:pPr>
              <a:t>+11%</a:t>
            </a:fld>
            <a:r>
              <a:rPr lang="de-DE" sz="900" b="1"/>
              <a:t> p.a.</a:t>
            </a:r>
            <a:endParaRPr lang="de-DE" sz="900" b="1" dirty="0"/>
          </a:p>
        </p:txBody>
      </p:sp>
      <p:sp>
        <p:nvSpPr>
          <p:cNvPr id="159" name="Rectangle 158">
            <a:extLst>
              <a:ext uri="{FF2B5EF4-FFF2-40B4-BE49-F238E27FC236}">
                <a16:creationId xmlns:a16="http://schemas.microsoft.com/office/drawing/2014/main" id="{D1116299-3ADF-8E2F-52B9-55B8B6E14AE9}"/>
              </a:ext>
            </a:extLst>
          </p:cNvPr>
          <p:cNvSpPr/>
          <p:nvPr>
            <p:custDataLst>
              <p:tags r:id="rId10"/>
            </p:custDataLst>
          </p:nvPr>
        </p:nvSpPr>
        <p:spPr bwMode="auto">
          <a:xfrm>
            <a:off x="379414" y="1800225"/>
            <a:ext cx="160338" cy="120650"/>
          </a:xfrm>
          <a:prstGeom prst="rect">
            <a:avLst/>
          </a:prstGeom>
          <a:solidFill>
            <a:schemeClr val="accent1"/>
          </a:solidFill>
          <a:ln w="25400" cap="flat" cmpd="sng" algn="ctr">
            <a:noFill/>
            <a:prstDash val="solid"/>
            <a:round/>
            <a:headEnd type="none" w="med" len="med"/>
            <a:tailEnd type="none" w="med" len="med"/>
          </a:ln>
          <a:effectLst/>
          <a:extLst>
            <a:ext uri="{91240B29-F687-4F45-9708-019B960494DF}">
              <a14:hiddenLine xmlns:a14="http://schemas.microsoft.com/office/drawing/2010/main" w="25400" cap="flat" cmpd="sng" algn="ctr">
                <a:solidFill>
                  <a:schemeClr val="accent1">
                    <a:shade val="15000"/>
                  </a:schemeClr>
                </a:solidFill>
                <a:prstDash val="solid"/>
                <a:round/>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2" name="Rectangle 261">
            <a:extLst>
              <a:ext uri="{FF2B5EF4-FFF2-40B4-BE49-F238E27FC236}">
                <a16:creationId xmlns:a16="http://schemas.microsoft.com/office/drawing/2014/main" id="{92605DFE-91E4-5486-9D0A-A35DA3216EB1}"/>
              </a:ext>
            </a:extLst>
          </p:cNvPr>
          <p:cNvSpPr/>
          <p:nvPr>
            <p:custDataLst>
              <p:tags r:id="rId11"/>
            </p:custDataLst>
          </p:nvPr>
        </p:nvSpPr>
        <p:spPr bwMode="auto">
          <a:xfrm>
            <a:off x="1079500" y="1800225"/>
            <a:ext cx="160338" cy="120650"/>
          </a:xfrm>
          <a:prstGeom prst="rect">
            <a:avLst/>
          </a:prstGeom>
          <a:solidFill>
            <a:schemeClr val="accent2"/>
          </a:solidFill>
          <a:ln w="25400" cap="flat" cmpd="sng" algn="ctr">
            <a:noFill/>
            <a:prstDash val="solid"/>
            <a:round/>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7" name="Textplatzhalter 2">
            <a:extLst>
              <a:ext uri="{FF2B5EF4-FFF2-40B4-BE49-F238E27FC236}">
                <a16:creationId xmlns:a16="http://schemas.microsoft.com/office/drawing/2014/main" id="{0146DB32-4326-AA5A-932F-5EA85D92E749}"/>
              </a:ext>
            </a:extLst>
          </p:cNvPr>
          <p:cNvSpPr>
            <a:spLocks/>
          </p:cNvSpPr>
          <p:nvPr>
            <p:custDataLst>
              <p:tags r:id="rId12"/>
            </p:custDataLst>
          </p:nvPr>
        </p:nvSpPr>
        <p:spPr bwMode="auto">
          <a:xfrm>
            <a:off x="590550" y="1797051"/>
            <a:ext cx="3873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spcBef>
                <a:spcPct val="0"/>
              </a:spcBef>
              <a:spcAft>
                <a:spcPct val="0"/>
              </a:spcAft>
              <a:buNone/>
            </a:pPr>
            <a:fld id="{1890EBFB-3247-4B55-8D4B-BA3FC7CB741E}" type="datetime'''''''''''''''''''''''U''''''m''''''''''sa''''''t''z'">
              <a:rPr lang="de-DE" altLang="en-US" sz="900" smtClean="0"/>
              <a:pPr/>
              <a:t>Umsatz</a:t>
            </a:fld>
            <a:endParaRPr lang="de-DE" sz="900" dirty="0"/>
          </a:p>
        </p:txBody>
      </p:sp>
      <p:sp>
        <p:nvSpPr>
          <p:cNvPr id="254" name="Textplatzhalter 2">
            <a:extLst>
              <a:ext uri="{FF2B5EF4-FFF2-40B4-BE49-F238E27FC236}">
                <a16:creationId xmlns:a16="http://schemas.microsoft.com/office/drawing/2014/main" id="{9E408D40-A8B3-D434-AFE9-71EBB88807D1}"/>
              </a:ext>
            </a:extLst>
          </p:cNvPr>
          <p:cNvSpPr>
            <a:spLocks/>
          </p:cNvSpPr>
          <p:nvPr>
            <p:custDataLst>
              <p:tags r:id="rId13"/>
            </p:custDataLst>
          </p:nvPr>
        </p:nvSpPr>
        <p:spPr bwMode="auto">
          <a:xfrm>
            <a:off x="1290638" y="1797051"/>
            <a:ext cx="5064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spcBef>
                <a:spcPct val="0"/>
              </a:spcBef>
              <a:spcAft>
                <a:spcPct val="0"/>
              </a:spcAft>
              <a:buNone/>
            </a:pPr>
            <a:fld id="{04B5F127-F2FB-4B2C-8D93-6C711060456A}" type="datetime'R''''''''oh''e''rt''''''''ra''''''''''''''''g'''''''''''''''">
              <a:rPr lang="de-DE" altLang="en-US" sz="900" smtClean="0"/>
              <a:pPr/>
              <a:t>Rohertrag</a:t>
            </a:fld>
            <a:endParaRPr lang="de-DE" sz="900" dirty="0"/>
          </a:p>
        </p:txBody>
      </p:sp>
      <p:graphicFrame>
        <p:nvGraphicFramePr>
          <p:cNvPr id="457" name="Chart 456">
            <a:extLst>
              <a:ext uri="{FF2B5EF4-FFF2-40B4-BE49-F238E27FC236}">
                <a16:creationId xmlns:a16="http://schemas.microsoft.com/office/drawing/2014/main" id="{80AD9D58-C49A-ECBB-F19C-46A58EFE00FC}"/>
              </a:ext>
            </a:extLst>
          </p:cNvPr>
          <p:cNvGraphicFramePr/>
          <p:nvPr>
            <p:custDataLst>
              <p:tags r:id="rId14"/>
            </p:custDataLst>
            <p:extLst>
              <p:ext uri="{D42A27DB-BD31-4B8C-83A1-F6EECF244321}">
                <p14:modId xmlns:p14="http://schemas.microsoft.com/office/powerpoint/2010/main" val="2374901039"/>
              </p:ext>
            </p:extLst>
          </p:nvPr>
        </p:nvGraphicFramePr>
        <p:xfrm>
          <a:off x="3679825" y="2368550"/>
          <a:ext cx="3333750" cy="2935288"/>
        </p:xfrm>
        <a:graphic>
          <a:graphicData uri="http://schemas.openxmlformats.org/drawingml/2006/chart">
            <c:chart xmlns:c="http://schemas.openxmlformats.org/drawingml/2006/chart" xmlns:r="http://schemas.openxmlformats.org/officeDocument/2006/relationships" r:id="rId52"/>
          </a:graphicData>
        </a:graphic>
      </p:graphicFrame>
      <p:cxnSp>
        <p:nvCxnSpPr>
          <p:cNvPr id="555" name="Straight Connector 554">
            <a:extLst>
              <a:ext uri="{FF2B5EF4-FFF2-40B4-BE49-F238E27FC236}">
                <a16:creationId xmlns:a16="http://schemas.microsoft.com/office/drawing/2014/main" id="{7ABB67EF-0138-EBDF-0F6A-C47A164CA01F}"/>
              </a:ext>
            </a:extLst>
          </p:cNvPr>
          <p:cNvCxnSpPr>
            <a:cxnSpLocks/>
          </p:cNvCxnSpPr>
          <p:nvPr>
            <p:custDataLst>
              <p:tags r:id="rId15"/>
            </p:custDataLst>
          </p:nvPr>
        </p:nvCxnSpPr>
        <p:spPr bwMode="auto">
          <a:xfrm>
            <a:off x="5980113" y="3538538"/>
            <a:ext cx="0" cy="65088"/>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55" name="Straight Connector 454">
            <a:extLst>
              <a:ext uri="{FF2B5EF4-FFF2-40B4-BE49-F238E27FC236}">
                <a16:creationId xmlns:a16="http://schemas.microsoft.com/office/drawing/2014/main" id="{B78C9486-1DD6-AAC1-F9AE-254AB0E7BDED}"/>
              </a:ext>
            </a:extLst>
          </p:cNvPr>
          <p:cNvCxnSpPr/>
          <p:nvPr>
            <p:custDataLst>
              <p:tags r:id="rId16"/>
            </p:custDataLst>
          </p:nvPr>
        </p:nvCxnSpPr>
        <p:spPr bwMode="auto">
          <a:xfrm flipH="1">
            <a:off x="6111875" y="3836988"/>
            <a:ext cx="58738" cy="0"/>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2" name="Textplatzhalter 2">
            <a:extLst>
              <a:ext uri="{FF2B5EF4-FFF2-40B4-BE49-F238E27FC236}">
                <a16:creationId xmlns:a16="http://schemas.microsoft.com/office/drawing/2014/main" id="{0DA7EE0A-9B09-A37D-DD9C-5003239EA0CC}"/>
              </a:ext>
            </a:extLst>
          </p:cNvPr>
          <p:cNvSpPr>
            <a:spLocks/>
          </p:cNvSpPr>
          <p:nvPr>
            <p:custDataLst>
              <p:tags r:id="rId17"/>
            </p:custDataLst>
          </p:nvPr>
        </p:nvSpPr>
        <p:spPr bwMode="gray">
          <a:xfrm>
            <a:off x="3998913" y="3556000"/>
            <a:ext cx="158750" cy="136525"/>
          </a:xfrm>
          <a:prstGeom prst="rect">
            <a:avLst/>
          </a:prstGeom>
          <a:solidFill>
            <a:schemeClr val="accent3"/>
          </a:solidFill>
          <a:ln>
            <a:noFill/>
          </a:ln>
          <a:effectLst/>
        </p:spPr>
        <p:txBody>
          <a:bodyPr vert="horz" wrap="none" lIns="15875" tIns="0" rIns="15875"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E5A803B4-9C03-4F72-BE1E-DDEF880190AA}" type="datetime'''''''''''''1''''''''''''''''''1'''''''''''''">
              <a:rPr lang="de-DE" altLang="en-US" sz="900" smtClean="0">
                <a:solidFill>
                  <a:schemeClr val="bg1"/>
                </a:solidFill>
                <a:effectLst/>
              </a:rPr>
              <a:pPr marL="0" lvl="0" indent="0" algn="ctr">
                <a:spcBef>
                  <a:spcPct val="0"/>
                </a:spcBef>
                <a:spcAft>
                  <a:spcPct val="0"/>
                </a:spcAft>
                <a:buNone/>
              </a:pPr>
              <a:t>11</a:t>
            </a:fld>
            <a:endParaRPr lang="de-DE" sz="900" dirty="0">
              <a:solidFill>
                <a:schemeClr val="bg1"/>
              </a:solidFill>
            </a:endParaRPr>
          </a:p>
        </p:txBody>
      </p:sp>
      <p:sp>
        <p:nvSpPr>
          <p:cNvPr id="23" name="Textplatzhalter 2">
            <a:extLst>
              <a:ext uri="{FF2B5EF4-FFF2-40B4-BE49-F238E27FC236}">
                <a16:creationId xmlns:a16="http://schemas.microsoft.com/office/drawing/2014/main" id="{92CEA060-7E9B-CCEB-20BE-5930F4D3897E}"/>
              </a:ext>
            </a:extLst>
          </p:cNvPr>
          <p:cNvSpPr>
            <a:spLocks/>
          </p:cNvSpPr>
          <p:nvPr>
            <p:custDataLst>
              <p:tags r:id="rId18"/>
            </p:custDataLst>
          </p:nvPr>
        </p:nvSpPr>
        <p:spPr bwMode="auto">
          <a:xfrm>
            <a:off x="3944938"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DD917BC7-9373-402E-8806-F0CD384E60D5}" type="datetime'''''''''2''''02''''''''1'''''''''''''''''''''''''''''''''''''">
              <a:rPr lang="de-DE" altLang="en-US" sz="900" smtClean="0">
                <a:effectLst/>
              </a:rPr>
              <a:pPr marL="0" lvl="0" indent="0" algn="ctr">
                <a:spcBef>
                  <a:spcPct val="0"/>
                </a:spcBef>
                <a:spcAft>
                  <a:spcPct val="0"/>
                </a:spcAft>
                <a:buNone/>
              </a:pPr>
              <a:t>2021</a:t>
            </a:fld>
            <a:endParaRPr lang="de-DE" sz="900" dirty="0"/>
          </a:p>
        </p:txBody>
      </p:sp>
      <p:sp>
        <p:nvSpPr>
          <p:cNvPr id="8" name="Textplatzhalter 2">
            <a:extLst>
              <a:ext uri="{FF2B5EF4-FFF2-40B4-BE49-F238E27FC236}">
                <a16:creationId xmlns:a16="http://schemas.microsoft.com/office/drawing/2014/main" id="{EA4E33B9-1CFF-7448-429C-FC48D5558E57}"/>
              </a:ext>
            </a:extLst>
          </p:cNvPr>
          <p:cNvSpPr>
            <a:spLocks/>
          </p:cNvSpPr>
          <p:nvPr>
            <p:custDataLst>
              <p:tags r:id="rId19"/>
            </p:custDataLst>
          </p:nvPr>
        </p:nvSpPr>
        <p:spPr bwMode="gray">
          <a:xfrm>
            <a:off x="4598988" y="3908425"/>
            <a:ext cx="225425" cy="136525"/>
          </a:xfrm>
          <a:prstGeom prst="rect">
            <a:avLst/>
          </a:prstGeom>
          <a:solidFill>
            <a:schemeClr val="accent3"/>
          </a:solidFill>
          <a:ln>
            <a:noFill/>
          </a:ln>
          <a:effectLst/>
        </p:spPr>
        <p:txBody>
          <a:bodyPr vert="horz" wrap="none" lIns="15875" tIns="0" rIns="15875"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0FA1DE98-2B94-4F59-B660-A13B79535A56}" type="datetime'''''(''''''2''''''''''''''3'')'''''''''''''''''''''''''''''">
              <a:rPr lang="de-DE" altLang="en-US" sz="900" smtClean="0">
                <a:solidFill>
                  <a:schemeClr val="bg1"/>
                </a:solidFill>
                <a:effectLst/>
              </a:rPr>
              <a:pPr marL="0" lvl="0" indent="0" algn="ctr">
                <a:spcBef>
                  <a:spcPct val="0"/>
                </a:spcBef>
                <a:spcAft>
                  <a:spcPct val="0"/>
                </a:spcAft>
                <a:buNone/>
              </a:pPr>
              <a:t>(23)</a:t>
            </a:fld>
            <a:endParaRPr lang="de-DE" sz="900" dirty="0">
              <a:solidFill>
                <a:schemeClr val="bg1"/>
              </a:solidFill>
            </a:endParaRPr>
          </a:p>
        </p:txBody>
      </p:sp>
      <p:sp>
        <p:nvSpPr>
          <p:cNvPr id="25" name="Textplatzhalter 2">
            <a:extLst>
              <a:ext uri="{FF2B5EF4-FFF2-40B4-BE49-F238E27FC236}">
                <a16:creationId xmlns:a16="http://schemas.microsoft.com/office/drawing/2014/main" id="{F7CCB0F6-6907-F3F1-DD62-FDE88E8127AB}"/>
              </a:ext>
            </a:extLst>
          </p:cNvPr>
          <p:cNvSpPr>
            <a:spLocks/>
          </p:cNvSpPr>
          <p:nvPr>
            <p:custDataLst>
              <p:tags r:id="rId20"/>
            </p:custDataLst>
          </p:nvPr>
        </p:nvSpPr>
        <p:spPr bwMode="auto">
          <a:xfrm>
            <a:off x="4578350"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D6D80E0D-43A0-4E58-9F42-E544E5797936}" type="datetime'''''''''''''''''2''''''''''''0''''''''''2''''2'">
              <a:rPr lang="de-DE" altLang="en-US" sz="900" smtClean="0">
                <a:effectLst/>
              </a:rPr>
              <a:pPr marL="0" lvl="0" indent="0" algn="ctr">
                <a:spcBef>
                  <a:spcPct val="0"/>
                </a:spcBef>
                <a:spcAft>
                  <a:spcPct val="0"/>
                </a:spcAft>
                <a:buNone/>
              </a:pPr>
              <a:t>2022</a:t>
            </a:fld>
            <a:endParaRPr lang="de-DE" sz="900" dirty="0"/>
          </a:p>
        </p:txBody>
      </p:sp>
      <p:sp>
        <p:nvSpPr>
          <p:cNvPr id="26" name="Textplatzhalter 2">
            <a:extLst>
              <a:ext uri="{FF2B5EF4-FFF2-40B4-BE49-F238E27FC236}">
                <a16:creationId xmlns:a16="http://schemas.microsoft.com/office/drawing/2014/main" id="{050C7774-1BB7-74F2-EE1D-F80C73E32079}"/>
              </a:ext>
            </a:extLst>
          </p:cNvPr>
          <p:cNvSpPr>
            <a:spLocks/>
          </p:cNvSpPr>
          <p:nvPr>
            <p:custDataLst>
              <p:tags r:id="rId21"/>
            </p:custDataLst>
          </p:nvPr>
        </p:nvSpPr>
        <p:spPr bwMode="auto">
          <a:xfrm>
            <a:off x="5211763"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0CDD3136-D19F-4545-81FF-35A3EC33787A}" type="datetime'''''''''''''''''''2''''''0''23'''''''''''''''">
              <a:rPr lang="de-DE" altLang="en-US" sz="900" smtClean="0">
                <a:effectLst/>
              </a:rPr>
              <a:pPr marL="0" lvl="0" indent="0" algn="ctr">
                <a:spcBef>
                  <a:spcPct val="0"/>
                </a:spcBef>
                <a:spcAft>
                  <a:spcPct val="0"/>
                </a:spcAft>
                <a:buNone/>
              </a:pPr>
              <a:t>2023</a:t>
            </a:fld>
            <a:endParaRPr lang="de-DE" sz="900" dirty="0"/>
          </a:p>
        </p:txBody>
      </p:sp>
      <p:sp>
        <p:nvSpPr>
          <p:cNvPr id="27" name="Textplatzhalter 2">
            <a:extLst>
              <a:ext uri="{FF2B5EF4-FFF2-40B4-BE49-F238E27FC236}">
                <a16:creationId xmlns:a16="http://schemas.microsoft.com/office/drawing/2014/main" id="{2044143F-C9B3-5BB0-32F6-E6B5BB3F5ECF}"/>
              </a:ext>
            </a:extLst>
          </p:cNvPr>
          <p:cNvSpPr>
            <a:spLocks/>
          </p:cNvSpPr>
          <p:nvPr>
            <p:custDataLst>
              <p:tags r:id="rId22"/>
            </p:custDataLst>
          </p:nvPr>
        </p:nvSpPr>
        <p:spPr bwMode="auto">
          <a:xfrm>
            <a:off x="5846763"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D9A103AE-1288-4478-8B46-2131A6DAF74F}" type="datetime'''''2''''''''''''''''''''''''''''''''''02''4'''''''''''">
              <a:rPr lang="de-DE" altLang="en-US" sz="900" smtClean="0">
                <a:effectLst/>
              </a:rPr>
              <a:pPr marL="0" lvl="0" indent="0" algn="ctr">
                <a:spcBef>
                  <a:spcPct val="0"/>
                </a:spcBef>
                <a:spcAft>
                  <a:spcPct val="0"/>
                </a:spcAft>
                <a:buNone/>
              </a:pPr>
              <a:t>2024</a:t>
            </a:fld>
            <a:endParaRPr lang="de-DE" sz="900" dirty="0"/>
          </a:p>
        </p:txBody>
      </p:sp>
      <p:sp>
        <p:nvSpPr>
          <p:cNvPr id="28" name="Textplatzhalter 2">
            <a:extLst>
              <a:ext uri="{FF2B5EF4-FFF2-40B4-BE49-F238E27FC236}">
                <a16:creationId xmlns:a16="http://schemas.microsoft.com/office/drawing/2014/main" id="{8A6FF5D5-AEEB-1D99-300B-22DCF2B4F5B3}"/>
              </a:ext>
            </a:extLst>
          </p:cNvPr>
          <p:cNvSpPr>
            <a:spLocks/>
          </p:cNvSpPr>
          <p:nvPr>
            <p:custDataLst>
              <p:tags r:id="rId23"/>
            </p:custDataLst>
          </p:nvPr>
        </p:nvSpPr>
        <p:spPr bwMode="auto">
          <a:xfrm>
            <a:off x="6480175"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76D33B3C-9679-4772-937C-A765D3ED3F11}" type="datetime'''2''''''''''''''0''''2''''''''''''''''5'''''''''''''''">
              <a:rPr lang="de-DE" altLang="en-US" sz="900" smtClean="0">
                <a:effectLst/>
              </a:rPr>
              <a:pPr marL="0" lvl="0" indent="0" algn="ctr">
                <a:spcBef>
                  <a:spcPct val="0"/>
                </a:spcBef>
                <a:spcAft>
                  <a:spcPct val="0"/>
                </a:spcAft>
                <a:buNone/>
              </a:pPr>
              <a:t>2025</a:t>
            </a:fld>
            <a:endParaRPr lang="de-DE" sz="900" dirty="0"/>
          </a:p>
        </p:txBody>
      </p:sp>
      <p:sp>
        <p:nvSpPr>
          <p:cNvPr id="4" name="Textplatzhalter 2">
            <a:extLst>
              <a:ext uri="{FF2B5EF4-FFF2-40B4-BE49-F238E27FC236}">
                <a16:creationId xmlns:a16="http://schemas.microsoft.com/office/drawing/2014/main" id="{610EE993-85F3-591B-7B21-F1D257472316}"/>
              </a:ext>
            </a:extLst>
          </p:cNvPr>
          <p:cNvSpPr>
            <a:spLocks/>
          </p:cNvSpPr>
          <p:nvPr>
            <p:custDataLst>
              <p:tags r:id="rId24"/>
            </p:custDataLst>
          </p:nvPr>
        </p:nvSpPr>
        <p:spPr bwMode="gray">
          <a:xfrm>
            <a:off x="3990975" y="3228975"/>
            <a:ext cx="1746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b">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988986EC-1F01-40A3-9410-2F9B9189C1AF}" type="datetime'''''''1''''''''''''''''''''''''2'''''''''''''''''">
              <a:rPr lang="de-DE" altLang="en-US" sz="900" b="1" smtClean="0">
                <a:effectLst/>
              </a:rPr>
              <a:pPr marL="0" lvl="0" indent="0" algn="ctr">
                <a:spcBef>
                  <a:spcPct val="0"/>
                </a:spcBef>
                <a:spcAft>
                  <a:spcPct val="0"/>
                </a:spcAft>
                <a:buNone/>
              </a:pPr>
              <a:t>12</a:t>
            </a:fld>
            <a:endParaRPr lang="de-DE" sz="900" b="1" dirty="0"/>
          </a:p>
        </p:txBody>
      </p:sp>
      <p:sp>
        <p:nvSpPr>
          <p:cNvPr id="9" name="Textplatzhalter 2">
            <a:extLst>
              <a:ext uri="{FF2B5EF4-FFF2-40B4-BE49-F238E27FC236}">
                <a16:creationId xmlns:a16="http://schemas.microsoft.com/office/drawing/2014/main" id="{050612A4-4B60-8076-15FE-408045BB4FB8}"/>
              </a:ext>
            </a:extLst>
          </p:cNvPr>
          <p:cNvSpPr>
            <a:spLocks/>
          </p:cNvSpPr>
          <p:nvPr>
            <p:custDataLst>
              <p:tags r:id="rId25"/>
            </p:custDataLst>
          </p:nvPr>
        </p:nvSpPr>
        <p:spPr bwMode="gray">
          <a:xfrm>
            <a:off x="4624388" y="2759075"/>
            <a:ext cx="1746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b">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DCC25842-E398-47D4-A22E-5A2E0027275B}" type="datetime'''''''''''''''''''''''''''''''''''''''''9''''''''6'">
              <a:rPr lang="de-DE" altLang="en-US" sz="900" b="1" smtClean="0">
                <a:effectLst/>
              </a:rPr>
              <a:pPr marL="0" lvl="0" indent="0" algn="ctr">
                <a:spcBef>
                  <a:spcPct val="0"/>
                </a:spcBef>
                <a:spcAft>
                  <a:spcPct val="0"/>
                </a:spcAft>
                <a:buNone/>
              </a:pPr>
              <a:t>96</a:t>
            </a:fld>
            <a:endParaRPr lang="de-DE" sz="900" b="1" dirty="0"/>
          </a:p>
        </p:txBody>
      </p:sp>
      <p:sp>
        <p:nvSpPr>
          <p:cNvPr id="10" name="Textplatzhalter 2">
            <a:extLst>
              <a:ext uri="{FF2B5EF4-FFF2-40B4-BE49-F238E27FC236}">
                <a16:creationId xmlns:a16="http://schemas.microsoft.com/office/drawing/2014/main" id="{9BE85868-F217-AC58-7D0B-A2B9D8CAA12A}"/>
              </a:ext>
            </a:extLst>
          </p:cNvPr>
          <p:cNvSpPr>
            <a:spLocks/>
          </p:cNvSpPr>
          <p:nvPr>
            <p:custDataLst>
              <p:tags r:id="rId26"/>
            </p:custDataLst>
          </p:nvPr>
        </p:nvSpPr>
        <p:spPr bwMode="gray">
          <a:xfrm>
            <a:off x="5257800" y="2411414"/>
            <a:ext cx="1746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chor="b">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44A9E8AF-911B-4744-9FAB-A4BCB0DDA418}" type="datetime'''''''''''44'''''''''''''''''''''">
              <a:rPr lang="de-DE" altLang="en-US" sz="900" b="1" smtClean="0">
                <a:effectLst/>
              </a:rPr>
              <a:pPr marL="0" lvl="0" indent="0" algn="ctr">
                <a:spcBef>
                  <a:spcPct val="0"/>
                </a:spcBef>
                <a:spcAft>
                  <a:spcPct val="0"/>
                </a:spcAft>
                <a:buNone/>
              </a:pPr>
              <a:t>44</a:t>
            </a:fld>
            <a:endParaRPr lang="de-DE" sz="900" b="1" dirty="0"/>
          </a:p>
        </p:txBody>
      </p:sp>
      <p:sp>
        <p:nvSpPr>
          <p:cNvPr id="11" name="Textplatzhalter 2">
            <a:extLst>
              <a:ext uri="{FF2B5EF4-FFF2-40B4-BE49-F238E27FC236}">
                <a16:creationId xmlns:a16="http://schemas.microsoft.com/office/drawing/2014/main" id="{45AA0841-B16F-DC05-085C-6869018F6009}"/>
              </a:ext>
            </a:extLst>
          </p:cNvPr>
          <p:cNvSpPr>
            <a:spLocks/>
          </p:cNvSpPr>
          <p:nvPr>
            <p:custDataLst>
              <p:tags r:id="rId27"/>
            </p:custDataLst>
          </p:nvPr>
        </p:nvSpPr>
        <p:spPr bwMode="gray">
          <a:xfrm>
            <a:off x="5856288" y="3898900"/>
            <a:ext cx="2476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F3A94AAB-E5D4-44AC-936B-63D6517250F2}" type="datetime'''''''''''''(''''''''''''''''''''4''''1)'''''''''''">
              <a:rPr lang="de-DE" altLang="en-US" sz="900" b="1" smtClean="0">
                <a:effectLst/>
              </a:rPr>
              <a:pPr marL="0" lvl="0" indent="0" algn="ctr">
                <a:spcBef>
                  <a:spcPct val="0"/>
                </a:spcBef>
                <a:spcAft>
                  <a:spcPct val="0"/>
                </a:spcAft>
                <a:buNone/>
              </a:pPr>
              <a:t>(41)</a:t>
            </a:fld>
            <a:endParaRPr lang="de-DE" sz="900" b="1" dirty="0"/>
          </a:p>
        </p:txBody>
      </p:sp>
      <p:sp>
        <p:nvSpPr>
          <p:cNvPr id="18" name="Textplatzhalter 2">
            <a:extLst>
              <a:ext uri="{FF2B5EF4-FFF2-40B4-BE49-F238E27FC236}">
                <a16:creationId xmlns:a16="http://schemas.microsoft.com/office/drawing/2014/main" id="{246D55F4-24C2-9746-00BF-E0858F3476A4}"/>
              </a:ext>
            </a:extLst>
          </p:cNvPr>
          <p:cNvSpPr>
            <a:spLocks/>
          </p:cNvSpPr>
          <p:nvPr>
            <p:custDataLst>
              <p:tags r:id="rId28"/>
            </p:custDataLst>
          </p:nvPr>
        </p:nvSpPr>
        <p:spPr bwMode="gray">
          <a:xfrm>
            <a:off x="6489700" y="4040188"/>
            <a:ext cx="2476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5875" tIns="0" rIns="15875"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A7BBA8DA-3DCE-41C0-BFBF-E69DE3B77802}" type="datetime'''''''(''''''''''''''''7''''''''''''''''6)'">
              <a:rPr lang="de-DE" altLang="en-US" sz="900" b="1" smtClean="0">
                <a:effectLst/>
              </a:rPr>
              <a:pPr marL="0" lvl="0" indent="0" algn="ctr">
                <a:spcBef>
                  <a:spcPct val="0"/>
                </a:spcBef>
                <a:spcAft>
                  <a:spcPct val="0"/>
                </a:spcAft>
                <a:buNone/>
              </a:pPr>
              <a:t>(76)</a:t>
            </a:fld>
            <a:endParaRPr lang="de-DE" sz="900" b="1" dirty="0"/>
          </a:p>
        </p:txBody>
      </p:sp>
      <p:sp>
        <p:nvSpPr>
          <p:cNvPr id="450" name="Textplatzhalter 2">
            <a:extLst>
              <a:ext uri="{FF2B5EF4-FFF2-40B4-BE49-F238E27FC236}">
                <a16:creationId xmlns:a16="http://schemas.microsoft.com/office/drawing/2014/main" id="{85B5CAF8-6FCF-2B4A-98CA-B32B6DF4FEBF}"/>
              </a:ext>
            </a:extLst>
          </p:cNvPr>
          <p:cNvSpPr>
            <a:spLocks/>
          </p:cNvSpPr>
          <p:nvPr>
            <p:custDataLst>
              <p:tags r:id="rId29"/>
            </p:custDataLst>
          </p:nvPr>
        </p:nvSpPr>
        <p:spPr bwMode="gray">
          <a:xfrm>
            <a:off x="6534150" y="3529013"/>
            <a:ext cx="158750" cy="136525"/>
          </a:xfrm>
          <a:prstGeom prst="rect">
            <a:avLst/>
          </a:prstGeom>
          <a:solidFill>
            <a:schemeClr val="accent1"/>
          </a:solidFill>
          <a:ln>
            <a:noFill/>
          </a:ln>
          <a:effectLst/>
        </p:spPr>
        <p:txBody>
          <a:bodyPr vert="horz" wrap="none" lIns="15875" tIns="0" rIns="15875"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563AAFEC-253F-4AB2-AB5B-6E66C65D85FE}" type="datetime'''''''''''''''''''''2''''''''''''''''''''''6'''''">
              <a:rPr lang="de-DE" altLang="en-US" sz="900" smtClean="0">
                <a:solidFill>
                  <a:schemeClr val="bg1"/>
                </a:solidFill>
                <a:effectLst/>
              </a:rPr>
              <a:pPr marL="0" lvl="0" indent="0" algn="ctr">
                <a:spcBef>
                  <a:spcPct val="0"/>
                </a:spcBef>
                <a:spcAft>
                  <a:spcPct val="0"/>
                </a:spcAft>
                <a:buNone/>
              </a:pPr>
              <a:t>26</a:t>
            </a:fld>
            <a:endParaRPr lang="de-DE" sz="900" dirty="0">
              <a:solidFill>
                <a:schemeClr val="bg1"/>
              </a:solidFill>
            </a:endParaRPr>
          </a:p>
        </p:txBody>
      </p:sp>
      <p:sp>
        <p:nvSpPr>
          <p:cNvPr id="452" name="Textplatzhalter 2">
            <a:extLst>
              <a:ext uri="{FF2B5EF4-FFF2-40B4-BE49-F238E27FC236}">
                <a16:creationId xmlns:a16="http://schemas.microsoft.com/office/drawing/2014/main" id="{A40D4B7A-B6E2-D48C-8409-C4CDE1ECFEAE}"/>
              </a:ext>
            </a:extLst>
          </p:cNvPr>
          <p:cNvSpPr>
            <a:spLocks/>
          </p:cNvSpPr>
          <p:nvPr>
            <p:custDataLst>
              <p:tags r:id="rId30"/>
            </p:custDataLst>
          </p:nvPr>
        </p:nvSpPr>
        <p:spPr bwMode="gray">
          <a:xfrm>
            <a:off x="6500813" y="3898900"/>
            <a:ext cx="225425" cy="136525"/>
          </a:xfrm>
          <a:prstGeom prst="rect">
            <a:avLst/>
          </a:prstGeom>
          <a:solidFill>
            <a:schemeClr val="accent3"/>
          </a:solidFill>
          <a:ln>
            <a:noFill/>
          </a:ln>
          <a:effectLst/>
        </p:spPr>
        <p:txBody>
          <a:bodyPr vert="horz" wrap="none" lIns="15875" tIns="0" rIns="15875"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0FE337BE-6A4A-44D9-A4EE-F2D3A7E27F65}" type="datetime'''''''''''''''''''''''''''''''''''''''''''(''''''2''''6'''')'">
              <a:rPr lang="de-DE" altLang="en-US" sz="900" smtClean="0">
                <a:solidFill>
                  <a:schemeClr val="bg1"/>
                </a:solidFill>
                <a:effectLst/>
              </a:rPr>
              <a:pPr marL="0" lvl="0" indent="0" algn="ctr">
                <a:spcBef>
                  <a:spcPct val="0"/>
                </a:spcBef>
                <a:spcAft>
                  <a:spcPct val="0"/>
                </a:spcAft>
                <a:buNone/>
              </a:pPr>
              <a:t>(26)</a:t>
            </a:fld>
            <a:endParaRPr lang="de-DE" sz="900" dirty="0">
              <a:solidFill>
                <a:schemeClr val="bg1"/>
              </a:solidFill>
            </a:endParaRPr>
          </a:p>
        </p:txBody>
      </p:sp>
      <p:graphicFrame>
        <p:nvGraphicFramePr>
          <p:cNvPr id="20" name="Chart 19">
            <a:extLst>
              <a:ext uri="{FF2B5EF4-FFF2-40B4-BE49-F238E27FC236}">
                <a16:creationId xmlns:a16="http://schemas.microsoft.com/office/drawing/2014/main" id="{785A5901-7B9C-E84F-AF49-A531BB0F56B6}"/>
              </a:ext>
            </a:extLst>
          </p:cNvPr>
          <p:cNvGraphicFramePr/>
          <p:nvPr>
            <p:custDataLst>
              <p:tags r:id="rId31"/>
            </p:custDataLst>
            <p:extLst>
              <p:ext uri="{D42A27DB-BD31-4B8C-83A1-F6EECF244321}">
                <p14:modId xmlns:p14="http://schemas.microsoft.com/office/powerpoint/2010/main" val="1217921797"/>
              </p:ext>
            </p:extLst>
          </p:nvPr>
        </p:nvGraphicFramePr>
        <p:xfrm>
          <a:off x="7100888" y="2955925"/>
          <a:ext cx="3297237" cy="2279650"/>
        </p:xfrm>
        <a:graphic>
          <a:graphicData uri="http://schemas.openxmlformats.org/drawingml/2006/chart">
            <c:chart xmlns:c="http://schemas.openxmlformats.org/drawingml/2006/chart" xmlns:r="http://schemas.openxmlformats.org/officeDocument/2006/relationships" r:id="rId53"/>
          </a:graphicData>
        </a:graphic>
      </p:graphicFrame>
      <p:sp>
        <p:nvSpPr>
          <p:cNvPr id="231" name="Textplatzhalter 2">
            <a:extLst>
              <a:ext uri="{FF2B5EF4-FFF2-40B4-BE49-F238E27FC236}">
                <a16:creationId xmlns:a16="http://schemas.microsoft.com/office/drawing/2014/main" id="{F73E5E79-2185-DD94-C022-2A799E31728C}"/>
              </a:ext>
            </a:extLst>
          </p:cNvPr>
          <p:cNvSpPr>
            <a:spLocks/>
          </p:cNvSpPr>
          <p:nvPr>
            <p:custDataLst>
              <p:tags r:id="rId32"/>
            </p:custDataLst>
          </p:nvPr>
        </p:nvSpPr>
        <p:spPr bwMode="auto">
          <a:xfrm>
            <a:off x="7362825"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CC571B08-951B-454C-9AB4-02E67463F3B9}" type="datetime'''''''''''2''''''''0''''''2''''''''''''1'''''''''''''''''''">
              <a:rPr lang="de-DE" altLang="en-US" sz="900" smtClean="0"/>
              <a:pPr marL="0" lvl="0" indent="0" algn="ctr">
                <a:spcBef>
                  <a:spcPct val="0"/>
                </a:spcBef>
                <a:spcAft>
                  <a:spcPct val="0"/>
                </a:spcAft>
                <a:buNone/>
              </a:pPr>
              <a:t>2021</a:t>
            </a:fld>
            <a:endParaRPr lang="de-DE" sz="900" dirty="0"/>
          </a:p>
        </p:txBody>
      </p:sp>
      <p:sp>
        <p:nvSpPr>
          <p:cNvPr id="234" name="Textplatzhalter 2">
            <a:extLst>
              <a:ext uri="{FF2B5EF4-FFF2-40B4-BE49-F238E27FC236}">
                <a16:creationId xmlns:a16="http://schemas.microsoft.com/office/drawing/2014/main" id="{D2426B73-4FA5-62AB-E207-171F4F7C245B}"/>
              </a:ext>
            </a:extLst>
          </p:cNvPr>
          <p:cNvSpPr>
            <a:spLocks/>
          </p:cNvSpPr>
          <p:nvPr>
            <p:custDataLst>
              <p:tags r:id="rId33"/>
            </p:custDataLst>
          </p:nvPr>
        </p:nvSpPr>
        <p:spPr bwMode="auto">
          <a:xfrm>
            <a:off x="7989888"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AC9942AC-2C5B-4FE4-B870-43D82856C655}" type="datetime'''''''''''''2''''0''''''''''''''2''''2'''">
              <a:rPr lang="de-DE" altLang="en-US" sz="900" smtClean="0"/>
              <a:pPr marL="0" lvl="0" indent="0" algn="ctr">
                <a:spcBef>
                  <a:spcPct val="0"/>
                </a:spcBef>
                <a:spcAft>
                  <a:spcPct val="0"/>
                </a:spcAft>
                <a:buNone/>
              </a:pPr>
              <a:t>2022</a:t>
            </a:fld>
            <a:endParaRPr lang="de-DE" sz="900" dirty="0"/>
          </a:p>
        </p:txBody>
      </p:sp>
      <p:sp>
        <p:nvSpPr>
          <p:cNvPr id="235" name="Textplatzhalter 2">
            <a:extLst>
              <a:ext uri="{FF2B5EF4-FFF2-40B4-BE49-F238E27FC236}">
                <a16:creationId xmlns:a16="http://schemas.microsoft.com/office/drawing/2014/main" id="{65DA2B84-BA84-1F43-848D-F7C2D9C16BC1}"/>
              </a:ext>
            </a:extLst>
          </p:cNvPr>
          <p:cNvSpPr>
            <a:spLocks/>
          </p:cNvSpPr>
          <p:nvPr>
            <p:custDataLst>
              <p:tags r:id="rId34"/>
            </p:custDataLst>
          </p:nvPr>
        </p:nvSpPr>
        <p:spPr bwMode="auto">
          <a:xfrm>
            <a:off x="8615363"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E940E8D6-4C54-45D5-A7C3-E91418BBF2E6}" type="datetime'''''''''2''''''''''0''''23'">
              <a:rPr lang="de-DE" altLang="en-US" sz="900" smtClean="0"/>
              <a:pPr marL="0" lvl="0" indent="0" algn="ctr">
                <a:spcBef>
                  <a:spcPct val="0"/>
                </a:spcBef>
                <a:spcAft>
                  <a:spcPct val="0"/>
                </a:spcAft>
                <a:buNone/>
              </a:pPr>
              <a:t>2023</a:t>
            </a:fld>
            <a:endParaRPr lang="de-DE" sz="900" dirty="0"/>
          </a:p>
        </p:txBody>
      </p:sp>
      <p:sp>
        <p:nvSpPr>
          <p:cNvPr id="232" name="Textplatzhalter 2">
            <a:extLst>
              <a:ext uri="{FF2B5EF4-FFF2-40B4-BE49-F238E27FC236}">
                <a16:creationId xmlns:a16="http://schemas.microsoft.com/office/drawing/2014/main" id="{AB1FF262-4B8C-8EDF-E693-919FE971EDAF}"/>
              </a:ext>
            </a:extLst>
          </p:cNvPr>
          <p:cNvSpPr>
            <a:spLocks/>
          </p:cNvSpPr>
          <p:nvPr>
            <p:custDataLst>
              <p:tags r:id="rId35"/>
            </p:custDataLst>
          </p:nvPr>
        </p:nvSpPr>
        <p:spPr bwMode="auto">
          <a:xfrm>
            <a:off x="9242425"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D5DDB25B-CC38-4881-9FE7-740B59EB2AAA}" type="datetime'''20''''''''''''''''''''''''''24'''''''''''''''''''''''''''">
              <a:rPr lang="de-DE" altLang="en-US" sz="900" smtClean="0"/>
              <a:pPr marL="0" lvl="0" indent="0" algn="ctr">
                <a:spcBef>
                  <a:spcPct val="0"/>
                </a:spcBef>
                <a:spcAft>
                  <a:spcPct val="0"/>
                </a:spcAft>
                <a:buNone/>
              </a:pPr>
              <a:t>2024</a:t>
            </a:fld>
            <a:endParaRPr lang="de-DE" sz="900" dirty="0"/>
          </a:p>
        </p:txBody>
      </p:sp>
      <p:sp>
        <p:nvSpPr>
          <p:cNvPr id="233" name="Textplatzhalter 2">
            <a:extLst>
              <a:ext uri="{FF2B5EF4-FFF2-40B4-BE49-F238E27FC236}">
                <a16:creationId xmlns:a16="http://schemas.microsoft.com/office/drawing/2014/main" id="{77CE9C28-32D8-BED4-E710-2BBB600D8643}"/>
              </a:ext>
            </a:extLst>
          </p:cNvPr>
          <p:cNvSpPr>
            <a:spLocks/>
          </p:cNvSpPr>
          <p:nvPr>
            <p:custDataLst>
              <p:tags r:id="rId36"/>
            </p:custDataLst>
          </p:nvPr>
        </p:nvSpPr>
        <p:spPr bwMode="auto">
          <a:xfrm>
            <a:off x="9867900" y="5137150"/>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BB4D5D9D-B16A-4A6F-9558-094A8FC0FC9D}" type="datetime'''2''''02''''''''''''''''''''5'''''''''">
              <a:rPr lang="de-DE" altLang="en-US" sz="900" smtClean="0"/>
              <a:pPr marL="0" lvl="0" indent="0" algn="ctr">
                <a:spcBef>
                  <a:spcPct val="0"/>
                </a:spcBef>
                <a:spcAft>
                  <a:spcPct val="0"/>
                </a:spcAft>
                <a:buNone/>
              </a:pPr>
              <a:t>2025</a:t>
            </a:fld>
            <a:endParaRPr lang="de-DE" sz="900" dirty="0"/>
          </a:p>
        </p:txBody>
      </p:sp>
      <p:sp>
        <p:nvSpPr>
          <p:cNvPr id="236" name="Rectangle 235">
            <a:extLst>
              <a:ext uri="{FF2B5EF4-FFF2-40B4-BE49-F238E27FC236}">
                <a16:creationId xmlns:a16="http://schemas.microsoft.com/office/drawing/2014/main" id="{12CE0877-D1F8-A4FE-B7DF-2AEDFE0FD8A6}"/>
              </a:ext>
            </a:extLst>
          </p:cNvPr>
          <p:cNvSpPr/>
          <p:nvPr>
            <p:custDataLst>
              <p:tags r:id="rId37"/>
            </p:custDataLst>
          </p:nvPr>
        </p:nvSpPr>
        <p:spPr bwMode="auto">
          <a:xfrm>
            <a:off x="7146925" y="1800225"/>
            <a:ext cx="160338" cy="120650"/>
          </a:xfrm>
          <a:prstGeom prst="rect">
            <a:avLst/>
          </a:prstGeom>
          <a:solidFill>
            <a:schemeClr val="accent1"/>
          </a:solidFill>
          <a:ln w="25400" cap="flat" cmpd="sng" algn="ctr">
            <a:noFill/>
            <a:prstDash val="solid"/>
            <a:round/>
            <a:headEnd type="none" w="med" len="med"/>
            <a:tailEnd type="none" w="med" len="med"/>
          </a:ln>
          <a:effectLst/>
          <a:extLst>
            <a:ext uri="{91240B29-F687-4F45-9708-019B960494DF}">
              <a14:hiddenLine xmlns:a14="http://schemas.microsoft.com/office/drawing/2010/main" w="25400" cap="flat" cmpd="sng" algn="ctr">
                <a:solidFill>
                  <a:schemeClr val="accent1">
                    <a:shade val="15000"/>
                  </a:schemeClr>
                </a:solidFill>
                <a:prstDash val="solid"/>
                <a:round/>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8" name="Rectangle 237">
            <a:extLst>
              <a:ext uri="{FF2B5EF4-FFF2-40B4-BE49-F238E27FC236}">
                <a16:creationId xmlns:a16="http://schemas.microsoft.com/office/drawing/2014/main" id="{E87DE597-D958-0C56-1B18-77433882FADE}"/>
              </a:ext>
            </a:extLst>
          </p:cNvPr>
          <p:cNvSpPr/>
          <p:nvPr>
            <p:custDataLst>
              <p:tags r:id="rId38"/>
            </p:custDataLst>
          </p:nvPr>
        </p:nvSpPr>
        <p:spPr bwMode="auto">
          <a:xfrm>
            <a:off x="8231188" y="1800225"/>
            <a:ext cx="160338" cy="120650"/>
          </a:xfrm>
          <a:prstGeom prst="rect">
            <a:avLst/>
          </a:prstGeom>
          <a:solidFill>
            <a:schemeClr val="accent2"/>
          </a:solidFill>
          <a:ln w="25400" cap="flat" cmpd="sng" algn="ctr">
            <a:noFill/>
            <a:prstDash val="solid"/>
            <a:round/>
            <a:headEnd type="none" w="med" len="med"/>
            <a:tailEnd type="none" w="med" len="med"/>
          </a:ln>
          <a:effectLst/>
          <a:extLst>
            <a:ext uri="{91240B29-F687-4F45-9708-019B960494DF}">
              <a14:hiddenLine xmlns:a14="http://schemas.microsoft.com/office/drawing/2010/main" w="25400" cap="flat" cmpd="sng" algn="ctr">
                <a:solidFill>
                  <a:schemeClr val="accent1">
                    <a:shade val="15000"/>
                  </a:schemeClr>
                </a:solidFill>
                <a:prstDash val="solid"/>
                <a:round/>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0" name="Textplatzhalter 2">
            <a:extLst>
              <a:ext uri="{FF2B5EF4-FFF2-40B4-BE49-F238E27FC236}">
                <a16:creationId xmlns:a16="http://schemas.microsoft.com/office/drawing/2014/main" id="{F0FB24EF-DAA8-E827-CD89-A77AF75D4873}"/>
              </a:ext>
            </a:extLst>
          </p:cNvPr>
          <p:cNvSpPr>
            <a:spLocks/>
          </p:cNvSpPr>
          <p:nvPr>
            <p:custDataLst>
              <p:tags r:id="rId39"/>
            </p:custDataLst>
          </p:nvPr>
        </p:nvSpPr>
        <p:spPr bwMode="auto">
          <a:xfrm>
            <a:off x="7358063" y="1797051"/>
            <a:ext cx="7715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spcBef>
                <a:spcPct val="0"/>
              </a:spcBef>
              <a:spcAft>
                <a:spcPct val="0"/>
              </a:spcAft>
              <a:buNone/>
            </a:pPr>
            <a:fld id="{57B76131-7F45-4280-A864-AE9042B7B7CB}" type="datetime'''K''''''as''se''''''n''''''''b''''''e''''st''''''a''n''''''d'">
              <a:rPr lang="de-DE" altLang="en-US" sz="900" smtClean="0"/>
              <a:pPr/>
              <a:t>Kassenbestand</a:t>
            </a:fld>
            <a:endParaRPr lang="de-DE" sz="900" dirty="0"/>
          </a:p>
        </p:txBody>
      </p:sp>
      <p:sp>
        <p:nvSpPr>
          <p:cNvPr id="241" name="Textplatzhalter 2">
            <a:extLst>
              <a:ext uri="{FF2B5EF4-FFF2-40B4-BE49-F238E27FC236}">
                <a16:creationId xmlns:a16="http://schemas.microsoft.com/office/drawing/2014/main" id="{53870E48-FC42-E64B-CBA9-3FF24F06BEED}"/>
              </a:ext>
            </a:extLst>
          </p:cNvPr>
          <p:cNvSpPr>
            <a:spLocks/>
          </p:cNvSpPr>
          <p:nvPr>
            <p:custDataLst>
              <p:tags r:id="rId40"/>
            </p:custDataLst>
          </p:nvPr>
        </p:nvSpPr>
        <p:spPr bwMode="auto">
          <a:xfrm>
            <a:off x="8442325" y="1797051"/>
            <a:ext cx="10890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spcBef>
                <a:spcPct val="0"/>
              </a:spcBef>
              <a:spcAft>
                <a:spcPct val="0"/>
              </a:spcAft>
              <a:buNone/>
            </a:pPr>
            <a:fld id="{4493BC5E-99F2-4A49-932A-471EBDBDFE92}" type="datetime'N''e''''''''t'' ''''D''eb''''t ''''/ ''''(Ne''''t'' ''C''ash)'">
              <a:rPr lang="de-DE" altLang="en-US" sz="900" smtClean="0"/>
              <a:pPr/>
              <a:t>Net Debt / (Net Cash)</a:t>
            </a:fld>
            <a:endParaRPr lang="de-DE" sz="900" dirty="0"/>
          </a:p>
        </p:txBody>
      </p:sp>
      <p:sp>
        <p:nvSpPr>
          <p:cNvPr id="421" name="Rectangle 420">
            <a:extLst>
              <a:ext uri="{FF2B5EF4-FFF2-40B4-BE49-F238E27FC236}">
                <a16:creationId xmlns:a16="http://schemas.microsoft.com/office/drawing/2014/main" id="{BE7C10D5-6CBA-A060-4872-AF98B748263F}"/>
              </a:ext>
            </a:extLst>
          </p:cNvPr>
          <p:cNvSpPr/>
          <p:nvPr/>
        </p:nvSpPr>
        <p:spPr>
          <a:xfrm>
            <a:off x="669925" y="5431051"/>
            <a:ext cx="9644775" cy="1229897"/>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t">
            <a:noAutofit/>
          </a:bodyPr>
          <a:lstStyle/>
          <a:p>
            <a:pPr marL="171450" lvl="1" indent="-171450" defTabSz="447675">
              <a:spcAft>
                <a:spcPts val="600"/>
              </a:spcAft>
              <a:buClr>
                <a:schemeClr val="accent1"/>
              </a:buClr>
              <a:buSzPct val="100000"/>
              <a:buFont typeface="Wingdings" panose="05000000000000000000" pitchFamily="2" charset="2"/>
              <a:buChar char=""/>
              <a:tabLst>
                <a:tab pos="1162050" algn="l"/>
              </a:tabLst>
              <a:defRPr/>
            </a:pPr>
            <a:r>
              <a:rPr lang="de-DE" sz="900" kern="0" dirty="0">
                <a:solidFill>
                  <a:schemeClr val="tx1"/>
                </a:solidFill>
                <a:latin typeface="+mn-lt"/>
              </a:rPr>
              <a:t>Die Erholung der Rohertragsmarge wird maßgeblich durch das Energiegeschäft getragen: Bei SWK ENERGIE stützten Kundenwachstum, die Übernahme eines Gas-Kundenportfolios</a:t>
            </a:r>
            <a:r>
              <a:rPr lang="de-DE" sz="900" kern="0" baseline="30000" dirty="0">
                <a:solidFill>
                  <a:schemeClr val="tx1"/>
                </a:solidFill>
                <a:latin typeface="+mn-lt"/>
              </a:rPr>
              <a:t>1)</a:t>
            </a:r>
            <a:r>
              <a:rPr lang="de-DE" sz="900" kern="0" dirty="0">
                <a:solidFill>
                  <a:schemeClr val="tx1"/>
                </a:solidFill>
                <a:latin typeface="+mn-lt"/>
              </a:rPr>
              <a:t> und Preisanpassungen die Marge, </a:t>
            </a:r>
            <a:r>
              <a:rPr lang="de-DE" sz="900" kern="0" dirty="0" err="1">
                <a:solidFill>
                  <a:schemeClr val="tx1"/>
                </a:solidFill>
                <a:latin typeface="+mn-lt"/>
              </a:rPr>
              <a:t>lekker</a:t>
            </a:r>
            <a:r>
              <a:rPr lang="de-DE" sz="900" kern="0" dirty="0">
                <a:solidFill>
                  <a:schemeClr val="tx1"/>
                </a:solidFill>
                <a:latin typeface="+mn-lt"/>
              </a:rPr>
              <a:t> Energie profitierte zusätzlich von niedrigeren Beschaffungspreisen sowie gezielter Tarif- und Vertriebssteuerung</a:t>
            </a:r>
          </a:p>
          <a:p>
            <a:pPr marL="171450" lvl="1" indent="-171450" defTabSz="447675">
              <a:spcAft>
                <a:spcPts val="600"/>
              </a:spcAft>
              <a:buClr>
                <a:schemeClr val="accent1"/>
              </a:buClr>
              <a:buSzPct val="100000"/>
              <a:buFont typeface="Wingdings" panose="05000000000000000000" pitchFamily="2" charset="2"/>
              <a:buChar char=""/>
              <a:tabLst>
                <a:tab pos="1162050" algn="l"/>
              </a:tabLst>
              <a:defRPr/>
            </a:pPr>
            <a:r>
              <a:rPr lang="de-DE" sz="900" kern="0" dirty="0">
                <a:solidFill>
                  <a:schemeClr val="tx1"/>
                </a:solidFill>
                <a:latin typeface="+mn-lt"/>
              </a:rPr>
              <a:t>Der Cash Flow 2025 wird vor allem durch den deutlichen Anstieg der Sachanlageinvestitionen</a:t>
            </a:r>
            <a:r>
              <a:rPr lang="de-DE" sz="900" kern="0" baseline="30000" dirty="0">
                <a:solidFill>
                  <a:schemeClr val="tx1"/>
                </a:solidFill>
                <a:latin typeface="+mn-lt"/>
              </a:rPr>
              <a:t>2</a:t>
            </a:r>
            <a:r>
              <a:rPr lang="de-DE" sz="900" kern="0" dirty="0">
                <a:solidFill>
                  <a:schemeClr val="tx1"/>
                </a:solidFill>
                <a:latin typeface="+mn-lt"/>
              </a:rPr>
              <a:t> auf 141,9 Mio</a:t>
            </a:r>
            <a:r>
              <a:rPr lang="de-DE" sz="900" kern="0" dirty="0">
                <a:solidFill>
                  <a:schemeClr val="tx1"/>
                </a:solidFill>
              </a:rPr>
              <a:t>. EUR sowie </a:t>
            </a:r>
            <a:r>
              <a:rPr lang="de-DE" sz="900" kern="0" dirty="0">
                <a:solidFill>
                  <a:schemeClr val="tx1"/>
                </a:solidFill>
                <a:latin typeface="+mn-lt"/>
              </a:rPr>
              <a:t>der Finanzanlageinvestitionen auf 46,6 Mio</a:t>
            </a:r>
            <a:r>
              <a:rPr lang="de-DE" sz="900" kern="0" dirty="0">
                <a:solidFill>
                  <a:schemeClr val="tx1"/>
                </a:solidFill>
              </a:rPr>
              <a:t>. EUR belastet</a:t>
            </a:r>
            <a:r>
              <a:rPr lang="de-DE" sz="900" kern="0" dirty="0">
                <a:solidFill>
                  <a:schemeClr val="tx1"/>
                </a:solidFill>
                <a:latin typeface="+mn-lt"/>
              </a:rPr>
              <a:t>, insbesondere im Zusammenhang mit Netz-, Entsorgungs- und Verkehrsinfrastruktur sowie Beteiligungen. Demgegenüber stehen Einzahlungen aufgrund von Finanzmittelanlagen im Rahmen der kurzfristigen Finanzdisposition von 80,0 Mio. EUR</a:t>
            </a:r>
          </a:p>
          <a:p>
            <a:pPr marL="171450" lvl="1" indent="-171450" defTabSz="447675">
              <a:spcAft>
                <a:spcPts val="600"/>
              </a:spcAft>
              <a:buClr>
                <a:schemeClr val="accent1"/>
              </a:buClr>
              <a:buSzPct val="100000"/>
              <a:buFont typeface="Wingdings" panose="05000000000000000000" pitchFamily="2" charset="2"/>
              <a:buChar char=""/>
              <a:tabLst>
                <a:tab pos="1162050" algn="l"/>
              </a:tabLst>
              <a:defRPr/>
            </a:pPr>
            <a:r>
              <a:rPr lang="de-DE" sz="900" kern="0" dirty="0">
                <a:solidFill>
                  <a:schemeClr val="tx1"/>
                </a:solidFill>
                <a:latin typeface="+mn-lt"/>
              </a:rPr>
              <a:t>Der Rückgang der Kasse wird auch durch 30,1 </a:t>
            </a:r>
            <a:r>
              <a:rPr lang="de-DE" sz="900" kern="0" dirty="0">
                <a:solidFill>
                  <a:schemeClr val="tx1"/>
                </a:solidFill>
              </a:rPr>
              <a:t>Mio. EUR </a:t>
            </a:r>
            <a:r>
              <a:rPr lang="de-DE" sz="900" kern="0" dirty="0">
                <a:solidFill>
                  <a:schemeClr val="tx1"/>
                </a:solidFill>
                <a:latin typeface="+mn-lt"/>
              </a:rPr>
              <a:t>Dividenden</a:t>
            </a:r>
            <a:r>
              <a:rPr lang="de-DE" sz="900" kern="0" dirty="0">
                <a:solidFill>
                  <a:schemeClr val="tx1"/>
                </a:solidFill>
              </a:rPr>
              <a:t>zahlungen </a:t>
            </a:r>
            <a:r>
              <a:rPr lang="de-DE" sz="900" kern="0" dirty="0">
                <a:solidFill>
                  <a:schemeClr val="tx1"/>
                </a:solidFill>
                <a:latin typeface="+mn-lt"/>
              </a:rPr>
              <a:t>verursacht</a:t>
            </a:r>
          </a:p>
        </p:txBody>
      </p:sp>
      <p:sp>
        <p:nvSpPr>
          <p:cNvPr id="422" name="Rectangle 421">
            <a:extLst>
              <a:ext uri="{FF2B5EF4-FFF2-40B4-BE49-F238E27FC236}">
                <a16:creationId xmlns:a16="http://schemas.microsoft.com/office/drawing/2014/main" id="{7F0FAF0F-9B01-8394-4E59-FD0560F3B56A}"/>
              </a:ext>
            </a:extLst>
          </p:cNvPr>
          <p:cNvSpPr/>
          <p:nvPr/>
        </p:nvSpPr>
        <p:spPr>
          <a:xfrm rot="16200000">
            <a:off x="-123051" y="5932252"/>
            <a:ext cx="1229899" cy="227499"/>
          </a:xfrm>
          <a:prstGeom prst="rect">
            <a:avLst/>
          </a:prstGeom>
          <a:solidFill>
            <a:schemeClr val="accent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050" b="1" dirty="0"/>
              <a:t>Kommentar</a:t>
            </a:r>
          </a:p>
        </p:txBody>
      </p:sp>
      <p:sp>
        <p:nvSpPr>
          <p:cNvPr id="467" name="Oval 466">
            <a:extLst>
              <a:ext uri="{FF2B5EF4-FFF2-40B4-BE49-F238E27FC236}">
                <a16:creationId xmlns:a16="http://schemas.microsoft.com/office/drawing/2014/main" id="{7FF01603-9A99-E9F3-7F9F-BC4297CC8C0C}"/>
              </a:ext>
            </a:extLst>
          </p:cNvPr>
          <p:cNvSpPr/>
          <p:nvPr/>
        </p:nvSpPr>
        <p:spPr>
          <a:xfrm>
            <a:off x="378148" y="2268463"/>
            <a:ext cx="616125" cy="234206"/>
          </a:xfrm>
          <a:prstGeom prst="ellipse">
            <a:avLst/>
          </a:prstGeom>
          <a:solidFill>
            <a:srgbClr val="718BE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900" b="1" dirty="0"/>
              <a:t>30,7%</a:t>
            </a:r>
          </a:p>
        </p:txBody>
      </p:sp>
      <p:sp>
        <p:nvSpPr>
          <p:cNvPr id="468" name="Oval 467">
            <a:extLst>
              <a:ext uri="{FF2B5EF4-FFF2-40B4-BE49-F238E27FC236}">
                <a16:creationId xmlns:a16="http://schemas.microsoft.com/office/drawing/2014/main" id="{A275B13B-5D18-4FBA-E9B0-22B69BF17BAA}"/>
              </a:ext>
            </a:extLst>
          </p:cNvPr>
          <p:cNvSpPr/>
          <p:nvPr/>
        </p:nvSpPr>
        <p:spPr>
          <a:xfrm>
            <a:off x="1016205" y="2416001"/>
            <a:ext cx="616125" cy="234206"/>
          </a:xfrm>
          <a:prstGeom prst="ellipse">
            <a:avLst/>
          </a:prstGeom>
          <a:solidFill>
            <a:srgbClr val="718BE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900" b="1" dirty="0"/>
              <a:t>27,7%</a:t>
            </a:r>
          </a:p>
        </p:txBody>
      </p:sp>
      <p:sp>
        <p:nvSpPr>
          <p:cNvPr id="469" name="Oval 468">
            <a:extLst>
              <a:ext uri="{FF2B5EF4-FFF2-40B4-BE49-F238E27FC236}">
                <a16:creationId xmlns:a16="http://schemas.microsoft.com/office/drawing/2014/main" id="{0B304960-7844-BA2E-73B7-521D839D7E22}"/>
              </a:ext>
            </a:extLst>
          </p:cNvPr>
          <p:cNvSpPr/>
          <p:nvPr/>
        </p:nvSpPr>
        <p:spPr>
          <a:xfrm>
            <a:off x="1654262" y="2700511"/>
            <a:ext cx="616125" cy="234206"/>
          </a:xfrm>
          <a:prstGeom prst="ellipse">
            <a:avLst/>
          </a:prstGeom>
          <a:solidFill>
            <a:srgbClr val="718BE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900" b="1" dirty="0"/>
              <a:t>22,0%</a:t>
            </a:r>
          </a:p>
        </p:txBody>
      </p:sp>
      <p:sp>
        <p:nvSpPr>
          <p:cNvPr id="473" name="Oval 472">
            <a:extLst>
              <a:ext uri="{FF2B5EF4-FFF2-40B4-BE49-F238E27FC236}">
                <a16:creationId xmlns:a16="http://schemas.microsoft.com/office/drawing/2014/main" id="{675C2C62-92A3-220C-1026-825D50121F54}"/>
              </a:ext>
            </a:extLst>
          </p:cNvPr>
          <p:cNvSpPr/>
          <p:nvPr/>
        </p:nvSpPr>
        <p:spPr>
          <a:xfrm>
            <a:off x="2292319" y="2826345"/>
            <a:ext cx="616125" cy="234206"/>
          </a:xfrm>
          <a:prstGeom prst="ellipse">
            <a:avLst/>
          </a:prstGeom>
          <a:solidFill>
            <a:srgbClr val="718BE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900" b="1" dirty="0"/>
              <a:t>20,4%</a:t>
            </a:r>
          </a:p>
        </p:txBody>
      </p:sp>
      <p:sp>
        <p:nvSpPr>
          <p:cNvPr id="474" name="Oval 473">
            <a:extLst>
              <a:ext uri="{FF2B5EF4-FFF2-40B4-BE49-F238E27FC236}">
                <a16:creationId xmlns:a16="http://schemas.microsoft.com/office/drawing/2014/main" id="{DC8BC861-FBE5-DAD5-17D8-A3A947450745}"/>
              </a:ext>
            </a:extLst>
          </p:cNvPr>
          <p:cNvSpPr/>
          <p:nvPr/>
        </p:nvSpPr>
        <p:spPr>
          <a:xfrm>
            <a:off x="2930375" y="2628503"/>
            <a:ext cx="616125" cy="234206"/>
          </a:xfrm>
          <a:prstGeom prst="ellipse">
            <a:avLst/>
          </a:prstGeom>
          <a:solidFill>
            <a:srgbClr val="718BE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900" b="1" dirty="0"/>
              <a:t>22,9%</a:t>
            </a:r>
          </a:p>
        </p:txBody>
      </p:sp>
      <p:sp>
        <p:nvSpPr>
          <p:cNvPr id="521" name="Rectangle 520">
            <a:extLst>
              <a:ext uri="{FF2B5EF4-FFF2-40B4-BE49-F238E27FC236}">
                <a16:creationId xmlns:a16="http://schemas.microsoft.com/office/drawing/2014/main" id="{B448F67F-6657-1144-7136-365D46113EBA}"/>
              </a:ext>
            </a:extLst>
          </p:cNvPr>
          <p:cNvSpPr/>
          <p:nvPr>
            <p:custDataLst>
              <p:tags r:id="rId41"/>
            </p:custDataLst>
          </p:nvPr>
        </p:nvSpPr>
        <p:spPr bwMode="auto">
          <a:xfrm>
            <a:off x="3762375" y="1800225"/>
            <a:ext cx="160338" cy="120650"/>
          </a:xfrm>
          <a:prstGeom prst="rect">
            <a:avLst/>
          </a:prstGeom>
          <a:solidFill>
            <a:schemeClr val="accent1"/>
          </a:solidFill>
          <a:ln w="25400" cap="flat" cmpd="sng" algn="ctr">
            <a:noFill/>
            <a:prstDash val="solid"/>
            <a:round/>
            <a:headEnd type="none" w="med" len="med"/>
            <a:tailEnd type="none" w="med" len="med"/>
          </a:ln>
          <a:effectLst/>
          <a:extLst>
            <a:ext uri="{91240B29-F687-4F45-9708-019B960494DF}">
              <a14:hiddenLine xmlns:a14="http://schemas.microsoft.com/office/drawing/2010/main" w="25400" cap="flat" cmpd="sng" algn="ctr">
                <a:solidFill>
                  <a:schemeClr val="accent1">
                    <a:shade val="15000"/>
                  </a:schemeClr>
                </a:solidFill>
                <a:prstDash val="solid"/>
                <a:round/>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22" name="Rectangle 521">
            <a:extLst>
              <a:ext uri="{FF2B5EF4-FFF2-40B4-BE49-F238E27FC236}">
                <a16:creationId xmlns:a16="http://schemas.microsoft.com/office/drawing/2014/main" id="{7157783F-0FD7-B013-850E-90279D115521}"/>
              </a:ext>
            </a:extLst>
          </p:cNvPr>
          <p:cNvSpPr/>
          <p:nvPr>
            <p:custDataLst>
              <p:tags r:id="rId42"/>
            </p:custDataLst>
          </p:nvPr>
        </p:nvSpPr>
        <p:spPr bwMode="auto">
          <a:xfrm>
            <a:off x="3762375" y="1987550"/>
            <a:ext cx="160338" cy="120650"/>
          </a:xfrm>
          <a:prstGeom prst="rect">
            <a:avLst/>
          </a:prstGeom>
          <a:solidFill>
            <a:schemeClr val="accent2"/>
          </a:solidFill>
          <a:ln w="25400" cap="flat" cmpd="sng" algn="ctr">
            <a:noFill/>
            <a:prstDash val="solid"/>
            <a:round/>
            <a:headEnd type="none" w="med" len="med"/>
            <a:tailEnd type="none" w="med" len="med"/>
          </a:ln>
          <a:effectLst/>
          <a:extLst>
            <a:ext uri="{91240B29-F687-4F45-9708-019B960494DF}">
              <a14:hiddenLine xmlns:a14="http://schemas.microsoft.com/office/drawing/2010/main" w="25400" cap="flat" cmpd="sng" algn="ctr">
                <a:solidFill>
                  <a:schemeClr val="accent1">
                    <a:shade val="15000"/>
                  </a:schemeClr>
                </a:solidFill>
                <a:prstDash val="solid"/>
                <a:round/>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23" name="Rectangle 522">
            <a:extLst>
              <a:ext uri="{FF2B5EF4-FFF2-40B4-BE49-F238E27FC236}">
                <a16:creationId xmlns:a16="http://schemas.microsoft.com/office/drawing/2014/main" id="{4102F5B5-C441-6B72-3044-160EBF68A9FB}"/>
              </a:ext>
            </a:extLst>
          </p:cNvPr>
          <p:cNvSpPr/>
          <p:nvPr>
            <p:custDataLst>
              <p:tags r:id="rId43"/>
            </p:custDataLst>
          </p:nvPr>
        </p:nvSpPr>
        <p:spPr bwMode="auto">
          <a:xfrm>
            <a:off x="5148263" y="1800225"/>
            <a:ext cx="160338" cy="120650"/>
          </a:xfrm>
          <a:prstGeom prst="rect">
            <a:avLst/>
          </a:prstGeom>
          <a:solidFill>
            <a:schemeClr val="accent3"/>
          </a:solidFill>
          <a:ln w="25400" cap="flat" cmpd="sng" algn="ctr">
            <a:noFill/>
            <a:prstDash val="solid"/>
            <a:round/>
            <a:headEnd type="none" w="med" len="med"/>
            <a:tailEnd type="none" w="med" len="med"/>
          </a:ln>
          <a:effectLst/>
          <a:extLst>
            <a:ext uri="{91240B29-F687-4F45-9708-019B960494DF}">
              <a14:hiddenLine xmlns:a14="http://schemas.microsoft.com/office/drawing/2010/main" w="25400" cap="flat" cmpd="sng" algn="ctr">
                <a:solidFill>
                  <a:schemeClr val="accent1">
                    <a:shade val="15000"/>
                  </a:schemeClr>
                </a:solidFill>
                <a:prstDash val="solid"/>
                <a:round/>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9" name="Textplatzhalter 2">
            <a:extLst>
              <a:ext uri="{FF2B5EF4-FFF2-40B4-BE49-F238E27FC236}">
                <a16:creationId xmlns:a16="http://schemas.microsoft.com/office/drawing/2014/main" id="{98BCBA89-6436-A54A-BF06-E3B9B061A65B}"/>
              </a:ext>
            </a:extLst>
          </p:cNvPr>
          <p:cNvSpPr>
            <a:spLocks/>
          </p:cNvSpPr>
          <p:nvPr>
            <p:custDataLst>
              <p:tags r:id="rId44"/>
            </p:custDataLst>
          </p:nvPr>
        </p:nvSpPr>
        <p:spPr bwMode="auto">
          <a:xfrm>
            <a:off x="3973513" y="1797051"/>
            <a:ext cx="10731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spcBef>
                <a:spcPct val="0"/>
              </a:spcBef>
              <a:spcAft>
                <a:spcPct val="0"/>
              </a:spcAft>
              <a:buNone/>
            </a:pPr>
            <a:fld id="{DBC5F058-48C5-406E-9C86-3FFEA364B20B}" type="datetime'O''''per''atin''g ''''''C''''a''sh Flo''''w'''''''''''''">
              <a:rPr lang="de-DE" altLang="en-US" sz="900" smtClean="0">
                <a:effectLst/>
              </a:rPr>
              <a:pPr/>
              <a:t>Operating Cash Flow</a:t>
            </a:fld>
            <a:endParaRPr lang="de-DE" sz="900" dirty="0"/>
          </a:p>
        </p:txBody>
      </p:sp>
      <p:sp>
        <p:nvSpPr>
          <p:cNvPr id="518" name="Textplatzhalter 2">
            <a:extLst>
              <a:ext uri="{FF2B5EF4-FFF2-40B4-BE49-F238E27FC236}">
                <a16:creationId xmlns:a16="http://schemas.microsoft.com/office/drawing/2014/main" id="{3303D7E2-8961-7045-30E2-EC9016F43B80}"/>
              </a:ext>
            </a:extLst>
          </p:cNvPr>
          <p:cNvSpPr>
            <a:spLocks/>
          </p:cNvSpPr>
          <p:nvPr>
            <p:custDataLst>
              <p:tags r:id="rId45"/>
            </p:custDataLst>
          </p:nvPr>
        </p:nvSpPr>
        <p:spPr bwMode="auto">
          <a:xfrm>
            <a:off x="3973513" y="1984375"/>
            <a:ext cx="10318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spcBef>
                <a:spcPct val="0"/>
              </a:spcBef>
              <a:spcAft>
                <a:spcPct val="0"/>
              </a:spcAft>
              <a:buNone/>
            </a:pPr>
            <a:fld id="{DC5DA878-FD99-41C0-B186-2978BFC289D0}" type="datetime'''Inves''''''ti''n''g'''''''' ''''''Ca''''''s''h Flo''w'">
              <a:rPr lang="de-DE" altLang="en-US" sz="900" smtClean="0">
                <a:effectLst/>
              </a:rPr>
              <a:pPr/>
              <a:t>Investing Cash Flow</a:t>
            </a:fld>
            <a:endParaRPr lang="de-DE" sz="900" dirty="0"/>
          </a:p>
        </p:txBody>
      </p:sp>
      <p:sp>
        <p:nvSpPr>
          <p:cNvPr id="516" name="Textplatzhalter 2">
            <a:extLst>
              <a:ext uri="{FF2B5EF4-FFF2-40B4-BE49-F238E27FC236}">
                <a16:creationId xmlns:a16="http://schemas.microsoft.com/office/drawing/2014/main" id="{E5D0CB01-1B3F-0F50-BD0E-F43E64D90DA5}"/>
              </a:ext>
            </a:extLst>
          </p:cNvPr>
          <p:cNvSpPr>
            <a:spLocks/>
          </p:cNvSpPr>
          <p:nvPr>
            <p:custDataLst>
              <p:tags r:id="rId46"/>
            </p:custDataLst>
          </p:nvPr>
        </p:nvSpPr>
        <p:spPr bwMode="auto">
          <a:xfrm>
            <a:off x="5359400" y="1797051"/>
            <a:ext cx="10652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spcBef>
                <a:spcPct val="0"/>
              </a:spcBef>
              <a:spcAft>
                <a:spcPct val="0"/>
              </a:spcAft>
              <a:buNone/>
            </a:pPr>
            <a:fld id="{590E4E05-F0D8-4615-8C75-4EFC006821F2}" type="datetime'''Fi''''''''''na''''''n''ci''ng ''Ca''s''h ''F''''''l''o''w'''">
              <a:rPr lang="de-DE" altLang="en-US" sz="900" smtClean="0">
                <a:effectLst/>
              </a:rPr>
              <a:pPr/>
              <a:t>Financing Cash Flow</a:t>
            </a:fld>
            <a:endParaRPr lang="de-DE" sz="900" dirty="0"/>
          </a:p>
        </p:txBody>
      </p:sp>
      <p:sp>
        <p:nvSpPr>
          <p:cNvPr id="543" name="Oval 542">
            <a:extLst>
              <a:ext uri="{FF2B5EF4-FFF2-40B4-BE49-F238E27FC236}">
                <a16:creationId xmlns:a16="http://schemas.microsoft.com/office/drawing/2014/main" id="{381BB79A-D06B-F5EF-7C83-F2E900D04EF4}"/>
              </a:ext>
            </a:extLst>
          </p:cNvPr>
          <p:cNvSpPr/>
          <p:nvPr/>
        </p:nvSpPr>
        <p:spPr>
          <a:xfrm>
            <a:off x="7142748" y="2384891"/>
            <a:ext cx="616125" cy="234206"/>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900" b="1" dirty="0"/>
              <a:t>43,4%</a:t>
            </a:r>
          </a:p>
        </p:txBody>
      </p:sp>
      <p:sp>
        <p:nvSpPr>
          <p:cNvPr id="544" name="Oval 543">
            <a:extLst>
              <a:ext uri="{FF2B5EF4-FFF2-40B4-BE49-F238E27FC236}">
                <a16:creationId xmlns:a16="http://schemas.microsoft.com/office/drawing/2014/main" id="{B49F8B84-D2FE-CCB9-B1DD-75070ACEB7ED}"/>
              </a:ext>
            </a:extLst>
          </p:cNvPr>
          <p:cNvSpPr/>
          <p:nvPr/>
        </p:nvSpPr>
        <p:spPr>
          <a:xfrm>
            <a:off x="7780805" y="2457591"/>
            <a:ext cx="616125" cy="234206"/>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900" b="1" dirty="0"/>
              <a:t>42,8%</a:t>
            </a:r>
          </a:p>
        </p:txBody>
      </p:sp>
      <p:sp>
        <p:nvSpPr>
          <p:cNvPr id="545" name="Oval 544">
            <a:extLst>
              <a:ext uri="{FF2B5EF4-FFF2-40B4-BE49-F238E27FC236}">
                <a16:creationId xmlns:a16="http://schemas.microsoft.com/office/drawing/2014/main" id="{3763210C-60DC-F2C8-83BB-81ED484088AF}"/>
              </a:ext>
            </a:extLst>
          </p:cNvPr>
          <p:cNvSpPr/>
          <p:nvPr/>
        </p:nvSpPr>
        <p:spPr>
          <a:xfrm>
            <a:off x="8418862" y="2628503"/>
            <a:ext cx="616125" cy="234206"/>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900" b="1" dirty="0"/>
              <a:t>40,2%</a:t>
            </a:r>
          </a:p>
        </p:txBody>
      </p:sp>
      <p:sp>
        <p:nvSpPr>
          <p:cNvPr id="546" name="Oval 545">
            <a:extLst>
              <a:ext uri="{FF2B5EF4-FFF2-40B4-BE49-F238E27FC236}">
                <a16:creationId xmlns:a16="http://schemas.microsoft.com/office/drawing/2014/main" id="{11D79FAB-038A-1326-A0F7-E42FB4C44DC6}"/>
              </a:ext>
            </a:extLst>
          </p:cNvPr>
          <p:cNvSpPr/>
          <p:nvPr/>
        </p:nvSpPr>
        <p:spPr>
          <a:xfrm>
            <a:off x="9056919" y="2268463"/>
            <a:ext cx="616125" cy="234206"/>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900" b="1" dirty="0"/>
              <a:t>44,0%</a:t>
            </a:r>
          </a:p>
        </p:txBody>
      </p:sp>
      <p:sp>
        <p:nvSpPr>
          <p:cNvPr id="547" name="Oval 546">
            <a:extLst>
              <a:ext uri="{FF2B5EF4-FFF2-40B4-BE49-F238E27FC236}">
                <a16:creationId xmlns:a16="http://schemas.microsoft.com/office/drawing/2014/main" id="{9E0273C8-11F7-3F10-1AF8-3AEC978F75F8}"/>
              </a:ext>
            </a:extLst>
          </p:cNvPr>
          <p:cNvSpPr/>
          <p:nvPr/>
        </p:nvSpPr>
        <p:spPr>
          <a:xfrm>
            <a:off x="9694975" y="2322289"/>
            <a:ext cx="616125" cy="234206"/>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900" b="1" dirty="0"/>
              <a:t>43,5%</a:t>
            </a:r>
          </a:p>
        </p:txBody>
      </p:sp>
      <p:grpSp>
        <p:nvGrpSpPr>
          <p:cNvPr id="458" name="Group 457">
            <a:extLst>
              <a:ext uri="{FF2B5EF4-FFF2-40B4-BE49-F238E27FC236}">
                <a16:creationId xmlns:a16="http://schemas.microsoft.com/office/drawing/2014/main" id="{DE1CA404-6931-3B6E-1808-18E1A1256871}"/>
              </a:ext>
            </a:extLst>
          </p:cNvPr>
          <p:cNvGrpSpPr/>
          <p:nvPr/>
        </p:nvGrpSpPr>
        <p:grpSpPr>
          <a:xfrm>
            <a:off x="1960662" y="1757781"/>
            <a:ext cx="1436483" cy="234206"/>
            <a:chOff x="1960662" y="1757781"/>
            <a:chExt cx="1436483" cy="234206"/>
          </a:xfrm>
        </p:grpSpPr>
        <p:sp>
          <p:nvSpPr>
            <p:cNvPr id="551" name="Oval 550">
              <a:extLst>
                <a:ext uri="{FF2B5EF4-FFF2-40B4-BE49-F238E27FC236}">
                  <a16:creationId xmlns:a16="http://schemas.microsoft.com/office/drawing/2014/main" id="{580840C3-4A5C-7C8E-9E7A-86974A627EF9}"/>
                </a:ext>
              </a:extLst>
            </p:cNvPr>
            <p:cNvSpPr/>
            <p:nvPr/>
          </p:nvSpPr>
          <p:spPr>
            <a:xfrm>
              <a:off x="1960662" y="1816519"/>
              <a:ext cx="309358" cy="117594"/>
            </a:xfrm>
            <a:prstGeom prst="ellipse">
              <a:avLst/>
            </a:prstGeom>
            <a:solidFill>
              <a:srgbClr val="718BE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900" b="1" dirty="0"/>
            </a:p>
          </p:txBody>
        </p:sp>
        <p:sp>
          <p:nvSpPr>
            <p:cNvPr id="560" name="Rectangle 559">
              <a:extLst>
                <a:ext uri="{FF2B5EF4-FFF2-40B4-BE49-F238E27FC236}">
                  <a16:creationId xmlns:a16="http://schemas.microsoft.com/office/drawing/2014/main" id="{DA5FC722-EFD4-8971-09AD-092EFF06DF2C}"/>
                </a:ext>
              </a:extLst>
            </p:cNvPr>
            <p:cNvSpPr/>
            <p:nvPr/>
          </p:nvSpPr>
          <p:spPr>
            <a:xfrm>
              <a:off x="2350982" y="1757781"/>
              <a:ext cx="1046163" cy="23420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de-DE" sz="900" dirty="0">
                  <a:solidFill>
                    <a:schemeClr val="tx1"/>
                  </a:solidFill>
                </a:rPr>
                <a:t>Rohertrag-Marge</a:t>
              </a:r>
            </a:p>
          </p:txBody>
        </p:sp>
      </p:grpSp>
      <p:grpSp>
        <p:nvGrpSpPr>
          <p:cNvPr id="459" name="Group 458">
            <a:extLst>
              <a:ext uri="{FF2B5EF4-FFF2-40B4-BE49-F238E27FC236}">
                <a16:creationId xmlns:a16="http://schemas.microsoft.com/office/drawing/2014/main" id="{2BD6B259-2D32-BF8D-E3C0-40400DACA76F}"/>
              </a:ext>
            </a:extLst>
          </p:cNvPr>
          <p:cNvGrpSpPr/>
          <p:nvPr/>
        </p:nvGrpSpPr>
        <p:grpSpPr>
          <a:xfrm>
            <a:off x="391596" y="1958975"/>
            <a:ext cx="1436483" cy="234206"/>
            <a:chOff x="1911692" y="1958975"/>
            <a:chExt cx="1436483" cy="234206"/>
          </a:xfrm>
        </p:grpSpPr>
        <p:sp>
          <p:nvSpPr>
            <p:cNvPr id="561" name="Oval 560">
              <a:extLst>
                <a:ext uri="{FF2B5EF4-FFF2-40B4-BE49-F238E27FC236}">
                  <a16:creationId xmlns:a16="http://schemas.microsoft.com/office/drawing/2014/main" id="{48970777-DD1D-97D5-B9F7-DD1127FE0C53}"/>
                </a:ext>
              </a:extLst>
            </p:cNvPr>
            <p:cNvSpPr/>
            <p:nvPr/>
          </p:nvSpPr>
          <p:spPr>
            <a:xfrm>
              <a:off x="1911692" y="2017713"/>
              <a:ext cx="309358" cy="117594"/>
            </a:xfrm>
            <a:prstGeom prst="ellipse">
              <a:avLst/>
            </a:prstGeom>
            <a:noFill/>
            <a:ln w="127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900" b="1" dirty="0"/>
            </a:p>
          </p:txBody>
        </p:sp>
        <p:sp>
          <p:nvSpPr>
            <p:cNvPr id="562" name="Rectangle 561">
              <a:extLst>
                <a:ext uri="{FF2B5EF4-FFF2-40B4-BE49-F238E27FC236}">
                  <a16:creationId xmlns:a16="http://schemas.microsoft.com/office/drawing/2014/main" id="{A51D6D10-683F-9686-8713-275D6894C797}"/>
                </a:ext>
              </a:extLst>
            </p:cNvPr>
            <p:cNvSpPr/>
            <p:nvPr/>
          </p:nvSpPr>
          <p:spPr>
            <a:xfrm>
              <a:off x="2302012" y="1958975"/>
              <a:ext cx="1046163" cy="23420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de-DE" sz="900" dirty="0">
                  <a:solidFill>
                    <a:schemeClr val="tx1"/>
                  </a:solidFill>
                </a:rPr>
                <a:t>CAGR</a:t>
              </a:r>
            </a:p>
          </p:txBody>
        </p:sp>
      </p:grpSp>
      <p:sp>
        <p:nvSpPr>
          <p:cNvPr id="565" name="Oval 564">
            <a:extLst>
              <a:ext uri="{FF2B5EF4-FFF2-40B4-BE49-F238E27FC236}">
                <a16:creationId xmlns:a16="http://schemas.microsoft.com/office/drawing/2014/main" id="{C6E3ED1F-7B1D-8F98-350D-C56BB46B9FE7}"/>
              </a:ext>
            </a:extLst>
          </p:cNvPr>
          <p:cNvSpPr/>
          <p:nvPr/>
        </p:nvSpPr>
        <p:spPr>
          <a:xfrm>
            <a:off x="7132842" y="2017713"/>
            <a:ext cx="309358" cy="117594"/>
          </a:xfrm>
          <a:prstGeom prst="ellipse">
            <a:avLst/>
          </a:prstGeom>
          <a:solidFill>
            <a:srgbClr val="A5CAF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900" b="1" dirty="0"/>
          </a:p>
        </p:txBody>
      </p:sp>
      <p:sp>
        <p:nvSpPr>
          <p:cNvPr id="566" name="Rectangle 565">
            <a:extLst>
              <a:ext uri="{FF2B5EF4-FFF2-40B4-BE49-F238E27FC236}">
                <a16:creationId xmlns:a16="http://schemas.microsoft.com/office/drawing/2014/main" id="{2D1E7906-4494-7235-1B9E-DDFB2EC35D1C}"/>
              </a:ext>
            </a:extLst>
          </p:cNvPr>
          <p:cNvSpPr/>
          <p:nvPr/>
        </p:nvSpPr>
        <p:spPr>
          <a:xfrm>
            <a:off x="7523162" y="1958975"/>
            <a:ext cx="1218202" cy="23420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de-DE" sz="900" dirty="0">
                <a:solidFill>
                  <a:schemeClr val="tx1"/>
                </a:solidFill>
              </a:rPr>
              <a:t>Eigenkapital-Quote</a:t>
            </a:r>
          </a:p>
        </p:txBody>
      </p:sp>
      <p:sp>
        <p:nvSpPr>
          <p:cNvPr id="24" name="Rectangle 23">
            <a:extLst>
              <a:ext uri="{FF2B5EF4-FFF2-40B4-BE49-F238E27FC236}">
                <a16:creationId xmlns:a16="http://schemas.microsoft.com/office/drawing/2014/main" id="{AA9EB9AB-4801-6518-F583-103516AB3DDF}"/>
              </a:ext>
            </a:extLst>
          </p:cNvPr>
          <p:cNvSpPr/>
          <p:nvPr/>
        </p:nvSpPr>
        <p:spPr>
          <a:xfrm>
            <a:off x="5189859" y="1935353"/>
            <a:ext cx="1374253" cy="23420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de-DE" sz="900" b="1" dirty="0">
                <a:solidFill>
                  <a:schemeClr val="tx1"/>
                </a:solidFill>
              </a:rPr>
              <a:t>∑   </a:t>
            </a:r>
            <a:r>
              <a:rPr lang="de-DE" sz="900" dirty="0">
                <a:solidFill>
                  <a:schemeClr val="tx1"/>
                </a:solidFill>
              </a:rPr>
              <a:t>Total Cash Flow</a:t>
            </a:r>
          </a:p>
        </p:txBody>
      </p:sp>
    </p:spTree>
    <p:extLst>
      <p:ext uri="{BB962C8B-B14F-4D97-AF65-F5344CB8AC3E}">
        <p14:creationId xmlns:p14="http://schemas.microsoft.com/office/powerpoint/2010/main" val="697936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2C03C-824C-8952-56EE-804368343BA3}"/>
            </a:ext>
          </a:extLst>
        </p:cNvPr>
        <p:cNvGrpSpPr/>
        <p:nvPr/>
      </p:nvGrpSpPr>
      <p:grpSpPr>
        <a:xfrm>
          <a:off x="0" y="0"/>
          <a:ext cx="0" cy="0"/>
          <a:chOff x="0" y="0"/>
          <a:chExt cx="0" cy="0"/>
        </a:xfrm>
      </p:grpSpPr>
      <p:graphicFrame>
        <p:nvGraphicFramePr>
          <p:cNvPr id="50" name="think-cell data - do not delete" hidden="1">
            <a:extLst>
              <a:ext uri="{FF2B5EF4-FFF2-40B4-BE49-F238E27FC236}">
                <a16:creationId xmlns:a16="http://schemas.microsoft.com/office/drawing/2014/main" id="{5C450DFE-041A-30EA-7BD1-FDB66E12477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143" imgH="143" progId="TCLayout.ActiveDocument.1">
                  <p:embed/>
                </p:oleObj>
              </mc:Choice>
              <mc:Fallback>
                <p:oleObj name="think-cell Slide" r:id="rId3" imgW="143" imgH="143" progId="TCLayout.ActiveDocument.1">
                  <p:embed/>
                  <p:pic>
                    <p:nvPicPr>
                      <p:cNvPr id="50" name="think-cell data - do not delete" hidden="1">
                        <a:extLst>
                          <a:ext uri="{FF2B5EF4-FFF2-40B4-BE49-F238E27FC236}">
                            <a16:creationId xmlns:a16="http://schemas.microsoft.com/office/drawing/2014/main" id="{5C450DFE-041A-30EA-7BD1-FDB66E1247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521DDAB-BCE7-B88D-73BF-F6874E742EA7}"/>
              </a:ext>
            </a:extLst>
          </p:cNvPr>
          <p:cNvSpPr>
            <a:spLocks noGrp="1"/>
          </p:cNvSpPr>
          <p:nvPr>
            <p:ph type="body" sz="quarter" idx="14"/>
          </p:nvPr>
        </p:nvSpPr>
        <p:spPr/>
        <p:txBody>
          <a:bodyPr/>
          <a:lstStyle/>
          <a:p>
            <a:endParaRPr lang="de-DE"/>
          </a:p>
        </p:txBody>
      </p:sp>
      <p:sp>
        <p:nvSpPr>
          <p:cNvPr id="7" name="Title 6">
            <a:extLst>
              <a:ext uri="{FF2B5EF4-FFF2-40B4-BE49-F238E27FC236}">
                <a16:creationId xmlns:a16="http://schemas.microsoft.com/office/drawing/2014/main" id="{E266B24B-CCC7-D13F-CC73-546B94328A40}"/>
              </a:ext>
            </a:extLst>
          </p:cNvPr>
          <p:cNvSpPr>
            <a:spLocks noGrp="1"/>
          </p:cNvSpPr>
          <p:nvPr>
            <p:ph type="title"/>
          </p:nvPr>
        </p:nvSpPr>
        <p:spPr/>
        <p:txBody>
          <a:bodyPr vert="horz" rIns="0"/>
          <a:lstStyle/>
          <a:p>
            <a:r>
              <a:rPr lang="de-DE" dirty="0"/>
              <a:t>Die strategische Ausrichtung der SWK fokussiert sich weiterhin konsequent auf Energiewende, Kreislaufwirtschaft und Digitalisierung</a:t>
            </a:r>
          </a:p>
        </p:txBody>
      </p:sp>
      <p:sp>
        <p:nvSpPr>
          <p:cNvPr id="8" name="Text Placeholder 7">
            <a:extLst>
              <a:ext uri="{FF2B5EF4-FFF2-40B4-BE49-F238E27FC236}">
                <a16:creationId xmlns:a16="http://schemas.microsoft.com/office/drawing/2014/main" id="{886D9176-46C6-73BA-5881-A6B5A0B2DF22}"/>
              </a:ext>
            </a:extLst>
          </p:cNvPr>
          <p:cNvSpPr>
            <a:spLocks noGrp="1"/>
          </p:cNvSpPr>
          <p:nvPr>
            <p:ph type="body" sz="quarter" idx="12"/>
          </p:nvPr>
        </p:nvSpPr>
        <p:spPr/>
        <p:txBody>
          <a:bodyPr/>
          <a:lstStyle/>
          <a:p>
            <a:endParaRPr lang="de-DE"/>
          </a:p>
        </p:txBody>
      </p:sp>
      <p:sp>
        <p:nvSpPr>
          <p:cNvPr id="9" name="Text Placeholder 8">
            <a:extLst>
              <a:ext uri="{FF2B5EF4-FFF2-40B4-BE49-F238E27FC236}">
                <a16:creationId xmlns:a16="http://schemas.microsoft.com/office/drawing/2014/main" id="{E6D4AFC2-B254-9764-4C8B-D6E9DD74498C}"/>
              </a:ext>
            </a:extLst>
          </p:cNvPr>
          <p:cNvSpPr>
            <a:spLocks noGrp="1"/>
          </p:cNvSpPr>
          <p:nvPr>
            <p:ph type="body" sz="quarter" idx="13"/>
          </p:nvPr>
        </p:nvSpPr>
        <p:spPr/>
        <p:txBody>
          <a:bodyPr/>
          <a:lstStyle/>
          <a:p>
            <a:r>
              <a:rPr lang="de-DE" dirty="0"/>
              <a:t>2. Stadtwerke Krefeld – Übersicht und Herausforderungen</a:t>
            </a:r>
          </a:p>
        </p:txBody>
      </p:sp>
      <p:sp>
        <p:nvSpPr>
          <p:cNvPr id="10" name="Text Placeholder 9">
            <a:extLst>
              <a:ext uri="{FF2B5EF4-FFF2-40B4-BE49-F238E27FC236}">
                <a16:creationId xmlns:a16="http://schemas.microsoft.com/office/drawing/2014/main" id="{BD9F535A-6F6F-7464-047C-F1094AA1CCA9}"/>
              </a:ext>
            </a:extLst>
          </p:cNvPr>
          <p:cNvSpPr>
            <a:spLocks noGrp="1"/>
          </p:cNvSpPr>
          <p:nvPr>
            <p:ph type="body" sz="quarter" idx="15"/>
          </p:nvPr>
        </p:nvSpPr>
        <p:spPr/>
        <p:txBody>
          <a:bodyPr/>
          <a:lstStyle/>
          <a:p>
            <a:endParaRPr lang="de-DE"/>
          </a:p>
        </p:txBody>
      </p:sp>
      <p:cxnSp>
        <p:nvCxnSpPr>
          <p:cNvPr id="15" name="Straight Connector 14">
            <a:extLst>
              <a:ext uri="{FF2B5EF4-FFF2-40B4-BE49-F238E27FC236}">
                <a16:creationId xmlns:a16="http://schemas.microsoft.com/office/drawing/2014/main" id="{950C4EF8-D3F1-5855-C217-D5238DFA7100}"/>
              </a:ext>
            </a:extLst>
          </p:cNvPr>
          <p:cNvCxnSpPr>
            <a:cxnSpLocks/>
          </p:cNvCxnSpPr>
          <p:nvPr/>
        </p:nvCxnSpPr>
        <p:spPr>
          <a:xfrm>
            <a:off x="737521" y="1504939"/>
            <a:ext cx="9585325" cy="1588"/>
          </a:xfrm>
          <a:prstGeom prst="line">
            <a:avLst/>
          </a:prstGeom>
          <a:ln w="1905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5B2CD821-78BA-C186-9B03-879B23AAB260}"/>
              </a:ext>
            </a:extLst>
          </p:cNvPr>
          <p:cNvSpPr/>
          <p:nvPr/>
        </p:nvSpPr>
        <p:spPr>
          <a:xfrm>
            <a:off x="1531548" y="2374455"/>
            <a:ext cx="8791298" cy="770795"/>
          </a:xfrm>
          <a:prstGeom prst="rect">
            <a:avLst/>
          </a:prstGeom>
          <a:solidFill>
            <a:schemeClr val="bg1">
              <a:alpha val="4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91440" rIns="91440" bIns="91440" rtlCol="0" anchor="ctr">
            <a:noAutofit/>
          </a:bodyPr>
          <a:lstStyle/>
          <a:p>
            <a:pPr marL="0" lvl="1" defTabSz="447675">
              <a:spcAft>
                <a:spcPts val="600"/>
              </a:spcAft>
              <a:buClr>
                <a:schemeClr val="accent1"/>
              </a:buClr>
              <a:buSzPct val="100000"/>
              <a:tabLst>
                <a:tab pos="1162050" algn="l"/>
              </a:tabLst>
              <a:defRPr/>
            </a:pPr>
            <a:r>
              <a:rPr lang="de-DE" sz="1050" kern="0" dirty="0">
                <a:solidFill>
                  <a:schemeClr val="accent1"/>
                </a:solidFill>
                <a:latin typeface="+mn-lt"/>
              </a:rPr>
              <a:t>Weiterentwicklung des Gasgeschäfts und schrittweise Anpassung der bestehenden Infrastruktur an veränderte Versorgungsanforderungen, verbunden mit einer stärkeren Ausrichtung auf resiliente und perspektivisch </a:t>
            </a:r>
            <a:r>
              <a:rPr lang="de-DE" sz="1050" kern="0" dirty="0" err="1">
                <a:solidFill>
                  <a:schemeClr val="accent1"/>
                </a:solidFill>
                <a:latin typeface="+mn-lt"/>
              </a:rPr>
              <a:t>dekarbonisierte</a:t>
            </a:r>
            <a:r>
              <a:rPr lang="de-DE" sz="1050" kern="0" dirty="0">
                <a:solidFill>
                  <a:schemeClr val="accent1"/>
                </a:solidFill>
                <a:latin typeface="+mn-lt"/>
              </a:rPr>
              <a:t> Versorgungslösungen</a:t>
            </a:r>
          </a:p>
        </p:txBody>
      </p:sp>
      <p:sp>
        <p:nvSpPr>
          <p:cNvPr id="12" name="Rectangle 11">
            <a:extLst>
              <a:ext uri="{FF2B5EF4-FFF2-40B4-BE49-F238E27FC236}">
                <a16:creationId xmlns:a16="http://schemas.microsoft.com/office/drawing/2014/main" id="{C6E58A24-4A1A-55CD-1ACD-0F355328C852}"/>
              </a:ext>
            </a:extLst>
          </p:cNvPr>
          <p:cNvSpPr/>
          <p:nvPr/>
        </p:nvSpPr>
        <p:spPr>
          <a:xfrm>
            <a:off x="1531548" y="1529189"/>
            <a:ext cx="8791298" cy="770795"/>
          </a:xfrm>
          <a:prstGeom prst="rect">
            <a:avLst/>
          </a:prstGeom>
          <a:solidFill>
            <a:schemeClr val="bg1">
              <a:alpha val="4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91440" rIns="91440" bIns="91440" rtlCol="0" anchor="ctr">
            <a:noAutofit/>
          </a:bodyPr>
          <a:lstStyle/>
          <a:p>
            <a:pPr marL="0" lvl="1" defTabSz="447675">
              <a:spcAft>
                <a:spcPts val="600"/>
              </a:spcAft>
              <a:buClr>
                <a:schemeClr val="accent1"/>
              </a:buClr>
              <a:buSzPct val="100000"/>
              <a:tabLst>
                <a:tab pos="1162050" algn="l"/>
              </a:tabLst>
              <a:defRPr/>
            </a:pPr>
            <a:r>
              <a:rPr lang="de-DE" sz="1050" kern="0" dirty="0">
                <a:solidFill>
                  <a:schemeClr val="accent1"/>
                </a:solidFill>
                <a:latin typeface="+mn-lt"/>
              </a:rPr>
              <a:t>Neuordnung des wettbewerblichen Energiegeschäfts und Ausbau kundennaher Energielösungen, insbesondere Photovoltaik, Wallboxen und weiterer energienaher Dienstleistungen, flankiert durch die Modernisierung und Verstärkung des Stromnetzes</a:t>
            </a:r>
          </a:p>
        </p:txBody>
      </p:sp>
      <p:cxnSp>
        <p:nvCxnSpPr>
          <p:cNvPr id="36" name="Straight Connector 35">
            <a:extLst>
              <a:ext uri="{FF2B5EF4-FFF2-40B4-BE49-F238E27FC236}">
                <a16:creationId xmlns:a16="http://schemas.microsoft.com/office/drawing/2014/main" id="{908ECD94-409E-CB6C-B414-2ECAA0771E5B}"/>
              </a:ext>
            </a:extLst>
          </p:cNvPr>
          <p:cNvCxnSpPr>
            <a:cxnSpLocks/>
          </p:cNvCxnSpPr>
          <p:nvPr/>
        </p:nvCxnSpPr>
        <p:spPr>
          <a:xfrm flipV="1">
            <a:off x="738188" y="2322646"/>
            <a:ext cx="9584658" cy="29147"/>
          </a:xfrm>
          <a:prstGeom prst="line">
            <a:avLst/>
          </a:prstGeom>
          <a:ln w="1905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31909882-7E01-C85B-66D6-6DCDC3BCA4E1}"/>
              </a:ext>
            </a:extLst>
          </p:cNvPr>
          <p:cNvSpPr/>
          <p:nvPr/>
        </p:nvSpPr>
        <p:spPr>
          <a:xfrm>
            <a:off x="1531548" y="3192162"/>
            <a:ext cx="8791298" cy="770795"/>
          </a:xfrm>
          <a:prstGeom prst="rect">
            <a:avLst/>
          </a:prstGeom>
          <a:solidFill>
            <a:schemeClr val="bg1">
              <a:alpha val="4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91440" rIns="91440" bIns="91440" rtlCol="0" anchor="ctr">
            <a:noAutofit/>
          </a:bodyPr>
          <a:lstStyle/>
          <a:p>
            <a:pPr marL="0" lvl="1" defTabSz="447675">
              <a:spcAft>
                <a:spcPts val="600"/>
              </a:spcAft>
              <a:buClr>
                <a:schemeClr val="accent1"/>
              </a:buClr>
              <a:buSzPct val="100000"/>
              <a:tabLst>
                <a:tab pos="1162050" algn="l"/>
              </a:tabLst>
              <a:defRPr/>
            </a:pPr>
            <a:r>
              <a:rPr lang="de-DE" sz="1050" kern="0" dirty="0">
                <a:solidFill>
                  <a:schemeClr val="accent1"/>
                </a:solidFill>
                <a:latin typeface="+mn-lt"/>
              </a:rPr>
              <a:t>Ausbau und Transformation der Wärmeversorgung durch Modernisierung der Wärmenetze, Absenkung der Netztemperaturen sowie Entwicklung flexibler und klimafreundlicher Erzeugungs- und Speicherlösungen</a:t>
            </a:r>
          </a:p>
        </p:txBody>
      </p:sp>
      <p:cxnSp>
        <p:nvCxnSpPr>
          <p:cNvPr id="38" name="Straight Connector 37">
            <a:extLst>
              <a:ext uri="{FF2B5EF4-FFF2-40B4-BE49-F238E27FC236}">
                <a16:creationId xmlns:a16="http://schemas.microsoft.com/office/drawing/2014/main" id="{FC202804-47AF-3D79-D1B2-75E13F631E88}"/>
              </a:ext>
            </a:extLst>
          </p:cNvPr>
          <p:cNvCxnSpPr>
            <a:cxnSpLocks/>
          </p:cNvCxnSpPr>
          <p:nvPr/>
        </p:nvCxnSpPr>
        <p:spPr>
          <a:xfrm>
            <a:off x="737521" y="3167912"/>
            <a:ext cx="9585325" cy="1588"/>
          </a:xfrm>
          <a:prstGeom prst="line">
            <a:avLst/>
          </a:prstGeom>
          <a:ln w="1905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76A3C5D5-561C-FE71-231A-181D608756AA}"/>
              </a:ext>
            </a:extLst>
          </p:cNvPr>
          <p:cNvSpPr/>
          <p:nvPr/>
        </p:nvSpPr>
        <p:spPr>
          <a:xfrm>
            <a:off x="1531548" y="4009869"/>
            <a:ext cx="8791298" cy="770795"/>
          </a:xfrm>
          <a:prstGeom prst="rect">
            <a:avLst/>
          </a:prstGeom>
          <a:solidFill>
            <a:schemeClr val="bg1">
              <a:alpha val="4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91440" rIns="91440" bIns="91440" rtlCol="0" anchor="ctr">
            <a:noAutofit/>
          </a:bodyPr>
          <a:lstStyle/>
          <a:p>
            <a:pPr marL="0" lvl="1" defTabSz="447675">
              <a:spcAft>
                <a:spcPts val="600"/>
              </a:spcAft>
              <a:buClr>
                <a:schemeClr val="accent1"/>
              </a:buClr>
              <a:buSzPct val="100000"/>
              <a:tabLst>
                <a:tab pos="1162050" algn="l"/>
              </a:tabLst>
              <a:defRPr/>
            </a:pPr>
            <a:r>
              <a:rPr lang="de-DE" sz="1050" kern="0" dirty="0">
                <a:solidFill>
                  <a:schemeClr val="accent1"/>
                </a:solidFill>
                <a:latin typeface="+mn-lt"/>
              </a:rPr>
              <a:t>Fortlaufende Erneuerung und </a:t>
            </a:r>
            <a:r>
              <a:rPr lang="de-DE" sz="1050" kern="0" dirty="0" err="1">
                <a:solidFill>
                  <a:schemeClr val="accent1"/>
                </a:solidFill>
                <a:latin typeface="+mn-lt"/>
              </a:rPr>
              <a:t>Resilienzsteigerung</a:t>
            </a:r>
            <a:r>
              <a:rPr lang="de-DE" sz="1050" kern="0" dirty="0">
                <a:solidFill>
                  <a:schemeClr val="accent1"/>
                </a:solidFill>
                <a:latin typeface="+mn-lt"/>
              </a:rPr>
              <a:t> der Wasserinfrastruktur sowie Umsetzung gezielter Sanierungs- und Schutzmaßnahmen zur langfristigen Sicherung der Trinkwasserqualität</a:t>
            </a:r>
          </a:p>
        </p:txBody>
      </p:sp>
      <p:cxnSp>
        <p:nvCxnSpPr>
          <p:cNvPr id="40" name="Straight Connector 39">
            <a:extLst>
              <a:ext uri="{FF2B5EF4-FFF2-40B4-BE49-F238E27FC236}">
                <a16:creationId xmlns:a16="http://schemas.microsoft.com/office/drawing/2014/main" id="{A4A05F25-F9B0-A075-562E-ED10BF239C02}"/>
              </a:ext>
            </a:extLst>
          </p:cNvPr>
          <p:cNvCxnSpPr>
            <a:cxnSpLocks/>
          </p:cNvCxnSpPr>
          <p:nvPr/>
        </p:nvCxnSpPr>
        <p:spPr>
          <a:xfrm>
            <a:off x="737521" y="3985619"/>
            <a:ext cx="9585325" cy="1588"/>
          </a:xfrm>
          <a:prstGeom prst="line">
            <a:avLst/>
          </a:prstGeom>
          <a:ln w="1905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EDBAAD95-962F-7FE3-3F33-9A4A3FC68ECF}"/>
              </a:ext>
            </a:extLst>
          </p:cNvPr>
          <p:cNvSpPr/>
          <p:nvPr/>
        </p:nvSpPr>
        <p:spPr>
          <a:xfrm>
            <a:off x="1531548" y="4827576"/>
            <a:ext cx="8791298" cy="770795"/>
          </a:xfrm>
          <a:prstGeom prst="rect">
            <a:avLst/>
          </a:prstGeom>
          <a:solidFill>
            <a:schemeClr val="bg1">
              <a:alpha val="4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91440" rIns="91440" bIns="91440" rtlCol="0" anchor="ctr">
            <a:noAutofit/>
          </a:bodyPr>
          <a:lstStyle/>
          <a:p>
            <a:pPr marL="0" lvl="1" defTabSz="447675">
              <a:spcAft>
                <a:spcPts val="600"/>
              </a:spcAft>
              <a:buClr>
                <a:schemeClr val="accent1"/>
              </a:buClr>
              <a:buSzPct val="100000"/>
              <a:tabLst>
                <a:tab pos="1162050" algn="l"/>
              </a:tabLst>
              <a:defRPr/>
            </a:pPr>
            <a:r>
              <a:rPr lang="de-DE" sz="1050" kern="0" dirty="0">
                <a:solidFill>
                  <a:schemeClr val="accent1"/>
                </a:solidFill>
                <a:latin typeface="+mn-lt"/>
              </a:rPr>
              <a:t>Regionale Erweiterung des EGN-Kerngeschäfts sowie Ausbau der Sortier-, Recycling- und Deponiekapazitäten, insbesondere durch die Partnerschaft mit TOMRA und die stärkere Verwertung biogener Stoffströme</a:t>
            </a:r>
          </a:p>
        </p:txBody>
      </p:sp>
      <p:cxnSp>
        <p:nvCxnSpPr>
          <p:cNvPr id="42" name="Straight Connector 41">
            <a:extLst>
              <a:ext uri="{FF2B5EF4-FFF2-40B4-BE49-F238E27FC236}">
                <a16:creationId xmlns:a16="http://schemas.microsoft.com/office/drawing/2014/main" id="{5268F8C6-D046-3BB5-951E-4557775B4E8F}"/>
              </a:ext>
            </a:extLst>
          </p:cNvPr>
          <p:cNvCxnSpPr>
            <a:cxnSpLocks/>
          </p:cNvCxnSpPr>
          <p:nvPr/>
        </p:nvCxnSpPr>
        <p:spPr>
          <a:xfrm>
            <a:off x="737521" y="4803326"/>
            <a:ext cx="9585325" cy="1588"/>
          </a:xfrm>
          <a:prstGeom prst="line">
            <a:avLst/>
          </a:prstGeom>
          <a:ln w="1905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83DD417F-2E9D-4AE9-BFB3-9FC702EC2AB0}"/>
              </a:ext>
            </a:extLst>
          </p:cNvPr>
          <p:cNvSpPr/>
          <p:nvPr/>
        </p:nvSpPr>
        <p:spPr>
          <a:xfrm>
            <a:off x="1531548" y="5645283"/>
            <a:ext cx="8791298" cy="770795"/>
          </a:xfrm>
          <a:prstGeom prst="rect">
            <a:avLst/>
          </a:prstGeom>
          <a:solidFill>
            <a:schemeClr val="bg1">
              <a:alpha val="4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2000" tIns="91440" rIns="91440" bIns="91440" rtlCol="0" anchor="ctr">
            <a:noAutofit/>
          </a:bodyPr>
          <a:lstStyle/>
          <a:p>
            <a:pPr marL="0" lvl="1" defTabSz="447675">
              <a:spcAft>
                <a:spcPts val="600"/>
              </a:spcAft>
              <a:buClr>
                <a:schemeClr val="accent1"/>
              </a:buClr>
              <a:buSzPct val="100000"/>
              <a:tabLst>
                <a:tab pos="1162050" algn="l"/>
              </a:tabLst>
              <a:defRPr/>
            </a:pPr>
            <a:r>
              <a:rPr lang="de-DE" sz="1050" kern="0" dirty="0">
                <a:solidFill>
                  <a:schemeClr val="accent1"/>
                </a:solidFill>
                <a:latin typeface="+mn-lt"/>
              </a:rPr>
              <a:t>Ausbau der regenerativen Wasserstoffproduktion für die Brennstoffzellenbusflotte sowie Modernisierung der Fahrzeugflotte und Weiterentwicklung digitaler Mobilitäts-, Informations- und </a:t>
            </a:r>
            <a:r>
              <a:rPr lang="de-DE" sz="1050" kern="0" dirty="0" err="1">
                <a:solidFill>
                  <a:schemeClr val="accent1"/>
                </a:solidFill>
                <a:latin typeface="+mn-lt"/>
              </a:rPr>
              <a:t>Ticketingangebote</a:t>
            </a:r>
            <a:endParaRPr lang="de-DE" sz="1050" kern="0" dirty="0">
              <a:solidFill>
                <a:schemeClr val="accent1"/>
              </a:solidFill>
              <a:latin typeface="+mn-lt"/>
            </a:endParaRPr>
          </a:p>
        </p:txBody>
      </p:sp>
      <p:cxnSp>
        <p:nvCxnSpPr>
          <p:cNvPr id="44" name="Straight Connector 43">
            <a:extLst>
              <a:ext uri="{FF2B5EF4-FFF2-40B4-BE49-F238E27FC236}">
                <a16:creationId xmlns:a16="http://schemas.microsoft.com/office/drawing/2014/main" id="{60558144-76D5-CDFB-324E-7E0F911BC369}"/>
              </a:ext>
            </a:extLst>
          </p:cNvPr>
          <p:cNvCxnSpPr>
            <a:cxnSpLocks/>
          </p:cNvCxnSpPr>
          <p:nvPr/>
        </p:nvCxnSpPr>
        <p:spPr>
          <a:xfrm>
            <a:off x="737521" y="5621033"/>
            <a:ext cx="9585325" cy="1588"/>
          </a:xfrm>
          <a:prstGeom prst="line">
            <a:avLst/>
          </a:prstGeom>
          <a:ln w="1905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A122AE1-7904-0592-6D0E-102FC807A71F}"/>
              </a:ext>
            </a:extLst>
          </p:cNvPr>
          <p:cNvCxnSpPr>
            <a:cxnSpLocks/>
          </p:cNvCxnSpPr>
          <p:nvPr/>
        </p:nvCxnSpPr>
        <p:spPr>
          <a:xfrm>
            <a:off x="737521" y="6438736"/>
            <a:ext cx="9585325" cy="1588"/>
          </a:xfrm>
          <a:prstGeom prst="line">
            <a:avLst/>
          </a:prstGeom>
          <a:ln w="1905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7D26CB0A-5C0F-CB30-23E6-BA32E014551D}"/>
              </a:ext>
            </a:extLst>
          </p:cNvPr>
          <p:cNvSpPr/>
          <p:nvPr/>
        </p:nvSpPr>
        <p:spPr>
          <a:xfrm rot="10800000">
            <a:off x="379413" y="1504787"/>
            <a:ext cx="287479" cy="32837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36000" tIns="0" rIns="36000" bIns="0" rtlCol="0" anchor="ctr"/>
          <a:lstStyle/>
          <a:p>
            <a:pPr algn="ctr"/>
            <a:r>
              <a:rPr lang="de-DE" sz="1000" b="1" dirty="0"/>
              <a:t>Energie und Versorgung</a:t>
            </a:r>
          </a:p>
        </p:txBody>
      </p:sp>
      <p:sp>
        <p:nvSpPr>
          <p:cNvPr id="20" name="Rectangle 19">
            <a:extLst>
              <a:ext uri="{FF2B5EF4-FFF2-40B4-BE49-F238E27FC236}">
                <a16:creationId xmlns:a16="http://schemas.microsoft.com/office/drawing/2014/main" id="{50DBEC50-2423-206C-466F-8879E19216B6}"/>
              </a:ext>
            </a:extLst>
          </p:cNvPr>
          <p:cNvSpPr/>
          <p:nvPr/>
        </p:nvSpPr>
        <p:spPr>
          <a:xfrm rot="10800000">
            <a:off x="379412" y="4807047"/>
            <a:ext cx="287479" cy="7996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36000" tIns="0" rIns="36000" bIns="0" rtlCol="0" anchor="ctr"/>
          <a:lstStyle/>
          <a:p>
            <a:pPr algn="ctr"/>
            <a:r>
              <a:rPr lang="de-DE" sz="1000" b="1" dirty="0"/>
              <a:t>Entsorgung</a:t>
            </a:r>
          </a:p>
        </p:txBody>
      </p:sp>
      <p:sp>
        <p:nvSpPr>
          <p:cNvPr id="21" name="Rectangle 20">
            <a:extLst>
              <a:ext uri="{FF2B5EF4-FFF2-40B4-BE49-F238E27FC236}">
                <a16:creationId xmlns:a16="http://schemas.microsoft.com/office/drawing/2014/main" id="{4C00DDD2-36C0-9A56-2F02-FD73D4C85256}"/>
              </a:ext>
            </a:extLst>
          </p:cNvPr>
          <p:cNvSpPr/>
          <p:nvPr/>
        </p:nvSpPr>
        <p:spPr>
          <a:xfrm rot="10800000">
            <a:off x="379412" y="5625230"/>
            <a:ext cx="287479" cy="7996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36000" tIns="0" rIns="36000" bIns="0" rtlCol="0" anchor="ctr"/>
          <a:lstStyle/>
          <a:p>
            <a:pPr algn="ctr"/>
            <a:r>
              <a:rPr lang="de-DE" sz="1000" b="1" dirty="0"/>
              <a:t>Verkehr</a:t>
            </a:r>
          </a:p>
        </p:txBody>
      </p:sp>
      <p:pic>
        <p:nvPicPr>
          <p:cNvPr id="23" name="Graphic 22">
            <a:extLst>
              <a:ext uri="{FF2B5EF4-FFF2-40B4-BE49-F238E27FC236}">
                <a16:creationId xmlns:a16="http://schemas.microsoft.com/office/drawing/2014/main" id="{6B359392-F778-EB68-5D13-DE09DF3215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5448" y="1680815"/>
            <a:ext cx="467543" cy="467543"/>
          </a:xfrm>
          <a:prstGeom prst="rect">
            <a:avLst/>
          </a:prstGeom>
        </p:spPr>
      </p:pic>
      <p:pic>
        <p:nvPicPr>
          <p:cNvPr id="25" name="Graphic 24">
            <a:extLst>
              <a:ext uri="{FF2B5EF4-FFF2-40B4-BE49-F238E27FC236}">
                <a16:creationId xmlns:a16="http://schemas.microsoft.com/office/drawing/2014/main" id="{23977F89-68B0-11E2-3185-7BA8A959572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5448" y="2526081"/>
            <a:ext cx="467543" cy="467543"/>
          </a:xfrm>
          <a:prstGeom prst="rect">
            <a:avLst/>
          </a:prstGeom>
        </p:spPr>
      </p:pic>
      <p:pic>
        <p:nvPicPr>
          <p:cNvPr id="27" name="Graphic 26">
            <a:extLst>
              <a:ext uri="{FF2B5EF4-FFF2-40B4-BE49-F238E27FC236}">
                <a16:creationId xmlns:a16="http://schemas.microsoft.com/office/drawing/2014/main" id="{8D182CCF-F39C-ABC2-9C6B-1E51F4A310E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5448" y="3343788"/>
            <a:ext cx="467543" cy="467543"/>
          </a:xfrm>
          <a:prstGeom prst="rect">
            <a:avLst/>
          </a:prstGeom>
        </p:spPr>
      </p:pic>
      <p:pic>
        <p:nvPicPr>
          <p:cNvPr id="29" name="Graphic 28">
            <a:extLst>
              <a:ext uri="{FF2B5EF4-FFF2-40B4-BE49-F238E27FC236}">
                <a16:creationId xmlns:a16="http://schemas.microsoft.com/office/drawing/2014/main" id="{9F53F4C4-AE2F-E064-C817-0DA16D4E248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65448" y="4161495"/>
            <a:ext cx="467543" cy="467543"/>
          </a:xfrm>
          <a:prstGeom prst="rect">
            <a:avLst/>
          </a:prstGeom>
        </p:spPr>
      </p:pic>
      <p:pic>
        <p:nvPicPr>
          <p:cNvPr id="31" name="Graphic 30">
            <a:extLst>
              <a:ext uri="{FF2B5EF4-FFF2-40B4-BE49-F238E27FC236}">
                <a16:creationId xmlns:a16="http://schemas.microsoft.com/office/drawing/2014/main" id="{482491CE-1297-724F-2966-43B0E2E4824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65448" y="4979202"/>
            <a:ext cx="467543" cy="467543"/>
          </a:xfrm>
          <a:prstGeom prst="rect">
            <a:avLst/>
          </a:prstGeom>
        </p:spPr>
      </p:pic>
      <p:pic>
        <p:nvPicPr>
          <p:cNvPr id="33" name="Graphic 32">
            <a:extLst>
              <a:ext uri="{FF2B5EF4-FFF2-40B4-BE49-F238E27FC236}">
                <a16:creationId xmlns:a16="http://schemas.microsoft.com/office/drawing/2014/main" id="{1242FF11-244E-979A-53E1-8CDBCC13E04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65448" y="5796909"/>
            <a:ext cx="467543" cy="467543"/>
          </a:xfrm>
          <a:prstGeom prst="rect">
            <a:avLst/>
          </a:prstGeom>
        </p:spPr>
      </p:pic>
    </p:spTree>
    <p:extLst>
      <p:ext uri="{BB962C8B-B14F-4D97-AF65-F5344CB8AC3E}">
        <p14:creationId xmlns:p14="http://schemas.microsoft.com/office/powerpoint/2010/main" val="3047014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381618" y="3616322"/>
            <a:ext cx="9900000" cy="2525713"/>
          </a:xfrm>
        </p:spPr>
        <p:txBody>
          <a:bodyPr/>
          <a:lstStyle/>
          <a:p>
            <a:r>
              <a:rPr lang="de-DE" sz="2000" dirty="0"/>
              <a:t>Diskussion möglicher Handlungsoptionen</a:t>
            </a:r>
          </a:p>
        </p:txBody>
      </p:sp>
      <p:sp>
        <p:nvSpPr>
          <p:cNvPr id="7" name="Text Placeholder 6"/>
          <p:cNvSpPr>
            <a:spLocks noGrp="1"/>
          </p:cNvSpPr>
          <p:nvPr>
            <p:ph type="body" sz="quarter" idx="10"/>
          </p:nvPr>
        </p:nvSpPr>
        <p:spPr/>
        <p:txBody>
          <a:bodyPr/>
          <a:lstStyle/>
          <a:p>
            <a:r>
              <a:rPr lang="de-DE" dirty="0"/>
              <a:t>3</a:t>
            </a:r>
            <a:endParaRPr lang="en-US" dirty="0"/>
          </a:p>
        </p:txBody>
      </p:sp>
    </p:spTree>
    <p:extLst>
      <p:ext uri="{BB962C8B-B14F-4D97-AF65-F5344CB8AC3E}">
        <p14:creationId xmlns:p14="http://schemas.microsoft.com/office/powerpoint/2010/main" val="2351469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94708D6-A052-7FD9-FD49-3D49EF5DCD19}"/>
              </a:ext>
            </a:extLst>
          </p:cNvPr>
          <p:cNvGraphicFramePr>
            <a:graphicFrameLocks/>
          </p:cNvGraphicFramePr>
          <p:nvPr>
            <p:custDataLst>
              <p:tags r:id="rId1"/>
            </p:custDataLst>
            <p:extLst>
              <p:ext uri="{D42A27DB-BD31-4B8C-83A1-F6EECF244321}">
                <p14:modId xmlns:p14="http://schemas.microsoft.com/office/powerpoint/2010/main" val="3265117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36B6735-6C6A-35A1-B1A7-98D6FE03F657}"/>
              </a:ext>
            </a:extLst>
          </p:cNvPr>
          <p:cNvSpPr>
            <a:spLocks noGrp="1"/>
          </p:cNvSpPr>
          <p:nvPr>
            <p:ph type="title"/>
          </p:nvPr>
        </p:nvSpPr>
        <p:spPr>
          <a:xfrm>
            <a:off x="378700" y="450279"/>
            <a:ext cx="9936000" cy="720000"/>
          </a:xfrm>
        </p:spPr>
        <p:txBody>
          <a:bodyPr vert="horz" rIns="0"/>
          <a:lstStyle/>
          <a:p>
            <a:r>
              <a:rPr lang="de-DE" noProof="0" dirty="0"/>
              <a:t>Bei Bedarf können private Investoren in unterschiedlichen Modellen und bei unterschiedlichen Assets beteiligt werden − ausgewählte Impulse</a:t>
            </a:r>
          </a:p>
        </p:txBody>
      </p:sp>
      <p:sp>
        <p:nvSpPr>
          <p:cNvPr id="3" name="Text Placeholder 2">
            <a:extLst>
              <a:ext uri="{FF2B5EF4-FFF2-40B4-BE49-F238E27FC236}">
                <a16:creationId xmlns:a16="http://schemas.microsoft.com/office/drawing/2014/main" id="{4F1FB80B-7790-E791-684E-26315F41BAB4}"/>
              </a:ext>
            </a:extLst>
          </p:cNvPr>
          <p:cNvSpPr>
            <a:spLocks noGrp="1"/>
          </p:cNvSpPr>
          <p:nvPr>
            <p:ph type="body" sz="quarter" idx="12"/>
          </p:nvPr>
        </p:nvSpPr>
        <p:spPr/>
        <p:txBody>
          <a:bodyPr/>
          <a:lstStyle/>
          <a:p>
            <a:endParaRPr lang="en-US"/>
          </a:p>
        </p:txBody>
      </p:sp>
      <p:sp>
        <p:nvSpPr>
          <p:cNvPr id="4" name="Text Placeholder 3">
            <a:extLst>
              <a:ext uri="{FF2B5EF4-FFF2-40B4-BE49-F238E27FC236}">
                <a16:creationId xmlns:a16="http://schemas.microsoft.com/office/drawing/2014/main" id="{503C650E-C176-16F0-EF87-1F12161BCE53}"/>
              </a:ext>
            </a:extLst>
          </p:cNvPr>
          <p:cNvSpPr>
            <a:spLocks noGrp="1"/>
          </p:cNvSpPr>
          <p:nvPr>
            <p:ph type="body" sz="quarter" idx="13"/>
          </p:nvPr>
        </p:nvSpPr>
        <p:spPr/>
        <p:txBody>
          <a:bodyPr/>
          <a:lstStyle/>
          <a:p>
            <a:r>
              <a:rPr lang="de-DE" dirty="0"/>
              <a:t>3. Diskussion möglicher Handlungsoptionen</a:t>
            </a:r>
            <a:endParaRPr lang="en-US" dirty="0"/>
          </a:p>
        </p:txBody>
      </p:sp>
      <p:sp>
        <p:nvSpPr>
          <p:cNvPr id="5" name="Text Placeholder 4">
            <a:extLst>
              <a:ext uri="{FF2B5EF4-FFF2-40B4-BE49-F238E27FC236}">
                <a16:creationId xmlns:a16="http://schemas.microsoft.com/office/drawing/2014/main" id="{27022983-6E4D-FE27-0D59-A14BD0B7C1BE}"/>
              </a:ext>
            </a:extLst>
          </p:cNvPr>
          <p:cNvSpPr>
            <a:spLocks noGrp="1"/>
          </p:cNvSpPr>
          <p:nvPr>
            <p:ph type="body" sz="quarter" idx="14"/>
          </p:nvPr>
        </p:nvSpPr>
        <p:spPr/>
        <p:txBody>
          <a:bodyPr/>
          <a:lstStyle/>
          <a:p>
            <a:endParaRPr lang="en-US"/>
          </a:p>
        </p:txBody>
      </p:sp>
      <p:sp>
        <p:nvSpPr>
          <p:cNvPr id="6" name="Text Placeholder 5">
            <a:extLst>
              <a:ext uri="{FF2B5EF4-FFF2-40B4-BE49-F238E27FC236}">
                <a16:creationId xmlns:a16="http://schemas.microsoft.com/office/drawing/2014/main" id="{777F5234-C212-63E8-E2DB-3B7018E2C6CA}"/>
              </a:ext>
            </a:extLst>
          </p:cNvPr>
          <p:cNvSpPr>
            <a:spLocks noGrp="1"/>
          </p:cNvSpPr>
          <p:nvPr>
            <p:ph type="body" sz="quarter" idx="15"/>
          </p:nvPr>
        </p:nvSpPr>
        <p:spPr/>
        <p:txBody>
          <a:bodyPr/>
          <a:lstStyle/>
          <a:p>
            <a:r>
              <a:rPr lang="en-US" dirty="0"/>
              <a:t>1) </a:t>
            </a:r>
            <a:r>
              <a:rPr lang="en-US" dirty="0" err="1"/>
              <a:t>Ähnlich</a:t>
            </a:r>
            <a:r>
              <a:rPr lang="en-US" dirty="0"/>
              <a:t> </a:t>
            </a:r>
            <a:r>
              <a:rPr lang="en-US" dirty="0" err="1"/>
              <a:t>übertragbar</a:t>
            </a:r>
            <a:r>
              <a:rPr lang="en-US" dirty="0"/>
              <a:t> auf Gas-/</a:t>
            </a:r>
            <a:r>
              <a:rPr lang="en-US" dirty="0" err="1"/>
              <a:t>Stromnetzausbau</a:t>
            </a:r>
            <a:r>
              <a:rPr lang="en-US" dirty="0"/>
              <a:t>, </a:t>
            </a:r>
            <a:r>
              <a:rPr lang="en-US" dirty="0" err="1"/>
              <a:t>Erneuerbare</a:t>
            </a:r>
            <a:r>
              <a:rPr lang="en-US" dirty="0"/>
              <a:t> </a:t>
            </a:r>
            <a:r>
              <a:rPr lang="en-US" dirty="0" err="1"/>
              <a:t>o.ä</a:t>
            </a:r>
            <a:r>
              <a:rPr lang="en-US" dirty="0"/>
              <a:t>.</a:t>
            </a:r>
          </a:p>
        </p:txBody>
      </p:sp>
      <p:sp>
        <p:nvSpPr>
          <p:cNvPr id="8" name="Rectangle 7">
            <a:extLst>
              <a:ext uri="{FF2B5EF4-FFF2-40B4-BE49-F238E27FC236}">
                <a16:creationId xmlns:a16="http://schemas.microsoft.com/office/drawing/2014/main" id="{0DCA9655-30ED-FB45-F18E-57C71FA78D37}"/>
              </a:ext>
            </a:extLst>
          </p:cNvPr>
          <p:cNvSpPr/>
          <p:nvPr/>
        </p:nvSpPr>
        <p:spPr>
          <a:xfrm>
            <a:off x="378699" y="5216897"/>
            <a:ext cx="9936000" cy="1377132"/>
          </a:xfrm>
          <a:prstGeom prst="rect">
            <a:avLst/>
          </a:prstGeom>
          <a:solidFill>
            <a:schemeClr val="bg1"/>
          </a:solidFill>
          <a:ln w="9525">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72000" bIns="72000" rtlCol="0" anchor="t"/>
          <a:lstStyle/>
          <a:p>
            <a:pPr marL="174625" indent="-174625">
              <a:spcAft>
                <a:spcPts val="600"/>
              </a:spcAft>
              <a:buClr>
                <a:srgbClr val="003D7C"/>
              </a:buClr>
              <a:buFont typeface="Wingdings" pitchFamily="2" charset="2"/>
              <a:buChar char="n"/>
              <a:defRPr/>
            </a:pPr>
            <a:r>
              <a:rPr lang="de-DE" sz="1000" dirty="0">
                <a:solidFill>
                  <a:schemeClr val="tx1"/>
                </a:solidFill>
              </a:rPr>
              <a:t>Ausgewogene </a:t>
            </a:r>
            <a:r>
              <a:rPr lang="de-DE" sz="1000" dirty="0" err="1">
                <a:solidFill>
                  <a:schemeClr val="tx1"/>
                </a:solidFill>
              </a:rPr>
              <a:t>Governance</a:t>
            </a:r>
            <a:r>
              <a:rPr lang="de-DE" sz="1000" dirty="0">
                <a:solidFill>
                  <a:schemeClr val="tx1"/>
                </a:solidFill>
              </a:rPr>
              <a:t> mit definierten Reserved Matters, Dividendenpolitik und Exit Mechanismen</a:t>
            </a:r>
          </a:p>
          <a:p>
            <a:pPr marL="174625" indent="-174625">
              <a:spcAft>
                <a:spcPts val="600"/>
              </a:spcAft>
              <a:buClr>
                <a:srgbClr val="003D7C"/>
              </a:buClr>
              <a:buFont typeface="Wingdings" pitchFamily="2" charset="2"/>
              <a:buChar char="n"/>
              <a:defRPr/>
            </a:pPr>
            <a:r>
              <a:rPr lang="de-DE" sz="1000" dirty="0">
                <a:solidFill>
                  <a:schemeClr val="tx1"/>
                </a:solidFill>
              </a:rPr>
              <a:t>Investorengerechte Schaffung einer Plattform/eines abgegrenzten Vehikels</a:t>
            </a:r>
          </a:p>
          <a:p>
            <a:pPr marL="174625" indent="-174625">
              <a:spcAft>
                <a:spcPts val="600"/>
              </a:spcAft>
              <a:buClr>
                <a:srgbClr val="003D7C"/>
              </a:buClr>
              <a:buFont typeface="Wingdings" pitchFamily="2" charset="2"/>
              <a:buChar char="n"/>
              <a:defRPr/>
            </a:pPr>
            <a:r>
              <a:rPr lang="de-DE" sz="1000" dirty="0">
                <a:solidFill>
                  <a:schemeClr val="tx1"/>
                </a:solidFill>
              </a:rPr>
              <a:t>Rendite- und Rückzahlungsmechanismen</a:t>
            </a:r>
          </a:p>
          <a:p>
            <a:pPr marL="174625" indent="-174625">
              <a:spcAft>
                <a:spcPts val="600"/>
              </a:spcAft>
              <a:buClr>
                <a:srgbClr val="003D7C"/>
              </a:buClr>
              <a:buFont typeface="Wingdings" pitchFamily="2" charset="2"/>
              <a:buChar char="n"/>
              <a:defRPr/>
            </a:pPr>
            <a:r>
              <a:rPr lang="de-DE" sz="1000" dirty="0">
                <a:solidFill>
                  <a:schemeClr val="tx1"/>
                </a:solidFill>
              </a:rPr>
              <a:t>Festlegung Budget und Investitionsplan</a:t>
            </a:r>
          </a:p>
          <a:p>
            <a:pPr marL="174625" indent="-174625">
              <a:spcAft>
                <a:spcPts val="600"/>
              </a:spcAft>
              <a:buClr>
                <a:srgbClr val="003D7C"/>
              </a:buClr>
              <a:buFont typeface="Wingdings" pitchFamily="2" charset="2"/>
              <a:buChar char="n"/>
              <a:defRPr/>
            </a:pPr>
            <a:r>
              <a:rPr lang="de-DE" sz="1000" dirty="0">
                <a:solidFill>
                  <a:schemeClr val="tx1"/>
                </a:solidFill>
              </a:rPr>
              <a:t>Gemeinsames Rollenverständnis</a:t>
            </a:r>
          </a:p>
        </p:txBody>
      </p:sp>
      <p:sp>
        <p:nvSpPr>
          <p:cNvPr id="9" name="Rectangle 8">
            <a:extLst>
              <a:ext uri="{FF2B5EF4-FFF2-40B4-BE49-F238E27FC236}">
                <a16:creationId xmlns:a16="http://schemas.microsoft.com/office/drawing/2014/main" id="{4AE57F37-4680-B59D-A5B8-F30CE2BE62A3}"/>
              </a:ext>
            </a:extLst>
          </p:cNvPr>
          <p:cNvSpPr/>
          <p:nvPr/>
        </p:nvSpPr>
        <p:spPr>
          <a:xfrm>
            <a:off x="378699" y="4964897"/>
            <a:ext cx="9936000" cy="2520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Wesentliche Aspekte bei der Gestaltung einer Partnerschaft</a:t>
            </a:r>
          </a:p>
        </p:txBody>
      </p:sp>
      <p:sp>
        <p:nvSpPr>
          <p:cNvPr id="13" name="Rectangle 12">
            <a:extLst>
              <a:ext uri="{FF2B5EF4-FFF2-40B4-BE49-F238E27FC236}">
                <a16:creationId xmlns:a16="http://schemas.microsoft.com/office/drawing/2014/main" id="{AA75F5A1-35B5-06F4-1D9D-A99561571A4F}"/>
              </a:ext>
            </a:extLst>
          </p:cNvPr>
          <p:cNvSpPr/>
          <p:nvPr/>
        </p:nvSpPr>
        <p:spPr>
          <a:xfrm>
            <a:off x="2644014" y="2817232"/>
            <a:ext cx="973948" cy="188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i="1" dirty="0">
                <a:solidFill>
                  <a:schemeClr val="accent6"/>
                </a:solidFill>
              </a:rPr>
              <a:t>Minderheit</a:t>
            </a:r>
          </a:p>
        </p:txBody>
      </p:sp>
      <p:sp>
        <p:nvSpPr>
          <p:cNvPr id="10" name="Rectangle 9">
            <a:extLst>
              <a:ext uri="{FF2B5EF4-FFF2-40B4-BE49-F238E27FC236}">
                <a16:creationId xmlns:a16="http://schemas.microsoft.com/office/drawing/2014/main" id="{0C4DA385-0786-C92E-B1E3-E6FCD1D704E9}"/>
              </a:ext>
            </a:extLst>
          </p:cNvPr>
          <p:cNvSpPr/>
          <p:nvPr/>
        </p:nvSpPr>
        <p:spPr>
          <a:xfrm>
            <a:off x="378700" y="1872390"/>
            <a:ext cx="4896000" cy="2899435"/>
          </a:xfrm>
          <a:prstGeom prst="rect">
            <a:avLst/>
          </a:prstGeom>
          <a:solidFill>
            <a:srgbClr val="F3F8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180000" rtlCol="0" anchor="ctr"/>
          <a:lstStyle/>
          <a:p>
            <a:pPr algn="ctr"/>
            <a:endParaRPr lang="de-DE"/>
          </a:p>
        </p:txBody>
      </p:sp>
      <p:sp>
        <p:nvSpPr>
          <p:cNvPr id="11" name="Rectangle 10">
            <a:extLst>
              <a:ext uri="{FF2B5EF4-FFF2-40B4-BE49-F238E27FC236}">
                <a16:creationId xmlns:a16="http://schemas.microsoft.com/office/drawing/2014/main" id="{8CFA51DA-1024-4131-0FE6-8AC8F75FC25F}"/>
              </a:ext>
            </a:extLst>
          </p:cNvPr>
          <p:cNvSpPr/>
          <p:nvPr/>
        </p:nvSpPr>
        <p:spPr>
          <a:xfrm>
            <a:off x="378700" y="1620391"/>
            <a:ext cx="4896000" cy="252000"/>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bg1"/>
                </a:solidFill>
              </a:rPr>
              <a:t>Joint Venture Wärme/Fernwärme</a:t>
            </a:r>
            <a:r>
              <a:rPr lang="de-DE" sz="1000" b="1" baseline="30000" dirty="0">
                <a:solidFill>
                  <a:schemeClr val="bg1"/>
                </a:solidFill>
              </a:rPr>
              <a:t>1)</a:t>
            </a:r>
          </a:p>
        </p:txBody>
      </p:sp>
      <p:sp>
        <p:nvSpPr>
          <p:cNvPr id="16" name="Rectangle 15">
            <a:extLst>
              <a:ext uri="{FF2B5EF4-FFF2-40B4-BE49-F238E27FC236}">
                <a16:creationId xmlns:a16="http://schemas.microsoft.com/office/drawing/2014/main" id="{4C8ACAC8-D981-13B8-F7A8-AA7995F6B00D}"/>
              </a:ext>
            </a:extLst>
          </p:cNvPr>
          <p:cNvSpPr/>
          <p:nvPr/>
        </p:nvSpPr>
        <p:spPr>
          <a:xfrm>
            <a:off x="1956926" y="2594947"/>
            <a:ext cx="1739549" cy="1689739"/>
          </a:xfrm>
          <a:prstGeom prst="rect">
            <a:avLst/>
          </a:prstGeom>
          <a:solidFill>
            <a:schemeClr val="bg1"/>
          </a:solidFill>
          <a:ln w="6350">
            <a:solidFill>
              <a:srgbClr val="67A6F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endParaRPr lang="de-DE" sz="800" b="1" dirty="0">
              <a:solidFill>
                <a:schemeClr val="bg1"/>
              </a:solidFill>
            </a:endParaRPr>
          </a:p>
        </p:txBody>
      </p:sp>
      <p:grpSp>
        <p:nvGrpSpPr>
          <p:cNvPr id="27" name="Group 26">
            <a:extLst>
              <a:ext uri="{FF2B5EF4-FFF2-40B4-BE49-F238E27FC236}">
                <a16:creationId xmlns:a16="http://schemas.microsoft.com/office/drawing/2014/main" id="{7109E27A-8923-8CAC-E75A-C0041AE06990}"/>
              </a:ext>
            </a:extLst>
          </p:cNvPr>
          <p:cNvGrpSpPr/>
          <p:nvPr/>
        </p:nvGrpSpPr>
        <p:grpSpPr>
          <a:xfrm>
            <a:off x="2171694" y="3700688"/>
            <a:ext cx="1310012" cy="295967"/>
            <a:chOff x="1232126" y="4187451"/>
            <a:chExt cx="1310012" cy="295967"/>
          </a:xfrm>
        </p:grpSpPr>
        <p:pic>
          <p:nvPicPr>
            <p:cNvPr id="17" name="Graphic 16">
              <a:extLst>
                <a:ext uri="{FF2B5EF4-FFF2-40B4-BE49-F238E27FC236}">
                  <a16:creationId xmlns:a16="http://schemas.microsoft.com/office/drawing/2014/main" id="{FE73E001-77D6-4AAF-12A2-44D0C6E932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32126" y="4187451"/>
              <a:ext cx="295967" cy="295967"/>
            </a:xfrm>
            <a:prstGeom prst="rect">
              <a:avLst/>
            </a:prstGeom>
          </p:spPr>
        </p:pic>
        <p:sp>
          <p:nvSpPr>
            <p:cNvPr id="18" name="TextBox 17">
              <a:extLst>
                <a:ext uri="{FF2B5EF4-FFF2-40B4-BE49-F238E27FC236}">
                  <a16:creationId xmlns:a16="http://schemas.microsoft.com/office/drawing/2014/main" id="{87265522-3CDF-BF13-9E84-6602745C59F5}"/>
                </a:ext>
              </a:extLst>
            </p:cNvPr>
            <p:cNvSpPr txBox="1"/>
            <p:nvPr/>
          </p:nvSpPr>
          <p:spPr>
            <a:xfrm>
              <a:off x="1536298" y="4220018"/>
              <a:ext cx="1005840" cy="230832"/>
            </a:xfrm>
            <a:prstGeom prst="rect">
              <a:avLst/>
            </a:prstGeom>
            <a:noFill/>
          </p:spPr>
          <p:txBody>
            <a:bodyPr wrap="square" rtlCol="0">
              <a:spAutoFit/>
            </a:bodyPr>
            <a:lstStyle/>
            <a:p>
              <a:pPr algn="ctr"/>
              <a:r>
                <a:rPr lang="de-DE" sz="900" dirty="0"/>
                <a:t>Wärmenetze</a:t>
              </a:r>
            </a:p>
          </p:txBody>
        </p:sp>
      </p:grpSp>
      <p:grpSp>
        <p:nvGrpSpPr>
          <p:cNvPr id="26" name="Group 25">
            <a:extLst>
              <a:ext uri="{FF2B5EF4-FFF2-40B4-BE49-F238E27FC236}">
                <a16:creationId xmlns:a16="http://schemas.microsoft.com/office/drawing/2014/main" id="{B0F54827-B5E3-A869-4CD5-3BE71B5BE5F8}"/>
              </a:ext>
            </a:extLst>
          </p:cNvPr>
          <p:cNvGrpSpPr/>
          <p:nvPr/>
        </p:nvGrpSpPr>
        <p:grpSpPr>
          <a:xfrm>
            <a:off x="2141050" y="3175959"/>
            <a:ext cx="1371301" cy="325564"/>
            <a:chOff x="1217327" y="3662722"/>
            <a:chExt cx="1371301" cy="325564"/>
          </a:xfrm>
        </p:grpSpPr>
        <p:pic>
          <p:nvPicPr>
            <p:cNvPr id="19" name="Graphic 18">
              <a:extLst>
                <a:ext uri="{FF2B5EF4-FFF2-40B4-BE49-F238E27FC236}">
                  <a16:creationId xmlns:a16="http://schemas.microsoft.com/office/drawing/2014/main" id="{A4BF7D66-204E-03A9-3C33-62098548480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17327" y="3662722"/>
              <a:ext cx="325564" cy="325564"/>
            </a:xfrm>
            <a:prstGeom prst="rect">
              <a:avLst/>
            </a:prstGeom>
          </p:spPr>
        </p:pic>
        <p:sp>
          <p:nvSpPr>
            <p:cNvPr id="20" name="TextBox 19">
              <a:extLst>
                <a:ext uri="{FF2B5EF4-FFF2-40B4-BE49-F238E27FC236}">
                  <a16:creationId xmlns:a16="http://schemas.microsoft.com/office/drawing/2014/main" id="{1F5F5627-20C4-D3FF-A38A-E0AB75245357}"/>
                </a:ext>
              </a:extLst>
            </p:cNvPr>
            <p:cNvSpPr txBox="1"/>
            <p:nvPr/>
          </p:nvSpPr>
          <p:spPr>
            <a:xfrm>
              <a:off x="1482204" y="3717228"/>
              <a:ext cx="1106424" cy="230832"/>
            </a:xfrm>
            <a:prstGeom prst="rect">
              <a:avLst/>
            </a:prstGeom>
            <a:noFill/>
          </p:spPr>
          <p:txBody>
            <a:bodyPr wrap="square" rtlCol="0">
              <a:spAutoFit/>
            </a:bodyPr>
            <a:lstStyle/>
            <a:p>
              <a:pPr algn="ctr"/>
              <a:r>
                <a:rPr lang="de-DE" sz="900" dirty="0"/>
                <a:t>Wärmeerzeugung</a:t>
              </a:r>
            </a:p>
          </p:txBody>
        </p:sp>
      </p:grpSp>
      <p:sp>
        <p:nvSpPr>
          <p:cNvPr id="22" name="Rectangle 21">
            <a:extLst>
              <a:ext uri="{FF2B5EF4-FFF2-40B4-BE49-F238E27FC236}">
                <a16:creationId xmlns:a16="http://schemas.microsoft.com/office/drawing/2014/main" id="{6707C1DF-284B-EF1B-1214-F3BF2422396E}"/>
              </a:ext>
            </a:extLst>
          </p:cNvPr>
          <p:cNvSpPr/>
          <p:nvPr/>
        </p:nvSpPr>
        <p:spPr>
          <a:xfrm>
            <a:off x="1956926" y="2594947"/>
            <a:ext cx="1739549" cy="360040"/>
          </a:xfrm>
          <a:prstGeom prst="rect">
            <a:avLst/>
          </a:prstGeom>
          <a:solidFill>
            <a:schemeClr val="accent1"/>
          </a:solidFill>
          <a:ln w="635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Wärme/Fernwärme SPV</a:t>
            </a:r>
          </a:p>
          <a:p>
            <a:pPr algn="ctr"/>
            <a:r>
              <a:rPr lang="de-DE" sz="900" i="1" dirty="0">
                <a:solidFill>
                  <a:schemeClr val="bg1"/>
                </a:solidFill>
              </a:rPr>
              <a:t>post Carve-Out</a:t>
            </a:r>
          </a:p>
        </p:txBody>
      </p:sp>
      <p:sp>
        <p:nvSpPr>
          <p:cNvPr id="30" name="TextBox 29">
            <a:extLst>
              <a:ext uri="{FF2B5EF4-FFF2-40B4-BE49-F238E27FC236}">
                <a16:creationId xmlns:a16="http://schemas.microsoft.com/office/drawing/2014/main" id="{E05DC453-7516-827F-A7C1-60676CC22907}"/>
              </a:ext>
            </a:extLst>
          </p:cNvPr>
          <p:cNvSpPr txBox="1"/>
          <p:nvPr/>
        </p:nvSpPr>
        <p:spPr>
          <a:xfrm>
            <a:off x="1962324" y="2279969"/>
            <a:ext cx="567771" cy="246221"/>
          </a:xfrm>
          <a:prstGeom prst="rect">
            <a:avLst/>
          </a:prstGeom>
          <a:noFill/>
        </p:spPr>
        <p:txBody>
          <a:bodyPr wrap="square" rtlCol="0">
            <a:spAutoFit/>
          </a:bodyPr>
          <a:lstStyle/>
          <a:p>
            <a:pPr algn="ctr"/>
            <a:r>
              <a:rPr lang="de-DE" sz="1000" i="1" dirty="0"/>
              <a:t>X%</a:t>
            </a:r>
          </a:p>
        </p:txBody>
      </p:sp>
      <p:sp>
        <p:nvSpPr>
          <p:cNvPr id="34" name="TextBox 33">
            <a:extLst>
              <a:ext uri="{FF2B5EF4-FFF2-40B4-BE49-F238E27FC236}">
                <a16:creationId xmlns:a16="http://schemas.microsoft.com/office/drawing/2014/main" id="{03ECCCC3-5A49-B562-511A-480981E3A832}"/>
              </a:ext>
            </a:extLst>
          </p:cNvPr>
          <p:cNvSpPr txBox="1"/>
          <p:nvPr/>
        </p:nvSpPr>
        <p:spPr>
          <a:xfrm>
            <a:off x="3122745" y="2279969"/>
            <a:ext cx="567771" cy="246221"/>
          </a:xfrm>
          <a:prstGeom prst="rect">
            <a:avLst/>
          </a:prstGeom>
          <a:noFill/>
        </p:spPr>
        <p:txBody>
          <a:bodyPr wrap="square" rtlCol="0">
            <a:spAutoFit/>
          </a:bodyPr>
          <a:lstStyle/>
          <a:p>
            <a:pPr algn="ctr"/>
            <a:r>
              <a:rPr lang="de-DE" sz="1000" i="1" dirty="0"/>
              <a:t>X%</a:t>
            </a:r>
          </a:p>
        </p:txBody>
      </p:sp>
      <p:cxnSp>
        <p:nvCxnSpPr>
          <p:cNvPr id="29" name="Connector: Elbow 28">
            <a:extLst>
              <a:ext uri="{FF2B5EF4-FFF2-40B4-BE49-F238E27FC236}">
                <a16:creationId xmlns:a16="http://schemas.microsoft.com/office/drawing/2014/main" id="{21B7DE9C-44E0-2BE7-631C-49F82A5D585D}"/>
              </a:ext>
            </a:extLst>
          </p:cNvPr>
          <p:cNvCxnSpPr>
            <a:cxnSpLocks/>
            <a:stCxn id="31" idx="2"/>
            <a:endCxn id="22" idx="3"/>
          </p:cNvCxnSpPr>
          <p:nvPr/>
        </p:nvCxnSpPr>
        <p:spPr>
          <a:xfrm rot="5400000">
            <a:off x="3887893" y="2185937"/>
            <a:ext cx="397613" cy="780447"/>
          </a:xfrm>
          <a:prstGeom prst="bentConnector2">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53060C9-CA87-782A-8828-349977E70B78}"/>
              </a:ext>
            </a:extLst>
          </p:cNvPr>
          <p:cNvSpPr/>
          <p:nvPr/>
        </p:nvSpPr>
        <p:spPr>
          <a:xfrm>
            <a:off x="4014409" y="2131441"/>
            <a:ext cx="925025" cy="245913"/>
          </a:xfrm>
          <a:prstGeom prst="rect">
            <a:avLst/>
          </a:prstGeom>
          <a:solidFill>
            <a:schemeClr val="accent6"/>
          </a:solidFill>
          <a:ln w="63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Investor</a:t>
            </a:r>
            <a:endParaRPr lang="de-DE" sz="800" b="1" dirty="0">
              <a:solidFill>
                <a:schemeClr val="bg1"/>
              </a:solidFill>
            </a:endParaRPr>
          </a:p>
        </p:txBody>
      </p:sp>
      <p:cxnSp>
        <p:nvCxnSpPr>
          <p:cNvPr id="32" name="Connector: Elbow 31">
            <a:extLst>
              <a:ext uri="{FF2B5EF4-FFF2-40B4-BE49-F238E27FC236}">
                <a16:creationId xmlns:a16="http://schemas.microsoft.com/office/drawing/2014/main" id="{D98DA382-D608-B49E-DEB0-9253DC831B68}"/>
              </a:ext>
            </a:extLst>
          </p:cNvPr>
          <p:cNvCxnSpPr>
            <a:cxnSpLocks/>
            <a:stCxn id="35" idx="2"/>
            <a:endCxn id="22" idx="1"/>
          </p:cNvCxnSpPr>
          <p:nvPr/>
        </p:nvCxnSpPr>
        <p:spPr>
          <a:xfrm rot="16200000" flipH="1">
            <a:off x="1367897" y="2185937"/>
            <a:ext cx="397613" cy="780445"/>
          </a:xfrm>
          <a:prstGeom prst="bentConnector2">
            <a:avLst/>
          </a:prstGeom>
          <a:ln w="19050">
            <a:solidFill>
              <a:srgbClr val="3157E3"/>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33613389-A9D3-34E0-BD6F-EC2D080C1D6C}"/>
              </a:ext>
            </a:extLst>
          </p:cNvPr>
          <p:cNvSpPr/>
          <p:nvPr/>
        </p:nvSpPr>
        <p:spPr>
          <a:xfrm>
            <a:off x="713968" y="2131441"/>
            <a:ext cx="925025" cy="245913"/>
          </a:xfrm>
          <a:prstGeom prst="rect">
            <a:avLst/>
          </a:prstGeom>
          <a:solidFill>
            <a:schemeClr val="accent2"/>
          </a:solidFill>
          <a:ln w="63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SWK</a:t>
            </a:r>
            <a:endParaRPr lang="de-DE" sz="800" b="1" dirty="0">
              <a:solidFill>
                <a:schemeClr val="bg1"/>
              </a:solidFill>
            </a:endParaRPr>
          </a:p>
        </p:txBody>
      </p:sp>
      <p:sp>
        <p:nvSpPr>
          <p:cNvPr id="43" name="TextBox 42">
            <a:extLst>
              <a:ext uri="{FF2B5EF4-FFF2-40B4-BE49-F238E27FC236}">
                <a16:creationId xmlns:a16="http://schemas.microsoft.com/office/drawing/2014/main" id="{7AA0E13C-E45B-6B23-C016-D84D3E64332A}"/>
              </a:ext>
            </a:extLst>
          </p:cNvPr>
          <p:cNvSpPr txBox="1"/>
          <p:nvPr/>
        </p:nvSpPr>
        <p:spPr>
          <a:xfrm>
            <a:off x="532450" y="3350905"/>
            <a:ext cx="1288060" cy="861774"/>
          </a:xfrm>
          <a:prstGeom prst="roundRect">
            <a:avLst>
              <a:gd name="adj" fmla="val 3404"/>
            </a:avLst>
          </a:prstGeom>
          <a:solidFill>
            <a:schemeClr val="bg1">
              <a:lumMod val="95000"/>
            </a:schemeClr>
          </a:solidFill>
          <a:ln>
            <a:solidFill>
              <a:srgbClr val="3157E3"/>
            </a:solidFill>
            <a:prstDash val="dash"/>
          </a:ln>
        </p:spPr>
        <p:txBody>
          <a:bodyPr wrap="square" rtlCol="0" anchor="ctr">
            <a:noAutofit/>
          </a:bodyPr>
          <a:lstStyle/>
          <a:p>
            <a:pPr algn="ctr"/>
            <a:r>
              <a:rPr lang="de-DE" sz="900" i="1" dirty="0">
                <a:solidFill>
                  <a:schemeClr val="accent1"/>
                </a:solidFill>
              </a:rPr>
              <a:t>Einbringung</a:t>
            </a:r>
            <a:br>
              <a:rPr lang="de-DE" sz="900" i="1" dirty="0">
                <a:solidFill>
                  <a:schemeClr val="accent1"/>
                </a:solidFill>
              </a:rPr>
            </a:br>
            <a:r>
              <a:rPr lang="de-DE" sz="900" i="1" dirty="0">
                <a:solidFill>
                  <a:schemeClr val="accent1"/>
                </a:solidFill>
              </a:rPr>
              <a:t>Carve-Out Wärme/ Fernwärmenetz/</a:t>
            </a:r>
            <a:br>
              <a:rPr lang="de-DE" sz="900" i="1" dirty="0">
                <a:solidFill>
                  <a:schemeClr val="accent1"/>
                </a:solidFill>
              </a:rPr>
            </a:br>
            <a:r>
              <a:rPr lang="de-DE" sz="900" i="1" dirty="0" err="1">
                <a:solidFill>
                  <a:schemeClr val="accent1"/>
                </a:solidFill>
              </a:rPr>
              <a:t>Contracting</a:t>
            </a:r>
            <a:r>
              <a:rPr lang="de-DE" sz="900" i="1" dirty="0">
                <a:solidFill>
                  <a:schemeClr val="accent1"/>
                </a:solidFill>
              </a:rPr>
              <a:t>/EE-Erzeugung/Verträge</a:t>
            </a:r>
          </a:p>
        </p:txBody>
      </p:sp>
      <p:sp>
        <p:nvSpPr>
          <p:cNvPr id="46" name="TextBox 45">
            <a:extLst>
              <a:ext uri="{FF2B5EF4-FFF2-40B4-BE49-F238E27FC236}">
                <a16:creationId xmlns:a16="http://schemas.microsoft.com/office/drawing/2014/main" id="{2943A25D-44DA-7195-BEFA-BFDC5BF63070}"/>
              </a:ext>
            </a:extLst>
          </p:cNvPr>
          <p:cNvSpPr txBox="1"/>
          <p:nvPr/>
        </p:nvSpPr>
        <p:spPr>
          <a:xfrm>
            <a:off x="3832891" y="3350905"/>
            <a:ext cx="1288060" cy="861774"/>
          </a:xfrm>
          <a:prstGeom prst="roundRect">
            <a:avLst>
              <a:gd name="adj" fmla="val 3404"/>
            </a:avLst>
          </a:prstGeom>
          <a:solidFill>
            <a:schemeClr val="bg1">
              <a:lumMod val="95000"/>
            </a:schemeClr>
          </a:solidFill>
          <a:ln>
            <a:solidFill>
              <a:srgbClr val="FF9900"/>
            </a:solidFill>
            <a:prstDash val="dash"/>
          </a:ln>
        </p:spPr>
        <p:txBody>
          <a:bodyPr wrap="square" rtlCol="0" anchor="ctr">
            <a:noAutofit/>
          </a:bodyPr>
          <a:lstStyle/>
          <a:p>
            <a:pPr algn="ctr"/>
            <a:r>
              <a:rPr lang="de-DE" sz="900" i="1" dirty="0">
                <a:solidFill>
                  <a:schemeClr val="accent1"/>
                </a:solidFill>
              </a:rPr>
              <a:t>Einbringung EK für Capex und Kaufpreis</a:t>
            </a:r>
          </a:p>
        </p:txBody>
      </p:sp>
      <p:sp>
        <p:nvSpPr>
          <p:cNvPr id="50" name="Rectangle 49">
            <a:extLst>
              <a:ext uri="{FF2B5EF4-FFF2-40B4-BE49-F238E27FC236}">
                <a16:creationId xmlns:a16="http://schemas.microsoft.com/office/drawing/2014/main" id="{A9972937-E344-F554-91DA-CD512AF466BD}"/>
              </a:ext>
            </a:extLst>
          </p:cNvPr>
          <p:cNvSpPr/>
          <p:nvPr/>
        </p:nvSpPr>
        <p:spPr>
          <a:xfrm>
            <a:off x="5418700" y="1872390"/>
            <a:ext cx="4896000" cy="2899435"/>
          </a:xfrm>
          <a:prstGeom prst="rect">
            <a:avLst/>
          </a:prstGeom>
          <a:solidFill>
            <a:srgbClr val="F3F8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pPr marL="176400" indent="-176400">
              <a:spcBef>
                <a:spcPts val="600"/>
              </a:spcBef>
              <a:spcAft>
                <a:spcPts val="600"/>
              </a:spcAft>
              <a:buClr>
                <a:schemeClr val="accent1"/>
              </a:buClr>
              <a:buFont typeface="Wingdings" panose="05000000000000000000" pitchFamily="2" charset="2"/>
              <a:buChar char="n"/>
            </a:pPr>
            <a:r>
              <a:rPr lang="de-DE" sz="1000" dirty="0">
                <a:solidFill>
                  <a:schemeClr val="tx1"/>
                </a:solidFill>
              </a:rPr>
              <a:t>SWK Energie</a:t>
            </a:r>
          </a:p>
          <a:p>
            <a:pPr marL="176400" indent="-176400">
              <a:spcBef>
                <a:spcPts val="600"/>
              </a:spcBef>
              <a:spcAft>
                <a:spcPts val="600"/>
              </a:spcAft>
              <a:buClr>
                <a:schemeClr val="accent1"/>
              </a:buClr>
              <a:buFont typeface="Wingdings" panose="05000000000000000000" pitchFamily="2" charset="2"/>
              <a:buChar char="n"/>
            </a:pPr>
            <a:r>
              <a:rPr lang="de-DE" sz="1000" dirty="0" err="1">
                <a:solidFill>
                  <a:schemeClr val="tx1"/>
                </a:solidFill>
              </a:rPr>
              <a:t>lekker</a:t>
            </a:r>
            <a:r>
              <a:rPr lang="de-DE" sz="1000" dirty="0">
                <a:solidFill>
                  <a:schemeClr val="tx1"/>
                </a:solidFill>
              </a:rPr>
              <a:t> Energie</a:t>
            </a:r>
          </a:p>
          <a:p>
            <a:pPr marL="176400" indent="-176400">
              <a:spcBef>
                <a:spcPts val="600"/>
              </a:spcBef>
              <a:spcAft>
                <a:spcPts val="600"/>
              </a:spcAft>
              <a:buClr>
                <a:schemeClr val="accent1"/>
              </a:buClr>
              <a:buFont typeface="Wingdings" panose="05000000000000000000" pitchFamily="2" charset="2"/>
              <a:buChar char="n"/>
            </a:pPr>
            <a:r>
              <a:rPr lang="de-DE" sz="1000" dirty="0">
                <a:solidFill>
                  <a:schemeClr val="tx1"/>
                </a:solidFill>
              </a:rPr>
              <a:t>IDN</a:t>
            </a:r>
          </a:p>
          <a:p>
            <a:pPr marL="176400" indent="-176400">
              <a:spcBef>
                <a:spcPts val="600"/>
              </a:spcBef>
              <a:spcAft>
                <a:spcPts val="600"/>
              </a:spcAft>
              <a:buClr>
                <a:schemeClr val="accent1"/>
              </a:buClr>
              <a:buFont typeface="Wingdings" panose="05000000000000000000" pitchFamily="2" charset="2"/>
              <a:buChar char="n"/>
            </a:pPr>
            <a:r>
              <a:rPr lang="de-DE" sz="1000" dirty="0">
                <a:solidFill>
                  <a:schemeClr val="tx1"/>
                </a:solidFill>
              </a:rPr>
              <a:t>EGN, </a:t>
            </a:r>
            <a:r>
              <a:rPr lang="de-DE" sz="1000" dirty="0" err="1">
                <a:solidFill>
                  <a:schemeClr val="tx1"/>
                </a:solidFill>
              </a:rPr>
              <a:t>Curanto</a:t>
            </a:r>
            <a:r>
              <a:rPr lang="de-DE" sz="1000" dirty="0">
                <a:solidFill>
                  <a:schemeClr val="tx1"/>
                </a:solidFill>
              </a:rPr>
              <a:t>, "</a:t>
            </a:r>
            <a:r>
              <a:rPr lang="de-DE" sz="1000" dirty="0" err="1">
                <a:solidFill>
                  <a:schemeClr val="tx1"/>
                </a:solidFill>
              </a:rPr>
              <a:t>Waste</a:t>
            </a:r>
            <a:r>
              <a:rPr lang="de-DE" sz="1000" dirty="0">
                <a:solidFill>
                  <a:schemeClr val="tx1"/>
                </a:solidFill>
              </a:rPr>
              <a:t>-</a:t>
            </a:r>
            <a:r>
              <a:rPr lang="de-DE" sz="1000" dirty="0" err="1">
                <a:solidFill>
                  <a:schemeClr val="tx1"/>
                </a:solidFill>
              </a:rPr>
              <a:t>to</a:t>
            </a:r>
            <a:r>
              <a:rPr lang="de-DE" sz="1000" dirty="0">
                <a:solidFill>
                  <a:schemeClr val="tx1"/>
                </a:solidFill>
              </a:rPr>
              <a:t>-Energy"</a:t>
            </a:r>
          </a:p>
          <a:p>
            <a:pPr marL="176400" indent="-176400">
              <a:spcBef>
                <a:spcPts val="600"/>
              </a:spcBef>
              <a:spcAft>
                <a:spcPts val="600"/>
              </a:spcAft>
              <a:buClr>
                <a:schemeClr val="accent1"/>
              </a:buClr>
              <a:buFont typeface="Wingdings" panose="05000000000000000000" pitchFamily="2" charset="2"/>
              <a:buChar char="n"/>
            </a:pPr>
            <a:r>
              <a:rPr lang="de-DE" sz="1000" dirty="0">
                <a:solidFill>
                  <a:schemeClr val="tx1"/>
                </a:solidFill>
              </a:rPr>
              <a:t>Erneuerbare Energien Portfolio</a:t>
            </a:r>
          </a:p>
        </p:txBody>
      </p:sp>
      <p:sp>
        <p:nvSpPr>
          <p:cNvPr id="51" name="Rectangle 50">
            <a:extLst>
              <a:ext uri="{FF2B5EF4-FFF2-40B4-BE49-F238E27FC236}">
                <a16:creationId xmlns:a16="http://schemas.microsoft.com/office/drawing/2014/main" id="{CEB84CEB-B607-3181-797D-0C2B9027F341}"/>
              </a:ext>
            </a:extLst>
          </p:cNvPr>
          <p:cNvSpPr/>
          <p:nvPr/>
        </p:nvSpPr>
        <p:spPr>
          <a:xfrm>
            <a:off x="5418700" y="1620391"/>
            <a:ext cx="4896000" cy="252000"/>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bg1"/>
                </a:solidFill>
              </a:rPr>
              <a:t>(private) Beteiligung an Unternehmen/Assets</a:t>
            </a:r>
            <a:endParaRPr lang="de-DE" sz="1000" b="1" baseline="30000" dirty="0">
              <a:solidFill>
                <a:schemeClr val="bg1"/>
              </a:solidFill>
            </a:endParaRPr>
          </a:p>
        </p:txBody>
      </p:sp>
    </p:spTree>
    <p:extLst>
      <p:ext uri="{BB962C8B-B14F-4D97-AF65-F5344CB8AC3E}">
        <p14:creationId xmlns:p14="http://schemas.microsoft.com/office/powerpoint/2010/main" val="1032114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EB152B80-E18E-4855-B419-C5DD509EAEF1}"/>
              </a:ext>
            </a:extLst>
          </p:cNvPr>
          <p:cNvGraphicFramePr>
            <a:graphicFrameLocks/>
          </p:cNvGraphicFramePr>
          <p:nvPr>
            <p:custDataLst>
              <p:tags r:id="rId1"/>
            </p:custDataLst>
            <p:extLst>
              <p:ext uri="{D42A27DB-BD31-4B8C-83A1-F6EECF244321}">
                <p14:modId xmlns:p14="http://schemas.microsoft.com/office/powerpoint/2010/main" val="35457392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6" name="Object 35" hidden="1">
                        <a:extLst>
                          <a:ext uri="{FF2B5EF4-FFF2-40B4-BE49-F238E27FC236}">
                            <a16:creationId xmlns:a16="http://schemas.microsoft.com/office/drawing/2014/main" id="{EB152B80-E18E-4855-B419-C5DD509EAE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ACEE004-BE1E-43BB-B65D-D859E83A4EBA}"/>
              </a:ext>
            </a:extLst>
          </p:cNvPr>
          <p:cNvSpPr>
            <a:spLocks noGrp="1"/>
          </p:cNvSpPr>
          <p:nvPr>
            <p:ph type="title"/>
          </p:nvPr>
        </p:nvSpPr>
        <p:spPr/>
        <p:txBody>
          <a:bodyPr vert="horz" rIns="0"/>
          <a:lstStyle/>
          <a:p>
            <a:r>
              <a:rPr lang="de-DE" dirty="0"/>
              <a:t>Die SWK-Gruppe ist grundsätzlich stark aufgestellt, um selber </a:t>
            </a:r>
            <a:r>
              <a:rPr lang="de-DE" dirty="0" err="1"/>
              <a:t>akquisitiv</a:t>
            </a:r>
            <a:r>
              <a:rPr lang="de-DE" dirty="0"/>
              <a:t> zu werden</a:t>
            </a:r>
          </a:p>
        </p:txBody>
      </p:sp>
      <p:sp>
        <p:nvSpPr>
          <p:cNvPr id="4" name="Text Placeholder 3">
            <a:extLst>
              <a:ext uri="{FF2B5EF4-FFF2-40B4-BE49-F238E27FC236}">
                <a16:creationId xmlns:a16="http://schemas.microsoft.com/office/drawing/2014/main" id="{F70141C8-CEAD-4F09-8E9E-FD88D12E3536}"/>
              </a:ext>
            </a:extLst>
          </p:cNvPr>
          <p:cNvSpPr>
            <a:spLocks noGrp="1"/>
          </p:cNvSpPr>
          <p:nvPr>
            <p:ph type="body" sz="quarter" idx="13"/>
          </p:nvPr>
        </p:nvSpPr>
        <p:spPr/>
        <p:txBody>
          <a:bodyPr/>
          <a:lstStyle/>
          <a:p>
            <a:r>
              <a:rPr lang="de-DE" dirty="0"/>
              <a:t>3. Diskussion möglicher Handlungsoptionen</a:t>
            </a:r>
            <a:endParaRPr lang="de-DE" sz="1000" dirty="0"/>
          </a:p>
        </p:txBody>
      </p:sp>
      <p:sp>
        <p:nvSpPr>
          <p:cNvPr id="5" name="Text Placeholder 4">
            <a:extLst>
              <a:ext uri="{FF2B5EF4-FFF2-40B4-BE49-F238E27FC236}">
                <a16:creationId xmlns:a16="http://schemas.microsoft.com/office/drawing/2014/main" id="{82A61653-3307-4DCD-A60C-0249EB811234}"/>
              </a:ext>
            </a:extLst>
          </p:cNvPr>
          <p:cNvSpPr>
            <a:spLocks noGrp="1"/>
          </p:cNvSpPr>
          <p:nvPr>
            <p:ph type="body" sz="quarter" idx="14"/>
          </p:nvPr>
        </p:nvSpPr>
        <p:spPr/>
        <p:txBody>
          <a:bodyPr/>
          <a:lstStyle/>
          <a:p>
            <a:endParaRPr lang="de-DE"/>
          </a:p>
        </p:txBody>
      </p:sp>
      <p:sp>
        <p:nvSpPr>
          <p:cNvPr id="6" name="Text Placeholder 5">
            <a:extLst>
              <a:ext uri="{FF2B5EF4-FFF2-40B4-BE49-F238E27FC236}">
                <a16:creationId xmlns:a16="http://schemas.microsoft.com/office/drawing/2014/main" id="{B651E62E-217C-4545-9DE1-AB3F9C342C49}"/>
              </a:ext>
            </a:extLst>
          </p:cNvPr>
          <p:cNvSpPr>
            <a:spLocks noGrp="1"/>
          </p:cNvSpPr>
          <p:nvPr>
            <p:ph type="body" sz="quarter" idx="15"/>
          </p:nvPr>
        </p:nvSpPr>
        <p:spPr/>
        <p:txBody>
          <a:bodyPr/>
          <a:lstStyle/>
          <a:p>
            <a:endParaRPr lang="de-DE"/>
          </a:p>
        </p:txBody>
      </p:sp>
      <p:sp>
        <p:nvSpPr>
          <p:cNvPr id="7" name="Rectangle 6">
            <a:extLst>
              <a:ext uri="{FF2B5EF4-FFF2-40B4-BE49-F238E27FC236}">
                <a16:creationId xmlns:a16="http://schemas.microsoft.com/office/drawing/2014/main" id="{E316C044-CB18-B918-8FE9-06865BBFDA16}"/>
              </a:ext>
            </a:extLst>
          </p:cNvPr>
          <p:cNvSpPr/>
          <p:nvPr/>
        </p:nvSpPr>
        <p:spPr>
          <a:xfrm>
            <a:off x="5418700" y="1717085"/>
            <a:ext cx="4896000" cy="1656184"/>
          </a:xfrm>
          <a:prstGeom prst="rect">
            <a:avLst/>
          </a:prstGeom>
          <a:gradFill flip="none" rotWithShape="1">
            <a:gsLst>
              <a:gs pos="0">
                <a:schemeClr val="accent4">
                  <a:lumMod val="20000"/>
                  <a:lumOff val="80000"/>
                </a:schemeClr>
              </a:gs>
              <a:gs pos="100000">
                <a:schemeClr val="bg1"/>
              </a:gs>
            </a:gsLst>
            <a:lin ang="18900000" scaled="1"/>
            <a:tileRect/>
          </a:gra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tangle 9">
            <a:extLst>
              <a:ext uri="{FF2B5EF4-FFF2-40B4-BE49-F238E27FC236}">
                <a16:creationId xmlns:a16="http://schemas.microsoft.com/office/drawing/2014/main" id="{FAA7AD1A-CD71-DBE0-2E06-56A7427A20D1}"/>
              </a:ext>
            </a:extLst>
          </p:cNvPr>
          <p:cNvSpPr/>
          <p:nvPr/>
        </p:nvSpPr>
        <p:spPr>
          <a:xfrm>
            <a:off x="378700" y="1717085"/>
            <a:ext cx="4896000" cy="1656184"/>
          </a:xfrm>
          <a:prstGeom prst="rect">
            <a:avLst/>
          </a:prstGeom>
          <a:gradFill flip="none" rotWithShape="1">
            <a:gsLst>
              <a:gs pos="0">
                <a:schemeClr val="accent4">
                  <a:lumMod val="20000"/>
                  <a:lumOff val="80000"/>
                </a:schemeClr>
              </a:gs>
              <a:gs pos="100000">
                <a:schemeClr val="bg1"/>
              </a:gs>
            </a:gsLst>
            <a:lin ang="13500000" scaled="1"/>
            <a:tileRect/>
          </a:gra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tangle 11">
            <a:extLst>
              <a:ext uri="{FF2B5EF4-FFF2-40B4-BE49-F238E27FC236}">
                <a16:creationId xmlns:a16="http://schemas.microsoft.com/office/drawing/2014/main" id="{7DC0825B-5453-8092-3AAE-256B03BE1876}"/>
              </a:ext>
            </a:extLst>
          </p:cNvPr>
          <p:cNvSpPr/>
          <p:nvPr/>
        </p:nvSpPr>
        <p:spPr>
          <a:xfrm>
            <a:off x="5418700" y="3419224"/>
            <a:ext cx="4896000" cy="1656184"/>
          </a:xfrm>
          <a:prstGeom prst="rect">
            <a:avLst/>
          </a:prstGeom>
          <a:gradFill flip="none" rotWithShape="1">
            <a:gsLst>
              <a:gs pos="0">
                <a:schemeClr val="accent4">
                  <a:lumMod val="20000"/>
                  <a:lumOff val="80000"/>
                </a:schemeClr>
              </a:gs>
              <a:gs pos="100000">
                <a:schemeClr val="bg1"/>
              </a:gs>
            </a:gsLst>
            <a:lin ang="0" scaled="1"/>
            <a:tileRect/>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Rectangle 18">
            <a:extLst>
              <a:ext uri="{FF2B5EF4-FFF2-40B4-BE49-F238E27FC236}">
                <a16:creationId xmlns:a16="http://schemas.microsoft.com/office/drawing/2014/main" id="{FCD58859-D656-8ED0-7F29-0F261E01260C}"/>
              </a:ext>
            </a:extLst>
          </p:cNvPr>
          <p:cNvSpPr/>
          <p:nvPr/>
        </p:nvSpPr>
        <p:spPr>
          <a:xfrm>
            <a:off x="378700" y="3419224"/>
            <a:ext cx="4896000" cy="1656184"/>
          </a:xfrm>
          <a:prstGeom prst="rect">
            <a:avLst/>
          </a:prstGeom>
          <a:gradFill flip="none" rotWithShape="1">
            <a:gsLst>
              <a:gs pos="0">
                <a:schemeClr val="accent4">
                  <a:lumMod val="20000"/>
                  <a:lumOff val="80000"/>
                </a:schemeClr>
              </a:gs>
              <a:gs pos="100000">
                <a:schemeClr val="bg1"/>
              </a:gs>
            </a:gsLst>
            <a:lin ang="10800000" scaled="1"/>
            <a:tileRect/>
          </a:gra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Rectangle 29">
            <a:extLst>
              <a:ext uri="{FF2B5EF4-FFF2-40B4-BE49-F238E27FC236}">
                <a16:creationId xmlns:a16="http://schemas.microsoft.com/office/drawing/2014/main" id="{7E688784-35C9-E31F-481A-B2DD80F6DAB5}"/>
              </a:ext>
            </a:extLst>
          </p:cNvPr>
          <p:cNvSpPr/>
          <p:nvPr/>
        </p:nvSpPr>
        <p:spPr>
          <a:xfrm>
            <a:off x="5418700" y="5121362"/>
            <a:ext cx="4896000" cy="1656184"/>
          </a:xfrm>
          <a:prstGeom prst="rect">
            <a:avLst/>
          </a:prstGeom>
          <a:gradFill flip="none" rotWithShape="1">
            <a:gsLst>
              <a:gs pos="0">
                <a:schemeClr val="accent4">
                  <a:lumMod val="20000"/>
                  <a:lumOff val="80000"/>
                </a:schemeClr>
              </a:gs>
              <a:gs pos="100000">
                <a:schemeClr val="bg1"/>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1" name="Rectangle 30">
            <a:extLst>
              <a:ext uri="{FF2B5EF4-FFF2-40B4-BE49-F238E27FC236}">
                <a16:creationId xmlns:a16="http://schemas.microsoft.com/office/drawing/2014/main" id="{3FF3A5A1-99F7-EB31-0BAB-7B1020DA4FF5}"/>
              </a:ext>
            </a:extLst>
          </p:cNvPr>
          <p:cNvSpPr/>
          <p:nvPr/>
        </p:nvSpPr>
        <p:spPr>
          <a:xfrm>
            <a:off x="378700" y="5121362"/>
            <a:ext cx="4896000" cy="1656184"/>
          </a:xfrm>
          <a:prstGeom prst="rect">
            <a:avLst/>
          </a:prstGeom>
          <a:gradFill flip="none" rotWithShape="1">
            <a:gsLst>
              <a:gs pos="0">
                <a:schemeClr val="accent4">
                  <a:lumMod val="20000"/>
                  <a:lumOff val="80000"/>
                </a:schemeClr>
              </a:gs>
              <a:gs pos="100000">
                <a:schemeClr val="bg1"/>
              </a:gs>
            </a:gsLst>
            <a:lin ang="8100000" scaled="1"/>
            <a:tileRect/>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Box 34">
            <a:extLst>
              <a:ext uri="{FF2B5EF4-FFF2-40B4-BE49-F238E27FC236}">
                <a16:creationId xmlns:a16="http://schemas.microsoft.com/office/drawing/2014/main" id="{F7D44A50-036C-BE60-F7C5-D32C5CAB0D51}"/>
              </a:ext>
            </a:extLst>
          </p:cNvPr>
          <p:cNvSpPr txBox="1"/>
          <p:nvPr/>
        </p:nvSpPr>
        <p:spPr>
          <a:xfrm>
            <a:off x="2322364" y="4140671"/>
            <a:ext cx="5347698" cy="246221"/>
          </a:xfrm>
          <a:prstGeom prst="rect">
            <a:avLst/>
          </a:prstGeom>
          <a:noFill/>
        </p:spPr>
        <p:txBody>
          <a:bodyPr wrap="square">
            <a:spAutoFit/>
          </a:bodyPr>
          <a:lstStyle/>
          <a:p>
            <a:pPr rtl="0"/>
            <a:endParaRPr lang="de-DE" sz="1000" dirty="0"/>
          </a:p>
        </p:txBody>
      </p:sp>
      <p:pic>
        <p:nvPicPr>
          <p:cNvPr id="43" name="Picture 42">
            <a:extLst>
              <a:ext uri="{FF2B5EF4-FFF2-40B4-BE49-F238E27FC236}">
                <a16:creationId xmlns:a16="http://schemas.microsoft.com/office/drawing/2014/main" id="{A4316F3C-9C42-53AD-6A8B-213E5FFB9470}"/>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704737" y="2299106"/>
            <a:ext cx="518619" cy="492143"/>
          </a:xfrm>
          <a:prstGeom prst="rect">
            <a:avLst/>
          </a:prstGeom>
        </p:spPr>
      </p:pic>
      <p:sp>
        <p:nvSpPr>
          <p:cNvPr id="45" name="Rectangle 44">
            <a:extLst>
              <a:ext uri="{FF2B5EF4-FFF2-40B4-BE49-F238E27FC236}">
                <a16:creationId xmlns:a16="http://schemas.microsoft.com/office/drawing/2014/main" id="{B48CF361-B2DC-1E78-55AA-24B3CC4C0226}"/>
              </a:ext>
            </a:extLst>
          </p:cNvPr>
          <p:cNvSpPr/>
          <p:nvPr/>
        </p:nvSpPr>
        <p:spPr>
          <a:xfrm>
            <a:off x="1331740" y="2057418"/>
            <a:ext cx="2677954" cy="9755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400" b="1" dirty="0">
                <a:solidFill>
                  <a:schemeClr val="accent1"/>
                </a:solidFill>
              </a:rPr>
              <a:t>Expansion in neuen</a:t>
            </a:r>
            <a:br>
              <a:rPr lang="de-DE" sz="1400" b="1" dirty="0">
                <a:solidFill>
                  <a:schemeClr val="accent1"/>
                </a:solidFill>
              </a:rPr>
            </a:br>
            <a:r>
              <a:rPr lang="de-DE" sz="1400" b="1" dirty="0">
                <a:solidFill>
                  <a:schemeClr val="accent1"/>
                </a:solidFill>
              </a:rPr>
              <a:t>Regionen/Übernahme kleinerer Stadtwerke</a:t>
            </a:r>
          </a:p>
        </p:txBody>
      </p:sp>
      <p:sp>
        <p:nvSpPr>
          <p:cNvPr id="46" name="Rectangle 45">
            <a:extLst>
              <a:ext uri="{FF2B5EF4-FFF2-40B4-BE49-F238E27FC236}">
                <a16:creationId xmlns:a16="http://schemas.microsoft.com/office/drawing/2014/main" id="{B1EAE076-E27C-7C51-C947-5D71E9044BD6}"/>
              </a:ext>
            </a:extLst>
          </p:cNvPr>
          <p:cNvSpPr/>
          <p:nvPr/>
        </p:nvSpPr>
        <p:spPr>
          <a:xfrm>
            <a:off x="1331740" y="3759557"/>
            <a:ext cx="2677954" cy="9755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400" b="1" dirty="0">
                <a:solidFill>
                  <a:schemeClr val="accent1"/>
                </a:solidFill>
              </a:rPr>
              <a:t>Zukauf von Entwicklern und Projekten im Bereich</a:t>
            </a:r>
            <a:br>
              <a:rPr lang="de-DE" sz="1400" b="1" dirty="0">
                <a:solidFill>
                  <a:schemeClr val="accent1"/>
                </a:solidFill>
              </a:rPr>
            </a:br>
            <a:r>
              <a:rPr lang="de-DE" sz="1400" b="1" dirty="0">
                <a:solidFill>
                  <a:schemeClr val="accent1"/>
                </a:solidFill>
              </a:rPr>
              <a:t>Erneuerbare Energien</a:t>
            </a:r>
          </a:p>
        </p:txBody>
      </p:sp>
      <p:sp>
        <p:nvSpPr>
          <p:cNvPr id="47" name="Rectangle 46">
            <a:extLst>
              <a:ext uri="{FF2B5EF4-FFF2-40B4-BE49-F238E27FC236}">
                <a16:creationId xmlns:a16="http://schemas.microsoft.com/office/drawing/2014/main" id="{A74E65BC-C7C1-7230-A9BF-E83C2195EF85}"/>
              </a:ext>
            </a:extLst>
          </p:cNvPr>
          <p:cNvSpPr/>
          <p:nvPr/>
        </p:nvSpPr>
        <p:spPr>
          <a:xfrm>
            <a:off x="1331740" y="5461695"/>
            <a:ext cx="2677954" cy="9755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400" b="1" dirty="0">
                <a:solidFill>
                  <a:schemeClr val="accent1"/>
                </a:solidFill>
              </a:rPr>
              <a:t>Zukauf weiterer Vertriebsplattformen oder Kundenportfolien</a:t>
            </a:r>
          </a:p>
        </p:txBody>
      </p:sp>
      <p:sp>
        <p:nvSpPr>
          <p:cNvPr id="48" name="Rectangle 47">
            <a:extLst>
              <a:ext uri="{FF2B5EF4-FFF2-40B4-BE49-F238E27FC236}">
                <a16:creationId xmlns:a16="http://schemas.microsoft.com/office/drawing/2014/main" id="{1E7C432D-204A-19EA-746C-85322A9ED29A}"/>
              </a:ext>
            </a:extLst>
          </p:cNvPr>
          <p:cNvSpPr/>
          <p:nvPr/>
        </p:nvSpPr>
        <p:spPr>
          <a:xfrm>
            <a:off x="6714852" y="2057418"/>
            <a:ext cx="2677954" cy="9755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400" b="1" dirty="0">
                <a:solidFill>
                  <a:schemeClr val="accent1"/>
                </a:solidFill>
              </a:rPr>
              <a:t>Dienstleistungs-Plattform im PV-/Wärmegeschäft als Ergänzung zu </a:t>
            </a:r>
            <a:r>
              <a:rPr lang="de-DE" sz="1400" b="1" dirty="0" err="1">
                <a:solidFill>
                  <a:schemeClr val="accent1"/>
                </a:solidFill>
              </a:rPr>
              <a:t>lekker</a:t>
            </a:r>
            <a:r>
              <a:rPr lang="de-DE" sz="1400" b="1" dirty="0">
                <a:solidFill>
                  <a:schemeClr val="accent1"/>
                </a:solidFill>
              </a:rPr>
              <a:t> </a:t>
            </a:r>
          </a:p>
        </p:txBody>
      </p:sp>
      <p:sp>
        <p:nvSpPr>
          <p:cNvPr id="49" name="Rectangle 48">
            <a:extLst>
              <a:ext uri="{FF2B5EF4-FFF2-40B4-BE49-F238E27FC236}">
                <a16:creationId xmlns:a16="http://schemas.microsoft.com/office/drawing/2014/main" id="{86EF0ECF-6910-9FD6-CE58-3E91761E07AB}"/>
              </a:ext>
            </a:extLst>
          </p:cNvPr>
          <p:cNvSpPr/>
          <p:nvPr/>
        </p:nvSpPr>
        <p:spPr>
          <a:xfrm>
            <a:off x="6714852" y="3759557"/>
            <a:ext cx="2677954" cy="9755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400" b="1" dirty="0">
                <a:solidFill>
                  <a:schemeClr val="accent1"/>
                </a:solidFill>
              </a:rPr>
              <a:t>Beteiligung an Start-ups im Bereich Mobility, Recycling, Energiedienstleistungen</a:t>
            </a:r>
          </a:p>
        </p:txBody>
      </p:sp>
      <p:sp>
        <p:nvSpPr>
          <p:cNvPr id="50" name="Rectangle 49">
            <a:extLst>
              <a:ext uri="{FF2B5EF4-FFF2-40B4-BE49-F238E27FC236}">
                <a16:creationId xmlns:a16="http://schemas.microsoft.com/office/drawing/2014/main" id="{1BC0E6FE-6077-9417-E0A8-CEAFCB66E318}"/>
              </a:ext>
            </a:extLst>
          </p:cNvPr>
          <p:cNvSpPr/>
          <p:nvPr/>
        </p:nvSpPr>
        <p:spPr>
          <a:xfrm>
            <a:off x="6714852" y="5461695"/>
            <a:ext cx="2677954" cy="9755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400" b="1" dirty="0">
                <a:solidFill>
                  <a:schemeClr val="accent1"/>
                </a:solidFill>
              </a:rPr>
              <a:t>Akquisition im Bereich </a:t>
            </a:r>
            <a:r>
              <a:rPr lang="de-DE" sz="1400" b="1" dirty="0" err="1">
                <a:solidFill>
                  <a:schemeClr val="accent1"/>
                </a:solidFill>
              </a:rPr>
              <a:t>Wärmecontracting</a:t>
            </a:r>
            <a:endParaRPr lang="de-DE" sz="1400" b="1" dirty="0">
              <a:solidFill>
                <a:schemeClr val="accent1"/>
              </a:solidFill>
            </a:endParaRPr>
          </a:p>
        </p:txBody>
      </p:sp>
      <p:grpSp>
        <p:nvGrpSpPr>
          <p:cNvPr id="8" name="Group 7">
            <a:extLst>
              <a:ext uri="{FF2B5EF4-FFF2-40B4-BE49-F238E27FC236}">
                <a16:creationId xmlns:a16="http://schemas.microsoft.com/office/drawing/2014/main" id="{8DBC8BBE-BF72-A719-B5C6-E3772D13378B}"/>
              </a:ext>
            </a:extLst>
          </p:cNvPr>
          <p:cNvGrpSpPr/>
          <p:nvPr/>
        </p:nvGrpSpPr>
        <p:grpSpPr>
          <a:xfrm>
            <a:off x="4037609" y="2938224"/>
            <a:ext cx="2618182" cy="2618182"/>
            <a:chOff x="3906700" y="2807315"/>
            <a:chExt cx="2880000" cy="2880000"/>
          </a:xfrm>
        </p:grpSpPr>
        <p:sp>
          <p:nvSpPr>
            <p:cNvPr id="51" name="Oval 50">
              <a:extLst>
                <a:ext uri="{FF2B5EF4-FFF2-40B4-BE49-F238E27FC236}">
                  <a16:creationId xmlns:a16="http://schemas.microsoft.com/office/drawing/2014/main" id="{E752A3B0-52D0-3115-F8E3-82A927493454}"/>
                </a:ext>
              </a:extLst>
            </p:cNvPr>
            <p:cNvSpPr/>
            <p:nvPr/>
          </p:nvSpPr>
          <p:spPr>
            <a:xfrm>
              <a:off x="3906700" y="2807315"/>
              <a:ext cx="2880000" cy="2880000"/>
            </a:xfrm>
            <a:prstGeom prst="ellipse">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26" name="Picture 2" descr="Krefeld: SWK erhöhen erneut Preise für Gas und Strom">
              <a:extLst>
                <a:ext uri="{FF2B5EF4-FFF2-40B4-BE49-F238E27FC236}">
                  <a16:creationId xmlns:a16="http://schemas.microsoft.com/office/drawing/2014/main" id="{287BCB02-2951-3A27-A5EB-8114669E805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8379" r="15617"/>
            <a:stretch/>
          </p:blipFill>
          <p:spPr bwMode="auto">
            <a:xfrm>
              <a:off x="3906700" y="2807315"/>
              <a:ext cx="2880000" cy="2880000"/>
            </a:xfrm>
            <a:prstGeom prst="ellipse">
              <a:avLst/>
            </a:prstGeom>
            <a:solidFill>
              <a:schemeClr val="bg1"/>
            </a:solidFill>
            <a:ln w="19050">
              <a:solidFill>
                <a:schemeClr val="accent1"/>
              </a:solidFill>
            </a:ln>
            <a:effectLst>
              <a:outerShdw blurRad="63500" sx="102000" sy="102000" algn="ctr" rotWithShape="0">
                <a:prstClr val="black">
                  <a:alpha val="40000"/>
                </a:prstClr>
              </a:outerShdw>
            </a:effectLst>
          </p:spPr>
        </p:pic>
        <p:grpSp>
          <p:nvGrpSpPr>
            <p:cNvPr id="14" name="Group 13">
              <a:extLst>
                <a:ext uri="{FF2B5EF4-FFF2-40B4-BE49-F238E27FC236}">
                  <a16:creationId xmlns:a16="http://schemas.microsoft.com/office/drawing/2014/main" id="{C399C3E9-8354-59B5-5B79-38DD378B8D2E}"/>
                </a:ext>
              </a:extLst>
            </p:cNvPr>
            <p:cNvGrpSpPr/>
            <p:nvPr/>
          </p:nvGrpSpPr>
          <p:grpSpPr>
            <a:xfrm>
              <a:off x="3906700" y="2807315"/>
              <a:ext cx="2880000" cy="2880000"/>
              <a:chOff x="3906700" y="2807315"/>
              <a:chExt cx="2880000" cy="2880000"/>
            </a:xfrm>
          </p:grpSpPr>
          <p:grpSp>
            <p:nvGrpSpPr>
              <p:cNvPr id="9" name="Group 8">
                <a:extLst>
                  <a:ext uri="{FF2B5EF4-FFF2-40B4-BE49-F238E27FC236}">
                    <a16:creationId xmlns:a16="http://schemas.microsoft.com/office/drawing/2014/main" id="{03AFA172-9F68-FA11-34E8-CF722F922C4C}"/>
                  </a:ext>
                </a:extLst>
              </p:cNvPr>
              <p:cNvGrpSpPr/>
              <p:nvPr/>
            </p:nvGrpSpPr>
            <p:grpSpPr>
              <a:xfrm>
                <a:off x="3906700" y="2807315"/>
                <a:ext cx="2880000" cy="2880000"/>
                <a:chOff x="3906700" y="2807315"/>
                <a:chExt cx="2880000" cy="2880000"/>
              </a:xfrm>
            </p:grpSpPr>
            <p:sp>
              <p:nvSpPr>
                <p:cNvPr id="61" name="Oval 60">
                  <a:extLst>
                    <a:ext uri="{FF2B5EF4-FFF2-40B4-BE49-F238E27FC236}">
                      <a16:creationId xmlns:a16="http://schemas.microsoft.com/office/drawing/2014/main" id="{65A4B80C-508C-465D-C9A9-BE0C8B8CA3E7}"/>
                    </a:ext>
                  </a:extLst>
                </p:cNvPr>
                <p:cNvSpPr/>
                <p:nvPr/>
              </p:nvSpPr>
              <p:spPr>
                <a:xfrm>
                  <a:off x="3906700" y="2807315"/>
                  <a:ext cx="2880000" cy="2880000"/>
                </a:xfrm>
                <a:prstGeom prst="ellipse">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2" name="Rectangle 51">
                  <a:extLst>
                    <a:ext uri="{FF2B5EF4-FFF2-40B4-BE49-F238E27FC236}">
                      <a16:creationId xmlns:a16="http://schemas.microsoft.com/office/drawing/2014/main" id="{097CF9DE-1734-60AE-CE1B-62BB1B537803}"/>
                    </a:ext>
                  </a:extLst>
                </p:cNvPr>
                <p:cNvSpPr/>
                <p:nvPr/>
              </p:nvSpPr>
              <p:spPr>
                <a:xfrm>
                  <a:off x="4232403" y="3093144"/>
                  <a:ext cx="2272229" cy="9755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1400" b="1" dirty="0">
                      <a:solidFill>
                        <a:schemeClr val="accent1"/>
                      </a:solidFill>
                    </a:rPr>
                    <a:t>Mögliche</a:t>
                  </a:r>
                  <a:br>
                    <a:rPr lang="de-DE" sz="1400" b="1" dirty="0">
                      <a:solidFill>
                        <a:schemeClr val="accent1"/>
                      </a:solidFill>
                    </a:rPr>
                  </a:br>
                  <a:r>
                    <a:rPr lang="de-DE" sz="1400" b="1" dirty="0">
                      <a:solidFill>
                        <a:schemeClr val="accent1"/>
                      </a:solidFill>
                    </a:rPr>
                    <a:t>strategische Ziele</a:t>
                  </a:r>
                </a:p>
              </p:txBody>
            </p:sp>
          </p:grpSp>
          <p:pic>
            <p:nvPicPr>
              <p:cNvPr id="13" name="Picture 12">
                <a:extLst>
                  <a:ext uri="{FF2B5EF4-FFF2-40B4-BE49-F238E27FC236}">
                    <a16:creationId xmlns:a16="http://schemas.microsoft.com/office/drawing/2014/main" id="{98D341FB-CD13-AF18-AB43-297C85F20AF2}"/>
                  </a:ext>
                </a:extLst>
              </p:cNvPr>
              <p:cNvPicPr>
                <a:picLocks noChangeAspect="1"/>
              </p:cNvPicPr>
              <p:nvPr/>
            </p:nvPicPr>
            <p:blipFill>
              <a:blip r:embed="rId7"/>
              <a:stretch>
                <a:fillRect/>
              </a:stretch>
            </p:blipFill>
            <p:spPr>
              <a:xfrm>
                <a:off x="4572000" y="4536396"/>
                <a:ext cx="1549400" cy="600393"/>
              </a:xfrm>
              <a:prstGeom prst="rect">
                <a:avLst/>
              </a:prstGeom>
            </p:spPr>
          </p:pic>
        </p:grpSp>
      </p:grpSp>
      <p:pic>
        <p:nvPicPr>
          <p:cNvPr id="23" name="Graphic 22">
            <a:extLst>
              <a:ext uri="{FF2B5EF4-FFF2-40B4-BE49-F238E27FC236}">
                <a16:creationId xmlns:a16="http://schemas.microsoft.com/office/drawing/2014/main" id="{5E7F6871-A445-6758-6835-5B30CB7999D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514645" y="5661077"/>
            <a:ext cx="576755" cy="576755"/>
          </a:xfrm>
          <a:prstGeom prst="rect">
            <a:avLst/>
          </a:prstGeom>
        </p:spPr>
      </p:pic>
      <p:pic>
        <p:nvPicPr>
          <p:cNvPr id="15" name="Graphic 14">
            <a:extLst>
              <a:ext uri="{FF2B5EF4-FFF2-40B4-BE49-F238E27FC236}">
                <a16:creationId xmlns:a16="http://schemas.microsoft.com/office/drawing/2014/main" id="{4E980D85-00BF-03C5-8660-4052DFA849F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25718" y="4008988"/>
            <a:ext cx="476657" cy="476657"/>
          </a:xfrm>
          <a:prstGeom prst="rect">
            <a:avLst/>
          </a:prstGeom>
        </p:spPr>
      </p:pic>
      <p:pic>
        <p:nvPicPr>
          <p:cNvPr id="18" name="Graphic 17">
            <a:extLst>
              <a:ext uri="{FF2B5EF4-FFF2-40B4-BE49-F238E27FC236}">
                <a16:creationId xmlns:a16="http://schemas.microsoft.com/office/drawing/2014/main" id="{215C19C9-E063-8AB9-B3DC-AC8680BB2DD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46831" y="5632239"/>
            <a:ext cx="634431" cy="634431"/>
          </a:xfrm>
          <a:prstGeom prst="rect">
            <a:avLst/>
          </a:prstGeom>
        </p:spPr>
      </p:pic>
      <p:pic>
        <p:nvPicPr>
          <p:cNvPr id="21" name="Graphic 20">
            <a:extLst>
              <a:ext uri="{FF2B5EF4-FFF2-40B4-BE49-F238E27FC236}">
                <a16:creationId xmlns:a16="http://schemas.microsoft.com/office/drawing/2014/main" id="{56BF11AE-C8FA-2F7D-8BBE-043534B6238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485807" y="3930101"/>
            <a:ext cx="634431" cy="634431"/>
          </a:xfrm>
          <a:prstGeom prst="rect">
            <a:avLst/>
          </a:prstGeom>
        </p:spPr>
      </p:pic>
      <p:pic>
        <p:nvPicPr>
          <p:cNvPr id="24" name="Graphic 23">
            <a:extLst>
              <a:ext uri="{FF2B5EF4-FFF2-40B4-BE49-F238E27FC236}">
                <a16:creationId xmlns:a16="http://schemas.microsoft.com/office/drawing/2014/main" id="{7B19340E-8531-A735-23A8-F9D26D1E13B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64694" y="2306849"/>
            <a:ext cx="476657" cy="476657"/>
          </a:xfrm>
          <a:prstGeom prst="rect">
            <a:avLst/>
          </a:prstGeom>
        </p:spPr>
      </p:pic>
    </p:spTree>
    <p:extLst>
      <p:ext uri="{BB962C8B-B14F-4D97-AF65-F5344CB8AC3E}">
        <p14:creationId xmlns:p14="http://schemas.microsoft.com/office/powerpoint/2010/main" val="4030706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4A3E28E1-A30E-F448-C662-507F43399771}"/>
              </a:ext>
            </a:extLst>
          </p:cNvPr>
          <p:cNvGraphicFramePr>
            <a:graphicFrameLocks/>
          </p:cNvGraphicFramePr>
          <p:nvPr>
            <p:custDataLst>
              <p:tags r:id="rId1"/>
            </p:custDataLst>
            <p:extLst>
              <p:ext uri="{D42A27DB-BD31-4B8C-83A1-F6EECF244321}">
                <p14:modId xmlns:p14="http://schemas.microsoft.com/office/powerpoint/2010/main" val="8118121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6" name="think-cell data - do not delete" hidden="1">
                        <a:extLst>
                          <a:ext uri="{FF2B5EF4-FFF2-40B4-BE49-F238E27FC236}">
                            <a16:creationId xmlns:a16="http://schemas.microsoft.com/office/drawing/2014/main" id="{4A3E28E1-A30E-F448-C662-507F4339977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de-DE" dirty="0"/>
              <a:t>Metzler ist ideal positioniert, die SWK AG bei strategischen Überlegungen zu beraten</a:t>
            </a:r>
          </a:p>
        </p:txBody>
      </p:sp>
      <p:sp>
        <p:nvSpPr>
          <p:cNvPr id="3" name="Text Placeholder 2"/>
          <p:cNvSpPr>
            <a:spLocks noGrp="1"/>
          </p:cNvSpPr>
          <p:nvPr>
            <p:ph type="body" sz="quarter" idx="12"/>
          </p:nvPr>
        </p:nvSpPr>
        <p:spPr/>
        <p:txBody>
          <a:bodyPr/>
          <a:lstStyle/>
          <a:p>
            <a:r>
              <a:rPr lang="de-DE" dirty="0"/>
              <a:t>Mehrwert Metzler</a:t>
            </a:r>
          </a:p>
        </p:txBody>
      </p:sp>
      <p:sp>
        <p:nvSpPr>
          <p:cNvPr id="5" name="Text Placeholder 4"/>
          <p:cNvSpPr>
            <a:spLocks noGrp="1"/>
          </p:cNvSpPr>
          <p:nvPr>
            <p:ph type="body" sz="quarter" idx="14"/>
          </p:nvPr>
        </p:nvSpPr>
        <p:spPr/>
        <p:txBody>
          <a:bodyPr/>
          <a:lstStyle/>
          <a:p>
            <a:endParaRPr lang="en-GB"/>
          </a:p>
        </p:txBody>
      </p:sp>
      <p:sp>
        <p:nvSpPr>
          <p:cNvPr id="6" name="Text Placeholder 5"/>
          <p:cNvSpPr>
            <a:spLocks noGrp="1"/>
          </p:cNvSpPr>
          <p:nvPr>
            <p:ph type="body" sz="quarter" idx="15"/>
          </p:nvPr>
        </p:nvSpPr>
        <p:spPr/>
        <p:txBody>
          <a:bodyPr/>
          <a:lstStyle/>
          <a:p>
            <a:endParaRPr lang="en-GB"/>
          </a:p>
        </p:txBody>
      </p:sp>
      <p:cxnSp>
        <p:nvCxnSpPr>
          <p:cNvPr id="7" name="Gerader Verbinder 68"/>
          <p:cNvCxnSpPr/>
          <p:nvPr/>
        </p:nvCxnSpPr>
        <p:spPr>
          <a:xfrm flipV="1">
            <a:off x="387554" y="6028761"/>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8" name="Gerader Verbinder 68"/>
          <p:cNvCxnSpPr/>
          <p:nvPr/>
        </p:nvCxnSpPr>
        <p:spPr>
          <a:xfrm flipV="1">
            <a:off x="387554" y="5121971"/>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0" name="Gerader Verbinder 68"/>
          <p:cNvCxnSpPr/>
          <p:nvPr/>
        </p:nvCxnSpPr>
        <p:spPr>
          <a:xfrm flipV="1">
            <a:off x="387554" y="4233595"/>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1" name="Gerader Verbinder 68"/>
          <p:cNvCxnSpPr/>
          <p:nvPr/>
        </p:nvCxnSpPr>
        <p:spPr>
          <a:xfrm flipV="1">
            <a:off x="387554" y="2430897"/>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8" name="Gerader Verbinder 68"/>
          <p:cNvCxnSpPr/>
          <p:nvPr/>
        </p:nvCxnSpPr>
        <p:spPr>
          <a:xfrm flipV="1">
            <a:off x="387554" y="3320744"/>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738040" y="1715133"/>
            <a:ext cx="9509753" cy="513946"/>
            <a:chOff x="738040" y="1627306"/>
            <a:chExt cx="9509753" cy="513946"/>
          </a:xfrm>
        </p:grpSpPr>
        <p:sp>
          <p:nvSpPr>
            <p:cNvPr id="24" name="Textfeld 30"/>
            <p:cNvSpPr txBox="1"/>
            <p:nvPr/>
          </p:nvSpPr>
          <p:spPr>
            <a:xfrm>
              <a:off x="1506052" y="1654237"/>
              <a:ext cx="8741741" cy="468000"/>
            </a:xfrm>
            <a:prstGeom prst="rect">
              <a:avLst/>
            </a:prstGeom>
            <a:noFill/>
          </p:spPr>
          <p:txBody>
            <a:bodyPr wrap="square" rtlCol="0" anchor="ctr">
              <a:noAutofit/>
            </a:bodyPr>
            <a:lstStyle/>
            <a:p>
              <a:pPr>
                <a:spcBef>
                  <a:spcPct val="90000"/>
                </a:spcBef>
                <a:buClr>
                  <a:srgbClr val="FF9900"/>
                </a:buClr>
                <a:buSzPct val="135000"/>
              </a:pPr>
              <a:r>
                <a:rPr lang="de-DE" altLang="de-DE" sz="1100" b="1" dirty="0">
                  <a:solidFill>
                    <a:schemeClr val="accent1"/>
                  </a:solidFill>
                </a:rPr>
                <a:t>Umfangreiches Know-how im Energiesektor sowie bei Transaktionen mit öffentlich-rechtlichem Hintergrund</a:t>
              </a:r>
            </a:p>
          </p:txBody>
        </p:sp>
        <p:pic>
          <p:nvPicPr>
            <p:cNvPr id="25" name="Picture 24"/>
            <p:cNvPicPr>
              <a:picLocks noChangeAspect="1"/>
            </p:cNvPicPr>
            <p:nvPr/>
          </p:nvPicPr>
          <p:blipFill>
            <a:blip r:embed="rId5"/>
            <a:stretch>
              <a:fillRect/>
            </a:stretch>
          </p:blipFill>
          <p:spPr>
            <a:xfrm>
              <a:off x="738040" y="1627306"/>
              <a:ext cx="519086" cy="513946"/>
            </a:xfrm>
            <a:prstGeom prst="rect">
              <a:avLst/>
            </a:prstGeom>
          </p:spPr>
        </p:pic>
      </p:grpSp>
      <p:grpSp>
        <p:nvGrpSpPr>
          <p:cNvPr id="37" name="Group 36"/>
          <p:cNvGrpSpPr/>
          <p:nvPr/>
        </p:nvGrpSpPr>
        <p:grpSpPr>
          <a:xfrm>
            <a:off x="744105" y="2632715"/>
            <a:ext cx="9072194" cy="486211"/>
            <a:chOff x="744105" y="2297872"/>
            <a:chExt cx="9072194" cy="486211"/>
          </a:xfrm>
        </p:grpSpPr>
        <p:sp>
          <p:nvSpPr>
            <p:cNvPr id="27" name="Textfeld 30"/>
            <p:cNvSpPr txBox="1"/>
            <p:nvPr/>
          </p:nvSpPr>
          <p:spPr>
            <a:xfrm>
              <a:off x="1506053" y="2316083"/>
              <a:ext cx="8310246" cy="468000"/>
            </a:xfrm>
            <a:prstGeom prst="rect">
              <a:avLst/>
            </a:prstGeom>
            <a:noFill/>
          </p:spPr>
          <p:txBody>
            <a:bodyPr wrap="square" rtlCol="0" anchor="ctr">
              <a:noAutofit/>
            </a:bodyPr>
            <a:lstStyle/>
            <a:p>
              <a:pPr>
                <a:spcAft>
                  <a:spcPts val="600"/>
                </a:spcAft>
              </a:pPr>
              <a:r>
                <a:rPr lang="de-DE" sz="1100" b="1" dirty="0">
                  <a:solidFill>
                    <a:schemeClr val="accent1"/>
                  </a:solidFill>
                </a:rPr>
                <a:t>Hervorragende Reputation und exzellenter Zugang zu relevanten nationalen und internationalen Projekten</a:t>
              </a:r>
              <a:br>
                <a:rPr lang="de-DE" sz="1100" b="1" dirty="0">
                  <a:solidFill>
                    <a:schemeClr val="accent1"/>
                  </a:solidFill>
                </a:rPr>
              </a:br>
              <a:r>
                <a:rPr lang="de-DE" sz="1100" b="1" dirty="0">
                  <a:solidFill>
                    <a:schemeClr val="accent1"/>
                  </a:solidFill>
                </a:rPr>
                <a:t>und Investoren</a:t>
              </a:r>
            </a:p>
          </p:txBody>
        </p:sp>
        <p:pic>
          <p:nvPicPr>
            <p:cNvPr id="36" name="Picture 35"/>
            <p:cNvPicPr>
              <a:picLocks noChangeAspect="1"/>
            </p:cNvPicPr>
            <p:nvPr/>
          </p:nvPicPr>
          <p:blipFill>
            <a:blip r:embed="rId6"/>
            <a:stretch>
              <a:fillRect/>
            </a:stretch>
          </p:blipFill>
          <p:spPr>
            <a:xfrm>
              <a:off x="744105" y="2297872"/>
              <a:ext cx="446977" cy="465666"/>
            </a:xfrm>
            <a:prstGeom prst="rect">
              <a:avLst/>
            </a:prstGeom>
          </p:spPr>
        </p:pic>
      </p:grpSp>
      <p:grpSp>
        <p:nvGrpSpPr>
          <p:cNvPr id="40" name="Group 39"/>
          <p:cNvGrpSpPr/>
          <p:nvPr/>
        </p:nvGrpSpPr>
        <p:grpSpPr>
          <a:xfrm>
            <a:off x="797636" y="4435413"/>
            <a:ext cx="9525918" cy="484740"/>
            <a:chOff x="797636" y="3639775"/>
            <a:chExt cx="9525918" cy="484740"/>
          </a:xfrm>
        </p:grpSpPr>
        <p:sp>
          <p:nvSpPr>
            <p:cNvPr id="33" name="Textfeld 30"/>
            <p:cNvSpPr txBox="1"/>
            <p:nvPr/>
          </p:nvSpPr>
          <p:spPr>
            <a:xfrm>
              <a:off x="1503465" y="3639775"/>
              <a:ext cx="8820089" cy="468000"/>
            </a:xfrm>
            <a:prstGeom prst="rect">
              <a:avLst/>
            </a:prstGeom>
            <a:noFill/>
          </p:spPr>
          <p:txBody>
            <a:bodyPr wrap="square" rtlCol="0" anchor="ctr">
              <a:noAutofit/>
            </a:bodyPr>
            <a:lstStyle/>
            <a:p>
              <a:pPr>
                <a:spcAft>
                  <a:spcPts val="600"/>
                </a:spcAft>
              </a:pPr>
              <a:r>
                <a:rPr lang="de-DE" sz="1100" b="1" dirty="0">
                  <a:solidFill>
                    <a:schemeClr val="accent1"/>
                  </a:solidFill>
                </a:rPr>
                <a:t>Erfahrener Sparringspartner bzgl. Transaktionsprozess, -taktik und -struktur und Erfahrung mit Entscheidungsprozessen der öffentlichen Hand</a:t>
              </a:r>
            </a:p>
          </p:txBody>
        </p:sp>
        <p:pic>
          <p:nvPicPr>
            <p:cNvPr id="39" name="Picture 38"/>
            <p:cNvPicPr>
              <a:picLocks noChangeAspect="1"/>
            </p:cNvPicPr>
            <p:nvPr/>
          </p:nvPicPr>
          <p:blipFill>
            <a:blip r:embed="rId7"/>
            <a:stretch>
              <a:fillRect/>
            </a:stretch>
          </p:blipFill>
          <p:spPr>
            <a:xfrm>
              <a:off x="797636" y="3645671"/>
              <a:ext cx="379344" cy="478844"/>
            </a:xfrm>
            <a:prstGeom prst="rect">
              <a:avLst/>
            </a:prstGeom>
          </p:spPr>
        </p:pic>
      </p:grpSp>
      <p:grpSp>
        <p:nvGrpSpPr>
          <p:cNvPr id="43" name="Group 42"/>
          <p:cNvGrpSpPr/>
          <p:nvPr/>
        </p:nvGrpSpPr>
        <p:grpSpPr>
          <a:xfrm>
            <a:off x="651284" y="6230576"/>
            <a:ext cx="9165015" cy="502383"/>
            <a:chOff x="651284" y="5612915"/>
            <a:chExt cx="9165015" cy="502383"/>
          </a:xfrm>
        </p:grpSpPr>
        <p:sp>
          <p:nvSpPr>
            <p:cNvPr id="17" name="Textfeld 30"/>
            <p:cNvSpPr txBox="1"/>
            <p:nvPr/>
          </p:nvSpPr>
          <p:spPr>
            <a:xfrm>
              <a:off x="1506053" y="5612915"/>
              <a:ext cx="8310246" cy="468000"/>
            </a:xfrm>
            <a:prstGeom prst="rect">
              <a:avLst/>
            </a:prstGeom>
            <a:noFill/>
          </p:spPr>
          <p:txBody>
            <a:bodyPr wrap="square" rtlCol="0" anchor="ctr">
              <a:noAutofit/>
            </a:bodyPr>
            <a:lstStyle/>
            <a:p>
              <a:pPr>
                <a:spcAft>
                  <a:spcPts val="600"/>
                </a:spcAft>
              </a:pPr>
              <a:r>
                <a:rPr lang="de-DE" sz="1100" b="1" dirty="0">
                  <a:solidFill>
                    <a:schemeClr val="accent1"/>
                  </a:solidFill>
                </a:rPr>
                <a:t>Unternehmerisches Denken und Handeln</a:t>
              </a:r>
            </a:p>
          </p:txBody>
        </p:sp>
        <p:pic>
          <p:nvPicPr>
            <p:cNvPr id="42" name="Picture 41"/>
            <p:cNvPicPr>
              <a:picLocks noChangeAspect="1"/>
            </p:cNvPicPr>
            <p:nvPr/>
          </p:nvPicPr>
          <p:blipFill>
            <a:blip r:embed="rId8"/>
            <a:stretch>
              <a:fillRect/>
            </a:stretch>
          </p:blipFill>
          <p:spPr>
            <a:xfrm>
              <a:off x="651284" y="5631893"/>
              <a:ext cx="627058" cy="483405"/>
            </a:xfrm>
            <a:prstGeom prst="rect">
              <a:avLst/>
            </a:prstGeom>
          </p:spPr>
        </p:pic>
      </p:grpSp>
      <p:grpSp>
        <p:nvGrpSpPr>
          <p:cNvPr id="47" name="Group 46"/>
          <p:cNvGrpSpPr/>
          <p:nvPr/>
        </p:nvGrpSpPr>
        <p:grpSpPr>
          <a:xfrm>
            <a:off x="738040" y="3522562"/>
            <a:ext cx="9291694" cy="509215"/>
            <a:chOff x="738040" y="2992058"/>
            <a:chExt cx="9291694" cy="509215"/>
          </a:xfrm>
        </p:grpSpPr>
        <p:sp>
          <p:nvSpPr>
            <p:cNvPr id="14" name="Textfeld 30"/>
            <p:cNvSpPr txBox="1"/>
            <p:nvPr/>
          </p:nvSpPr>
          <p:spPr>
            <a:xfrm>
              <a:off x="1503465" y="3033273"/>
              <a:ext cx="8526269" cy="468000"/>
            </a:xfrm>
            <a:prstGeom prst="rect">
              <a:avLst/>
            </a:prstGeom>
            <a:noFill/>
          </p:spPr>
          <p:txBody>
            <a:bodyPr wrap="square" rtlCol="0" anchor="ctr">
              <a:noAutofit/>
            </a:bodyPr>
            <a:lstStyle/>
            <a:p>
              <a:pPr>
                <a:spcAft>
                  <a:spcPts val="600"/>
                </a:spcAft>
              </a:pPr>
              <a:r>
                <a:rPr lang="de-DE" sz="1100" b="1" dirty="0">
                  <a:solidFill>
                    <a:schemeClr val="accent1"/>
                  </a:solidFill>
                </a:rPr>
                <a:t>Qualifiziertes und erfahrenes Team mit hohem Senior-</a:t>
              </a:r>
              <a:r>
                <a:rPr lang="de-DE" sz="1100" b="1" dirty="0" err="1">
                  <a:solidFill>
                    <a:schemeClr val="accent1"/>
                  </a:solidFill>
                </a:rPr>
                <a:t>Commitment</a:t>
              </a:r>
              <a:endParaRPr lang="de-DE" sz="1100" b="1" dirty="0">
                <a:solidFill>
                  <a:schemeClr val="accent1"/>
                </a:solidFill>
              </a:endParaRPr>
            </a:p>
          </p:txBody>
        </p:sp>
        <p:pic>
          <p:nvPicPr>
            <p:cNvPr id="46" name="Picture 45"/>
            <p:cNvPicPr>
              <a:picLocks noChangeAspect="1"/>
            </p:cNvPicPr>
            <p:nvPr/>
          </p:nvPicPr>
          <p:blipFill>
            <a:blip r:embed="rId9"/>
            <a:stretch>
              <a:fillRect/>
            </a:stretch>
          </p:blipFill>
          <p:spPr>
            <a:xfrm>
              <a:off x="738040" y="2992058"/>
              <a:ext cx="464109" cy="462552"/>
            </a:xfrm>
            <a:prstGeom prst="rect">
              <a:avLst/>
            </a:prstGeom>
          </p:spPr>
        </p:pic>
      </p:grpSp>
      <p:grpSp>
        <p:nvGrpSpPr>
          <p:cNvPr id="49" name="Group 48"/>
          <p:cNvGrpSpPr/>
          <p:nvPr/>
        </p:nvGrpSpPr>
        <p:grpSpPr>
          <a:xfrm>
            <a:off x="711835" y="5323789"/>
            <a:ext cx="9680526" cy="503154"/>
            <a:chOff x="711835" y="4955477"/>
            <a:chExt cx="9680526" cy="503154"/>
          </a:xfrm>
        </p:grpSpPr>
        <p:sp>
          <p:nvSpPr>
            <p:cNvPr id="21" name="Textfeld 30"/>
            <p:cNvSpPr txBox="1"/>
            <p:nvPr/>
          </p:nvSpPr>
          <p:spPr>
            <a:xfrm>
              <a:off x="1506052" y="4962705"/>
              <a:ext cx="8886309" cy="468000"/>
            </a:xfrm>
            <a:prstGeom prst="rect">
              <a:avLst/>
            </a:prstGeom>
            <a:noFill/>
          </p:spPr>
          <p:txBody>
            <a:bodyPr wrap="square" rtlCol="0" anchor="ctr">
              <a:noAutofit/>
            </a:bodyPr>
            <a:lstStyle/>
            <a:p>
              <a:pPr>
                <a:spcAft>
                  <a:spcPts val="600"/>
                </a:spcAft>
              </a:pPr>
              <a:r>
                <a:rPr lang="de-DE" sz="1100" b="1" dirty="0">
                  <a:solidFill>
                    <a:schemeClr val="accent1"/>
                  </a:solidFill>
                </a:rPr>
                <a:t>Unabhängige Beratung ohne eigene Finanzierungs- oder Beteiligungsinteressen </a:t>
              </a:r>
              <a:r>
                <a:rPr lang="de-DE" sz="1100" b="1" dirty="0">
                  <a:solidFill>
                    <a:schemeClr val="accent1"/>
                  </a:solidFill>
                  <a:sym typeface="Wingdings 3" panose="05040102010807070707" pitchFamily="18" charset="2"/>
                </a:rPr>
                <a:t></a:t>
              </a:r>
              <a:r>
                <a:rPr lang="de-DE" sz="1100" b="1" dirty="0">
                  <a:solidFill>
                    <a:schemeClr val="accent1"/>
                  </a:solidFill>
                </a:rPr>
                <a:t> keine Interessenkonflikte</a:t>
              </a:r>
            </a:p>
          </p:txBody>
        </p:sp>
        <p:pic>
          <p:nvPicPr>
            <p:cNvPr id="48" name="Picture 47"/>
            <p:cNvPicPr>
              <a:picLocks noChangeAspect="1"/>
            </p:cNvPicPr>
            <p:nvPr/>
          </p:nvPicPr>
          <p:blipFill>
            <a:blip r:embed="rId10"/>
            <a:stretch>
              <a:fillRect/>
            </a:stretch>
          </p:blipFill>
          <p:spPr>
            <a:xfrm>
              <a:off x="711835" y="4955477"/>
              <a:ext cx="531421" cy="503154"/>
            </a:xfrm>
            <a:prstGeom prst="rect">
              <a:avLst/>
            </a:prstGeom>
          </p:spPr>
        </p:pic>
      </p:grpSp>
      <p:sp>
        <p:nvSpPr>
          <p:cNvPr id="15" name="Textplatzhalter 14">
            <a:extLst>
              <a:ext uri="{FF2B5EF4-FFF2-40B4-BE49-F238E27FC236}">
                <a16:creationId xmlns:a16="http://schemas.microsoft.com/office/drawing/2014/main" id="{434D403F-2565-E81D-861A-C063CDF9C374}"/>
              </a:ext>
            </a:extLst>
          </p:cNvPr>
          <p:cNvSpPr>
            <a:spLocks noGrp="1"/>
          </p:cNvSpPr>
          <p:nvPr>
            <p:ph type="body" sz="quarter" idx="13"/>
          </p:nvPr>
        </p:nvSpPr>
        <p:spPr/>
        <p:txBody>
          <a:bodyPr/>
          <a:lstStyle/>
          <a:p>
            <a:r>
              <a:rPr lang="de-DE" dirty="0"/>
              <a:t>3. Diskussion möglicher Handlungsoptionen</a:t>
            </a:r>
          </a:p>
        </p:txBody>
      </p:sp>
    </p:spTree>
    <p:extLst>
      <p:ext uri="{BB962C8B-B14F-4D97-AF65-F5344CB8AC3E}">
        <p14:creationId xmlns:p14="http://schemas.microsoft.com/office/powerpoint/2010/main" val="150001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C0EFEB9-7931-4543-ACD3-1A16560A66CC}"/>
              </a:ext>
            </a:extLst>
          </p:cNvPr>
          <p:cNvSpPr>
            <a:spLocks noGrp="1"/>
          </p:cNvSpPr>
          <p:nvPr>
            <p:ph type="body" sz="quarter" idx="12"/>
          </p:nvPr>
        </p:nvSpPr>
        <p:spPr/>
        <p:txBody>
          <a:bodyPr/>
          <a:lstStyle/>
          <a:p>
            <a:endParaRPr lang="de-DE"/>
          </a:p>
        </p:txBody>
      </p:sp>
      <p:sp>
        <p:nvSpPr>
          <p:cNvPr id="3" name="Text Placeholder 2">
            <a:extLst>
              <a:ext uri="{FF2B5EF4-FFF2-40B4-BE49-F238E27FC236}">
                <a16:creationId xmlns:a16="http://schemas.microsoft.com/office/drawing/2014/main" id="{7C8E8390-E61D-4A2C-B39F-6B89B4C5D3A1}"/>
              </a:ext>
            </a:extLst>
          </p:cNvPr>
          <p:cNvSpPr>
            <a:spLocks noGrp="1"/>
          </p:cNvSpPr>
          <p:nvPr>
            <p:ph type="body" sz="quarter" idx="13"/>
          </p:nvPr>
        </p:nvSpPr>
        <p:spPr/>
        <p:txBody>
          <a:bodyPr/>
          <a:lstStyle/>
          <a:p>
            <a:endParaRPr lang="de-DE"/>
          </a:p>
        </p:txBody>
      </p:sp>
    </p:spTree>
    <p:extLst>
      <p:ext uri="{BB962C8B-B14F-4D97-AF65-F5344CB8AC3E}">
        <p14:creationId xmlns:p14="http://schemas.microsoft.com/office/powerpoint/2010/main" val="9287430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THINKCELLPRESENTATIONDONOTDELETE" val="&lt;?xml version=&quot;1.0&quot; encoding=&quot;UTF-16&quot; standalone=&quot;yes&quot;?&gt;&lt;root reqver=&quot;32687&quot;&gt;&lt;version val=&quot;38576&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1.89999999999999991118E+00&quot;&gt;&lt;m_msothmcolidx val=&quot;0&quot;/&gt;&lt;m_rgb r=&quot;EB&quot; g=&quot;F4&quot; b=&quot;FF&quot;/&gt;&lt;/elem&gt;&lt;/m_vecMRU&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qLglxBie40PUy2.Vsbe.a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XZ0fVuvwdc5JxG2lColhN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ZFX99IGexVpOX3MxmafXU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NMCNpkSOLeqoszOeLo4VL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8Wsmu4XXbCYlp9d64zeLt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dx7YbC0mspBn9eHjU3hVu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EVxRN614lBgjw6_XnbLMC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AorglwBmuSVFg8J0EFECR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KDSqr4exkXXPeWwxONQ4I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UJe22rH1hLCgg49o9fkxz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KMr597n02Gaz5Vy6SyY7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IQzBvGKji.bEacJ1ob.3a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tC3pxdCS2tTAE4__u0b3s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ObyTpLMAoeUCk2aKJntA2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ZM6zW3_uDxNArsoyPdkop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KpeBSjpaZQ4.hBptxmQYm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XICf88e.0zn_H_MIRSv4D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kO4fEdv7_2n_TfI8SQWzr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Cekk5ePnvd0_aAq3oNVzL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aeCwYr2zsHtAs8EGFIKxv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bv_UCgzwHgeFOEMRstDEH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Qb9ODsxb0fDXOBOGnf.BW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afPgINi3hr3n3rC488asM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qzg5dAmsf7cbb8DNy.8jT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N.x5U1psmDn.Z6tBWjPWy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kT_HxMbhlHtYcvO9IaSG2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Be2ZIf18h5JNBo8Qn_VOi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FnKpxOEkBpzyTIfSUvW_c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dUSIykR7XILFKKpESfKVp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Vs1ZDxqYDuG8k9O0joVTj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CZlnmx8AdpIgI20gGBwFk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251qFBjoDy1KOgonGJLtF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1gl0RPzoUbjJJWAekKkgr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mjeF5hpdj.BeC6AXKxHQo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8p4JqcU_XtD4yVpP1RkFG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8mQXpwsbfcwTPyDmU1dy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Q1TLO3pqtTIcn7cJIVQT7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bIBmJ63inMu1D8.LlksLq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FxEV3aXmd0AOalVifudGO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Ac2JEJWTkrk1P8VcrQrp5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9n_gMt5f_9.lhs1bRuV61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dNxMp4pQb1awxNaiIjf31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KgQ1xNEEN.Q0J6orrxh6L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ZDbHLb3BtXq8H6dWe1999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G_jaWra9eZwSSMOFRdadv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FAJVeNzRbL_jZUEbf1hcb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OaSNnQ_8K9ZjIvlkDO86g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MG8qWZ_iMPKru4crtP4ZN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P6Vy9v4Ioi_7b9s3aGDPs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2K7MYyg3zdaVrSdjJzujA"/>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8LzYKOYl86LkZe3vQ6Oe.g"/>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5rpj_A03N_ItFoO3cNXgi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Jhw4FrBZm9ZHHIWxUs3Q7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KrqhP5Gz.Qh3H8qqZgM6sA"/>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JslGW6YI2VXiftjOfsuVi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xCs9zkftuWyxU.3Q9e8iH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orlage_BMSSC">
  <a:themeElements>
    <a:clrScheme name="MCF new">
      <a:dk1>
        <a:srgbClr val="000000"/>
      </a:dk1>
      <a:lt1>
        <a:srgbClr val="FFFFFF"/>
      </a:lt1>
      <a:dk2>
        <a:srgbClr val="808080"/>
      </a:dk2>
      <a:lt2>
        <a:srgbClr val="D1E4FD"/>
      </a:lt2>
      <a:accent1>
        <a:srgbClr val="003D7C"/>
      </a:accent1>
      <a:accent2>
        <a:srgbClr val="3157E3"/>
      </a:accent2>
      <a:accent3>
        <a:srgbClr val="718BEB"/>
      </a:accent3>
      <a:accent4>
        <a:srgbClr val="67A6F9"/>
      </a:accent4>
      <a:accent5>
        <a:srgbClr val="A5CAFB"/>
      </a:accent5>
      <a:accent6>
        <a:srgbClr val="FF9900"/>
      </a:accent6>
      <a:hlink>
        <a:srgbClr val="FF9900"/>
      </a:hlink>
      <a:folHlink>
        <a:srgbClr val="67A6F9"/>
      </a:folHlink>
    </a:clrScheme>
    <a:fontScheme name="Metzler">
      <a:majorFont>
        <a:latin typeface="Univers for Metzler Light"/>
        <a:ea typeface=""/>
        <a:cs typeface=""/>
      </a:majorFont>
      <a:minorFont>
        <a:latin typeface="Univers for Metzler Ligh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600" dirty="0"/>
        </a:defPPr>
      </a:lstStyle>
    </a:txDef>
  </a:objectDefaults>
  <a:extraClrSchemeLst/>
  <a:custClrLst>
    <a:custClr name="Custom Color 1">
      <a:srgbClr val="5171E7"/>
    </a:custClr>
    <a:custClr name="Custom Color 2">
      <a:srgbClr val="80B4FA"/>
    </a:custClr>
    <a:custClr name="Custom Color 3">
      <a:srgbClr val="EBF4FF"/>
    </a:custClr>
    <a:custClr name="Custom Color 4">
      <a:srgbClr val="FFA827"/>
    </a:custClr>
    <a:custClr name="Custom Color 5">
      <a:srgbClr val="FFB64B"/>
    </a:custClr>
    <a:custClr name="Custom Color 6">
      <a:srgbClr val="FFC56F"/>
    </a:custClr>
    <a:custClr name="Custom Color 7">
      <a:srgbClr val="B02307"/>
    </a:custClr>
    <a:custClr name="Custom Color 8">
      <a:srgbClr val="D33313"/>
    </a:custClr>
    <a:custClr name="Custom Color 9">
      <a:srgbClr val="EC4C2C"/>
    </a:custClr>
    <a:custClr name="Custom Color 10">
      <a:srgbClr val="EF664B"/>
    </a:custClr>
    <a:custClr name="Custom Color 11">
      <a:srgbClr val="939408"/>
    </a:custClr>
    <a:custClr name="Custom Color 12">
      <a:srgbClr val="B4C814"/>
    </a:custClr>
  </a:custClr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4E2A384-43D5-4F66-ADF2-7A14EB5E3504}">
  <we:reference id="36907bf5-2c4b-4ebb-b2d8-8ed6acad83c2" version="1.0.0.0" store="\\fsp\groups\BMETZLER\_PRAKTIKANTEN_TRAINEES\_Logointern" storeType="Filesystem"/>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0</TotalTime>
  <Words>1999</Words>
  <Application>Microsoft Office PowerPoint</Application>
  <PresentationFormat>Custom</PresentationFormat>
  <Paragraphs>313</Paragraphs>
  <Slides>17</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5" baseType="lpstr">
      <vt:lpstr>Arial</vt:lpstr>
      <vt:lpstr>Calibri</vt:lpstr>
      <vt:lpstr>Univers for Metzler</vt:lpstr>
      <vt:lpstr>Univers for Metzler Light</vt:lpstr>
      <vt:lpstr>Wingdings</vt:lpstr>
      <vt:lpstr>Wingdings 3</vt:lpstr>
      <vt:lpstr>Vorlage_BMSSC</vt:lpstr>
      <vt:lpstr>think-cell Slide</vt:lpstr>
      <vt:lpstr>Catch-up: Überlegungen zur Einbindung privater Investoren und Diskussion Wachstumsoptionen</vt:lpstr>
      <vt:lpstr>Agenda</vt:lpstr>
      <vt:lpstr>PowerPoint Presentation</vt:lpstr>
      <vt:lpstr>Energy &amp; Infrastructure ist einer von drei Fokussektoren bei Metzler</vt:lpstr>
      <vt:lpstr>Tiefes Branchenwissen in Energie und Infrastruktur belegt durch unseren erfolgreichen Track Record  </vt:lpstr>
      <vt:lpstr>Case Study: Beratung der EWE beim vorgelagerten Carve-Out und dem anschließenden Verkauf der WCG an Pioneer Point Partners</vt:lpstr>
      <vt:lpstr>Case Study: Verkauf eines 381 MW Onshore Windparkportfolios der WIND-projekt an Blue Elephant Energy</vt:lpstr>
      <vt:lpstr>PowerPoint Presentation</vt:lpstr>
      <vt:lpstr>Unverändert hoher Investitionsbedarf durch Vorantreiben der Klima- und Wärmewende im Rahmen der Klimaneutralität</vt:lpstr>
      <vt:lpstr>Trotz steigender Investitionen scheint der Finanzierungsspielraum der SWK weiterhin komfortabel zu sein</vt:lpstr>
      <vt:lpstr>SWK verbessert trotz Umsatzrückgang die operative Profitabilität, hohe Investitionen zehren jedoch den Liquiditätspuffer auf</vt:lpstr>
      <vt:lpstr>Die strategische Ausrichtung der SWK fokussiert sich weiterhin konsequent auf Energiewende, Kreislaufwirtschaft und Digitalisierung</vt:lpstr>
      <vt:lpstr>PowerPoint Presentation</vt:lpstr>
      <vt:lpstr>Bei Bedarf können private Investoren in unterschiedlichen Modellen und bei unterschiedlichen Assets beteiligt werden − ausgewählte Impulse</vt:lpstr>
      <vt:lpstr>Die SWK-Gruppe ist grundsätzlich stark aufgestellt, um selber akquisitiv zu werden</vt:lpstr>
      <vt:lpstr>Metzler ist ideal positioniert, die SWK AG bei strategischen Überlegungen zu beraten</vt:lpstr>
      <vt:lpstr>PowerPoint Presentation</vt:lpstr>
    </vt:vector>
  </TitlesOfParts>
  <Company>metzler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Stadtwerke Krefeld - Vorstellung Metzler Corporate Finance</dc:title>
  <dc:creator>FYS</dc:creator>
  <cp:lastModifiedBy>Nicolas Pfennig</cp:lastModifiedBy>
  <cp:revision>5495</cp:revision>
  <cp:lastPrinted>2024-05-17T09:33:29Z</cp:lastPrinted>
  <dcterms:created xsi:type="dcterms:W3CDTF">2013-01-15T12:08:49Z</dcterms:created>
  <dcterms:modified xsi:type="dcterms:W3CDTF">2026-09-21T19:22:52Z</dcterms:modified>
</cp:coreProperties>
</file>