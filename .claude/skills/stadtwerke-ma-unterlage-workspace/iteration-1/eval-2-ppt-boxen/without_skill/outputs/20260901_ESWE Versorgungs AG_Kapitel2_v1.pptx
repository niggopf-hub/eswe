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embeddings/Microsoft_Excel_Binary_Worksheet.xlsb" ContentType="application/vnd.ms-excel.sheet.binary.macroEnabled.12"/>
  <Override PartName="/ppt/embeddings/Microsoft_Excel_Binary_Worksheet1.xlsb" ContentType="application/vnd.ms-excel.sheet.binary.macroEnabled.12"/>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26.svg" ContentType="image/svg+xml"/>
  <Override PartName="/ppt/media/image36.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3"/>
  </p:notesMasterIdLst>
  <p:handoutMasterIdLst>
    <p:handoutMasterId r:id="rId24"/>
  </p:handoutMasterIdLst>
  <p:sldIdLst>
    <p:sldId id="281" r:id="rId2"/>
    <p:sldId id="2372" r:id="rId3"/>
    <p:sldId id="2355" r:id="rId4"/>
    <p:sldId id="2348" r:id="rId5"/>
    <p:sldId id="362" r:id="rId6"/>
    <p:sldId id="1979" r:id="rId7"/>
    <p:sldId id="365" r:id="rId8"/>
    <p:sldId id="1997" r:id="rId9"/>
    <p:sldId id="1502" r:id="rId10"/>
    <p:sldId id="2351" r:id="rId11"/>
    <p:sldId id="2374" r:id="rId12"/>
    <p:sldId id="2365" r:id="rId13"/>
    <p:sldId id="2350" r:id="rId14"/>
    <p:sldId id="2352" r:id="rId15"/>
    <p:sldId id="2366" r:id="rId16"/>
    <p:sldId id="2367" r:id="rId17"/>
    <p:sldId id="2368" r:id="rId18"/>
    <p:sldId id="2369" r:id="rId19"/>
    <p:sldId id="2370" r:id="rId20"/>
    <p:sldId id="2371" r:id="rId21"/>
    <p:sldId id="1498" r:id="rId22"/>
  </p:sldIdLst>
  <p:sldSz cx="10693400" cy="7561263"/>
  <p:notesSz cx="6797675" cy="9872663"/>
  <p:custDataLst>
    <p:tags r:id="rId25"/>
  </p:custDataLst>
  <p:defaultTex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4411" userDrawn="1">
          <p15:clr>
            <a:srgbClr val="A4A3A4"/>
          </p15:clr>
        </p15:guide>
        <p15:guide id="2" orient="horz" pos="2382" userDrawn="1">
          <p15:clr>
            <a:srgbClr val="A4A3A4"/>
          </p15:clr>
        </p15:guide>
      </p15:sldGuideLst>
    </p:ext>
    <p:ext uri="{2D200454-40CA-4A62-9FC3-DE9A4176ACB9}">
      <p15:notesGuideLst xmlns:p15="http://schemas.microsoft.com/office/powerpoint/2012/main">
        <p15:guide id="1" orient="horz" pos="3109"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bias Trutz" initials="TT" lastIdx="1" clrIdx="0">
    <p:extLst>
      <p:ext uri="{19B8F6BF-5375-455C-9EA6-DF929625EA0E}">
        <p15:presenceInfo xmlns:p15="http://schemas.microsoft.com/office/powerpoint/2012/main" userId="Tobias Trutz" providerId="None"/>
      </p:ext>
    </p:extLst>
  </p:cmAuthor>
  <p:cmAuthor id="2" name="Janik Peterhansel" initials="JP" lastIdx="5" clrIdx="1">
    <p:extLst>
      <p:ext uri="{19B8F6BF-5375-455C-9EA6-DF929625EA0E}">
        <p15:presenceInfo xmlns:p15="http://schemas.microsoft.com/office/powerpoint/2012/main" userId="Janik Peterhansel" providerId="None"/>
      </p:ext>
    </p:extLst>
  </p:cmAuthor>
  <p:cmAuthor id="3" name="Christoph Lerps" initials="CL" lastIdx="6" clrIdx="2">
    <p:extLst>
      <p:ext uri="{19B8F6BF-5375-455C-9EA6-DF929625EA0E}">
        <p15:presenceInfo xmlns:p15="http://schemas.microsoft.com/office/powerpoint/2012/main" userId="S::Christoph.Lerps@metzler.com::0f5c447a-50d1-4d46-853d-efe4abe587a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7A6F9"/>
    <a:srgbClr val="3157E3"/>
    <a:srgbClr val="718BEB"/>
    <a:srgbClr val="C0C0C0"/>
    <a:srgbClr val="FFFFFF"/>
    <a:srgbClr val="A5CAFB"/>
    <a:srgbClr val="FF9900"/>
    <a:srgbClr val="808080"/>
    <a:srgbClr val="FFC56F"/>
    <a:srgbClr val="ECF3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24" autoAdjust="0"/>
    <p:restoredTop sz="96056" autoAdjust="0"/>
  </p:normalViewPr>
  <p:slideViewPr>
    <p:cSldViewPr showGuides="1">
      <p:cViewPr>
        <p:scale>
          <a:sx n="125" d="100"/>
          <a:sy n="125" d="100"/>
        </p:scale>
        <p:origin x="1018" y="-528"/>
      </p:cViewPr>
      <p:guideLst>
        <p:guide pos="4411"/>
        <p:guide orient="horz" pos="2382"/>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notesViewPr>
    <p:cSldViewPr showGuides="1">
      <p:cViewPr varScale="1">
        <p:scale>
          <a:sx n="72" d="100"/>
          <a:sy n="72" d="100"/>
        </p:scale>
        <p:origin x="3384" y="90"/>
      </p:cViewPr>
      <p:guideLst>
        <p:guide orient="horz" pos="3109"/>
        <p:guide pos="2142"/>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tags" Target="tags/tag1.xml"/><Relationship Id="rId26" Type="http://schemas.openxmlformats.org/officeDocument/2006/relationships/commentAuthors" Target="commentAuthor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422037422037424E-2"/>
          <c:y val="3.6236933797909411E-2"/>
          <c:w val="0.92238392238392242"/>
          <c:h val="0.92752613240418114"/>
        </c:manualLayout>
      </c:layout>
      <c:doughnutChart>
        <c:varyColors val="0"/>
        <c:ser>
          <c:idx val="0"/>
          <c:order val="0"/>
          <c:dPt>
            <c:idx val="0"/>
            <c:bubble3D val="0"/>
            <c:spPr>
              <a:solidFill>
                <a:schemeClr val="accent1"/>
              </a:solidFill>
              <a:ln w="12700" cmpd="sng" algn="ctr">
                <a:solidFill>
                  <a:schemeClr val="bg1"/>
                </a:solidFill>
                <a:prstDash val="solid"/>
              </a:ln>
            </c:spPr>
            <c:extLst>
              <c:ext xmlns:c16="http://schemas.microsoft.com/office/drawing/2014/chart" uri="{C3380CC4-5D6E-409C-BE32-E72D297353CC}">
                <c16:uniqueId val="{00000000-2BC9-404F-AD80-FA14F48BC8A3}"/>
              </c:ext>
            </c:extLst>
          </c:dPt>
          <c:dPt>
            <c:idx val="1"/>
            <c:bubble3D val="0"/>
            <c:spPr>
              <a:solidFill>
                <a:schemeClr val="accent2"/>
              </a:solidFill>
              <a:ln w="12700" cmpd="sng" algn="ctr">
                <a:solidFill>
                  <a:schemeClr val="bg1"/>
                </a:solidFill>
                <a:prstDash val="solid"/>
              </a:ln>
            </c:spPr>
            <c:extLst>
              <c:ext xmlns:c16="http://schemas.microsoft.com/office/drawing/2014/chart" uri="{C3380CC4-5D6E-409C-BE32-E72D297353CC}">
                <c16:uniqueId val="{00000001-2BC9-404F-AD80-FA14F48BC8A3}"/>
              </c:ext>
            </c:extLst>
          </c:dPt>
          <c:dPt>
            <c:idx val="2"/>
            <c:bubble3D val="0"/>
            <c:spPr>
              <a:solidFill>
                <a:schemeClr val="accent3"/>
              </a:solidFill>
              <a:ln w="12700" cmpd="sng" algn="ctr">
                <a:solidFill>
                  <a:schemeClr val="bg1"/>
                </a:solidFill>
                <a:prstDash val="solid"/>
              </a:ln>
            </c:spPr>
            <c:extLst>
              <c:ext xmlns:c16="http://schemas.microsoft.com/office/drawing/2014/chart" uri="{C3380CC4-5D6E-409C-BE32-E72D297353CC}">
                <c16:uniqueId val="{00000002-2BC9-404F-AD80-FA14F48BC8A3}"/>
              </c:ext>
            </c:extLst>
          </c:dPt>
          <c:dPt>
            <c:idx val="3"/>
            <c:bubble3D val="0"/>
            <c:spPr>
              <a:solidFill>
                <a:schemeClr val="accent4"/>
              </a:solidFill>
              <a:ln w="12700" cmpd="sng" algn="ctr">
                <a:solidFill>
                  <a:schemeClr val="bg1"/>
                </a:solidFill>
                <a:prstDash val="solid"/>
              </a:ln>
            </c:spPr>
            <c:extLst>
              <c:ext xmlns:c16="http://schemas.microsoft.com/office/drawing/2014/chart" uri="{C3380CC4-5D6E-409C-BE32-E72D297353CC}">
                <c16:uniqueId val="{00000003-2BC9-404F-AD80-FA14F48BC8A3}"/>
              </c:ext>
            </c:extLst>
          </c:dPt>
          <c:dPt>
            <c:idx val="4"/>
            <c:bubble3D val="0"/>
            <c:spPr>
              <a:solidFill>
                <a:schemeClr val="accent6"/>
              </a:solidFill>
              <a:ln w="12700" cmpd="sng" algn="ctr">
                <a:solidFill>
                  <a:schemeClr val="bg1"/>
                </a:solidFill>
                <a:prstDash val="solid"/>
              </a:ln>
            </c:spPr>
            <c:extLst>
              <c:ext xmlns:c16="http://schemas.microsoft.com/office/drawing/2014/chart" uri="{C3380CC4-5D6E-409C-BE32-E72D297353CC}">
                <c16:uniqueId val="{00000004-2BC9-404F-AD80-FA14F48BC8A3}"/>
              </c:ext>
            </c:extLst>
          </c:dPt>
          <c:dLbls>
            <c:dLbl>
              <c:idx val="0"/>
              <c:layout>
                <c:manualLayout>
                  <c:x val="-2.286902286902287E-2"/>
                  <c:y val="-1.6724738675958188E-2"/>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BC9-404F-AD80-FA14F48BC8A3}"/>
                </c:ext>
              </c:extLst>
            </c:dLbl>
            <c:dLbl>
              <c:idx val="1"/>
              <c:layout>
                <c:manualLayout>
                  <c:x val="4.851004851004851E-2"/>
                  <c:y val="3.4843205574912892E-3"/>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BC9-404F-AD80-FA14F48BC8A3}"/>
                </c:ext>
              </c:extLst>
            </c:dLbl>
            <c:dLbl>
              <c:idx val="4"/>
              <c:layout>
                <c:manualLayout>
                  <c:x val="2.1483021483021482E-2"/>
                  <c:y val="2.4390243902439025E-2"/>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BC9-404F-AD80-FA14F48BC8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Sheet1!$A$1:$A$5</c:f>
              <c:numCache>
                <c:formatCode>General</c:formatCode>
                <c:ptCount val="5"/>
                <c:pt idx="0">
                  <c:v>77.049083117068946</c:v>
                </c:pt>
                <c:pt idx="1">
                  <c:v>3.7884003348361617</c:v>
                </c:pt>
                <c:pt idx="2">
                  <c:v>1.3606023689965447</c:v>
                </c:pt>
                <c:pt idx="3">
                  <c:v>0.88221758732728206</c:v>
                </c:pt>
                <c:pt idx="4">
                  <c:v>16.919696591771071</c:v>
                </c:pt>
              </c:numCache>
            </c:numRef>
          </c:val>
          <c:extLst>
            <c:ext xmlns:c16="http://schemas.microsoft.com/office/drawing/2014/chart" uri="{C3380CC4-5D6E-409C-BE32-E72D297353CC}">
              <c16:uniqueId val="{00000005-2BC9-404F-AD80-FA14F48BC8A3}"/>
            </c:ext>
          </c:extLst>
        </c:ser>
        <c:dLbls>
          <c:showLegendKey val="0"/>
          <c:showVal val="0"/>
          <c:showCatName val="0"/>
          <c:showSerName val="0"/>
          <c:showPercent val="0"/>
          <c:showBubbleSize val="0"/>
          <c:showLeaderLines val="1"/>
        </c:dLbls>
        <c:firstSliceAng val="173"/>
        <c:holeSize val="55"/>
      </c:doughnut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468013468013467E-2"/>
          <c:y val="0.24421052631578946"/>
          <c:w val="0.97306397306397308"/>
          <c:h val="0.64631578947368418"/>
        </c:manualLayout>
      </c:layout>
      <c:barChart>
        <c:barDir val="col"/>
        <c:grouping val="stacked"/>
        <c:varyColors val="0"/>
        <c:ser>
          <c:idx val="0"/>
          <c:order val="0"/>
          <c:spPr>
            <a:solidFill>
              <a:schemeClr val="accent1"/>
            </a:solidFill>
            <a:ln>
              <a:noFill/>
            </a:ln>
          </c:spPr>
          <c:invertIfNegative val="0"/>
          <c:dLbls>
            <c:dLbl>
              <c:idx val="0"/>
              <c:layout>
                <c:manualLayout>
                  <c:x val="0"/>
                  <c:y val="-0.33473684210526317"/>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1AF-4611-91EE-5F9BEE9DF572}"/>
                </c:ext>
              </c:extLst>
            </c:dLbl>
            <c:dLbl>
              <c:idx val="1"/>
              <c:layout>
                <c:manualLayout>
                  <c:x val="0"/>
                  <c:y val="-0.32631578947368423"/>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1AF-4611-91EE-5F9BEE9DF572}"/>
                </c:ext>
              </c:extLst>
            </c:dLbl>
            <c:dLbl>
              <c:idx val="2"/>
              <c:layout>
                <c:manualLayout>
                  <c:x val="0"/>
                  <c:y val="-0.33052631578947367"/>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1AF-4611-91EE-5F9BEE9DF572}"/>
                </c:ext>
              </c:extLst>
            </c:dLbl>
            <c:dLbl>
              <c:idx val="3"/>
              <c:layout>
                <c:manualLayout>
                  <c:x val="0"/>
                  <c:y val="-0.44631578947368422"/>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1AF-4611-91EE-5F9BEE9DF572}"/>
                </c:ext>
              </c:extLst>
            </c:dLbl>
            <c:dLbl>
              <c:idx val="4"/>
              <c:layout>
                <c:manualLayout>
                  <c:x val="0"/>
                  <c:y val="-0.4442105263157895"/>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1AF-4611-91EE-5F9BEE9DF57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195.23337758000002</c:v>
                </c:pt>
                <c:pt idx="1">
                  <c:v>186.09758387000005</c:v>
                </c:pt>
                <c:pt idx="2">
                  <c:v>191.01195708</c:v>
                </c:pt>
                <c:pt idx="3">
                  <c:v>299.15324175000001</c:v>
                </c:pt>
                <c:pt idx="4">
                  <c:v>294.66317680999998</c:v>
                </c:pt>
              </c:numCache>
            </c:numRef>
          </c:val>
          <c:extLst>
            <c:ext xmlns:c16="http://schemas.microsoft.com/office/drawing/2014/chart" uri="{C3380CC4-5D6E-409C-BE32-E72D297353CC}">
              <c16:uniqueId val="{00000005-01AF-4611-91EE-5F9BEE9DF572}"/>
            </c:ext>
          </c:extLst>
        </c:ser>
        <c:dLbls>
          <c:showLegendKey val="0"/>
          <c:showVal val="0"/>
          <c:showCatName val="0"/>
          <c:showSerName val="0"/>
          <c:showPercent val="0"/>
          <c:showBubbleSize val="0"/>
        </c:dLbls>
        <c:gapWidth val="80"/>
        <c:overlap val="100"/>
        <c:axId val="1231329984"/>
        <c:axId val="1"/>
      </c:barChart>
      <c:catAx>
        <c:axId val="1231329984"/>
        <c:scaling>
          <c:orientation val="minMax"/>
        </c:scaling>
        <c:delete val="0"/>
        <c:axPos val="b"/>
        <c:majorGridlines>
          <c:spPr>
            <a:ln>
              <a:noFill/>
            </a:ln>
          </c:spPr>
        </c:majorGridlines>
        <c:majorTickMark val="none"/>
        <c:minorTickMark val="none"/>
        <c:tickLblPos val="none"/>
        <c:spPr>
          <a:ln w="9525" cmpd="sng" algn="ctr">
            <a:solidFill>
              <a:srgbClr val="969696"/>
            </a:solidFill>
            <a:prstDash val="solid"/>
          </a:ln>
        </c:spPr>
        <c:crossAx val="1"/>
        <c:crosses val="min"/>
        <c:auto val="0"/>
        <c:lblAlgn val="ctr"/>
        <c:lblOffset val="100"/>
        <c:noMultiLvlLbl val="0"/>
      </c:catAx>
      <c:valAx>
        <c:axId val="1"/>
        <c:scaling>
          <c:orientation val="minMax"/>
          <c:max val="299.15324175000001"/>
          <c:min val="0"/>
        </c:scaling>
        <c:delete val="1"/>
        <c:axPos val="l"/>
        <c:numFmt formatCode="General" sourceLinked="1"/>
        <c:majorTickMark val="out"/>
        <c:minorTickMark val="none"/>
        <c:tickLblPos val="nextTo"/>
        <c:crossAx val="1231329984"/>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sz="quarter" idx="1"/>
          </p:nvPr>
        </p:nvSpPr>
        <p:spPr>
          <a:xfrm>
            <a:off x="3850443" y="8"/>
            <a:ext cx="2945659" cy="493633"/>
          </a:xfrm>
          <a:prstGeom prst="rect">
            <a:avLst/>
          </a:prstGeom>
        </p:spPr>
        <p:txBody>
          <a:bodyPr vert="horz" lIns="94916" tIns="47458" rIns="94916" bIns="47458" rtlCol="0"/>
          <a:lstStyle>
            <a:lvl1pPr algn="r">
              <a:defRPr sz="1200"/>
            </a:lvl1pPr>
          </a:lstStyle>
          <a:p>
            <a:fld id="{A17F8FCB-BA8C-4259-A9C3-0528B4E9710E}" type="datetimeFigureOut">
              <a:rPr lang="de-DE" smtClean="0"/>
              <a:t>25.08.2026</a:t>
            </a:fld>
            <a:endParaRPr lang="de-DE"/>
          </a:p>
        </p:txBody>
      </p:sp>
      <p:sp>
        <p:nvSpPr>
          <p:cNvPr id="4" name="Fußzeilenplatzhalter 3"/>
          <p:cNvSpPr>
            <a:spLocks noGrp="1"/>
          </p:cNvSpPr>
          <p:nvPr>
            <p:ph type="ftr" sz="quarter" idx="2"/>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377339"/>
            <a:ext cx="2945659" cy="493633"/>
          </a:xfrm>
          <a:prstGeom prst="rect">
            <a:avLst/>
          </a:prstGeom>
        </p:spPr>
        <p:txBody>
          <a:bodyPr vert="horz" lIns="94916" tIns="47458" rIns="94916" bIns="47458" rtlCol="0" anchor="b"/>
          <a:lstStyle>
            <a:lvl1pPr algn="r">
              <a:defRPr sz="1200"/>
            </a:lvl1pPr>
          </a:lstStyle>
          <a:p>
            <a:fld id="{4FB70057-716B-4606-9936-AD7AECDF2CEA}" type="slidenum">
              <a:rPr lang="de-DE" smtClean="0"/>
              <a:t>‹#›</a:t>
            </a:fld>
            <a:endParaRPr lang="de-DE"/>
          </a:p>
        </p:txBody>
      </p:sp>
    </p:spTree>
    <p:extLst>
      <p:ext uri="{BB962C8B-B14F-4D97-AF65-F5344CB8AC3E}">
        <p14:creationId xmlns:p14="http://schemas.microsoft.com/office/powerpoint/2010/main" val="39827450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idx="1"/>
          </p:nvPr>
        </p:nvSpPr>
        <p:spPr>
          <a:xfrm>
            <a:off x="3850443" y="8"/>
            <a:ext cx="2945659" cy="493633"/>
          </a:xfrm>
          <a:prstGeom prst="rect">
            <a:avLst/>
          </a:prstGeom>
        </p:spPr>
        <p:txBody>
          <a:bodyPr vert="horz" lIns="94916" tIns="47458" rIns="94916" bIns="47458" rtlCol="0"/>
          <a:lstStyle>
            <a:lvl1pPr algn="r">
              <a:defRPr sz="1200"/>
            </a:lvl1pPr>
          </a:lstStyle>
          <a:p>
            <a:fld id="{7040A06F-91F7-4DC0-AFC7-25CC0C331576}" type="datetimeFigureOut">
              <a:rPr lang="de-DE" smtClean="0"/>
              <a:t>25.08.2026</a:t>
            </a:fld>
            <a:endParaRPr lang="de-DE"/>
          </a:p>
        </p:txBody>
      </p:sp>
      <p:sp>
        <p:nvSpPr>
          <p:cNvPr id="4" name="Folienbildplatzhalter 3"/>
          <p:cNvSpPr>
            <a:spLocks noGrp="1" noRot="1" noChangeAspect="1"/>
          </p:cNvSpPr>
          <p:nvPr>
            <p:ph type="sldImg" idx="2"/>
          </p:nvPr>
        </p:nvSpPr>
        <p:spPr>
          <a:xfrm>
            <a:off x="782638" y="741363"/>
            <a:ext cx="5232400" cy="3700462"/>
          </a:xfrm>
          <a:prstGeom prst="rect">
            <a:avLst/>
          </a:prstGeom>
          <a:noFill/>
          <a:ln w="12700">
            <a:solidFill>
              <a:prstClr val="black"/>
            </a:solidFill>
          </a:ln>
        </p:spPr>
        <p:txBody>
          <a:bodyPr vert="horz" lIns="94916" tIns="47458" rIns="94916" bIns="47458" rtlCol="0" anchor="ctr"/>
          <a:lstStyle/>
          <a:p>
            <a:endParaRPr lang="de-DE"/>
          </a:p>
        </p:txBody>
      </p:sp>
      <p:sp>
        <p:nvSpPr>
          <p:cNvPr id="5" name="Notizenplatzhalter 4"/>
          <p:cNvSpPr>
            <a:spLocks noGrp="1"/>
          </p:cNvSpPr>
          <p:nvPr>
            <p:ph type="body" sz="quarter" idx="3"/>
          </p:nvPr>
        </p:nvSpPr>
        <p:spPr>
          <a:xfrm>
            <a:off x="679768" y="4689515"/>
            <a:ext cx="5438140" cy="4442698"/>
          </a:xfrm>
          <a:prstGeom prst="rect">
            <a:avLst/>
          </a:prstGeom>
        </p:spPr>
        <p:txBody>
          <a:bodyPr vert="horz" lIns="94916" tIns="47458" rIns="94916" bIns="47458"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377339"/>
            <a:ext cx="2945659" cy="493633"/>
          </a:xfrm>
          <a:prstGeom prst="rect">
            <a:avLst/>
          </a:prstGeom>
        </p:spPr>
        <p:txBody>
          <a:bodyPr vert="horz" lIns="94916" tIns="47458" rIns="94916" bIns="47458" rtlCol="0" anchor="b"/>
          <a:lstStyle>
            <a:lvl1pPr algn="r">
              <a:defRPr sz="1200"/>
            </a:lvl1pPr>
          </a:lstStyle>
          <a:p>
            <a:fld id="{3BD49269-D4ED-48C6-8A71-5DC437C6C179}" type="slidenum">
              <a:rPr lang="de-DE" smtClean="0"/>
              <a:t>‹#›</a:t>
            </a:fld>
            <a:endParaRPr lang="de-DE"/>
          </a:p>
        </p:txBody>
      </p:sp>
    </p:spTree>
    <p:extLst>
      <p:ext uri="{BB962C8B-B14F-4D97-AF65-F5344CB8AC3E}">
        <p14:creationId xmlns:p14="http://schemas.microsoft.com/office/powerpoint/2010/main" val="96766892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 JÜ vor Gewinnabführung zeigen anstatt Jahresüberschuss</a:t>
            </a:r>
          </a:p>
          <a:p>
            <a:r>
              <a:rPr lang="de-DE" dirty="0"/>
              <a:t>- Net Debt / EBITDA</a:t>
            </a:r>
          </a:p>
        </p:txBody>
      </p:sp>
    </p:spTree>
    <p:extLst>
      <p:ext uri="{BB962C8B-B14F-4D97-AF65-F5344CB8AC3E}">
        <p14:creationId xmlns:p14="http://schemas.microsoft.com/office/powerpoint/2010/main" val="4012418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Beamer_d">
    <p:bg>
      <p:bgPr>
        <a:solidFill>
          <a:schemeClr val="bg1"/>
        </a:solidFill>
        <a:effectLst/>
      </p:bgPr>
    </p:bg>
    <p:spTree>
      <p:nvGrpSpPr>
        <p:cNvPr id="1" name=""/>
        <p:cNvGrpSpPr/>
        <p:nvPr/>
      </p:nvGrpSpPr>
      <p:grpSpPr>
        <a:xfrm>
          <a:off x="0" y="0"/>
          <a:ext cx="0" cy="0"/>
          <a:chOff x="0" y="0"/>
          <a:chExt cx="0" cy="0"/>
        </a:xfrm>
      </p:grpSpPr>
      <p:pic>
        <p:nvPicPr>
          <p:cNvPr id="5" name="Grafik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1882254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Beamer_e">
    <p:bg>
      <p:bgPr>
        <a:solidFill>
          <a:schemeClr val="bg1"/>
        </a:solidFill>
        <a:effectLst/>
      </p:bgPr>
    </p:bg>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3678571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Tree>
    <p:extLst>
      <p:ext uri="{BB962C8B-B14F-4D97-AF65-F5344CB8AC3E}">
        <p14:creationId xmlns:p14="http://schemas.microsoft.com/office/powerpoint/2010/main" val="429379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en-US" sz="1200" b="1" i="1" noProof="0" dirty="0">
                <a:solidFill>
                  <a:srgbClr val="003D7C"/>
                </a:solidFill>
              </a:rPr>
              <a:t>Strictly confidential</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
        <p:nvSpPr>
          <p:cNvPr id="7" name="Rechteck 6"/>
          <p:cNvSpPr/>
          <p:nvPr userDrawn="1"/>
        </p:nvSpPr>
        <p:spPr>
          <a:xfrm>
            <a:off x="234851" y="7113329"/>
            <a:ext cx="305115" cy="196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03741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9" name="Textplatzhalter 6"/>
          <p:cNvSpPr>
            <a:spLocks noGrp="1"/>
          </p:cNvSpPr>
          <p:nvPr>
            <p:ph type="body" sz="quarter" idx="14" hasCustomPrompt="1"/>
          </p:nvPr>
        </p:nvSpPr>
        <p:spPr>
          <a:xfrm>
            <a:off x="1674292" y="1767015"/>
            <a:ext cx="7252045" cy="4898897"/>
          </a:xfrm>
        </p:spPr>
        <p:txBody>
          <a:bodyPr/>
          <a:lstStyle>
            <a:lvl1pPr marL="0" marR="0" indent="0" algn="l" defTabSz="1043056" rtl="0" eaLnBrk="1" fontAlgn="auto" latinLnBrk="0" hangingPunct="1">
              <a:lnSpc>
                <a:spcPct val="250000"/>
              </a:lnSpc>
              <a:spcBef>
                <a:spcPts val="0"/>
              </a:spcBef>
              <a:spcAft>
                <a:spcPts val="600"/>
              </a:spcAft>
              <a:buClr>
                <a:schemeClr val="accent1"/>
              </a:buClr>
              <a:buSzTx/>
              <a:buFontTx/>
              <a:buNone/>
              <a:tabLst/>
              <a:defRPr lang="de-DE" sz="1400" b="1" kern="1200" dirty="0" smtClean="0">
                <a:solidFill>
                  <a:srgbClr val="003D7C"/>
                </a:solidFill>
                <a:latin typeface="+mn-lt"/>
                <a:ea typeface="+mn-ea"/>
                <a:cs typeface="+mn-cs"/>
              </a:defRPr>
            </a:lvl1pPr>
          </a:lstStyle>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p:txBody>
      </p:sp>
      <p:sp>
        <p:nvSpPr>
          <p:cNvPr id="20" name="Textplatzhalter 8"/>
          <p:cNvSpPr>
            <a:spLocks noGrp="1"/>
          </p:cNvSpPr>
          <p:nvPr>
            <p:ph type="body" sz="quarter" idx="15" hasCustomPrompt="1"/>
          </p:nvPr>
        </p:nvSpPr>
        <p:spPr>
          <a:xfrm>
            <a:off x="897413" y="191098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1</a:t>
            </a:r>
          </a:p>
        </p:txBody>
      </p:sp>
      <p:sp>
        <p:nvSpPr>
          <p:cNvPr id="16" name="Titel 1"/>
          <p:cNvSpPr>
            <a:spLocks noGrp="1"/>
          </p:cNvSpPr>
          <p:nvPr>
            <p:ph type="title" hasCustomPrompt="1"/>
          </p:nvPr>
        </p:nvSpPr>
        <p:spPr>
          <a:xfrm>
            <a:off x="381618" y="450279"/>
            <a:ext cx="9936000" cy="720000"/>
          </a:xfrm>
        </p:spPr>
        <p:txBody>
          <a:bodyPr/>
          <a:lstStyle>
            <a:lvl1pPr>
              <a:defRPr sz="2000" b="1">
                <a:solidFill>
                  <a:schemeClr val="tx1"/>
                </a:solidFill>
                <a:latin typeface="Univers for Metzler" panose="020B0503030202020203" pitchFamily="34" charset="0"/>
              </a:defRPr>
            </a:lvl1pPr>
          </a:lstStyle>
          <a:p>
            <a:r>
              <a:rPr lang="de-DE" dirty="0"/>
              <a:t>Agenda</a:t>
            </a:r>
          </a:p>
        </p:txBody>
      </p:sp>
      <p:sp>
        <p:nvSpPr>
          <p:cNvPr id="13" name="Textplatzhalter 8"/>
          <p:cNvSpPr>
            <a:spLocks noGrp="1"/>
          </p:cNvSpPr>
          <p:nvPr>
            <p:ph type="body" sz="quarter" idx="22" hasCustomPrompt="1"/>
          </p:nvPr>
        </p:nvSpPr>
        <p:spPr>
          <a:xfrm>
            <a:off x="897413" y="2519543"/>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2</a:t>
            </a:r>
          </a:p>
        </p:txBody>
      </p:sp>
      <p:sp>
        <p:nvSpPr>
          <p:cNvPr id="14" name="Textplatzhalter 8"/>
          <p:cNvSpPr>
            <a:spLocks noGrp="1"/>
          </p:cNvSpPr>
          <p:nvPr>
            <p:ph type="body" sz="quarter" idx="23" hasCustomPrompt="1"/>
          </p:nvPr>
        </p:nvSpPr>
        <p:spPr>
          <a:xfrm>
            <a:off x="897413" y="3128097"/>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3</a:t>
            </a:r>
          </a:p>
        </p:txBody>
      </p:sp>
      <p:sp>
        <p:nvSpPr>
          <p:cNvPr id="17" name="Textplatzhalter 8"/>
          <p:cNvSpPr>
            <a:spLocks noGrp="1"/>
          </p:cNvSpPr>
          <p:nvPr>
            <p:ph type="body" sz="quarter" idx="24" hasCustomPrompt="1"/>
          </p:nvPr>
        </p:nvSpPr>
        <p:spPr>
          <a:xfrm>
            <a:off x="897413" y="3736651"/>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4</a:t>
            </a:r>
          </a:p>
        </p:txBody>
      </p:sp>
      <p:sp>
        <p:nvSpPr>
          <p:cNvPr id="18" name="Textplatzhalter 8"/>
          <p:cNvSpPr>
            <a:spLocks noGrp="1"/>
          </p:cNvSpPr>
          <p:nvPr>
            <p:ph type="body" sz="quarter" idx="25" hasCustomPrompt="1"/>
          </p:nvPr>
        </p:nvSpPr>
        <p:spPr>
          <a:xfrm>
            <a:off x="897413" y="434520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5</a:t>
            </a:r>
          </a:p>
        </p:txBody>
      </p:sp>
      <p:sp>
        <p:nvSpPr>
          <p:cNvPr id="28" name="Textplatzhalter 8"/>
          <p:cNvSpPr>
            <a:spLocks noGrp="1"/>
          </p:cNvSpPr>
          <p:nvPr>
            <p:ph type="body" sz="quarter" idx="26" hasCustomPrompt="1"/>
          </p:nvPr>
        </p:nvSpPr>
        <p:spPr>
          <a:xfrm>
            <a:off x="897413" y="495375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6</a:t>
            </a:r>
          </a:p>
        </p:txBody>
      </p:sp>
      <p:sp>
        <p:nvSpPr>
          <p:cNvPr id="29" name="Textplatzhalter 8"/>
          <p:cNvSpPr>
            <a:spLocks noGrp="1"/>
          </p:cNvSpPr>
          <p:nvPr>
            <p:ph type="body" sz="quarter" idx="27" hasCustomPrompt="1"/>
          </p:nvPr>
        </p:nvSpPr>
        <p:spPr>
          <a:xfrm>
            <a:off x="897413" y="556231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7</a:t>
            </a:r>
          </a:p>
        </p:txBody>
      </p:sp>
      <p:sp>
        <p:nvSpPr>
          <p:cNvPr id="21"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Tree>
    <p:extLst>
      <p:ext uri="{BB962C8B-B14F-4D97-AF65-F5344CB8AC3E}">
        <p14:creationId xmlns:p14="http://schemas.microsoft.com/office/powerpoint/2010/main" val="194767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6" name="Line 825"/>
          <p:cNvSpPr>
            <a:spLocks noChangeShapeType="1"/>
          </p:cNvSpPr>
          <p:nvPr userDrawn="1"/>
        </p:nvSpPr>
        <p:spPr bwMode="auto">
          <a:xfrm>
            <a:off x="381619" y="3240000"/>
            <a:ext cx="9936000" cy="0"/>
          </a:xfrm>
          <a:prstGeom prst="line">
            <a:avLst/>
          </a:prstGeom>
          <a:noFill/>
          <a:ln w="28575">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dirty="0"/>
          </a:p>
        </p:txBody>
      </p:sp>
      <p:sp>
        <p:nvSpPr>
          <p:cNvPr id="7" name="Textplatzhalter 8"/>
          <p:cNvSpPr>
            <a:spLocks noGrp="1"/>
          </p:cNvSpPr>
          <p:nvPr>
            <p:ph type="body" sz="quarter" idx="11"/>
          </p:nvPr>
        </p:nvSpPr>
        <p:spPr>
          <a:xfrm>
            <a:off x="381618" y="3616322"/>
            <a:ext cx="9375156" cy="2525713"/>
          </a:xfrm>
        </p:spPr>
        <p:txBody>
          <a:bodyPr/>
          <a:lstStyle>
            <a:lvl1pPr marL="723900" indent="-723900">
              <a:defRPr sz="2200" b="1">
                <a:solidFill>
                  <a:srgbClr val="003D7C"/>
                </a:solidFill>
              </a:defRPr>
            </a:lvl1pPr>
            <a:lvl2pPr marL="1079500" indent="-355600">
              <a:spcBef>
                <a:spcPts val="1200"/>
              </a:spcBef>
              <a:defRPr sz="2200" b="1">
                <a:solidFill>
                  <a:srgbClr val="003D7C"/>
                </a:solidFill>
              </a:defRPr>
            </a:lvl2pPr>
            <a:lvl3pPr marL="1346200" indent="-266700">
              <a:spcBef>
                <a:spcPts val="1200"/>
              </a:spcBef>
              <a:buClr>
                <a:srgbClr val="003D7C"/>
              </a:buClr>
              <a:defRPr sz="2200" b="1">
                <a:solidFill>
                  <a:srgbClr val="003D7C"/>
                </a:solidFill>
              </a:defRPr>
            </a:lvl3pPr>
            <a:lvl4pPr>
              <a:defRPr sz="2200" b="1">
                <a:solidFill>
                  <a:schemeClr val="accent1"/>
                </a:solidFill>
              </a:defRPr>
            </a:lvl4pPr>
            <a:lvl5pPr>
              <a:defRPr sz="2200" b="1">
                <a:solidFill>
                  <a:schemeClr val="accent1"/>
                </a:solidFill>
              </a:defRPr>
            </a:lvl5pPr>
          </a:lstStyle>
          <a:p>
            <a:pPr lvl="0"/>
            <a:r>
              <a:rPr lang="de-DE" dirty="0"/>
              <a:t>Textmasterformat bearbeiten</a:t>
            </a:r>
          </a:p>
          <a:p>
            <a:pPr lvl="1"/>
            <a:r>
              <a:rPr lang="de-DE" dirty="0"/>
              <a:t>Zweite Ebene</a:t>
            </a:r>
          </a:p>
          <a:p>
            <a:pPr lvl="2"/>
            <a:r>
              <a:rPr lang="de-DE" dirty="0"/>
              <a:t>Dritte Ebene</a:t>
            </a:r>
          </a:p>
        </p:txBody>
      </p:sp>
      <p:sp>
        <p:nvSpPr>
          <p:cNvPr id="8" name="Textplatzhalter 12"/>
          <p:cNvSpPr>
            <a:spLocks noGrp="1"/>
          </p:cNvSpPr>
          <p:nvPr>
            <p:ph type="body" sz="quarter" idx="10" hasCustomPrompt="1"/>
          </p:nvPr>
        </p:nvSpPr>
        <p:spPr>
          <a:xfrm>
            <a:off x="381618" y="3582988"/>
            <a:ext cx="483640" cy="411257"/>
          </a:xfrm>
          <a:solidFill>
            <a:srgbClr val="003D7C"/>
          </a:solidFill>
        </p:spPr>
        <p:txBody>
          <a:bodyPr vert="horz" wrap="none" lIns="72000" tIns="36000" rIns="72000" bIns="36000" rtlCol="0" anchor="t" anchorCtr="0">
            <a:noAutofit/>
          </a:bodyPr>
          <a:lstStyle>
            <a:lvl1pPr marL="0" indent="0" algn="ctr">
              <a:buFontTx/>
              <a:buNone/>
              <a:defRPr lang="de-DE" sz="2200" b="1" dirty="0" smtClean="0">
                <a:solidFill>
                  <a:schemeClr val="bg1"/>
                </a:solidFill>
                <a:latin typeface="+mj-lt"/>
                <a:ea typeface="+mj-ea"/>
                <a:cs typeface="+mj-cs"/>
              </a:defRPr>
            </a:lvl1pPr>
            <a:lvl2pPr marL="195573" indent="0">
              <a:buFontTx/>
              <a:buNone/>
              <a:defRPr lang="de-DE" sz="2100" dirty="0" smtClean="0"/>
            </a:lvl2pPr>
            <a:lvl3pPr marL="782292" indent="0">
              <a:buFontTx/>
              <a:buNone/>
              <a:defRPr lang="de-DE" sz="2100" dirty="0" smtClean="0"/>
            </a:lvl3pPr>
            <a:lvl4pPr marL="1303820" indent="0">
              <a:buFontTx/>
              <a:buNone/>
              <a:defRPr lang="de-DE" sz="2100" dirty="0" smtClean="0"/>
            </a:lvl4pPr>
            <a:lvl5pPr marL="1825348" indent="0">
              <a:buFontTx/>
              <a:buNone/>
              <a:defRPr lang="de-DE" sz="2100" dirty="0"/>
            </a:lvl5pPr>
          </a:lstStyle>
          <a:p>
            <a:pPr marL="0" lvl="0" algn="ctr">
              <a:spcBef>
                <a:spcPct val="0"/>
              </a:spcBef>
              <a:buNone/>
            </a:pPr>
            <a:r>
              <a:rPr lang="de-DE" dirty="0" err="1"/>
              <a:t>Nr</a:t>
            </a:r>
            <a:endParaRPr lang="de-DE" dirty="0"/>
          </a:p>
        </p:txBody>
      </p:sp>
    </p:spTree>
    <p:extLst>
      <p:ext uri="{BB962C8B-B14F-4D97-AF65-F5344CB8AC3E}">
        <p14:creationId xmlns:p14="http://schemas.microsoft.com/office/powerpoint/2010/main" val="4217982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0">
    <p:spTree>
      <p:nvGrpSpPr>
        <p:cNvPr id="1" name=""/>
        <p:cNvGrpSpPr/>
        <p:nvPr/>
      </p:nvGrpSpPr>
      <p:grpSpPr>
        <a:xfrm>
          <a:off x="0" y="0"/>
          <a:ext cx="0" cy="0"/>
          <a:chOff x="0" y="0"/>
          <a:chExt cx="0" cy="0"/>
        </a:xfrm>
      </p:grpSpPr>
      <p:sp>
        <p:nvSpPr>
          <p:cNvPr id="2"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6"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7"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
        <p:nvSpPr>
          <p:cNvPr id="10"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Tree>
    <p:extLst>
      <p:ext uri="{BB962C8B-B14F-4D97-AF65-F5344CB8AC3E}">
        <p14:creationId xmlns:p14="http://schemas.microsoft.com/office/powerpoint/2010/main" val="266441174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7"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8"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33311880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6" name="Textplatzhalter 5"/>
          <p:cNvSpPr>
            <a:spLocks noGrp="1"/>
          </p:cNvSpPr>
          <p:nvPr>
            <p:ph type="body" sz="quarter" idx="22" hasCustomPrompt="1"/>
          </p:nvPr>
        </p:nvSpPr>
        <p:spPr>
          <a:xfrm>
            <a:off x="541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8" name="Inhaltsplatzhalter 3"/>
          <p:cNvSpPr>
            <a:spLocks noGrp="1"/>
          </p:cNvSpPr>
          <p:nvPr>
            <p:ph sz="quarter" idx="24"/>
          </p:nvPr>
        </p:nvSpPr>
        <p:spPr>
          <a:xfrm>
            <a:off x="541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9"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20"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21"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2"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3"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46442920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9613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6"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8"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9"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0"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1"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420821261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993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3" name="Inhaltsplatzhalter 3"/>
          <p:cNvSpPr>
            <a:spLocks noGrp="1"/>
          </p:cNvSpPr>
          <p:nvPr>
            <p:ph sz="quarter" idx="10"/>
          </p:nvPr>
        </p:nvSpPr>
        <p:spPr>
          <a:xfrm>
            <a:off x="378700" y="1889371"/>
            <a:ext cx="9936000" cy="4896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2"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4"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5"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6"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7"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55452333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claimer_Englis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en-US" sz="1050" dirty="0">
                <a:latin typeface="+mn-lt"/>
                <a:ea typeface="Times New Roman"/>
                <a:cs typeface="LTUnivers 330 BasicLight"/>
              </a:rPr>
              <a:t>This presentation has been prepared by B. Metzler GmbH (hereinafter “Metzler Corporate Finance”) and is based upon information we believe to be reliable, but we make no representation (expressly or implied) as to the accuracy or completeness of such information. In furnishing this presentation Metzler Corporate Finance is not obligated to provide any additional information, to update or to correct this presentation. Metzler Corporate Finance expressly disclaims any liability for the contents or any omissions regarding this presentation or any other information made available in writing, orally or otherwise. The recipient undertakes to treat this document and the information therein as strictly confidential. This document does not serve as legal or tax advice and can not substitute such an advice.</a:t>
            </a: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1"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302311003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aimer_deutsc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de-DE" sz="1050" dirty="0">
                <a:latin typeface="+mn-lt"/>
                <a:ea typeface="Times New Roman"/>
                <a:cs typeface="LTUnivers 330 BasicLight"/>
              </a:rPr>
              <a:t>Diese Präsentation wurde von der B. Metzler GmbH (nachfolgend Metzler Corporate Finance genannt) erstellt und basiert auf Information, die wir als verlässlich erachten, jedoch werden keine (ausdrücklichen oder stillschweigenden) Zusicherungen über die Richtigkeit oder Vollständigkeit der in dieser Präsentation enthaltenen Aussagen, Projektionen oder Berechnungen abgegeben.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ist nicht verpflichtet, Zugang zu weiteren Informationen zu gewähren oder diese Präsentation zu aktualisieren oder zu korrigieren.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schließt ausdrücklich jede Haftung für eine eventuelle Unrichtigkeit oder Unvollständigkeit dieser Präsentation sowie aller sonstigen Informationen aus, die dem Empfänger schriftlich, mündlich oder in sonstiger Weise übermittelt oder zugänglich gemacht werden. Der Empfänger verpflichtet sich, die Präsentation und die darin enthaltenen Informationen streng vertraulich zu behandeln. Diese Präsentation soll weder als Rechts- oder Steuerberatung dienen, noch kann sie diese ersetzen. </a:t>
            </a:r>
          </a:p>
          <a:p>
            <a:pPr marL="0" marR="0" lvl="0" indent="0" algn="just" defTabSz="914400" rtl="0" eaLnBrk="1" fontAlgn="base" latinLnBrk="0" hangingPunct="1">
              <a:lnSpc>
                <a:spcPct val="150000"/>
              </a:lnSpc>
              <a:spcBef>
                <a:spcPct val="0"/>
              </a:spcBef>
              <a:spcAft>
                <a:spcPts val="600"/>
              </a:spcAft>
              <a:buClrTx/>
              <a:buSzTx/>
              <a:buFontTx/>
              <a:buNone/>
              <a:tabLst/>
            </a:pPr>
            <a:endParaRPr kumimoji="0" lang="de-DE" sz="2000" b="0" i="0" u="none" strike="noStrike" cap="none" normalizeH="0" baseline="0" dirty="0">
              <a:ln>
                <a:noFill/>
              </a:ln>
              <a:solidFill>
                <a:schemeClr val="tx1"/>
              </a:solidFill>
              <a:effectLst/>
              <a:latin typeface="+mn-lt"/>
              <a:cs typeface="Arial" pitchFamily="34" charset="0"/>
            </a:endParaRP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FontTx/>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5"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1321472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2.xml"/><Relationship Id="rId16" Type="http://schemas.openxmlformats.org/officeDocument/2006/relationships/oleObject" Target="../embeddings/oleObject1.bin"/><Relationship Id="rId17" Type="http://schemas.openxmlformats.org/officeDocument/2006/relationships/image" Target="../media/image1.emf"/><Relationship Id="rId1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0CA1DC0-A297-4519-AB8F-5E1F0CAA645D}"/>
              </a:ext>
            </a:extLst>
          </p:cNvPr>
          <p:cNvGraphicFramePr>
            <a:graphicFrameLocks noChangeAspect="1"/>
          </p:cNvGraphicFramePr>
          <p:nvPr userDrawn="1">
            <p:custDataLst>
              <p:tags r:id="rId15"/>
            </p:custDataLst>
            <p:extLst>
              <p:ext uri="{D42A27DB-BD31-4B8C-83A1-F6EECF244321}">
                <p14:modId xmlns:p14="http://schemas.microsoft.com/office/powerpoint/2010/main" val="1616693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286" imgH="286" progId="TCLayout.ActiveDocument.1">
                  <p:embed/>
                </p:oleObj>
              </mc:Choice>
              <mc:Fallback>
                <p:oleObj name="think-cell Slide" r:id="rId16" imgW="286" imgH="286" progId="TCLayout.ActiveDocument.1">
                  <p:embed/>
                  <p:pic>
                    <p:nvPicPr>
                      <p:cNvPr id="0" name=""/>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a:xfrm>
            <a:off x="378700" y="450279"/>
            <a:ext cx="9936000" cy="720000"/>
          </a:xfrm>
          <a:prstGeom prst="rect">
            <a:avLst/>
          </a:prstGeom>
        </p:spPr>
        <p:txBody>
          <a:bodyPr vert="horz" lIns="0" tIns="0" rIns="0" bIns="0" rtlCol="0" anchor="t">
            <a:noAutofit/>
          </a:bodyPr>
          <a:lstStyle/>
          <a:p>
            <a:r>
              <a:rPr lang="de-DE" dirty="0"/>
              <a:t>Titelmasterformat durch Klicken bearbeiten</a:t>
            </a:r>
            <a:br>
              <a:rPr lang="de-DE" dirty="0"/>
            </a:br>
            <a:endParaRPr lang="de-DE" dirty="0"/>
          </a:p>
        </p:txBody>
      </p:sp>
      <p:sp>
        <p:nvSpPr>
          <p:cNvPr id="3" name="Textplatzhalter 2"/>
          <p:cNvSpPr>
            <a:spLocks noGrp="1"/>
          </p:cNvSpPr>
          <p:nvPr>
            <p:ph type="body" idx="1"/>
          </p:nvPr>
        </p:nvSpPr>
        <p:spPr>
          <a:xfrm>
            <a:off x="378700" y="1620000"/>
            <a:ext cx="9936000" cy="504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p:txBody>
      </p:sp>
      <p:pic>
        <p:nvPicPr>
          <p:cNvPr id="8" name="Picture 3" descr="W:\UKOMM\SHARED\LOGOS\Metzler\RGB_Blau\png\MetzlerCF_RGB_Blau (2).pn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sp>
        <p:nvSpPr>
          <p:cNvPr id="9" name="Line 58"/>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0" name="Line 58"/>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6" name="Rechteck 5"/>
          <p:cNvSpPr/>
          <p:nvPr/>
        </p:nvSpPr>
        <p:spPr>
          <a:xfrm>
            <a:off x="8875500" y="7070495"/>
            <a:ext cx="115908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Line 58"/>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2" name="Textfeld 11"/>
          <p:cNvSpPr txBox="1"/>
          <p:nvPr userDrawn="1"/>
        </p:nvSpPr>
        <p:spPr>
          <a:xfrm>
            <a:off x="381619" y="7128798"/>
            <a:ext cx="206788"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fld id="{69DC22A3-4BBA-427E-990E-76363AFABCED}" type="slidenum">
              <a:rPr lang="de-DE" sz="800" kern="0" smtClean="0">
                <a:solidFill>
                  <a:schemeClr val="tx1"/>
                </a:solidFill>
                <a:latin typeface="+mj-lt"/>
              </a:rPr>
              <a:pPr/>
              <a:t>‹#›</a:t>
            </a:fld>
            <a:endParaRPr lang="de-DE" sz="800" kern="0" dirty="0">
              <a:solidFill>
                <a:schemeClr val="tx1"/>
              </a:solidFill>
              <a:latin typeface="+mj-lt"/>
            </a:endParaRPr>
          </a:p>
        </p:txBody>
      </p:sp>
    </p:spTree>
    <p:extLst>
      <p:ext uri="{BB962C8B-B14F-4D97-AF65-F5344CB8AC3E}">
        <p14:creationId xmlns:p14="http://schemas.microsoft.com/office/powerpoint/2010/main" val="13307270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4" r:id="rId3"/>
    <p:sldLayoutId id="2147483690" r:id="rId4"/>
    <p:sldLayoutId id="2147483682" r:id="rId5"/>
    <p:sldLayoutId id="2147483667" r:id="rId6"/>
    <p:sldLayoutId id="2147483679" r:id="rId7"/>
    <p:sldLayoutId id="2147483683" r:id="rId8"/>
    <p:sldLayoutId id="2147483685" r:id="rId9"/>
    <p:sldLayoutId id="2147483687" r:id="rId10"/>
    <p:sldLayoutId id="2147483688" r:id="rId11"/>
    <p:sldLayoutId id="2147483689" r:id="rId12"/>
    <p:sldLayoutId id="2147483684" r:id="rId13"/>
  </p:sldLayoutIdLst>
  <p:txStyles>
    <p:titleStyle>
      <a:lvl1pPr algn="l" defTabSz="1043056" rtl="0" eaLnBrk="1" latinLnBrk="0" hangingPunct="1">
        <a:spcBef>
          <a:spcPct val="0"/>
        </a:spcBef>
        <a:buNone/>
        <a:defRPr sz="2000" b="1" kern="1200">
          <a:solidFill>
            <a:schemeClr val="tx1"/>
          </a:solidFill>
          <a:latin typeface="+mj-lt"/>
          <a:ea typeface="+mj-ea"/>
          <a:cs typeface="+mj-cs"/>
        </a:defRPr>
      </a:lvl1pPr>
    </p:titleStyle>
    <p:body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8" userDrawn="1">
          <p15:clr>
            <a:srgbClr val="F26B43"/>
          </p15:clr>
        </p15:guide>
        <p15:guide id="3" pos="6498" userDrawn="1">
          <p15:clr>
            <a:srgbClr val="F26B43"/>
          </p15:clr>
        </p15:guide>
        <p15:guide id="4" pos="238" userDrawn="1">
          <p15:clr>
            <a:srgbClr val="F26B43"/>
          </p15:clr>
        </p15:guide>
        <p15:guide id="5" orient="horz" pos="4287" userDrawn="1">
          <p15:clr>
            <a:srgbClr val="F26B43"/>
          </p15:clr>
        </p15:guide>
        <p15:guide id="6" orient="horz" pos="102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oleObject" Target="../embeddings/oleObject2.bin"/><Relationship Id="rId4" Type="http://schemas.openxmlformats.org/officeDocument/2006/relationships/image" Target="../media/image5.emf"/><Relationship Id="rId5" Type="http://schemas.openxmlformats.org/officeDocument/2006/relationships/image" Target="../media/image6.jpeg"/><Relationship Id="rId6"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7.xml"/><Relationship Id="rId3" Type="http://schemas.openxmlformats.org/officeDocument/2006/relationships/oleObject" Target="../embeddings/oleObject3.bin"/><Relationship Id="rId4" Type="http://schemas.openxmlformats.org/officeDocument/2006/relationships/image" Target="../media/image9.emf"/><Relationship Id="rId5" Type="http://schemas.openxmlformats.org/officeDocument/2006/relationships/image" Target="../media/image10.tiff"/><Relationship Id="rId6"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5.xml"/><Relationship Id="rId3" Type="http://schemas.openxmlformats.org/officeDocument/2006/relationships/oleObject" Target="../embeddings/oleObject4.bin"/><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6.xml"/><Relationship Id="rId3" Type="http://schemas.openxmlformats.org/officeDocument/2006/relationships/oleObject" Target="../embeddings/oleObject5.bin"/><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7.xml"/><Relationship Id="rId3" Type="http://schemas.openxmlformats.org/officeDocument/2006/relationships/oleObject" Target="../embeddings/oleObject6.bin"/><Relationship Id="rId4" Type="http://schemas.openxmlformats.org/officeDocument/2006/relationships/image" Target="../media/image9.emf"/><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eg"/><Relationship Id="rId7"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sv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image" Target="../media/image30.emf"/><Relationship Id="rId16" Type="http://schemas.openxmlformats.org/officeDocument/2006/relationships/image" Target="../media/image31.png"/><Relationship Id="rId17" Type="http://schemas.openxmlformats.org/officeDocument/2006/relationships/image" Target="../media/image32.png"/><Relationship Id="rId18" Type="http://schemas.openxmlformats.org/officeDocument/2006/relationships/image" Target="../media/image33.png"/><Relationship Id="rId19" Type="http://schemas.openxmlformats.org/officeDocument/2006/relationships/image" Target="../media/image34.png"/><Relationship Id="rId20" Type="http://schemas.openxmlformats.org/officeDocument/2006/relationships/image" Target="../media/image35.png"/><Relationship Id="rId21" Type="http://schemas.openxmlformats.org/officeDocument/2006/relationships/image" Target="../media/image36.svg"/><Relationship Id="rId22" Type="http://schemas.openxmlformats.org/officeDocument/2006/relationships/image" Target="../media/image37.png"/><Relationship Id="rId23" Type="http://schemas.openxmlformats.org/officeDocument/2006/relationships/image" Target="../media/image38.png"/><Relationship Id="rId24" Type="http://schemas.openxmlformats.org/officeDocument/2006/relationships/image" Target="../media/image39.png"/><Relationship Id="rId25" Type="http://schemas.openxmlformats.org/officeDocument/2006/relationships/image" Target="../media/image40.png"/><Relationship Id="rId26" Type="http://schemas.openxmlformats.org/officeDocument/2006/relationships/image" Target="../media/image41.png"/><Relationship Id="rId27" Type="http://schemas.openxmlformats.org/officeDocument/2006/relationships/image" Target="../media/image42.png"/><Relationship Id="rId28" Type="http://schemas.openxmlformats.org/officeDocument/2006/relationships/image" Target="../media/image43.png"/><Relationship Id="rId29" Type="http://schemas.openxmlformats.org/officeDocument/2006/relationships/image" Target="../media/image44.png"/><Relationship Id="rId30"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6.xml"/><Relationship Id="rId3" Type="http://schemas.openxmlformats.org/officeDocument/2006/relationships/oleObject" Target="../embeddings/oleObject5.bin"/><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46.emf"/></Relationships>
</file>

<file path=ppt/slides/_rels/slide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10.xml"/><Relationship Id="rId3" Type="http://schemas.openxmlformats.org/officeDocument/2006/relationships/oleObject" Target="../embeddings/oleObject2.bin"/><Relationship Id="rId4" Type="http://schemas.openxmlformats.org/officeDocument/2006/relationships/image" Target="../media/image5.emf"/><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8.pn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53.png"/><Relationship Id="rId13" Type="http://schemas.openxmlformats.org/officeDocument/2006/relationships/image" Target="../media/image54.png"/><Relationship Id="rId14" Type="http://schemas.openxmlformats.org/officeDocument/2006/relationships/image" Target="../media/image55.png"/><Relationship Id="rId15" Type="http://schemas.openxmlformats.org/officeDocument/2006/relationships/image" Target="../media/image56.png"/><Relationship Id="rId16" Type="http://schemas.openxmlformats.org/officeDocument/2006/relationships/image" Target="../media/image57.png"/><Relationship Id="rId17" Type="http://schemas.openxmlformats.org/officeDocument/2006/relationships/image" Target="../media/image58.png"/><Relationship Id="rId18" Type="http://schemas.openxmlformats.org/officeDocument/2006/relationships/image" Target="../media/image59.png"/></Relationships>
</file>

<file path=ppt/slides/_rels/slide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slideLayout" Target="../slideLayouts/slideLayout10.xml"/><Relationship Id="rId5" Type="http://schemas.openxmlformats.org/officeDocument/2006/relationships/oleObject" Target="../embeddings/oleObject7.bin"/><Relationship Id="rId6" Type="http://schemas.openxmlformats.org/officeDocument/2006/relationships/image" Target="../media/image5.emf"/><Relationship Id="rId7" Type="http://schemas.openxmlformats.org/officeDocument/2006/relationships/image" Target="../media/image8.png"/><Relationship Id="rId8" Type="http://schemas.openxmlformats.org/officeDocument/2006/relationships/image" Target="../media/image53.png"/><Relationship Id="rId9" Type="http://schemas.openxmlformats.org/officeDocument/2006/relationships/image" Target="../media/image60.png"/><Relationship Id="rId10" Type="http://schemas.openxmlformats.org/officeDocument/2006/relationships/image" Target="../media/image57.png"/><Relationship Id="rId11" Type="http://schemas.openxmlformats.org/officeDocument/2006/relationships/image" Target="../media/image54.png"/><Relationship Id="rId12" Type="http://schemas.openxmlformats.org/officeDocument/2006/relationships/image" Target="../media/image59.png"/><Relationship Id="rId13" Type="http://schemas.openxmlformats.org/officeDocument/2006/relationships/image" Target="../media/image55.png"/><Relationship Id="rId14"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 Id="rId8" Type="http://schemas.openxmlformats.org/officeDocument/2006/relationships/slideLayout" Target="../slideLayouts/slideLayout7.xml"/><Relationship Id="rId9" Type="http://schemas.openxmlformats.org/officeDocument/2006/relationships/oleObject" Target="../embeddings/oleObject8.bin"/><Relationship Id="rId10" Type="http://schemas.openxmlformats.org/officeDocument/2006/relationships/image" Target="../media/image46.emf"/><Relationship Id="rId11" Type="http://schemas.openxmlformats.org/officeDocument/2006/relationships/chart" Target="../charts/chart2.xml"/><Relationship Id="rId12" Type="http://schemas.openxmlformats.org/officeDocument/2006/relationships/image" Target="../media/image61.jpeg"/><Relationship Id="rId13" Type="http://schemas.openxmlformats.org/officeDocument/2006/relationships/image" Target="../media/image62.jpeg"/><Relationship Id="rId14" Type="http://schemas.openxmlformats.org/officeDocument/2006/relationships/image" Target="../media/image63.jpeg"/><Relationship Id="rId15" Type="http://schemas.openxmlformats.org/officeDocument/2006/relationships/image" Target="../media/image64.jpeg"/><Relationship Id="rId16" Type="http://schemas.openxmlformats.org/officeDocument/2006/relationships/image" Target="../media/image65.png"/><Relationship Id="rId17" Type="http://schemas.openxmlformats.org/officeDocument/2006/relationships/image" Target="../media/image66.jpeg"/><Relationship Id="rId18" Type="http://schemas.openxmlformats.org/officeDocument/2006/relationships/image" Target="../media/image67.jpeg"/><Relationship Id="rId19" Type="http://schemas.openxmlformats.org/officeDocument/2006/relationships/image" Target="../media/image68.jpeg"/><Relationship Id="rId20" Type="http://schemas.openxmlformats.org/officeDocument/2006/relationships/image" Target="../media/image69.jpeg"/><Relationship Id="rId21" Type="http://schemas.openxmlformats.org/officeDocument/2006/relationships/image" Target="../media/image70.jpeg"/><Relationship Id="rId22" Type="http://schemas.openxmlformats.org/officeDocument/2006/relationships/image" Target="../media/image58.png"/><Relationship Id="rId23" Type="http://schemas.openxmlformats.org/officeDocument/2006/relationships/image" Target="../media/image50.png"/><Relationship Id="rId24" Type="http://schemas.openxmlformats.org/officeDocument/2006/relationships/image" Target="../media/image51.png"/><Relationship Id="rId25" Type="http://schemas.openxmlformats.org/officeDocument/2006/relationships/image" Target="../media/image59.png"/><Relationship Id="rId26" Type="http://schemas.openxmlformats.org/officeDocument/2006/relationships/image" Target="../media/image8.png"/><Relationship Id="rId27" Type="http://schemas.openxmlformats.org/officeDocument/2006/relationships/image" Target="../media/image55.png"/><Relationship Id="rId28" Type="http://schemas.openxmlformats.org/officeDocument/2006/relationships/image" Target="../media/image71.png"/></Relationships>
</file>

<file path=ppt/slides/_rels/slide14.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9.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 Id="rId5" Type="http://schemas.openxmlformats.org/officeDocument/2006/relationships/image" Target="../media/image72.png"/><Relationship Id="rId6" Type="http://schemas.openxmlformats.org/officeDocument/2006/relationships/image" Target="../media/image73.svg"/><Relationship Id="rId7" Type="http://schemas.openxmlformats.org/officeDocument/2006/relationships/image" Target="../media/image74.png"/><Relationship Id="rId8" Type="http://schemas.openxmlformats.org/officeDocument/2006/relationships/image" Target="../media/image75.svg"/><Relationship Id="rId9" Type="http://schemas.openxmlformats.org/officeDocument/2006/relationships/image" Target="../media/image76.png"/><Relationship Id="rId10" Type="http://schemas.openxmlformats.org/officeDocument/2006/relationships/image" Target="../media/image77.svg"/><Relationship Id="rId11" Type="http://schemas.openxmlformats.org/officeDocument/2006/relationships/image" Target="../media/image78.png"/><Relationship Id="rId12" Type="http://schemas.openxmlformats.org/officeDocument/2006/relationships/image" Target="../media/image79.svg"/><Relationship Id="rId13" Type="http://schemas.openxmlformats.org/officeDocument/2006/relationships/image" Target="../media/image80.png"/><Relationship Id="rId14" Type="http://schemas.openxmlformats.org/officeDocument/2006/relationships/image" Target="../media/image81.svg"/></Relationships>
</file>

<file path=ppt/slides/_rels/slide17.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 Id="rId5" Type="http://schemas.openxmlformats.org/officeDocument/2006/relationships/image" Target="../media/image82.png"/><Relationship Id="rId6" Type="http://schemas.openxmlformats.org/officeDocument/2006/relationships/image" Target="../media/image83.svg"/><Relationship Id="rId7" Type="http://schemas.openxmlformats.org/officeDocument/2006/relationships/image" Target="../media/image84.png"/><Relationship Id="rId8" Type="http://schemas.openxmlformats.org/officeDocument/2006/relationships/image" Target="../media/image85.svg"/></Relationships>
</file>

<file path=ppt/slides/_rels/slide18.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7.xml"/><Relationship Id="rId3" Type="http://schemas.openxmlformats.org/officeDocument/2006/relationships/image" Target="../media/image86.png"/><Relationship Id="rId4" Type="http://schemas.openxmlformats.org/officeDocument/2006/relationships/image" Target="../media/image87.svg"/><Relationship Id="rId5" Type="http://schemas.openxmlformats.org/officeDocument/2006/relationships/oleObject" Target="../embeddings/oleObject2.bin"/><Relationship Id="rId6" Type="http://schemas.openxmlformats.org/officeDocument/2006/relationships/image" Target="../media/image9.emf"/></Relationships>
</file>

<file path=ppt/slides/_rels/slide19.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7.xml"/><Relationship Id="rId3" Type="http://schemas.openxmlformats.org/officeDocument/2006/relationships/oleObject" Target="../embeddings/oleObject2.bin"/><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7.xml"/><Relationship Id="rId3" Type="http://schemas.openxmlformats.org/officeDocument/2006/relationships/oleObject" Target="../embeddings/oleObject9.bin"/><Relationship Id="rId4" Type="http://schemas.openxmlformats.org/officeDocument/2006/relationships/image" Target="../media/image9.emf"/><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92.png"/><Relationship Id="rId10" Type="http://schemas.openxmlformats.org/officeDocument/2006/relationships/image" Target="../media/image9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D83D4E5-3E6F-4BED-9E21-4B748A7B1163}"/>
              </a:ext>
            </a:extLst>
          </p:cNvPr>
          <p:cNvGraphicFramePr>
            <a:graphicFrameLocks/>
          </p:cNvGraphicFramePr>
          <p:nvPr>
            <p:custDataLst>
              <p:tags r:id="rId1"/>
            </p:custDataLst>
            <p:extLst>
              <p:ext uri="{D42A27DB-BD31-4B8C-83A1-F6EECF244321}">
                <p14:modId xmlns:p14="http://schemas.microsoft.com/office/powerpoint/2010/main" val="28175207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0D83D4E5-3E6F-4BED-9E21-4B748A7B11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30" name="Picture 6">
            <a:extLst>
              <a:ext uri="{FF2B5EF4-FFF2-40B4-BE49-F238E27FC236}">
                <a16:creationId xmlns:a16="http://schemas.microsoft.com/office/drawing/2014/main" id="{EA063503-A709-2560-CD3D-E2452815CF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758" y="-453770"/>
            <a:ext cx="11678916" cy="846721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3A02EB5-A727-4A81-ABE4-BD603435F791}"/>
              </a:ext>
            </a:extLst>
          </p:cNvPr>
          <p:cNvSpPr/>
          <p:nvPr/>
        </p:nvSpPr>
        <p:spPr>
          <a:xfrm>
            <a:off x="234132" y="776605"/>
            <a:ext cx="10225135" cy="65527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platzhalter 5"/>
          <p:cNvSpPr>
            <a:spLocks noGrp="1"/>
          </p:cNvSpPr>
          <p:nvPr>
            <p:ph type="body" sz="quarter" idx="16"/>
          </p:nvPr>
        </p:nvSpPr>
        <p:spPr>
          <a:xfrm>
            <a:off x="684700" y="6156551"/>
            <a:ext cx="9324000" cy="504000"/>
          </a:xfrm>
        </p:spPr>
        <p:txBody>
          <a:bodyPr/>
          <a:lstStyle/>
          <a:p>
            <a:r>
              <a:rPr lang="de-DE" dirty="0"/>
              <a:t>Duisburg / Frankfurt am Main, 5. März 2024</a:t>
            </a:r>
          </a:p>
        </p:txBody>
      </p:sp>
      <p:sp>
        <p:nvSpPr>
          <p:cNvPr id="14" name="Line 58">
            <a:extLst>
              <a:ext uri="{FF2B5EF4-FFF2-40B4-BE49-F238E27FC236}">
                <a16:creationId xmlns:a16="http://schemas.microsoft.com/office/drawing/2014/main" id="{FF622BBF-3DEF-4009-A4B6-25C364ED217A}"/>
              </a:ext>
            </a:extLst>
          </p:cNvPr>
          <p:cNvSpPr>
            <a:spLocks noChangeShapeType="1"/>
          </p:cNvSpPr>
          <p:nvPr/>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5" name="Titel 1">
            <a:extLst>
              <a:ext uri="{FF2B5EF4-FFF2-40B4-BE49-F238E27FC236}">
                <a16:creationId xmlns:a16="http://schemas.microsoft.com/office/drawing/2014/main" id="{6B75F7FC-2D17-448B-BB18-8BF1E06DB316}"/>
              </a:ext>
            </a:extLst>
          </p:cNvPr>
          <p:cNvSpPr txBox="1">
            <a:spLocks/>
          </p:cNvSpPr>
          <p:nvPr/>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grpSp>
        <p:nvGrpSpPr>
          <p:cNvPr id="16" name="Group 15">
            <a:extLst>
              <a:ext uri="{FF2B5EF4-FFF2-40B4-BE49-F238E27FC236}">
                <a16:creationId xmlns:a16="http://schemas.microsoft.com/office/drawing/2014/main" id="{BE564CB1-4887-4E0E-A7A2-6633293539D9}"/>
              </a:ext>
            </a:extLst>
          </p:cNvPr>
          <p:cNvGrpSpPr/>
          <p:nvPr/>
        </p:nvGrpSpPr>
        <p:grpSpPr>
          <a:xfrm>
            <a:off x="378700" y="6890314"/>
            <a:ext cx="9936000" cy="360362"/>
            <a:chOff x="378700" y="6890314"/>
            <a:chExt cx="9936000" cy="360362"/>
          </a:xfrm>
        </p:grpSpPr>
        <p:sp>
          <p:nvSpPr>
            <p:cNvPr id="17" name="Line 58">
              <a:extLst>
                <a:ext uri="{FF2B5EF4-FFF2-40B4-BE49-F238E27FC236}">
                  <a16:creationId xmlns:a16="http://schemas.microsoft.com/office/drawing/2014/main" id="{49DD9A41-5114-4378-8CED-98124F2ACE04}"/>
                </a:ext>
              </a:extLst>
            </p:cNvPr>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8" name="Line 58">
              <a:extLst>
                <a:ext uri="{FF2B5EF4-FFF2-40B4-BE49-F238E27FC236}">
                  <a16:creationId xmlns:a16="http://schemas.microsoft.com/office/drawing/2014/main" id="{BFDF6FC0-193B-4DF7-AD3E-C7FC49B353F0}"/>
                </a:ext>
              </a:extLst>
            </p:cNvPr>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9" name="Line 58">
              <a:extLst>
                <a:ext uri="{FF2B5EF4-FFF2-40B4-BE49-F238E27FC236}">
                  <a16:creationId xmlns:a16="http://schemas.microsoft.com/office/drawing/2014/main" id="{FC53FD3A-E0BE-4C3D-B716-987501791D11}"/>
                </a:ext>
              </a:extLst>
            </p:cNvPr>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pic>
          <p:nvPicPr>
            <p:cNvPr id="20" name="Picture 3" descr="W:\UKOMM\SHARED\LOGOS\Metzler\RGB_Blau\png\MetzlerCF_RGB_Blau (2).png">
              <a:extLst>
                <a:ext uri="{FF2B5EF4-FFF2-40B4-BE49-F238E27FC236}">
                  <a16:creationId xmlns:a16="http://schemas.microsoft.com/office/drawing/2014/main" id="{5CD5D6AB-D23C-44DD-9B9A-14E9C35C5AC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itle 6">
            <a:extLst>
              <a:ext uri="{FF2B5EF4-FFF2-40B4-BE49-F238E27FC236}">
                <a16:creationId xmlns:a16="http://schemas.microsoft.com/office/drawing/2014/main" id="{85D4A847-C8E9-787D-26FA-2B7B03F9446D}"/>
              </a:ext>
            </a:extLst>
          </p:cNvPr>
          <p:cNvSpPr>
            <a:spLocks noGrp="1"/>
          </p:cNvSpPr>
          <p:nvPr>
            <p:ph type="title"/>
          </p:nvPr>
        </p:nvSpPr>
        <p:spPr>
          <a:xfrm>
            <a:off x="684700" y="1620391"/>
            <a:ext cx="9324000" cy="1801415"/>
          </a:xfrm>
        </p:spPr>
        <p:txBody>
          <a:bodyPr vert="horz"/>
          <a:lstStyle/>
          <a:p>
            <a:r>
              <a:rPr lang="de-DE" dirty="0"/>
              <a:t>Überlegungen zur Kapitalflexibilisierung</a:t>
            </a:r>
            <a:br>
              <a:rPr lang="de-DE" dirty="0"/>
            </a:br>
            <a:br>
              <a:rPr lang="de-DE" dirty="0"/>
            </a:br>
            <a:br>
              <a:rPr lang="de-DE" dirty="0"/>
            </a:br>
            <a:r>
              <a:rPr lang="de-DE" sz="1600" dirty="0"/>
              <a:t>Unterlage für</a:t>
            </a:r>
            <a:br>
              <a:rPr lang="de-DE" sz="1600" dirty="0"/>
            </a:br>
            <a:r>
              <a:rPr lang="de-DE" sz="1600" dirty="0"/>
              <a:t>Herrn Thomas Brauers</a:t>
            </a:r>
            <a:br>
              <a:rPr lang="de-DE" sz="1600" dirty="0"/>
            </a:br>
            <a:r>
              <a:rPr lang="de-DE" sz="1600" dirty="0"/>
              <a:t>Herrn Dennis Schulte im Walde</a:t>
            </a:r>
            <a:br>
              <a:rPr lang="de-DE" sz="1600" i="1" dirty="0">
                <a:highlight>
                  <a:srgbClr val="FFFF00"/>
                </a:highlight>
              </a:rPr>
            </a:br>
            <a:endParaRPr lang="en-US" dirty="0">
              <a:highlight>
                <a:srgbClr val="FFFF00"/>
              </a:highlight>
            </a:endParaRPr>
          </a:p>
        </p:txBody>
      </p:sp>
      <p:pic>
        <p:nvPicPr>
          <p:cNvPr id="1028" name="Picture 4" descr="Duisburger Versorgungs- und Verkehrsgesellschaft – Wikipedia">
            <a:extLst>
              <a:ext uri="{FF2B5EF4-FFF2-40B4-BE49-F238E27FC236}">
                <a16:creationId xmlns:a16="http://schemas.microsoft.com/office/drawing/2014/main" id="{8716D8E1-C12C-D520-A226-4D90613324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700" y="4918578"/>
            <a:ext cx="1923302" cy="87827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C5EC579-3814-E197-8292-19AB4901B04A}"/>
              </a:ext>
            </a:extLst>
          </p:cNvPr>
          <p:cNvPicPr>
            <a:picLocks noChangeAspect="1"/>
          </p:cNvPicPr>
          <p:nvPr/>
        </p:nvPicPr>
        <p:blipFill>
          <a:blip r:embed="rId8"/>
          <a:stretch>
            <a:fillRect/>
          </a:stretch>
        </p:blipFill>
        <p:spPr>
          <a:xfrm>
            <a:off x="2754412" y="4966574"/>
            <a:ext cx="2744856" cy="782285"/>
          </a:xfrm>
          <a:prstGeom prst="rect">
            <a:avLst/>
          </a:prstGeom>
        </p:spPr>
      </p:pic>
    </p:spTree>
    <p:extLst>
      <p:ext uri="{BB962C8B-B14F-4D97-AF65-F5344CB8AC3E}">
        <p14:creationId xmlns:p14="http://schemas.microsoft.com/office/powerpoint/2010/main" val="3891574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55D732-2070-442A-AAF4-7FAAEF9686C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8" name="Object 7" hidden="1">
                        <a:extLst>
                          <a:ext uri="{FF2B5EF4-FFF2-40B4-BE49-F238E27FC236}">
                            <a16:creationId xmlns:a16="http://schemas.microsoft.com/office/drawing/2014/main" id="{DC55D732-2070-442A-AAF4-7FAAEF9686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378700" y="450279"/>
            <a:ext cx="9936000" cy="720000"/>
          </a:xfrm>
        </p:spPr>
        <p:txBody>
          <a:bodyPr vert="horz"/>
          <a:lstStyle/>
          <a:p>
            <a:r>
              <a:rPr lang="de-DE" dirty="0"/>
              <a:t>Vorstellung – Ihre Kontaktpersonen</a:t>
            </a:r>
          </a:p>
        </p:txBody>
      </p:sp>
      <p:sp>
        <p:nvSpPr>
          <p:cNvPr id="4" name="Text Placeholder 3"/>
          <p:cNvSpPr>
            <a:spLocks noGrp="1"/>
          </p:cNvSpPr>
          <p:nvPr>
            <p:ph type="body" sz="quarter" idx="13"/>
          </p:nvPr>
        </p:nvSpPr>
        <p:spPr/>
        <p:txBody>
          <a:bodyPr/>
          <a:lstStyle/>
          <a:p>
            <a:endParaRPr lang="de-DE" dirty="0"/>
          </a:p>
        </p:txBody>
      </p:sp>
      <p:sp>
        <p:nvSpPr>
          <p:cNvPr id="5" name="Text Placeholder 4"/>
          <p:cNvSpPr>
            <a:spLocks noGrp="1"/>
          </p:cNvSpPr>
          <p:nvPr>
            <p:ph type="body" sz="quarter" idx="14"/>
          </p:nvPr>
        </p:nvSpPr>
        <p:spPr/>
        <p:txBody>
          <a:bodyPr/>
          <a:lstStyle/>
          <a:p>
            <a:endParaRPr lang="de-DE"/>
          </a:p>
        </p:txBody>
      </p:sp>
      <p:sp>
        <p:nvSpPr>
          <p:cNvPr id="6" name="Text Placeholder 5"/>
          <p:cNvSpPr>
            <a:spLocks noGrp="1"/>
          </p:cNvSpPr>
          <p:nvPr>
            <p:ph type="body" sz="quarter" idx="15"/>
          </p:nvPr>
        </p:nvSpPr>
        <p:spPr/>
        <p:txBody>
          <a:bodyPr/>
          <a:lstStyle/>
          <a:p>
            <a:endParaRPr lang="de-DE" dirty="0"/>
          </a:p>
        </p:txBody>
      </p:sp>
      <p:cxnSp>
        <p:nvCxnSpPr>
          <p:cNvPr id="10" name="Straight Connector 9"/>
          <p:cNvCxnSpPr>
            <a:cxnSpLocks/>
          </p:cNvCxnSpPr>
          <p:nvPr/>
        </p:nvCxnSpPr>
        <p:spPr>
          <a:xfrm>
            <a:off x="-337838" y="1696057"/>
            <a:ext cx="2119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337838" y="6592057"/>
            <a:ext cx="21193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 Box 3">
            <a:extLst>
              <a:ext uri="{FF2B5EF4-FFF2-40B4-BE49-F238E27FC236}">
                <a16:creationId xmlns:a16="http://schemas.microsoft.com/office/drawing/2014/main" id="{1008F276-6EAF-4754-ADD9-6D064816AC23}"/>
              </a:ext>
            </a:extLst>
          </p:cNvPr>
          <p:cNvSpPr txBox="1">
            <a:spLocks noChangeArrowheads="1"/>
          </p:cNvSpPr>
          <p:nvPr/>
        </p:nvSpPr>
        <p:spPr bwMode="gray">
          <a:xfrm>
            <a:off x="1462072" y="1523256"/>
            <a:ext cx="3812628" cy="523420"/>
          </a:xfrm>
          <a:prstGeom prst="rect">
            <a:avLst/>
          </a:prstGeom>
          <a:noFill/>
          <a:ln>
            <a:noFill/>
          </a:ln>
          <a:effectLst/>
          <a:extLst>
            <a:ext uri="{909E8E84-426E-40DD-AFC4-6F175D3DCCD1}">
              <a14:hiddenFill xmlns:a14="http://schemas.microsoft.com/office/drawing/2010/main">
                <a:solidFill>
                  <a:srgbClr val="1736A9"/>
                </a:solidFill>
              </a14:hiddenFill>
            </a:ext>
            <a:ext uri="{91240B29-F687-4F45-9708-019B960494DF}">
              <a14:hiddenLine xmlns:a14="http://schemas.microsoft.com/office/drawing/2010/main" w="19050">
                <a:solidFill>
                  <a:schemeClr val="accent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36000" bIns="36000" numCol="1" anchor="ctr" anchorCtr="0" compatLnSpc="1">
            <a:prstTxWarp prst="textNoShape">
              <a:avLst/>
            </a:prstTxWarp>
          </a:bodyPr>
          <a:lstStyle/>
          <a:p>
            <a:pPr>
              <a:spcAft>
                <a:spcPts val="200"/>
              </a:spcAft>
            </a:pPr>
            <a:r>
              <a:rPr lang="de-DE" sz="1000" b="1" dirty="0">
                <a:solidFill>
                  <a:srgbClr val="003D7C"/>
                </a:solidFill>
                <a:cs typeface="Arial" pitchFamily="34" charset="0"/>
              </a:rPr>
              <a:t>Hans Günter Wolf</a:t>
            </a:r>
          </a:p>
          <a:p>
            <a:pPr>
              <a:spcAft>
                <a:spcPts val="200"/>
              </a:spcAft>
            </a:pPr>
            <a:r>
              <a:rPr lang="en-US" sz="1000" dirty="0">
                <a:solidFill>
                  <a:srgbClr val="003D7C"/>
                </a:solidFill>
                <a:cs typeface="Arial" pitchFamily="34" charset="0"/>
              </a:rPr>
              <a:t>Managing Director / Co-Head Corporate Finance</a:t>
            </a:r>
            <a:endParaRPr lang="de-DE" sz="1000" dirty="0">
              <a:solidFill>
                <a:srgbClr val="003D7C"/>
              </a:solidFill>
              <a:cs typeface="Arial" pitchFamily="34" charset="0"/>
            </a:endParaRPr>
          </a:p>
          <a:p>
            <a:pPr>
              <a:spcAft>
                <a:spcPts val="200"/>
              </a:spcAft>
            </a:pPr>
            <a:r>
              <a:rPr lang="de-DE" sz="1000" i="1" dirty="0">
                <a:solidFill>
                  <a:srgbClr val="003D7C"/>
                </a:solidFill>
                <a:cs typeface="Arial" pitchFamily="34" charset="0"/>
              </a:rPr>
              <a:t>Corporate Finance</a:t>
            </a:r>
          </a:p>
        </p:txBody>
      </p:sp>
      <p:sp>
        <p:nvSpPr>
          <p:cNvPr id="36" name="Parallelogramm 16">
            <a:extLst>
              <a:ext uri="{FF2B5EF4-FFF2-40B4-BE49-F238E27FC236}">
                <a16:creationId xmlns:a16="http://schemas.microsoft.com/office/drawing/2014/main" id="{170AD971-C90D-4F87-9596-E366AEAA1A6D}"/>
              </a:ext>
            </a:extLst>
          </p:cNvPr>
          <p:cNvSpPr/>
          <p:nvPr/>
        </p:nvSpPr>
        <p:spPr>
          <a:xfrm>
            <a:off x="378700" y="1260351"/>
            <a:ext cx="4896000" cy="190500"/>
          </a:xfrm>
          <a:prstGeom prst="parallelogram">
            <a:avLst/>
          </a:prstGeom>
          <a:solidFill>
            <a:srgbClr val="003D7C"/>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de-DE" sz="1200" b="1" dirty="0">
              <a:solidFill>
                <a:schemeClr val="bg1"/>
              </a:solidFill>
            </a:endParaRPr>
          </a:p>
        </p:txBody>
      </p:sp>
      <p:sp>
        <p:nvSpPr>
          <p:cNvPr id="37" name="Text Box 4">
            <a:extLst>
              <a:ext uri="{FF2B5EF4-FFF2-40B4-BE49-F238E27FC236}">
                <a16:creationId xmlns:a16="http://schemas.microsoft.com/office/drawing/2014/main" id="{0C671A14-61D4-4AE9-8970-258C179AB7E1}"/>
              </a:ext>
            </a:extLst>
          </p:cNvPr>
          <p:cNvSpPr txBox="1">
            <a:spLocks noChangeArrowheads="1"/>
          </p:cNvSpPr>
          <p:nvPr/>
        </p:nvSpPr>
        <p:spPr bwMode="auto">
          <a:xfrm>
            <a:off x="1469142" y="2153486"/>
            <a:ext cx="2160000" cy="450641"/>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72000" rIns="36000" bIns="72000" numCol="1" anchor="ctr" anchorCtr="0" compatLnSpc="1">
            <a:prstTxWarp prst="textNoShape">
              <a:avLst/>
            </a:prstTxWarp>
          </a:bodyPr>
          <a:lstStyle>
            <a:defPPr>
              <a:defRPr lang="de-DE"/>
            </a:defPPr>
            <a:lvl1pPr marL="176213" lvl="0" indent="-176213" defTabSz="265113">
              <a:spcBef>
                <a:spcPts val="0"/>
              </a:spcBef>
              <a:spcAft>
                <a:spcPts val="200"/>
              </a:spcAft>
              <a:buClrTx/>
              <a:buNone/>
              <a:defRPr sz="900">
                <a:solidFill>
                  <a:srgbClr val="000000"/>
                </a:solidFill>
                <a:cs typeface="Arial" pitchFamily="34" charset="0"/>
              </a:defRPr>
            </a:lvl1pPr>
          </a:lstStyle>
          <a:p>
            <a:r>
              <a:rPr lang="de-DE" sz="800" dirty="0"/>
              <a:t>T:	+49 69 21 04 49 15</a:t>
            </a:r>
          </a:p>
          <a:p>
            <a:r>
              <a:rPr lang="de-DE" sz="800" dirty="0"/>
              <a:t>M:	+49 173 9 24 99 69</a:t>
            </a:r>
          </a:p>
          <a:p>
            <a:r>
              <a:rPr lang="de-DE" sz="800" dirty="0"/>
              <a:t>E:	hwolf@metzler.com</a:t>
            </a:r>
          </a:p>
        </p:txBody>
      </p:sp>
      <p:sp>
        <p:nvSpPr>
          <p:cNvPr id="38" name="Inhaltsplatzhalter 2">
            <a:extLst>
              <a:ext uri="{FF2B5EF4-FFF2-40B4-BE49-F238E27FC236}">
                <a16:creationId xmlns:a16="http://schemas.microsoft.com/office/drawing/2014/main" id="{F4FFCA47-1479-48F9-9212-6F6B51C5FC42}"/>
              </a:ext>
            </a:extLst>
          </p:cNvPr>
          <p:cNvSpPr txBox="1">
            <a:spLocks/>
          </p:cNvSpPr>
          <p:nvPr/>
        </p:nvSpPr>
        <p:spPr>
          <a:xfrm>
            <a:off x="378700" y="2659295"/>
            <a:ext cx="4896000" cy="4140000"/>
          </a:xfrm>
          <a:prstGeom prst="rect">
            <a:avLst/>
          </a:prstGeom>
          <a:solidFill>
            <a:schemeClr val="bg1">
              <a:lumMod val="95000"/>
            </a:schemeClr>
          </a:solidFill>
        </p:spPr>
        <p:txBody>
          <a:bodyPr lIns="72000" tIns="72000" rIns="72000" bIns="72000" anchor="t" anchorCtr="0"/>
          <a:lstStyle>
            <a:lvl1pPr marL="355600" indent="-355600" algn="l" defTabSz="1043056" rtl="0" eaLnBrk="1" latinLnBrk="0" hangingPunct="1">
              <a:spcBef>
                <a:spcPct val="20000"/>
              </a:spcBef>
              <a:buClr>
                <a:schemeClr val="accent1"/>
              </a:buClr>
              <a:buFont typeface="Wingdings" pitchFamily="2" charset="2"/>
              <a:buChar char="n"/>
              <a:tabLst/>
              <a:defRPr sz="16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6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defTabSz="914400" fontAlgn="base">
              <a:spcBef>
                <a:spcPts val="0"/>
              </a:spcBef>
              <a:spcAft>
                <a:spcPts val="600"/>
              </a:spcAft>
              <a:buSzPts val="1000"/>
              <a:buNone/>
            </a:pPr>
            <a:r>
              <a:rPr lang="de-DE" sz="1000" b="1" dirty="0">
                <a:solidFill>
                  <a:srgbClr val="003D7C"/>
                </a:solidFill>
              </a:rPr>
              <a:t>Profil</a:t>
            </a:r>
          </a:p>
          <a:p>
            <a:pPr marL="182563" indent="-182563" defTabSz="914400" fontAlgn="base">
              <a:spcBef>
                <a:spcPts val="0"/>
              </a:spcBef>
              <a:spcAft>
                <a:spcPts val="600"/>
              </a:spcAft>
              <a:buClr>
                <a:srgbClr val="003D7C"/>
              </a:buClr>
              <a:buSzPts val="1000"/>
            </a:pPr>
            <a:r>
              <a:rPr lang="de-DE" sz="1000" dirty="0">
                <a:cs typeface="Arial" pitchFamily="34" charset="0"/>
              </a:rPr>
              <a:t>Über 30 Jahre Erfahrung im Bereich M&amp;A und Strategieberatung, seit 1998 Beratung in der Energiewirtschaft</a:t>
            </a:r>
          </a:p>
          <a:p>
            <a:pPr marL="182563" indent="-182563" defTabSz="914400" fontAlgn="base">
              <a:spcBef>
                <a:spcPts val="0"/>
              </a:spcBef>
              <a:spcAft>
                <a:spcPts val="600"/>
              </a:spcAft>
              <a:buClr>
                <a:srgbClr val="003D7C"/>
              </a:buClr>
              <a:buSzPts val="1000"/>
            </a:pPr>
            <a:r>
              <a:rPr lang="de-DE" altLang="de-DE" sz="1000" dirty="0">
                <a:cs typeface="Arial" pitchFamily="34" charset="0"/>
              </a:rPr>
              <a:t>Seit 2012 bei Metzler als Geschäftsführer Metzler Corporate Finance; Sektor Energy &amp; Infrastructure</a:t>
            </a:r>
          </a:p>
          <a:p>
            <a:pPr marL="182563" indent="-182563" defTabSz="914400" fontAlgn="base">
              <a:spcBef>
                <a:spcPts val="0"/>
              </a:spcBef>
              <a:spcAft>
                <a:spcPts val="600"/>
              </a:spcAft>
              <a:buClr>
                <a:srgbClr val="003D7C"/>
              </a:buClr>
              <a:buSzPts val="1000"/>
            </a:pPr>
            <a:r>
              <a:rPr lang="de-DE" altLang="de-DE" sz="1000" dirty="0">
                <a:cs typeface="Arial" pitchFamily="34" charset="0"/>
              </a:rPr>
              <a:t>Zuvor Partner bei Deloitte, PA Consulting, Arthur Andersen</a:t>
            </a:r>
          </a:p>
          <a:p>
            <a:pPr marL="182563" indent="-182563" defTabSz="914400" fontAlgn="base">
              <a:spcBef>
                <a:spcPts val="0"/>
              </a:spcBef>
              <a:spcAft>
                <a:spcPts val="600"/>
              </a:spcAft>
              <a:buClr>
                <a:srgbClr val="003D7C"/>
              </a:buClr>
              <a:buSzPts val="1000"/>
            </a:pPr>
            <a:r>
              <a:rPr lang="de-DE" altLang="de-DE" sz="1000" dirty="0">
                <a:cs typeface="Arial" pitchFamily="34" charset="0"/>
              </a:rPr>
              <a:t>Bei Deloitte und PA Consulting verantwortlich für die Energiewirtschaft als Industry Leader (Deutschland/Europa)</a:t>
            </a:r>
          </a:p>
          <a:p>
            <a:pPr marL="182563" lvl="0" indent="-182563" defTabSz="914400" fontAlgn="base">
              <a:spcBef>
                <a:spcPts val="0"/>
              </a:spcBef>
              <a:spcAft>
                <a:spcPts val="400"/>
              </a:spcAft>
              <a:buClr>
                <a:srgbClr val="003D7C"/>
              </a:buClr>
              <a:buSzPts val="1000"/>
            </a:pPr>
            <a:r>
              <a:rPr lang="de-DE" altLang="de-DE" sz="1000" dirty="0">
                <a:cs typeface="Arial" pitchFamily="34" charset="0"/>
              </a:rPr>
              <a:t>Ausgewählte Referenzprojekte</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Energieversorgers zu Optionen im Bereich Wärme, Erneuerbare</a:t>
            </a:r>
            <a:br>
              <a:rPr lang="de-DE" sz="1000" spc="-20" dirty="0">
                <a:cs typeface="Arial" pitchFamily="34" charset="0"/>
              </a:rPr>
            </a:br>
            <a:r>
              <a:rPr lang="de-DE" sz="1000" spc="-20" dirty="0">
                <a:cs typeface="Arial" pitchFamily="34" charset="0"/>
              </a:rPr>
              <a:t>Energien, Netze etc.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a:t>
            </a:r>
            <a:r>
              <a:rPr lang="de-DE" sz="1000" spc="-20" dirty="0" err="1">
                <a:cs typeface="Arial" pitchFamily="34" charset="0"/>
              </a:rPr>
              <a:t>Contracting</a:t>
            </a:r>
            <a:r>
              <a:rPr lang="de-DE" sz="1000" spc="-20" dirty="0">
                <a:cs typeface="Arial" pitchFamily="34" charset="0"/>
              </a:rPr>
              <a:t> Geschäfts eines Versorgers (lfd.) </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365 MW </a:t>
            </a:r>
            <a:r>
              <a:rPr lang="de-DE" sz="1000" spc="-20" dirty="0" err="1">
                <a:cs typeface="Arial" pitchFamily="34" charset="0"/>
              </a:rPr>
              <a:t>Norderland</a:t>
            </a:r>
            <a:r>
              <a:rPr lang="de-DE" sz="1000" spc="-20" dirty="0">
                <a:cs typeface="Arial" pitchFamily="34" charset="0"/>
              </a:rPr>
              <a:t>-</a:t>
            </a:r>
            <a:r>
              <a:rPr lang="de-DE" sz="1000" spc="-20" dirty="0" err="1">
                <a:cs typeface="Arial" pitchFamily="34" charset="0"/>
              </a:rPr>
              <a:t>Onshore</a:t>
            </a:r>
            <a:r>
              <a:rPr lang="de-DE" sz="1000" spc="-20" dirty="0">
                <a:cs typeface="Arial" pitchFamily="34" charset="0"/>
              </a:rPr>
              <a:t>-Windpark-Portfolios an </a:t>
            </a:r>
            <a:r>
              <a:rPr lang="de-DE" sz="1000" spc="-20" dirty="0" err="1">
                <a:cs typeface="Arial" pitchFamily="34" charset="0"/>
              </a:rPr>
              <a:t>enercity</a:t>
            </a:r>
            <a:endParaRPr lang="de-DE" sz="1000" spc="-20" dirty="0">
              <a:cs typeface="Arial" pitchFamily="34" charset="0"/>
            </a:endParaRP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a:t>
            </a:r>
            <a:r>
              <a:rPr lang="de-DE" altLang="de-DE" sz="1000" spc="-20" dirty="0" err="1">
                <a:cs typeface="Arial" pitchFamily="34" charset="0"/>
              </a:rPr>
              <a:t>Ventotec</a:t>
            </a:r>
            <a:r>
              <a:rPr lang="de-DE" altLang="de-DE" sz="1000" spc="-20" dirty="0">
                <a:cs typeface="Arial" pitchFamily="34" charset="0"/>
              </a:rPr>
              <a:t>-Gruppe beim Verkauf der Projektpipeline (1 GW), Windparks (50 MW) und Betriebsführungsgesellschaft</a:t>
            </a: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Gesellschafter beim Verkauf eines 188 MW Windpark-Portfolios ("Breeze 4")</a:t>
            </a: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a:t>
            </a:r>
            <a:r>
              <a:rPr lang="de-DE" altLang="de-DE" sz="1000" spc="-20" dirty="0" err="1">
                <a:cs typeface="Arial" pitchFamily="34" charset="0"/>
              </a:rPr>
              <a:t>juwi</a:t>
            </a:r>
            <a:r>
              <a:rPr lang="de-DE" altLang="de-DE" sz="1000" spc="-20" dirty="0">
                <a:cs typeface="Arial" pitchFamily="34" charset="0"/>
              </a:rPr>
              <a:t> AG bei der Aufnahme der MVV Energie AG in den Aktionärskreis und anschließender Kapitalerhöhung (Pipeline 1GW)</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der Steag GmbH bei der Analyse der finanziellen Situation und Entwicklung von M&amp;A-Handlungsoptionen</a:t>
            </a:r>
          </a:p>
        </p:txBody>
      </p:sp>
      <p:pic>
        <p:nvPicPr>
          <p:cNvPr id="35" name="Picture 4" descr="W:\UKOMM\SHARED\FOTOS\MCF\Wolf_Hans_Guenter\Wolf_Feder_121211\Bildausschnitte_Abformate_etc\Wolf_F8288_ppt.tif">
            <a:extLst>
              <a:ext uri="{FF2B5EF4-FFF2-40B4-BE49-F238E27FC236}">
                <a16:creationId xmlns:a16="http://schemas.microsoft.com/office/drawing/2014/main" id="{A25A8F27-F685-44C5-A99B-009DC5FC3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620" y="1516766"/>
            <a:ext cx="809545" cy="106363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6" name="Parallelogramm 16">
            <a:extLst>
              <a:ext uri="{FF2B5EF4-FFF2-40B4-BE49-F238E27FC236}">
                <a16:creationId xmlns:a16="http://schemas.microsoft.com/office/drawing/2014/main" id="{383A0913-C4E7-30A3-AE69-624BFB97102A}"/>
              </a:ext>
            </a:extLst>
          </p:cNvPr>
          <p:cNvSpPr/>
          <p:nvPr/>
        </p:nvSpPr>
        <p:spPr>
          <a:xfrm>
            <a:off x="5418700" y="1260351"/>
            <a:ext cx="4896000" cy="190500"/>
          </a:xfrm>
          <a:prstGeom prst="parallelogram">
            <a:avLst/>
          </a:prstGeom>
          <a:solidFill>
            <a:srgbClr val="003D7C"/>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de-DE" sz="1200" b="1" dirty="0">
              <a:solidFill>
                <a:schemeClr val="bg1"/>
              </a:solidFill>
            </a:endParaRPr>
          </a:p>
        </p:txBody>
      </p:sp>
      <p:sp>
        <p:nvSpPr>
          <p:cNvPr id="17" name="Inhaltsplatzhalter 2">
            <a:extLst>
              <a:ext uri="{FF2B5EF4-FFF2-40B4-BE49-F238E27FC236}">
                <a16:creationId xmlns:a16="http://schemas.microsoft.com/office/drawing/2014/main" id="{20ADA5C5-378F-F07D-6582-8C5CE78976FA}"/>
              </a:ext>
            </a:extLst>
          </p:cNvPr>
          <p:cNvSpPr txBox="1">
            <a:spLocks/>
          </p:cNvSpPr>
          <p:nvPr/>
        </p:nvSpPr>
        <p:spPr>
          <a:xfrm>
            <a:off x="5418700" y="2659295"/>
            <a:ext cx="4896000" cy="4140000"/>
          </a:xfrm>
          <a:prstGeom prst="rect">
            <a:avLst/>
          </a:prstGeom>
          <a:solidFill>
            <a:schemeClr val="bg1">
              <a:lumMod val="95000"/>
            </a:schemeClr>
          </a:solidFill>
        </p:spPr>
        <p:txBody>
          <a:bodyPr lIns="72000" tIns="72000" rIns="72000" bIns="72000" anchor="t" anchorCtr="0"/>
          <a:lstStyle>
            <a:lvl1pPr marL="355600" indent="-355600" algn="l" defTabSz="1043056" rtl="0" eaLnBrk="1" latinLnBrk="0" hangingPunct="1">
              <a:spcBef>
                <a:spcPct val="20000"/>
              </a:spcBef>
              <a:buClr>
                <a:schemeClr val="accent1"/>
              </a:buClr>
              <a:buFont typeface="Wingdings" pitchFamily="2" charset="2"/>
              <a:buChar char="n"/>
              <a:tabLst/>
              <a:defRPr sz="16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6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indent="0" defTabSz="914400" fontAlgn="base">
              <a:spcBef>
                <a:spcPts val="0"/>
              </a:spcBef>
              <a:spcAft>
                <a:spcPts val="600"/>
              </a:spcAft>
              <a:buSzPts val="1000"/>
              <a:buNone/>
            </a:pPr>
            <a:r>
              <a:rPr lang="de-DE" sz="1000" b="1" dirty="0">
                <a:solidFill>
                  <a:srgbClr val="003D7C"/>
                </a:solidFill>
              </a:rPr>
              <a:t>Profil</a:t>
            </a:r>
            <a:endParaRPr lang="de-DE" sz="1000" dirty="0">
              <a:cs typeface="Arial" pitchFamily="34" charset="0"/>
            </a:endParaRPr>
          </a:p>
          <a:p>
            <a:pPr marL="182563" indent="-182563" defTabSz="914400" fontAlgn="base">
              <a:spcBef>
                <a:spcPts val="0"/>
              </a:spcBef>
              <a:spcAft>
                <a:spcPts val="600"/>
              </a:spcAft>
              <a:buClr>
                <a:srgbClr val="003D7C"/>
              </a:buClr>
              <a:buSzPts val="1000"/>
            </a:pPr>
            <a:r>
              <a:rPr lang="de-DE" altLang="de-DE" sz="1000" dirty="0">
                <a:cs typeface="Arial" pitchFamily="34" charset="0"/>
              </a:rPr>
              <a:t>Über 25 Jahre Erfahrung im Bereich M&amp;A / Corporate Finance</a:t>
            </a:r>
          </a:p>
          <a:p>
            <a:pPr marL="182563" indent="-182563" defTabSz="914400" fontAlgn="base">
              <a:spcBef>
                <a:spcPts val="0"/>
              </a:spcBef>
              <a:spcAft>
                <a:spcPts val="600"/>
              </a:spcAft>
              <a:buClr>
                <a:srgbClr val="003D7C"/>
              </a:buClr>
              <a:buSzPts val="1000"/>
            </a:pPr>
            <a:r>
              <a:rPr lang="de-DE" altLang="de-DE" sz="1000" dirty="0">
                <a:cs typeface="Arial" pitchFamily="34" charset="0"/>
              </a:rPr>
              <a:t>Umfassende Expertise im Bereich Energie- und Infrastruktur sowie Ver- und Entsorgung und öffentliche Hand</a:t>
            </a:r>
          </a:p>
          <a:p>
            <a:pPr marL="182563" indent="-182563" defTabSz="914400" fontAlgn="base">
              <a:spcBef>
                <a:spcPts val="0"/>
              </a:spcBef>
              <a:spcAft>
                <a:spcPts val="600"/>
              </a:spcAft>
              <a:buClr>
                <a:srgbClr val="003D7C"/>
              </a:buClr>
              <a:buSzPts val="1000"/>
            </a:pPr>
            <a:r>
              <a:rPr lang="de-DE" altLang="de-DE" sz="1000" dirty="0">
                <a:cs typeface="Arial" pitchFamily="34" charset="0"/>
              </a:rPr>
              <a:t>Ausgewählte Referenzprojekte:</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Energieversorgers zu Optionen im Bereich Wärme, Erneuerbare</a:t>
            </a:r>
            <a:br>
              <a:rPr lang="de-DE" sz="1000" spc="-20" dirty="0">
                <a:cs typeface="Arial" pitchFamily="34" charset="0"/>
              </a:rPr>
            </a:br>
            <a:r>
              <a:rPr lang="de-DE" sz="1000" spc="-20" dirty="0">
                <a:cs typeface="Arial" pitchFamily="34" charset="0"/>
              </a:rPr>
              <a:t>Energien, Netze etc.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Infrastrukturfonds beim Kauf einer Datacenter-Beteiligung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365 MW </a:t>
            </a:r>
            <a:r>
              <a:rPr lang="de-DE" sz="1000" spc="-20" dirty="0" err="1">
                <a:cs typeface="Arial" pitchFamily="34" charset="0"/>
              </a:rPr>
              <a:t>Norderland</a:t>
            </a:r>
            <a:r>
              <a:rPr lang="de-DE" sz="1000" spc="-20" dirty="0">
                <a:cs typeface="Arial" pitchFamily="34" charset="0"/>
              </a:rPr>
              <a:t>-</a:t>
            </a:r>
            <a:r>
              <a:rPr lang="de-DE" sz="1000" spc="-20" dirty="0" err="1">
                <a:cs typeface="Arial" pitchFamily="34" charset="0"/>
              </a:rPr>
              <a:t>Onshore</a:t>
            </a:r>
            <a:r>
              <a:rPr lang="de-DE" sz="1000" spc="-20" dirty="0">
                <a:cs typeface="Arial" pitchFamily="34" charset="0"/>
              </a:rPr>
              <a:t>-Windpark-Portfolios an </a:t>
            </a:r>
            <a:r>
              <a:rPr lang="de-DE" sz="1000" spc="-20" dirty="0" err="1">
                <a:cs typeface="Arial" pitchFamily="34" charset="0"/>
              </a:rPr>
              <a:t>enercity</a:t>
            </a:r>
            <a:endParaRPr lang="de-DE" sz="1000" spc="-20" dirty="0">
              <a:cs typeface="Arial" pitchFamily="34" charset="0"/>
            </a:endParaRP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der Steag GmbH bei der Analyse der finanziellen Situation und Entwicklung von M&amp;A-Handlungsoptionen</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von First State beim Erwerb von 48 % an der MVV Energie AG</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Verschiedene M&amp;A-Projekte im Bereich der Ver-/Entsorgungsinfrastruktur, u.a. im Bereich EV-</a:t>
            </a:r>
            <a:r>
              <a:rPr lang="de-DE" sz="1000" spc="-20" dirty="0" err="1">
                <a:cs typeface="Arial" pitchFamily="34" charset="0"/>
              </a:rPr>
              <a:t>Charging</a:t>
            </a:r>
            <a:r>
              <a:rPr lang="de-DE" sz="1000" spc="-20" dirty="0">
                <a:cs typeface="Arial" pitchFamily="34" charset="0"/>
              </a:rPr>
              <a:t>, Abwassernetze und </a:t>
            </a:r>
            <a:r>
              <a:rPr lang="de-DE" sz="1000" spc="-20" dirty="0" err="1">
                <a:cs typeface="Arial" pitchFamily="34" charset="0"/>
              </a:rPr>
              <a:t>Waste</a:t>
            </a:r>
            <a:r>
              <a:rPr lang="de-DE" sz="1000" spc="-20" dirty="0">
                <a:cs typeface="Arial" pitchFamily="34" charset="0"/>
              </a:rPr>
              <a:t>-</a:t>
            </a:r>
            <a:r>
              <a:rPr lang="de-DE" sz="1000" spc="-20" dirty="0" err="1">
                <a:cs typeface="Arial" pitchFamily="34" charset="0"/>
              </a:rPr>
              <a:t>to</a:t>
            </a:r>
            <a:r>
              <a:rPr lang="de-DE" sz="1000" spc="-20" dirty="0">
                <a:cs typeface="Arial" pitchFamily="34" charset="0"/>
              </a:rPr>
              <a:t>-Energy</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Umfassende Erfahrung bei Transaktionen mit öffentlich-rechtlichem Hintergrund</a:t>
            </a:r>
          </a:p>
          <a:p>
            <a:pPr marL="361950" lvl="1" indent="-180975" defTabSz="914400" fontAlgn="base">
              <a:spcBef>
                <a:spcPts val="0"/>
              </a:spcBef>
              <a:spcAft>
                <a:spcPts val="600"/>
              </a:spcAft>
              <a:buClr>
                <a:srgbClr val="003D7C"/>
              </a:buClr>
              <a:buSzPts val="1000"/>
              <a:tabLst>
                <a:tab pos="361950" algn="l"/>
              </a:tabLst>
            </a:pPr>
            <a:endParaRPr lang="de-DE" sz="1000" spc="-20" dirty="0">
              <a:cs typeface="Arial" pitchFamily="34" charset="0"/>
            </a:endParaRPr>
          </a:p>
          <a:p>
            <a:pPr marL="361950" lvl="1" indent="-180975" defTabSz="914400" fontAlgn="base">
              <a:spcBef>
                <a:spcPts val="0"/>
              </a:spcBef>
              <a:spcAft>
                <a:spcPts val="600"/>
              </a:spcAft>
              <a:buClr>
                <a:srgbClr val="003D7C"/>
              </a:buClr>
              <a:buSzPts val="1000"/>
              <a:tabLst>
                <a:tab pos="361950" algn="l"/>
              </a:tabLst>
            </a:pPr>
            <a:endParaRPr lang="de-DE" sz="1000" spc="-20" dirty="0">
              <a:cs typeface="Arial" pitchFamily="34" charset="0"/>
            </a:endParaRPr>
          </a:p>
        </p:txBody>
      </p:sp>
      <p:grpSp>
        <p:nvGrpSpPr>
          <p:cNvPr id="20" name="Group 19">
            <a:extLst>
              <a:ext uri="{FF2B5EF4-FFF2-40B4-BE49-F238E27FC236}">
                <a16:creationId xmlns:a16="http://schemas.microsoft.com/office/drawing/2014/main" id="{8E7B897F-9CB1-87D1-B4EB-EBAC6E54D190}"/>
              </a:ext>
            </a:extLst>
          </p:cNvPr>
          <p:cNvGrpSpPr/>
          <p:nvPr/>
        </p:nvGrpSpPr>
        <p:grpSpPr>
          <a:xfrm>
            <a:off x="6502072" y="1523256"/>
            <a:ext cx="3812628" cy="1080871"/>
            <a:chOff x="4547542" y="1523256"/>
            <a:chExt cx="3812628" cy="1080871"/>
          </a:xfrm>
        </p:grpSpPr>
        <p:sp>
          <p:nvSpPr>
            <p:cNvPr id="18" name="Text Box 3">
              <a:extLst>
                <a:ext uri="{FF2B5EF4-FFF2-40B4-BE49-F238E27FC236}">
                  <a16:creationId xmlns:a16="http://schemas.microsoft.com/office/drawing/2014/main" id="{7EEF77A4-2EA9-EE31-22DD-ED0A6E695DDD}"/>
                </a:ext>
              </a:extLst>
            </p:cNvPr>
            <p:cNvSpPr txBox="1">
              <a:spLocks noChangeArrowheads="1"/>
            </p:cNvSpPr>
            <p:nvPr/>
          </p:nvSpPr>
          <p:spPr bwMode="gray">
            <a:xfrm>
              <a:off x="4547542" y="1523256"/>
              <a:ext cx="3812628" cy="523420"/>
            </a:xfrm>
            <a:prstGeom prst="rect">
              <a:avLst/>
            </a:prstGeom>
            <a:noFill/>
            <a:ln>
              <a:noFill/>
            </a:ln>
            <a:effectLst/>
            <a:extLst>
              <a:ext uri="{909E8E84-426E-40DD-AFC4-6F175D3DCCD1}">
                <a14:hiddenFill xmlns:a14="http://schemas.microsoft.com/office/drawing/2010/main">
                  <a:solidFill>
                    <a:srgbClr val="1736A9"/>
                  </a:solidFill>
                </a14:hiddenFill>
              </a:ext>
              <a:ext uri="{91240B29-F687-4F45-9708-019B960494DF}">
                <a14:hiddenLine xmlns:a14="http://schemas.microsoft.com/office/drawing/2010/main" w="19050">
                  <a:solidFill>
                    <a:schemeClr val="accent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36000" bIns="36000" numCol="1" anchor="ctr" anchorCtr="0" compatLnSpc="1">
              <a:prstTxWarp prst="textNoShape">
                <a:avLst/>
              </a:prstTxWarp>
            </a:bodyPr>
            <a:lstStyle/>
            <a:p>
              <a:pPr>
                <a:spcAft>
                  <a:spcPts val="200"/>
                </a:spcAft>
              </a:pPr>
              <a:r>
                <a:rPr lang="de-DE" sz="1000" b="1" dirty="0">
                  <a:solidFill>
                    <a:srgbClr val="003D7C"/>
                  </a:solidFill>
                  <a:cs typeface="Arial" pitchFamily="34" charset="0"/>
                </a:rPr>
                <a:t>Christiane </a:t>
              </a:r>
              <a:r>
                <a:rPr lang="de-DE" sz="1000" b="1" dirty="0" err="1">
                  <a:solidFill>
                    <a:srgbClr val="003D7C"/>
                  </a:solidFill>
                  <a:cs typeface="Arial" pitchFamily="34" charset="0"/>
                </a:rPr>
                <a:t>Stäcker</a:t>
              </a:r>
              <a:endParaRPr lang="de-DE" sz="1000" b="1" dirty="0">
                <a:solidFill>
                  <a:srgbClr val="003D7C"/>
                </a:solidFill>
                <a:cs typeface="Arial" pitchFamily="34" charset="0"/>
              </a:endParaRPr>
            </a:p>
            <a:p>
              <a:pPr>
                <a:spcAft>
                  <a:spcPts val="200"/>
                </a:spcAft>
              </a:pPr>
              <a:r>
                <a:rPr lang="en-US" sz="1000" dirty="0">
                  <a:solidFill>
                    <a:srgbClr val="003D7C"/>
                  </a:solidFill>
                  <a:cs typeface="Arial" pitchFamily="34" charset="0"/>
                </a:rPr>
                <a:t>Managing Director</a:t>
              </a:r>
              <a:endParaRPr lang="de-DE" sz="1000" dirty="0">
                <a:solidFill>
                  <a:srgbClr val="003D7C"/>
                </a:solidFill>
                <a:cs typeface="Arial" pitchFamily="34" charset="0"/>
              </a:endParaRPr>
            </a:p>
            <a:p>
              <a:pPr>
                <a:spcAft>
                  <a:spcPts val="200"/>
                </a:spcAft>
              </a:pPr>
              <a:r>
                <a:rPr lang="de-DE" sz="1000" i="1" dirty="0">
                  <a:solidFill>
                    <a:srgbClr val="003D7C"/>
                  </a:solidFill>
                  <a:cs typeface="Arial" pitchFamily="34" charset="0"/>
                </a:rPr>
                <a:t>Corporate Finance</a:t>
              </a:r>
            </a:p>
          </p:txBody>
        </p:sp>
        <p:sp>
          <p:nvSpPr>
            <p:cNvPr id="19" name="Text Box 4">
              <a:extLst>
                <a:ext uri="{FF2B5EF4-FFF2-40B4-BE49-F238E27FC236}">
                  <a16:creationId xmlns:a16="http://schemas.microsoft.com/office/drawing/2014/main" id="{B9443F2F-5F3A-EFF1-EB3D-0115AA495E36}"/>
                </a:ext>
              </a:extLst>
            </p:cNvPr>
            <p:cNvSpPr txBox="1">
              <a:spLocks noChangeArrowheads="1"/>
            </p:cNvSpPr>
            <p:nvPr/>
          </p:nvSpPr>
          <p:spPr bwMode="auto">
            <a:xfrm>
              <a:off x="4554612" y="2153486"/>
              <a:ext cx="2160000" cy="450641"/>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72000" rIns="36000" bIns="72000" numCol="1" anchor="ctr" anchorCtr="0" compatLnSpc="1">
              <a:prstTxWarp prst="textNoShape">
                <a:avLst/>
              </a:prstTxWarp>
            </a:bodyPr>
            <a:lstStyle>
              <a:defPPr>
                <a:defRPr lang="de-DE"/>
              </a:defPPr>
              <a:lvl1pPr marL="176213" lvl="0" indent="-176213" defTabSz="265113">
                <a:spcBef>
                  <a:spcPts val="0"/>
                </a:spcBef>
                <a:spcAft>
                  <a:spcPts val="200"/>
                </a:spcAft>
                <a:buClrTx/>
                <a:buNone/>
                <a:defRPr sz="900">
                  <a:solidFill>
                    <a:srgbClr val="000000"/>
                  </a:solidFill>
                  <a:cs typeface="Arial" pitchFamily="34" charset="0"/>
                </a:defRPr>
              </a:lvl1pPr>
            </a:lstStyle>
            <a:p>
              <a:r>
                <a:rPr lang="de-DE" sz="800" dirty="0"/>
                <a:t>T:	+49 69 21 04 49 22</a:t>
              </a:r>
            </a:p>
            <a:p>
              <a:r>
                <a:rPr lang="de-DE" sz="800" dirty="0"/>
                <a:t>M:	+49 172 8 82 57 51</a:t>
              </a:r>
            </a:p>
            <a:p>
              <a:r>
                <a:rPr lang="de-DE" sz="800" dirty="0"/>
                <a:t>E:	cstaecker@metzler.com</a:t>
              </a:r>
            </a:p>
          </p:txBody>
        </p:sp>
      </p:grpSp>
      <p:pic>
        <p:nvPicPr>
          <p:cNvPr id="21" name="Picture 34">
            <a:extLst>
              <a:ext uri="{FF2B5EF4-FFF2-40B4-BE49-F238E27FC236}">
                <a16:creationId xmlns:a16="http://schemas.microsoft.com/office/drawing/2014/main" id="{8AC5F727-6200-0C62-58E2-609D5AD4C622}"/>
              </a:ext>
            </a:extLst>
          </p:cNvPr>
          <p:cNvPicPr>
            <a:picLocks noChangeAspect="1"/>
          </p:cNvPicPr>
          <p:nvPr/>
        </p:nvPicPr>
        <p:blipFill rotWithShape="1">
          <a:blip r:embed="rId6"/>
          <a:srcRect l="10629" r="13166"/>
          <a:stretch/>
        </p:blipFill>
        <p:spPr>
          <a:xfrm>
            <a:off x="5418700" y="1515784"/>
            <a:ext cx="812035" cy="1065600"/>
          </a:xfrm>
          <a:prstGeom prst="rect">
            <a:avLst/>
          </a:prstGeom>
          <a:noFill/>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8573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AE8885B2-4D3F-4431-A111-F6C5F0A8031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AE8885B2-4D3F-4431-A111-F6C5F0A803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BBF7336-3E5E-44A7-8725-58BC1C9D263D}"/>
              </a:ext>
            </a:extLst>
          </p:cNvPr>
          <p:cNvSpPr>
            <a:spLocks noGrp="1"/>
          </p:cNvSpPr>
          <p:nvPr>
            <p:ph type="body" sz="quarter" idx="14"/>
          </p:nvPr>
        </p:nvSpPr>
        <p:spPr>
          <a:xfrm>
            <a:off x="1674292" y="2050086"/>
            <a:ext cx="8643325" cy="4898897"/>
          </a:xfrm>
        </p:spPr>
        <p:txBody>
          <a:bodyPr/>
          <a:lstStyle/>
          <a:p>
            <a:r>
              <a:rPr lang="de-DE" dirty="0"/>
              <a:t>Vorstellung Metzler Corporate Finance – Energy &amp; Renewables</a:t>
            </a:r>
            <a:endParaRPr lang="de-DE" dirty="0"/>
          </a:p>
          <a:p>
            <a:r>
              <a:rPr lang="de-DE" dirty="0"/>
              <a:t>Übersicht und Herausforderungen ESWE Versorgungs AG</a:t>
            </a:r>
          </a:p>
          <a:p>
            <a:r>
              <a:rPr lang="de-DE" sz="1400" dirty="0"/>
              <a:t>Kapitalflexibilisierung als Option zur Umsetzung zentraler Investitionsthemen</a:t>
            </a:r>
          </a:p>
        </p:txBody>
      </p:sp>
      <p:sp>
        <p:nvSpPr>
          <p:cNvPr id="3" name="Text Placeholder 2">
            <a:extLst>
              <a:ext uri="{FF2B5EF4-FFF2-40B4-BE49-F238E27FC236}">
                <a16:creationId xmlns:a16="http://schemas.microsoft.com/office/drawing/2014/main" id="{81D2BF4D-D769-4E4F-983C-CB6630B2F637}"/>
              </a:ext>
            </a:extLst>
          </p:cNvPr>
          <p:cNvSpPr>
            <a:spLocks noGrp="1"/>
          </p:cNvSpPr>
          <p:nvPr>
            <p:ph type="body" sz="quarter" idx="15"/>
          </p:nvPr>
        </p:nvSpPr>
        <p:spPr>
          <a:xfrm>
            <a:off x="897413" y="2194060"/>
            <a:ext cx="469900" cy="380480"/>
          </a:xfrm>
        </p:spPr>
        <p:txBody>
          <a:bodyPr/>
          <a:lstStyle/>
          <a:p>
            <a:r>
              <a:rPr lang="de-DE" dirty="0"/>
              <a:t>1</a:t>
            </a:r>
          </a:p>
        </p:txBody>
      </p:sp>
      <p:sp>
        <p:nvSpPr>
          <p:cNvPr id="4" name="Title 3">
            <a:extLst>
              <a:ext uri="{FF2B5EF4-FFF2-40B4-BE49-F238E27FC236}">
                <a16:creationId xmlns:a16="http://schemas.microsoft.com/office/drawing/2014/main" id="{1371CAEA-6A41-46B2-B510-14BA12FA7ACC}"/>
              </a:ext>
            </a:extLst>
          </p:cNvPr>
          <p:cNvSpPr>
            <a:spLocks noGrp="1"/>
          </p:cNvSpPr>
          <p:nvPr>
            <p:ph type="title"/>
          </p:nvPr>
        </p:nvSpPr>
        <p:spPr/>
        <p:txBody>
          <a:bodyPr vert="horz"/>
          <a:lstStyle/>
          <a:p>
            <a:r>
              <a:rPr lang="de-DE" dirty="0"/>
              <a:t>Agenda</a:t>
            </a:r>
          </a:p>
        </p:txBody>
      </p:sp>
      <p:sp>
        <p:nvSpPr>
          <p:cNvPr id="5" name="Text Placeholder 4">
            <a:extLst>
              <a:ext uri="{FF2B5EF4-FFF2-40B4-BE49-F238E27FC236}">
                <a16:creationId xmlns:a16="http://schemas.microsoft.com/office/drawing/2014/main" id="{DA1F3027-6E3B-42FC-95A9-469CF6CBFC44}"/>
              </a:ext>
            </a:extLst>
          </p:cNvPr>
          <p:cNvSpPr>
            <a:spLocks noGrp="1"/>
          </p:cNvSpPr>
          <p:nvPr>
            <p:ph type="body" sz="quarter" idx="22"/>
          </p:nvPr>
        </p:nvSpPr>
        <p:spPr>
          <a:xfrm>
            <a:off x="897413" y="2802614"/>
            <a:ext cx="469900" cy="380480"/>
          </a:xfrm>
        </p:spPr>
        <p:txBody>
          <a:bodyPr/>
          <a:lstStyle/>
          <a:p>
            <a:r>
              <a:rPr lang="de-DE" dirty="0"/>
              <a:t>2</a:t>
            </a:r>
          </a:p>
        </p:txBody>
      </p:sp>
      <p:sp>
        <p:nvSpPr>
          <p:cNvPr id="6" name="Text Placeholder 4">
            <a:extLst>
              <a:ext uri="{FF2B5EF4-FFF2-40B4-BE49-F238E27FC236}">
                <a16:creationId xmlns:a16="http://schemas.microsoft.com/office/drawing/2014/main" id="{C108CCFE-A81A-0CA2-DB25-058F06CBB358}"/>
              </a:ext>
            </a:extLst>
          </p:cNvPr>
          <p:cNvSpPr txBox="1">
            <a:spLocks/>
          </p:cNvSpPr>
          <p:nvPr/>
        </p:nvSpPr>
        <p:spPr>
          <a:xfrm>
            <a:off x="897413" y="3408081"/>
            <a:ext cx="469900" cy="380480"/>
          </a:xfrm>
          <a:prstGeom prst="rect">
            <a:avLst/>
          </a:prstGeom>
          <a:solidFill>
            <a:srgbClr val="003D7C"/>
          </a:solidFill>
        </p:spPr>
        <p:txBody>
          <a:bodyPr vert="horz" wrap="square" lIns="36000" tIns="36000" rIns="36000" bIns="36000" rtlCol="0" anchor="t" anchorCtr="0">
            <a:spAutoFit/>
          </a:bodyPr>
          <a:lstStyle>
            <a:lvl1pPr marL="391146" indent="-391146" algn="ctr" defTabSz="1043056" rtl="0" eaLnBrk="1" latinLnBrk="0" hangingPunct="1">
              <a:spcBef>
                <a:spcPct val="20000"/>
              </a:spcBef>
              <a:buClr>
                <a:schemeClr val="accent1"/>
              </a:buClr>
              <a:buFontTx/>
              <a:buNone/>
              <a:tabLst/>
              <a:defRPr lang="de-DE" sz="2000" b="1" kern="1200" dirty="0" smtClean="0">
                <a:solidFill>
                  <a:schemeClr val="bg1"/>
                </a:solidFill>
                <a:latin typeface="+mj-lt"/>
                <a:ea typeface="+mj-ea"/>
                <a:cs typeface="+mj-cs"/>
              </a:defRPr>
            </a:lvl1pPr>
            <a:lvl2pPr marL="723900" indent="-368300" algn="l" defTabSz="1043056" rtl="0" eaLnBrk="1" latinLnBrk="0" hangingPunct="1">
              <a:spcBef>
                <a:spcPct val="20000"/>
              </a:spcBef>
              <a:buClr>
                <a:schemeClr val="accent1"/>
              </a:buClr>
              <a:buFont typeface="Arial" pitchFamily="34" charset="0"/>
              <a:buChar char="–"/>
              <a:defRPr lang="de-DE" sz="1600" b="1" kern="1200" dirty="0" smtClean="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lang="de-DE" sz="1600" b="1" kern="1200" dirty="0" smtClean="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lang="de-DE" sz="1600" b="1" kern="1200" dirty="0" smtClean="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lang="de-DE" sz="1600" b="1" kern="1200" dirty="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a:t>3</a:t>
            </a:r>
            <a:endParaRPr lang="en-GB" dirty="0"/>
          </a:p>
        </p:txBody>
      </p:sp>
    </p:spTree>
    <p:extLst>
      <p:ext uri="{BB962C8B-B14F-4D97-AF65-F5344CB8AC3E}">
        <p14:creationId xmlns:p14="http://schemas.microsoft.com/office/powerpoint/2010/main" val="3900190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a:extLst>
                          <a:ext uri="{FF2B5EF4-FFF2-40B4-BE49-F238E27FC236}">
                            <a16:creationId xmlns:a16="http://schemas.microsoft.com/office/drawing/2014/main" id="{38B534E2-9A22-4AF9-AEBA-6252401B15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p:txBody>
          <a:bodyPr vert="horz" lIns="0" tIns="0" rIns="0" bIns="0" rtlCol="0">
            <a:noAutofit/>
          </a:bodyPr>
          <a:lstStyle/>
          <a:p>
            <a:r>
              <a:rPr lang="de-DE" dirty="0"/>
              <a:t>Vorstellung Metzler Corporate Finance – Energy &amp; </a:t>
            </a:r>
            <a:r>
              <a:rPr lang="de-DE" dirty="0" err="1"/>
              <a:t>Renewables</a:t>
            </a:r>
            <a:endParaRPr lang="de-DE" dirty="0"/>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1</a:t>
            </a:r>
          </a:p>
        </p:txBody>
      </p:sp>
    </p:spTree>
    <p:extLst>
      <p:ext uri="{BB962C8B-B14F-4D97-AF65-F5344CB8AC3E}">
        <p14:creationId xmlns:p14="http://schemas.microsoft.com/office/powerpoint/2010/main" val="46692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el 13"/>
          <p:cNvSpPr>
            <a:spLocks noGrp="1"/>
          </p:cNvSpPr>
          <p:nvPr>
            <p:ph type="title"/>
          </p:nvPr>
        </p:nvSpPr>
        <p:spPr/>
        <p:txBody>
          <a:bodyPr/>
          <a:lstStyle/>
          <a:p>
            <a:r>
              <a:rPr lang="de-DE" dirty="0"/>
              <a:t>Bankhaus Metzler – Innovative Privatbank, erfolgreich seit 1674</a:t>
            </a:r>
          </a:p>
        </p:txBody>
      </p:sp>
      <p:sp>
        <p:nvSpPr>
          <p:cNvPr id="3" name="Textplatzhalter 2"/>
          <p:cNvSpPr>
            <a:spLocks noGrp="1"/>
          </p:cNvSpPr>
          <p:nvPr>
            <p:ph type="body" sz="quarter" idx="12"/>
          </p:nvPr>
        </p:nvSpPr>
        <p:spPr/>
        <p:txBody>
          <a:bodyPr/>
          <a:lstStyle/>
          <a:p>
            <a:endParaRPr lang="de-DE" dirty="0"/>
          </a:p>
        </p:txBody>
      </p:sp>
      <p:sp>
        <p:nvSpPr>
          <p:cNvPr id="4" name="Textplatzhalt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platzhalter 4"/>
          <p:cNvSpPr>
            <a:spLocks noGrp="1"/>
          </p:cNvSpPr>
          <p:nvPr>
            <p:ph type="body" sz="quarter" idx="14"/>
          </p:nvPr>
        </p:nvSpPr>
        <p:spPr/>
        <p:txBody>
          <a:bodyPr/>
          <a:lstStyle/>
          <a:p>
            <a:endParaRPr lang="de-DE" dirty="0"/>
          </a:p>
        </p:txBody>
      </p:sp>
      <p:sp>
        <p:nvSpPr>
          <p:cNvPr id="6" name="Textplatzhalter 5"/>
          <p:cNvSpPr>
            <a:spLocks noGrp="1"/>
          </p:cNvSpPr>
          <p:nvPr>
            <p:ph type="body" sz="quarter" idx="15"/>
          </p:nvPr>
        </p:nvSpPr>
        <p:spPr/>
        <p:txBody>
          <a:bodyPr/>
          <a:lstStyle/>
          <a:p>
            <a:endParaRPr lang="de-DE" dirty="0"/>
          </a:p>
        </p:txBody>
      </p:sp>
      <p:sp>
        <p:nvSpPr>
          <p:cNvPr id="19" name="Rechteck 25"/>
          <p:cNvSpPr>
            <a:spLocks noChangeArrowheads="1"/>
          </p:cNvSpPr>
          <p:nvPr/>
        </p:nvSpPr>
        <p:spPr bwMode="auto">
          <a:xfrm>
            <a:off x="2659780" y="2317217"/>
            <a:ext cx="7727480" cy="3193012"/>
          </a:xfrm>
          <a:prstGeom prst="rect">
            <a:avLst/>
          </a:prstGeom>
          <a:noFill/>
          <a:ln w="12700" cap="sq">
            <a:noFill/>
            <a:round/>
            <a:headEnd type="none" w="sm" len="sm"/>
            <a:tailEnd type="none" w="sm" len="sm"/>
          </a:ln>
        </p:spPr>
        <p:txBody>
          <a:bodyPr lIns="36000" tIns="36000" rIns="36000" bIns="36000" anchor="ctr" anchorCtr="0"/>
          <a:lstStyle/>
          <a:p>
            <a:pPr marL="261033" lvl="1" indent="-259533">
              <a:spcBef>
                <a:spcPts val="4200"/>
              </a:spcBef>
              <a:buClr>
                <a:srgbClr val="003D7C"/>
              </a:buClr>
              <a:buFont typeface="Wingdings" pitchFamily="2" charset="2"/>
              <a:buChar char="n"/>
            </a:pPr>
            <a:r>
              <a:rPr lang="de-DE" sz="1400" dirty="0"/>
              <a:t>Deutschlands ältestes Bankhaus seit Gründung in ununterbrochenem Familienbesitz</a:t>
            </a:r>
          </a:p>
          <a:p>
            <a:pPr marL="261033" lvl="1" indent="-259533">
              <a:spcBef>
                <a:spcPts val="4200"/>
              </a:spcBef>
              <a:buClr>
                <a:srgbClr val="003D7C"/>
              </a:buClr>
              <a:buFont typeface="Wingdings" pitchFamily="2" charset="2"/>
              <a:buChar char="n"/>
            </a:pPr>
            <a:r>
              <a:rPr lang="de-DE" sz="1400" dirty="0"/>
              <a:t>Einzigartiges Netzwerk zu Eigentümern, Unternehmen, Investoren und Institutionen</a:t>
            </a:r>
          </a:p>
          <a:p>
            <a:pPr marL="261033" lvl="1" indent="-259533">
              <a:spcBef>
                <a:spcPts val="4200"/>
              </a:spcBef>
              <a:buClr>
                <a:srgbClr val="003D7C"/>
              </a:buClr>
              <a:buFont typeface="Wingdings" pitchFamily="2" charset="2"/>
              <a:buChar char="n"/>
            </a:pPr>
            <a:r>
              <a:rPr lang="de-DE" sz="1400" dirty="0"/>
              <a:t>Unabhängigkeit als zentrales Element unseres Geschäftsmodells</a:t>
            </a:r>
          </a:p>
          <a:p>
            <a:pPr marL="261033" lvl="1" indent="-259533">
              <a:spcBef>
                <a:spcPts val="4200"/>
              </a:spcBef>
              <a:buClr>
                <a:srgbClr val="003D7C"/>
              </a:buClr>
              <a:buFont typeface="Wingdings" pitchFamily="2" charset="2"/>
              <a:buChar char="n"/>
            </a:pPr>
            <a:r>
              <a:rPr lang="de-DE" sz="1400" dirty="0"/>
              <a:t>Fokus auf nachhaltige und langfristige Kundenbeziehungen</a:t>
            </a:r>
          </a:p>
          <a:p>
            <a:pPr marL="261033" lvl="1" indent="-259533">
              <a:spcBef>
                <a:spcPts val="4200"/>
              </a:spcBef>
              <a:buClr>
                <a:srgbClr val="003D7C"/>
              </a:buClr>
              <a:buFont typeface="Wingdings" pitchFamily="2" charset="2"/>
              <a:buChar char="n"/>
            </a:pPr>
            <a:r>
              <a:rPr lang="de-DE" sz="1400" dirty="0"/>
              <a:t>Wertorientiertes Handeln geprägt durch Unternehmergeist und Menschlichkeit</a:t>
            </a:r>
          </a:p>
        </p:txBody>
      </p:sp>
      <p:cxnSp>
        <p:nvCxnSpPr>
          <p:cNvPr id="22" name="Gerader Verbinder 21"/>
          <p:cNvCxnSpPr/>
          <p:nvPr/>
        </p:nvCxnSpPr>
        <p:spPr>
          <a:xfrm>
            <a:off x="2538388" y="2183608"/>
            <a:ext cx="0" cy="3460230"/>
          </a:xfrm>
          <a:prstGeom prst="line">
            <a:avLst/>
          </a:prstGeom>
          <a:ln w="15875">
            <a:solidFill>
              <a:srgbClr val="003D7C"/>
            </a:solidFill>
          </a:ln>
        </p:spPr>
        <p:style>
          <a:lnRef idx="1">
            <a:schemeClr val="accent1"/>
          </a:lnRef>
          <a:fillRef idx="0">
            <a:schemeClr val="accent1"/>
          </a:fillRef>
          <a:effectRef idx="0">
            <a:schemeClr val="accent1"/>
          </a:effectRef>
          <a:fontRef idx="minor">
            <a:schemeClr val="tx1"/>
          </a:fontRef>
        </p:style>
      </p:cxnSp>
      <p:pic>
        <p:nvPicPr>
          <p:cNvPr id="1026" name="Picture 2" descr="Ãhnliches Foto"/>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5992" b="35235"/>
          <a:stretch/>
        </p:blipFill>
        <p:spPr bwMode="auto">
          <a:xfrm>
            <a:off x="623386" y="3757974"/>
            <a:ext cx="1661557" cy="311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25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F90876F-FAA2-4B61-A6F3-DBFECAEA00E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a:extLst>
                          <a:ext uri="{FF2B5EF4-FFF2-40B4-BE49-F238E27FC236}">
                            <a16:creationId xmlns:a16="http://schemas.microsoft.com/office/drawing/2014/main" id="{DF90876F-FAA2-4B61-A6F3-DBFECAEA00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de-DE" dirty="0"/>
              <a:t>Metzler konzentriert sich auf seine Stärken in vier Geschäftsfeldern</a:t>
            </a:r>
          </a:p>
        </p:txBody>
      </p:sp>
      <p:sp>
        <p:nvSpPr>
          <p:cNvPr id="4" name="Textplatzhalter 3"/>
          <p:cNvSpPr>
            <a:spLocks noGrp="1"/>
          </p:cNvSpPr>
          <p:nvPr>
            <p:ph type="body" sz="quarter" idx="12"/>
          </p:nvPr>
        </p:nvSpPr>
        <p:spPr/>
        <p:txBody>
          <a:bodyPr/>
          <a:lstStyle/>
          <a:p>
            <a:endParaRPr lang="de-DE" dirty="0"/>
          </a:p>
        </p:txBody>
      </p:sp>
      <p:sp>
        <p:nvSpPr>
          <p:cNvPr id="8" name="Textplatzhalter 7"/>
          <p:cNvSpPr>
            <a:spLocks noGrp="1"/>
          </p:cNvSpPr>
          <p:nvPr>
            <p:ph type="body" sz="quarter" idx="14"/>
          </p:nvPr>
        </p:nvSpPr>
        <p:spPr/>
        <p:txBody>
          <a:bodyPr/>
          <a:lstStyle/>
          <a:p>
            <a:endParaRPr lang="de-DE" dirty="0"/>
          </a:p>
        </p:txBody>
      </p:sp>
      <p:sp>
        <p:nvSpPr>
          <p:cNvPr id="9" name="Textplatzhalter 8"/>
          <p:cNvSpPr>
            <a:spLocks noGrp="1"/>
          </p:cNvSpPr>
          <p:nvPr>
            <p:ph type="body" sz="quarter" idx="15"/>
          </p:nvPr>
        </p:nvSpPr>
        <p:spPr/>
        <p:txBody>
          <a:bodyPr/>
          <a:lstStyle/>
          <a:p>
            <a:endParaRPr lang="de-DE" dirty="0"/>
          </a:p>
        </p:txBody>
      </p:sp>
      <p:pic>
        <p:nvPicPr>
          <p:cNvPr id="42" name="Grafik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8566" y="1803534"/>
            <a:ext cx="1336269" cy="432000"/>
          </a:xfrm>
          <a:prstGeom prst="rect">
            <a:avLst/>
          </a:prstGeom>
        </p:spPr>
      </p:pic>
      <p:sp>
        <p:nvSpPr>
          <p:cNvPr id="43" name="Rechteck 19"/>
          <p:cNvSpPr>
            <a:spLocks noChangeArrowheads="1"/>
          </p:cNvSpPr>
          <p:nvPr/>
        </p:nvSpPr>
        <p:spPr bwMode="auto">
          <a:xfrm>
            <a:off x="377825" y="2128447"/>
            <a:ext cx="9937750" cy="773112"/>
          </a:xfrm>
          <a:prstGeom prst="rect">
            <a:avLst/>
          </a:prstGeom>
          <a:solidFill>
            <a:schemeClr val="accent1"/>
          </a:solidFill>
          <a:ln w="6350" cap="sq">
            <a:solidFill>
              <a:schemeClr val="accent1"/>
            </a:solidFill>
            <a:miter lim="800000"/>
            <a:headEnd type="none" w="sm" len="sm"/>
            <a:tailEnd type="none" w="sm" len="sm"/>
          </a:ln>
        </p:spPr>
        <p:txBody>
          <a:bodyPr lIns="179968" tIns="39593" rIns="179968" bIns="17997"/>
          <a:lstStyle/>
          <a:p>
            <a:pPr marL="0" marR="0" lvl="0" indent="0" algn="ctr" defTabSz="1043056" rtl="0" eaLnBrk="1" fontAlgn="auto" latinLnBrk="0" hangingPunct="1">
              <a:lnSpc>
                <a:spcPct val="100000"/>
              </a:lnSpc>
              <a:spcBef>
                <a:spcPts val="0"/>
              </a:spcBef>
              <a:spcAft>
                <a:spcPts val="0"/>
              </a:spcAft>
              <a:buClrTx/>
              <a:buSzTx/>
              <a:buFontTx/>
              <a:buNone/>
              <a:tabLst/>
              <a:defRPr/>
            </a:pPr>
            <a:endParaRPr kumimoji="0" lang="de-DE" sz="1400" b="1" i="0" u="none" strike="noStrike" kern="1200" cap="none" spc="0" normalizeH="0" baseline="0" noProof="0" dirty="0">
              <a:ln>
                <a:noFill/>
              </a:ln>
              <a:solidFill>
                <a:srgbClr val="FFFFFF"/>
              </a:solidFill>
              <a:effectLst/>
              <a:uLnTx/>
              <a:uFillTx/>
              <a:latin typeface="Univers for Metzler" pitchFamily="34" charset="0"/>
              <a:ea typeface="+mn-ea"/>
              <a:cs typeface="+mn-cs"/>
            </a:endParaRPr>
          </a:p>
        </p:txBody>
      </p:sp>
      <p:sp>
        <p:nvSpPr>
          <p:cNvPr id="48" name="Rectangle 3"/>
          <p:cNvSpPr>
            <a:spLocks noChangeArrowheads="1"/>
          </p:cNvSpPr>
          <p:nvPr/>
        </p:nvSpPr>
        <p:spPr bwMode="auto">
          <a:xfrm>
            <a:off x="377825" y="5773301"/>
            <a:ext cx="9937750" cy="820738"/>
          </a:xfrm>
          <a:prstGeom prst="rect">
            <a:avLst/>
          </a:prstGeom>
          <a:solidFill>
            <a:schemeClr val="bg1"/>
          </a:solidFill>
          <a:ln w="6350" cap="sq">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26000" rIns="0" bIns="144000" anchor="ctr"/>
          <a:lstStyle/>
          <a:p>
            <a:pPr algn="ctr" defTabSz="863447">
              <a:lnSpc>
                <a:spcPct val="50000"/>
              </a:lnSpc>
            </a:pPr>
            <a:endParaRPr lang="de-DE" sz="1400" dirty="0">
              <a:latin typeface="+mj-lt"/>
            </a:endParaRPr>
          </a:p>
          <a:p>
            <a:pPr algn="ctr" defTabSz="863447">
              <a:lnSpc>
                <a:spcPct val="90000"/>
              </a:lnSpc>
            </a:pPr>
            <a:endParaRPr lang="de-DE" sz="1400" dirty="0">
              <a:latin typeface="+mj-lt"/>
            </a:endParaRPr>
          </a:p>
          <a:p>
            <a:pPr algn="ctr" defTabSz="863447">
              <a:lnSpc>
                <a:spcPct val="90000"/>
              </a:lnSpc>
            </a:pPr>
            <a:r>
              <a:rPr lang="de-DE" sz="1400" dirty="0">
                <a:latin typeface="+mj-lt"/>
              </a:rPr>
              <a:t>Rund 800 Mitarbeiter in Frankfurt am Main</a:t>
            </a:r>
            <a:r>
              <a:rPr lang="de-DE" sz="1300" dirty="0">
                <a:latin typeface="+mj-lt"/>
              </a:rPr>
              <a:t> </a:t>
            </a:r>
            <a:r>
              <a:rPr lang="de-DE" sz="1400" dirty="0">
                <a:latin typeface="+mj-lt"/>
              </a:rPr>
              <a:t>– Hamburg</a:t>
            </a:r>
            <a:r>
              <a:rPr lang="de-DE" sz="1300" dirty="0">
                <a:latin typeface="+mj-lt"/>
              </a:rPr>
              <a:t> </a:t>
            </a:r>
            <a:r>
              <a:rPr lang="de-DE" sz="1400" dirty="0">
                <a:latin typeface="+mj-lt"/>
              </a:rPr>
              <a:t>–</a:t>
            </a:r>
            <a:r>
              <a:rPr lang="de-DE" sz="1300" dirty="0">
                <a:latin typeface="+mj-lt"/>
                <a:sym typeface="Wingdings" pitchFamily="2" charset="2"/>
              </a:rPr>
              <a:t> </a:t>
            </a:r>
            <a:r>
              <a:rPr lang="de-DE" sz="1400" dirty="0">
                <a:latin typeface="+mj-lt"/>
                <a:sym typeface="Wingdings" pitchFamily="2" charset="2"/>
              </a:rPr>
              <a:t>Düsseldorf</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München</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Stuttgart</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p>
          <a:p>
            <a:pPr algn="ctr" defTabSz="863447">
              <a:lnSpc>
                <a:spcPct val="90000"/>
              </a:lnSpc>
            </a:pPr>
            <a:r>
              <a:rPr lang="de-DE" sz="1400" dirty="0">
                <a:latin typeface="+mj-lt"/>
                <a:sym typeface="Wingdings" pitchFamily="2" charset="2"/>
              </a:rPr>
              <a:t>Atlanta</a:t>
            </a:r>
            <a:r>
              <a:rPr lang="de-DE" sz="1300" dirty="0">
                <a:latin typeface="+mj-lt"/>
                <a:sym typeface="Wingdings" pitchFamily="2" charset="2"/>
              </a:rPr>
              <a:t> </a:t>
            </a:r>
            <a:r>
              <a:rPr lang="de-DE" sz="1400" dirty="0">
                <a:latin typeface="+mj-lt"/>
                <a:sym typeface="Wingdings" pitchFamily="2" charset="2"/>
              </a:rPr>
              <a:t>–</a:t>
            </a:r>
            <a:r>
              <a:rPr lang="de-DE" sz="1300" dirty="0">
                <a:solidFill>
                  <a:schemeClr val="bg2"/>
                </a:solidFill>
                <a:latin typeface="+mj-lt"/>
                <a:sym typeface="Wingdings" pitchFamily="2" charset="2"/>
              </a:rPr>
              <a:t> </a:t>
            </a:r>
            <a:r>
              <a:rPr lang="de-DE" sz="1400" dirty="0">
                <a:latin typeface="+mj-lt"/>
                <a:sym typeface="Wingdings" pitchFamily="2" charset="2"/>
              </a:rPr>
              <a:t>Los Angeles</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Seattle</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Tokio</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Peking</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sym typeface="Wingdings" pitchFamily="2" charset="2"/>
            </a:endParaRPr>
          </a:p>
        </p:txBody>
      </p:sp>
      <p:grpSp>
        <p:nvGrpSpPr>
          <p:cNvPr id="13" name="Gruppieren 12"/>
          <p:cNvGrpSpPr/>
          <p:nvPr/>
        </p:nvGrpSpPr>
        <p:grpSpPr>
          <a:xfrm>
            <a:off x="681654" y="2306248"/>
            <a:ext cx="2213270" cy="3727686"/>
            <a:chOff x="795186" y="2429209"/>
            <a:chExt cx="2213270" cy="3562836"/>
          </a:xfrm>
        </p:grpSpPr>
        <p:sp>
          <p:nvSpPr>
            <p:cNvPr id="44" name="Rechteck 20"/>
            <p:cNvSpPr>
              <a:spLocks noChangeArrowheads="1"/>
            </p:cNvSpPr>
            <p:nvPr/>
          </p:nvSpPr>
          <p:spPr bwMode="auto">
            <a:xfrm>
              <a:off x="795186" y="2429209"/>
              <a:ext cx="2213270"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Asset Management</a:t>
              </a:r>
            </a:p>
          </p:txBody>
        </p:sp>
        <p:sp>
          <p:nvSpPr>
            <p:cNvPr id="49" name="Rechteck 25"/>
            <p:cNvSpPr>
              <a:spLocks noChangeArrowheads="1"/>
            </p:cNvSpPr>
            <p:nvPr/>
          </p:nvSpPr>
          <p:spPr bwMode="auto">
            <a:xfrm>
              <a:off x="851746"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36000" bIns="17997"/>
            <a:lstStyle/>
            <a:p>
              <a:pPr marL="179357" indent="-179357">
                <a:spcBef>
                  <a:spcPts val="1200"/>
                </a:spcBef>
                <a:buClr>
                  <a:schemeClr val="accent1"/>
                </a:buClr>
                <a:buSzPct val="85000"/>
                <a:buFont typeface="Wingdings" pitchFamily="2" charset="2"/>
                <a:buChar char="n"/>
              </a:pPr>
              <a:r>
                <a:rPr lang="de-DE" sz="1400" dirty="0"/>
                <a:t>Portfolio-</a:t>
              </a:r>
              <a:br>
                <a:rPr lang="de-DE" sz="1400" dirty="0"/>
              </a:br>
              <a:r>
                <a:rPr lang="de-DE" sz="1400" dirty="0" err="1"/>
                <a:t>management</a:t>
              </a:r>
              <a:endParaRPr lang="de-DE" sz="1400" dirty="0"/>
            </a:p>
            <a:p>
              <a:pPr marL="179357" indent="-179357">
                <a:spcBef>
                  <a:spcPts val="1200"/>
                </a:spcBef>
                <a:buClr>
                  <a:schemeClr val="accent1"/>
                </a:buClr>
                <a:buSzPct val="85000"/>
                <a:buFont typeface="Wingdings" pitchFamily="2" charset="2"/>
                <a:buChar char="n"/>
              </a:pPr>
              <a:r>
                <a:rPr lang="de-DE" sz="1400" dirty="0"/>
                <a:t>ESG-Strategien, Beratung &amp; </a:t>
              </a:r>
              <a:br>
                <a:rPr lang="de-DE" sz="1400" dirty="0"/>
              </a:br>
              <a:r>
                <a:rPr lang="de-DE" sz="1400" dirty="0"/>
                <a:t>Reporting</a:t>
              </a:r>
            </a:p>
            <a:p>
              <a:pPr marL="179357" indent="-179357">
                <a:spcBef>
                  <a:spcPts val="1200"/>
                </a:spcBef>
                <a:buClr>
                  <a:schemeClr val="accent1"/>
                </a:buClr>
                <a:buSzPct val="85000"/>
                <a:buFont typeface="Wingdings" pitchFamily="2" charset="2"/>
                <a:buChar char="n"/>
              </a:pPr>
              <a:r>
                <a:rPr lang="de-DE" sz="1400" dirty="0"/>
                <a:t>Pension </a:t>
              </a:r>
              <a:br>
                <a:rPr lang="de-DE" sz="1400" dirty="0"/>
              </a:br>
              <a:r>
                <a:rPr lang="de-DE" sz="1400" dirty="0"/>
                <a:t>Management</a:t>
              </a:r>
            </a:p>
            <a:p>
              <a:pPr marL="179357" indent="-179357">
                <a:spcBef>
                  <a:spcPts val="1200"/>
                </a:spcBef>
                <a:buClr>
                  <a:schemeClr val="accent1"/>
                </a:buClr>
                <a:buSzPct val="85000"/>
                <a:buFont typeface="Wingdings" pitchFamily="2" charset="2"/>
                <a:buChar char="n"/>
              </a:pPr>
              <a:r>
                <a:rPr lang="de-DE" sz="1400" dirty="0"/>
                <a:t>Immobilienberatung</a:t>
              </a:r>
            </a:p>
            <a:p>
              <a:pPr marL="179357" indent="-179357">
                <a:spcBef>
                  <a:spcPts val="1200"/>
                </a:spcBef>
                <a:buClr>
                  <a:schemeClr val="accent1"/>
                </a:buClr>
                <a:buSzPct val="85000"/>
                <a:buFont typeface="Wingdings" pitchFamily="2" charset="2"/>
                <a:buChar char="n"/>
              </a:pPr>
              <a:r>
                <a:rPr lang="de-DE" sz="1400" dirty="0"/>
                <a:t>Administrations-dienstleistungen</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endParaRPr>
            </a:p>
          </p:txBody>
        </p:sp>
      </p:grpSp>
      <p:grpSp>
        <p:nvGrpSpPr>
          <p:cNvPr id="15" name="Gruppieren 14"/>
          <p:cNvGrpSpPr/>
          <p:nvPr/>
        </p:nvGrpSpPr>
        <p:grpSpPr>
          <a:xfrm>
            <a:off x="5425813" y="2306248"/>
            <a:ext cx="2213659" cy="3727686"/>
            <a:chOff x="5393261" y="2429209"/>
            <a:chExt cx="2213659" cy="3562836"/>
          </a:xfrm>
        </p:grpSpPr>
        <p:sp>
          <p:nvSpPr>
            <p:cNvPr id="45" name="Rechteck 44"/>
            <p:cNvSpPr>
              <a:spLocks noChangeArrowheads="1"/>
            </p:cNvSpPr>
            <p:nvPr/>
          </p:nvSpPr>
          <p:spPr bwMode="auto">
            <a:xfrm>
              <a:off x="5393261" y="2429209"/>
              <a:ext cx="2213659" cy="1079500"/>
            </a:xfrm>
            <a:prstGeom prst="rect">
              <a:avLst/>
            </a:prstGeom>
            <a:solidFill>
              <a:schemeClr val="accent1"/>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FFFFFF"/>
                  </a:solidFill>
                  <a:effectLst/>
                  <a:uLnTx/>
                  <a:uFillTx/>
                  <a:latin typeface="Univers for Metzler" pitchFamily="34" charset="0"/>
                  <a:ea typeface="+mn-ea"/>
                  <a:cs typeface="+mn-cs"/>
                </a:rPr>
                <a:t>Corporate Finance</a:t>
              </a:r>
            </a:p>
          </p:txBody>
        </p:sp>
        <p:sp>
          <p:nvSpPr>
            <p:cNvPr id="50" name="Rechteck 49"/>
            <p:cNvSpPr>
              <a:spLocks noChangeArrowheads="1"/>
            </p:cNvSpPr>
            <p:nvPr/>
          </p:nvSpPr>
          <p:spPr bwMode="auto">
            <a:xfrm>
              <a:off x="5450015" y="2854022"/>
              <a:ext cx="2100150" cy="3138023"/>
            </a:xfrm>
            <a:prstGeom prst="rect">
              <a:avLst/>
            </a:prstGeom>
            <a:solidFill>
              <a:srgbClr val="EBF4FF"/>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Mergers &amp; Acquisitions (M&amp;A)</a:t>
              </a:r>
            </a:p>
            <a:p>
              <a:pPr marL="179357" indent="-179357">
                <a:spcBef>
                  <a:spcPts val="1200"/>
                </a:spcBef>
                <a:buClr>
                  <a:schemeClr val="accent1"/>
                </a:buClr>
                <a:buSzPct val="85000"/>
                <a:buFont typeface="Wingdings" pitchFamily="2" charset="2"/>
                <a:buChar char="n"/>
              </a:pPr>
              <a:r>
                <a:rPr lang="de-DE" sz="1400" dirty="0"/>
                <a:t>Neuordnung von Gesellschafter-</a:t>
              </a:r>
              <a:br>
                <a:rPr lang="de-DE" sz="1400" dirty="0"/>
              </a:br>
              <a:r>
                <a:rPr lang="de-DE" sz="1400" dirty="0" err="1"/>
                <a:t>strukturen</a:t>
              </a:r>
              <a:endParaRPr lang="de-DE" sz="1400" dirty="0"/>
            </a:p>
            <a:p>
              <a:pPr marL="179357" indent="-179357">
                <a:spcBef>
                  <a:spcPts val="1200"/>
                </a:spcBef>
                <a:buClr>
                  <a:schemeClr val="accent1"/>
                </a:buClr>
                <a:buSzPct val="85000"/>
                <a:buFont typeface="Wingdings" pitchFamily="2" charset="2"/>
                <a:buChar char="n"/>
              </a:pPr>
              <a:r>
                <a:rPr lang="de-DE" sz="1400" dirty="0"/>
                <a:t>Transaktionen mit Börsenbezug</a:t>
              </a:r>
            </a:p>
          </p:txBody>
        </p:sp>
      </p:grpSp>
      <p:grpSp>
        <p:nvGrpSpPr>
          <p:cNvPr id="14" name="Gruppieren 13"/>
          <p:cNvGrpSpPr/>
          <p:nvPr/>
        </p:nvGrpSpPr>
        <p:grpSpPr>
          <a:xfrm>
            <a:off x="3053539" y="2306248"/>
            <a:ext cx="2213659" cy="3727686"/>
            <a:chOff x="3094029" y="2429209"/>
            <a:chExt cx="2213659" cy="3562836"/>
          </a:xfrm>
        </p:grpSpPr>
        <p:sp>
          <p:nvSpPr>
            <p:cNvPr id="46" name="Rechteck 23"/>
            <p:cNvSpPr>
              <a:spLocks noChangeArrowheads="1"/>
            </p:cNvSpPr>
            <p:nvPr/>
          </p:nvSpPr>
          <p:spPr bwMode="auto">
            <a:xfrm>
              <a:off x="3094029" y="2429209"/>
              <a:ext cx="2213659"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Capital Markets</a:t>
              </a:r>
            </a:p>
          </p:txBody>
        </p:sp>
        <p:sp>
          <p:nvSpPr>
            <p:cNvPr id="51" name="Rechteck 28"/>
            <p:cNvSpPr>
              <a:spLocks noChangeArrowheads="1"/>
            </p:cNvSpPr>
            <p:nvPr/>
          </p:nvSpPr>
          <p:spPr bwMode="auto">
            <a:xfrm>
              <a:off x="3150783"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Betreuung </a:t>
              </a:r>
              <a:r>
                <a:rPr lang="de-DE" sz="1400" dirty="0" err="1"/>
                <a:t>institu-tioneller</a:t>
              </a:r>
              <a:r>
                <a:rPr lang="de-DE" sz="1400" dirty="0"/>
                <a:t> Kunden im Direktgeschäft</a:t>
              </a:r>
            </a:p>
            <a:p>
              <a:pPr marL="179357" indent="-179357">
                <a:spcBef>
                  <a:spcPts val="1200"/>
                </a:spcBef>
                <a:buClr>
                  <a:schemeClr val="accent1"/>
                </a:buClr>
                <a:buSzPct val="85000"/>
                <a:buFont typeface="Wingdings" pitchFamily="2" charset="2"/>
                <a:buChar char="n"/>
              </a:pPr>
              <a:r>
                <a:rPr lang="de-DE" sz="1400" dirty="0"/>
                <a:t>Currency Management</a:t>
              </a:r>
            </a:p>
            <a:p>
              <a:pPr marL="179357" indent="-179357">
                <a:spcBef>
                  <a:spcPts val="1200"/>
                </a:spcBef>
                <a:buClr>
                  <a:schemeClr val="accent1"/>
                </a:buClr>
                <a:buSzPct val="85000"/>
                <a:buFont typeface="Wingdings" pitchFamily="2" charset="2"/>
                <a:buChar char="n"/>
              </a:pPr>
              <a:r>
                <a:rPr lang="de-DE" sz="1400" dirty="0"/>
                <a:t>Handel in Aktien, Devisen und Zinsen</a:t>
              </a:r>
            </a:p>
            <a:p>
              <a:pPr marL="179357" indent="-179357">
                <a:spcBef>
                  <a:spcPts val="1200"/>
                </a:spcBef>
                <a:buClr>
                  <a:schemeClr val="accent1"/>
                </a:buClr>
                <a:buSzPct val="85000"/>
                <a:buFont typeface="Wingdings" pitchFamily="2" charset="2"/>
                <a:buChar char="n"/>
              </a:pPr>
              <a:r>
                <a:rPr lang="de-DE" sz="1400" dirty="0" err="1"/>
                <a:t>Kapitalmarktfinanzie</a:t>
              </a:r>
              <a:r>
                <a:rPr lang="de-DE" sz="1400" dirty="0"/>
                <a:t>-rungen (ECM/DCM)</a:t>
              </a:r>
            </a:p>
            <a:p>
              <a:pPr marL="179357" indent="-179357">
                <a:spcBef>
                  <a:spcPts val="1200"/>
                </a:spcBef>
                <a:buClr>
                  <a:schemeClr val="accent1"/>
                </a:buClr>
                <a:buSzPct val="85000"/>
                <a:buFont typeface="Wingdings" pitchFamily="2" charset="2"/>
                <a:buChar char="n"/>
              </a:pPr>
              <a:r>
                <a:rPr lang="de-DE" sz="1400" dirty="0"/>
                <a:t>Research in Aktien, Devisen und Renten</a:t>
              </a:r>
              <a:endParaRPr kumimoji="0" lang="de-DE" sz="1400" b="0" i="0" u="none" strike="noStrike" kern="1200" cap="none" spc="-20" normalizeH="0" noProof="0" dirty="0">
                <a:ln>
                  <a:noFill/>
                </a:ln>
                <a:solidFill>
                  <a:srgbClr val="000000"/>
                </a:solidFill>
                <a:effectLst/>
                <a:uLnTx/>
                <a:uFillTx/>
                <a:latin typeface="Univers for Metzler Light"/>
                <a:ea typeface="+mn-ea"/>
                <a:cs typeface="+mn-cs"/>
              </a:endParaRPr>
            </a:p>
          </p:txBody>
        </p:sp>
      </p:grpSp>
      <p:grpSp>
        <p:nvGrpSpPr>
          <p:cNvPr id="16" name="Gruppieren 15"/>
          <p:cNvGrpSpPr/>
          <p:nvPr/>
        </p:nvGrpSpPr>
        <p:grpSpPr>
          <a:xfrm>
            <a:off x="7798087" y="2306248"/>
            <a:ext cx="2213659" cy="3727686"/>
            <a:chOff x="7692493" y="2429209"/>
            <a:chExt cx="2213659" cy="3562836"/>
          </a:xfrm>
        </p:grpSpPr>
        <p:sp>
          <p:nvSpPr>
            <p:cNvPr id="47" name="Rechteck 24"/>
            <p:cNvSpPr>
              <a:spLocks noChangeArrowheads="1"/>
            </p:cNvSpPr>
            <p:nvPr/>
          </p:nvSpPr>
          <p:spPr bwMode="auto">
            <a:xfrm>
              <a:off x="7692493" y="2429209"/>
              <a:ext cx="2213659"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Private Banking</a:t>
              </a:r>
            </a:p>
          </p:txBody>
        </p:sp>
        <p:sp>
          <p:nvSpPr>
            <p:cNvPr id="52" name="Rechteck 29"/>
            <p:cNvSpPr>
              <a:spLocks noChangeArrowheads="1"/>
            </p:cNvSpPr>
            <p:nvPr/>
          </p:nvSpPr>
          <p:spPr bwMode="auto">
            <a:xfrm>
              <a:off x="7749247"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Vermögens-</a:t>
              </a:r>
              <a:br>
                <a:rPr lang="de-DE" sz="1400" dirty="0"/>
              </a:br>
              <a:r>
                <a:rPr lang="de-DE" sz="1400" dirty="0" err="1"/>
                <a:t>verwaltung</a:t>
              </a:r>
              <a:endParaRPr lang="de-DE" sz="1400" dirty="0"/>
            </a:p>
            <a:p>
              <a:pPr marL="179357" indent="-179357">
                <a:spcBef>
                  <a:spcPts val="1200"/>
                </a:spcBef>
                <a:buClr>
                  <a:schemeClr val="accent1"/>
                </a:buClr>
                <a:buSzPct val="85000"/>
                <a:buFont typeface="Wingdings" pitchFamily="2" charset="2"/>
                <a:buChar char="n"/>
              </a:pPr>
              <a:r>
                <a:rPr lang="de-DE" sz="1400" dirty="0"/>
                <a:t>Vermögenstreuhand</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endParaRPr>
            </a:p>
          </p:txBody>
        </p:sp>
      </p:grpSp>
      <p:sp>
        <p:nvSpPr>
          <p:cNvPr id="6" name="Textplatzhalter 5">
            <a:extLst>
              <a:ext uri="{FF2B5EF4-FFF2-40B4-BE49-F238E27FC236}">
                <a16:creationId xmlns:a16="http://schemas.microsoft.com/office/drawing/2014/main" id="{0CDA1ACA-706A-C0D1-CF66-C5FFE6558C5B}"/>
              </a:ext>
            </a:extLst>
          </p:cNvPr>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Tree>
    <p:extLst>
      <p:ext uri="{BB962C8B-B14F-4D97-AF65-F5344CB8AC3E}">
        <p14:creationId xmlns:p14="http://schemas.microsoft.com/office/powerpoint/2010/main" val="1282141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a:off x="507705" y="4339946"/>
            <a:ext cx="2897114" cy="2438751"/>
            <a:chOff x="3822099" y="1636836"/>
            <a:chExt cx="2897114" cy="2438751"/>
          </a:xfrm>
        </p:grpSpPr>
        <p:sp>
          <p:nvSpPr>
            <p:cNvPr id="11" name="Rechteck 10"/>
            <p:cNvSpPr/>
            <p:nvPr/>
          </p:nvSpPr>
          <p:spPr bwMode="auto">
            <a:xfrm>
              <a:off x="3822099" y="2929143"/>
              <a:ext cx="2818800"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Software - Horizontal und Vertikal</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Lösungen - Plattformen und Innovationen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Services &amp; Beratung</a:t>
              </a:r>
              <a:endParaRPr lang="de-DE" sz="1000" dirty="0">
                <a:solidFill>
                  <a:srgbClr val="000000"/>
                </a:solidFill>
                <a:latin typeface="+mj-lt"/>
              </a:endParaRPr>
            </a:p>
          </p:txBody>
        </p:sp>
        <p:sp>
          <p:nvSpPr>
            <p:cNvPr id="12" name="Parallelogramm 18"/>
            <p:cNvSpPr/>
            <p:nvPr/>
          </p:nvSpPr>
          <p:spPr>
            <a:xfrm>
              <a:off x="3822099" y="163683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Technology</a:t>
              </a:r>
            </a:p>
          </p:txBody>
        </p:sp>
        <p:pic>
          <p:nvPicPr>
            <p:cNvPr id="30" name="Picture 35"/>
            <p:cNvPicPr>
              <a:picLocks noChangeAspect="1"/>
            </p:cNvPicPr>
            <p:nvPr/>
          </p:nvPicPr>
          <p:blipFill rotWithShape="1">
            <a:blip r:embed="rId2">
              <a:extLst>
                <a:ext uri="{28A0092B-C50C-407E-A947-70E740481C1C}">
                  <a14:useLocalDpi xmlns:a14="http://schemas.microsoft.com/office/drawing/2010/main" val="0"/>
                </a:ext>
              </a:extLst>
            </a:blip>
            <a:srcRect t="34537" b="15748"/>
            <a:stretch/>
          </p:blipFill>
          <p:spPr>
            <a:xfrm>
              <a:off x="3822099" y="1976296"/>
              <a:ext cx="2818800" cy="936104"/>
            </a:xfrm>
            <a:prstGeom prst="rect">
              <a:avLst/>
            </a:prstGeom>
          </p:spPr>
        </p:pic>
      </p:grpSp>
      <p:grpSp>
        <p:nvGrpSpPr>
          <p:cNvPr id="24" name="Group 23"/>
          <p:cNvGrpSpPr/>
          <p:nvPr/>
        </p:nvGrpSpPr>
        <p:grpSpPr>
          <a:xfrm>
            <a:off x="3822099" y="4340286"/>
            <a:ext cx="2897114" cy="2438411"/>
            <a:chOff x="507705" y="4340286"/>
            <a:chExt cx="2897114" cy="2438411"/>
          </a:xfrm>
        </p:grpSpPr>
        <p:sp>
          <p:nvSpPr>
            <p:cNvPr id="15" name="Rechteck 14"/>
            <p:cNvSpPr/>
            <p:nvPr/>
          </p:nvSpPr>
          <p:spPr bwMode="auto">
            <a:xfrm>
              <a:off x="507705"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Asset und Fonds-Management</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Bank- und Finanzdienstleistungen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Inkasso- und Zahlungsdienstleistungen</a:t>
              </a:r>
            </a:p>
          </p:txBody>
        </p:sp>
        <p:sp>
          <p:nvSpPr>
            <p:cNvPr id="16" name="Parallelogramm 18"/>
            <p:cNvSpPr/>
            <p:nvPr/>
          </p:nvSpPr>
          <p:spPr>
            <a:xfrm>
              <a:off x="507705"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Financial Services</a:t>
              </a:r>
            </a:p>
          </p:txBody>
        </p:sp>
        <p:pic>
          <p:nvPicPr>
            <p:cNvPr id="40" name="Picture 33"/>
            <p:cNvPicPr>
              <a:picLocks noChangeAspect="1"/>
            </p:cNvPicPr>
            <p:nvPr/>
          </p:nvPicPr>
          <p:blipFill rotWithShape="1">
            <a:blip r:embed="rId3">
              <a:extLst>
                <a:ext uri="{28A0092B-C50C-407E-A947-70E740481C1C}">
                  <a14:useLocalDpi xmlns:a14="http://schemas.microsoft.com/office/drawing/2010/main" val="0"/>
                </a:ext>
              </a:extLst>
            </a:blip>
            <a:srcRect t="30713" b="19573"/>
            <a:stretch/>
          </p:blipFill>
          <p:spPr>
            <a:xfrm>
              <a:off x="507705" y="4679240"/>
              <a:ext cx="2818800" cy="936104"/>
            </a:xfrm>
            <a:prstGeom prst="rect">
              <a:avLst/>
            </a:prstGeom>
          </p:spPr>
        </p:pic>
      </p:grpSp>
      <p:grpSp>
        <p:nvGrpSpPr>
          <p:cNvPr id="23" name="Group 22"/>
          <p:cNvGrpSpPr/>
          <p:nvPr/>
        </p:nvGrpSpPr>
        <p:grpSpPr>
          <a:xfrm>
            <a:off x="7136493" y="1635554"/>
            <a:ext cx="2897114" cy="2438411"/>
            <a:chOff x="3822099" y="4340286"/>
            <a:chExt cx="2897114" cy="2438411"/>
          </a:xfrm>
        </p:grpSpPr>
        <p:sp>
          <p:nvSpPr>
            <p:cNvPr id="13" name="Rechteck 12"/>
            <p:cNvSpPr/>
            <p:nvPr/>
          </p:nvSpPr>
          <p:spPr bwMode="auto">
            <a:xfrm>
              <a:off x="3822102"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OEM</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Zulieferer</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E-Mobility und autonomes Fahren</a:t>
              </a:r>
              <a:endParaRPr lang="de-DE" sz="1000" dirty="0">
                <a:solidFill>
                  <a:srgbClr val="000000"/>
                </a:solidFill>
                <a:latin typeface="+mj-lt"/>
              </a:endParaRPr>
            </a:p>
          </p:txBody>
        </p:sp>
        <p:sp>
          <p:nvSpPr>
            <p:cNvPr id="14" name="Parallelogramm 18"/>
            <p:cNvSpPr/>
            <p:nvPr/>
          </p:nvSpPr>
          <p:spPr>
            <a:xfrm>
              <a:off x="3822099"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Automotive</a:t>
              </a:r>
            </a:p>
          </p:txBody>
        </p:sp>
        <p:pic>
          <p:nvPicPr>
            <p:cNvPr id="41" name="Picture 32"/>
            <p:cNvPicPr>
              <a:picLocks noChangeAspect="1"/>
            </p:cNvPicPr>
            <p:nvPr/>
          </p:nvPicPr>
          <p:blipFill rotWithShape="1">
            <a:blip r:embed="rId4">
              <a:extLst>
                <a:ext uri="{28A0092B-C50C-407E-A947-70E740481C1C}">
                  <a14:useLocalDpi xmlns:a14="http://schemas.microsoft.com/office/drawing/2010/main" val="0"/>
                </a:ext>
              </a:extLst>
            </a:blip>
            <a:srcRect t="22916" b="19227"/>
            <a:stretch/>
          </p:blipFill>
          <p:spPr>
            <a:xfrm>
              <a:off x="3822200" y="4679239"/>
              <a:ext cx="2818800" cy="936105"/>
            </a:xfrm>
            <a:prstGeom prst="rect">
              <a:avLst/>
            </a:prstGeom>
          </p:spPr>
        </p:pic>
      </p:grpSp>
      <p:sp>
        <p:nvSpPr>
          <p:cNvPr id="2" name="Titel 1"/>
          <p:cNvSpPr>
            <a:spLocks noGrp="1"/>
          </p:cNvSpPr>
          <p:nvPr>
            <p:ph type="title"/>
          </p:nvPr>
        </p:nvSpPr>
        <p:spPr/>
        <p:txBody>
          <a:bodyPr/>
          <a:lstStyle/>
          <a:p>
            <a:r>
              <a:rPr lang="de-DE" dirty="0"/>
              <a:t>Umfassende Industriekenntnis in ausgewählten Kernsektoren</a:t>
            </a:r>
          </a:p>
        </p:txBody>
      </p:sp>
      <p:sp>
        <p:nvSpPr>
          <p:cNvPr id="3" name="Textplatzhalter 2"/>
          <p:cNvSpPr>
            <a:spLocks noGrp="1"/>
          </p:cNvSpPr>
          <p:nvPr>
            <p:ph type="body" sz="quarter" idx="12"/>
          </p:nvPr>
        </p:nvSpPr>
        <p:spPr/>
        <p:txBody>
          <a:bodyPr/>
          <a:lstStyle/>
          <a:p>
            <a:endParaRPr lang="de-DE" dirty="0"/>
          </a:p>
        </p:txBody>
      </p:sp>
      <p:sp>
        <p:nvSpPr>
          <p:cNvPr id="4" name="Textplatzhalt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platzhalter 4"/>
          <p:cNvSpPr>
            <a:spLocks noGrp="1"/>
          </p:cNvSpPr>
          <p:nvPr>
            <p:ph type="body" sz="quarter" idx="14"/>
          </p:nvPr>
        </p:nvSpPr>
        <p:spPr/>
        <p:txBody>
          <a:bodyPr/>
          <a:lstStyle/>
          <a:p>
            <a:endParaRPr lang="de-DE" dirty="0"/>
          </a:p>
        </p:txBody>
      </p:sp>
      <p:sp>
        <p:nvSpPr>
          <p:cNvPr id="6" name="Textplatzhalter 5"/>
          <p:cNvSpPr>
            <a:spLocks noGrp="1"/>
          </p:cNvSpPr>
          <p:nvPr>
            <p:ph type="body" sz="quarter" idx="15"/>
          </p:nvPr>
        </p:nvSpPr>
        <p:spPr/>
        <p:txBody>
          <a:bodyPr/>
          <a:lstStyle/>
          <a:p>
            <a:endParaRPr lang="de-DE" dirty="0"/>
          </a:p>
        </p:txBody>
      </p:sp>
      <p:grpSp>
        <p:nvGrpSpPr>
          <p:cNvPr id="19" name="Group 18"/>
          <p:cNvGrpSpPr/>
          <p:nvPr/>
        </p:nvGrpSpPr>
        <p:grpSpPr>
          <a:xfrm>
            <a:off x="3822099" y="1636836"/>
            <a:ext cx="2897114" cy="2440033"/>
            <a:chOff x="507705" y="1635554"/>
            <a:chExt cx="2897114" cy="2440033"/>
          </a:xfrm>
        </p:grpSpPr>
        <p:sp>
          <p:nvSpPr>
            <p:cNvPr id="17" name="Rechteck 16"/>
            <p:cNvSpPr/>
            <p:nvPr/>
          </p:nvSpPr>
          <p:spPr bwMode="auto">
            <a:xfrm>
              <a:off x="507705" y="2929143"/>
              <a:ext cx="2818901"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Automatisierungstechnik</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Elektrotechnik</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Sensorik und Robotik</a:t>
              </a:r>
            </a:p>
          </p:txBody>
        </p:sp>
        <p:sp>
          <p:nvSpPr>
            <p:cNvPr id="18" name="Parallelogramm 18"/>
            <p:cNvSpPr/>
            <p:nvPr/>
          </p:nvSpPr>
          <p:spPr>
            <a:xfrm>
              <a:off x="507705" y="1635554"/>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Industrials</a:t>
              </a:r>
            </a:p>
          </p:txBody>
        </p:sp>
        <p:pic>
          <p:nvPicPr>
            <p:cNvPr id="31" name="Picture 34"/>
            <p:cNvPicPr>
              <a:picLocks noChangeAspect="1"/>
            </p:cNvPicPr>
            <p:nvPr/>
          </p:nvPicPr>
          <p:blipFill rotWithShape="1">
            <a:blip r:embed="rId5">
              <a:extLst>
                <a:ext uri="{28A0092B-C50C-407E-A947-70E740481C1C}">
                  <a14:useLocalDpi xmlns:a14="http://schemas.microsoft.com/office/drawing/2010/main" val="0"/>
                </a:ext>
              </a:extLst>
            </a:blip>
            <a:srcRect t="11956" b="11525"/>
            <a:stretch/>
          </p:blipFill>
          <p:spPr>
            <a:xfrm>
              <a:off x="507705" y="1976296"/>
              <a:ext cx="2818800" cy="936104"/>
            </a:xfrm>
            <a:prstGeom prst="rect">
              <a:avLst/>
            </a:prstGeom>
          </p:spPr>
        </p:pic>
      </p:grpSp>
      <p:cxnSp>
        <p:nvCxnSpPr>
          <p:cNvPr id="33" name="Gerader Verbinder 32"/>
          <p:cNvCxnSpPr/>
          <p:nvPr/>
        </p:nvCxnSpPr>
        <p:spPr>
          <a:xfrm>
            <a:off x="507705" y="-899889"/>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Gerader Verbinder 33"/>
          <p:cNvCxnSpPr/>
          <p:nvPr/>
        </p:nvCxnSpPr>
        <p:spPr>
          <a:xfrm rot="16200000">
            <a:off x="-557956" y="1616256"/>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rot="16200000">
            <a:off x="-557956" y="4319200"/>
            <a:ext cx="0" cy="720080"/>
          </a:xfrm>
          <a:prstGeom prst="line">
            <a:avLst/>
          </a:prstGeom>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507705" y="1636836"/>
            <a:ext cx="2897114" cy="2438751"/>
            <a:chOff x="7136493" y="1636836"/>
            <a:chExt cx="2897114" cy="2438751"/>
          </a:xfrm>
        </p:grpSpPr>
        <p:sp>
          <p:nvSpPr>
            <p:cNvPr id="7" name="Rechteck 6"/>
            <p:cNvSpPr/>
            <p:nvPr/>
          </p:nvSpPr>
          <p:spPr bwMode="auto">
            <a:xfrm>
              <a:off x="7136493" y="2929143"/>
              <a:ext cx="2818800"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Alternative Energien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Energieinfrastruktur</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Ver- und Entsorgungsunternehmen</a:t>
              </a:r>
            </a:p>
          </p:txBody>
        </p:sp>
        <p:sp>
          <p:nvSpPr>
            <p:cNvPr id="8" name="Parallelogramm 18"/>
            <p:cNvSpPr/>
            <p:nvPr/>
          </p:nvSpPr>
          <p:spPr>
            <a:xfrm>
              <a:off x="7136493" y="163683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200" b="1" dirty="0">
                  <a:solidFill>
                    <a:schemeClr val="bg1"/>
                  </a:solidFill>
                </a:rPr>
                <a:t>Energy &amp; Renewables</a:t>
              </a:r>
              <a:endParaRPr lang="de-DE" sz="1200" b="1" dirty="0">
                <a:solidFill>
                  <a:schemeClr val="bg1"/>
                </a:solidFill>
              </a:endParaRPr>
            </a:p>
          </p:txBody>
        </p:sp>
        <p:pic>
          <p:nvPicPr>
            <p:cNvPr id="36" name="Grafik 35"/>
            <p:cNvPicPr preferRelativeResize="0">
              <a:picLocks/>
            </p:cNvPicPr>
            <p:nvPr/>
          </p:nvPicPr>
          <p:blipFill rotWithShape="1">
            <a:blip r:embed="rId6">
              <a:extLst>
                <a:ext uri="{28A0092B-C50C-407E-A947-70E740481C1C}">
                  <a14:useLocalDpi xmlns:a14="http://schemas.microsoft.com/office/drawing/2010/main" val="0"/>
                </a:ext>
              </a:extLst>
            </a:blip>
            <a:srcRect t="30472" b="19612"/>
            <a:stretch/>
          </p:blipFill>
          <p:spPr>
            <a:xfrm>
              <a:off x="7136493" y="1976296"/>
              <a:ext cx="2818901" cy="936000"/>
            </a:xfrm>
            <a:prstGeom prst="rect">
              <a:avLst/>
            </a:prstGeom>
          </p:spPr>
        </p:pic>
      </p:grpSp>
      <p:cxnSp>
        <p:nvCxnSpPr>
          <p:cNvPr id="37" name="Gerader Verbinder 36"/>
          <p:cNvCxnSpPr/>
          <p:nvPr/>
        </p:nvCxnSpPr>
        <p:spPr>
          <a:xfrm>
            <a:off x="3822099" y="-899889"/>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Gerader Verbinder 37"/>
          <p:cNvCxnSpPr/>
          <p:nvPr/>
        </p:nvCxnSpPr>
        <p:spPr>
          <a:xfrm>
            <a:off x="7136392" y="-899889"/>
            <a:ext cx="0" cy="720080"/>
          </a:xfrm>
          <a:prstGeom prst="line">
            <a:avLst/>
          </a:prstGeom>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7136493" y="4340286"/>
            <a:ext cx="2897114" cy="2438411"/>
            <a:chOff x="7136493" y="4340286"/>
            <a:chExt cx="2897114" cy="2438411"/>
          </a:xfrm>
        </p:grpSpPr>
        <p:sp>
          <p:nvSpPr>
            <p:cNvPr id="9" name="Rechteck 8"/>
            <p:cNvSpPr/>
            <p:nvPr/>
          </p:nvSpPr>
          <p:spPr bwMode="auto">
            <a:xfrm>
              <a:off x="7136494"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Konsumgüter </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Nahrungsmittel</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Einzel- und Großhandel</a:t>
              </a:r>
            </a:p>
          </p:txBody>
        </p:sp>
        <p:sp>
          <p:nvSpPr>
            <p:cNvPr id="10" name="Parallelogramm 18"/>
            <p:cNvSpPr/>
            <p:nvPr/>
          </p:nvSpPr>
          <p:spPr>
            <a:xfrm>
              <a:off x="7136493"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Consumer &amp; Distribution</a:t>
              </a:r>
            </a:p>
          </p:txBody>
        </p:sp>
        <p:pic>
          <p:nvPicPr>
            <p:cNvPr id="42" name="Picture 36"/>
            <p:cNvPicPr>
              <a:picLocks noChangeAspect="1"/>
            </p:cNvPicPr>
            <p:nvPr/>
          </p:nvPicPr>
          <p:blipFill rotWithShape="1">
            <a:blip r:embed="rId7">
              <a:extLst>
                <a:ext uri="{28A0092B-C50C-407E-A947-70E740481C1C}">
                  <a14:useLocalDpi xmlns:a14="http://schemas.microsoft.com/office/drawing/2010/main" val="0"/>
                </a:ext>
              </a:extLst>
            </a:blip>
            <a:srcRect t="15868" b="34417"/>
            <a:stretch/>
          </p:blipFill>
          <p:spPr>
            <a:xfrm>
              <a:off x="7136493" y="4679240"/>
              <a:ext cx="2818800" cy="936104"/>
            </a:xfrm>
            <a:prstGeom prst="rect">
              <a:avLst/>
            </a:prstGeom>
          </p:spPr>
        </p:pic>
      </p:grpSp>
    </p:spTree>
    <p:extLst>
      <p:ext uri="{BB962C8B-B14F-4D97-AF65-F5344CB8AC3E}">
        <p14:creationId xmlns:p14="http://schemas.microsoft.com/office/powerpoint/2010/main" val="1972682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868BC151-DE11-4C8F-89D4-7A87C1836659}"/>
              </a:ext>
            </a:extLst>
          </p:cNvPr>
          <p:cNvGraphicFramePr>
            <a:graphicFrameLocks/>
          </p:cNvGraphicFramePr>
          <p:nvPr>
            <p:custDataLst>
              <p:tags r:id="rId1"/>
            </p:custDataLst>
            <p:extLst>
              <p:ext uri="{D42A27DB-BD31-4B8C-83A1-F6EECF244321}">
                <p14:modId xmlns:p14="http://schemas.microsoft.com/office/powerpoint/2010/main" val="3022625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8" name="Object 7" hidden="1">
                        <a:extLst>
                          <a:ext uri="{FF2B5EF4-FFF2-40B4-BE49-F238E27FC236}">
                            <a16:creationId xmlns:a16="http://schemas.microsoft.com/office/drawing/2014/main" id="{868BC151-DE11-4C8F-89D4-7A87C18366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4B698F34-E460-DF9C-18D0-07494A4D938E}"/>
              </a:ext>
            </a:extLst>
          </p:cNvPr>
          <p:cNvSpPr/>
          <p:nvPr/>
        </p:nvSpPr>
        <p:spPr>
          <a:xfrm>
            <a:off x="388308" y="2662653"/>
            <a:ext cx="4870968" cy="4142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p:cNvSpPr>
            <a:spLocks noGrp="1"/>
          </p:cNvSpPr>
          <p:nvPr>
            <p:ph type="title"/>
          </p:nvPr>
        </p:nvSpPr>
        <p:spPr>
          <a:xfrm>
            <a:off x="378700" y="450279"/>
            <a:ext cx="9936000" cy="720000"/>
          </a:xfrm>
        </p:spPr>
        <p:txBody>
          <a:bodyPr vert="horz"/>
          <a:lstStyle/>
          <a:p>
            <a:r>
              <a:rPr lang="de-DE" altLang="de-DE" dirty="0"/>
              <a:t>Metzler verfügt über umfassendes Know-how aus Transaktionen und langjährige Erfahrung im Bereich Erneuerbare Energien und öffentliche Hand</a:t>
            </a:r>
            <a:endParaRPr lang="en-GB" dirty="0"/>
          </a:p>
        </p:txBody>
      </p:sp>
      <p:sp>
        <p:nvSpPr>
          <p:cNvPr id="3" name="Text Placeholder 2"/>
          <p:cNvSpPr>
            <a:spLocks noGrp="1"/>
          </p:cNvSpPr>
          <p:nvPr>
            <p:ph type="body" sz="quarter" idx="12"/>
          </p:nvPr>
        </p:nvSpPr>
        <p:spPr/>
        <p:txBody>
          <a:bodyPr/>
          <a:lstStyle/>
          <a:p>
            <a:endParaRPr lang="de-DE" dirty="0"/>
          </a:p>
        </p:txBody>
      </p:sp>
      <p:sp>
        <p:nvSpPr>
          <p:cNvPr id="4" name="Text Placehold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 Placeholder 4"/>
          <p:cNvSpPr>
            <a:spLocks noGrp="1"/>
          </p:cNvSpPr>
          <p:nvPr>
            <p:ph type="body" sz="quarter" idx="14"/>
          </p:nvPr>
        </p:nvSpPr>
        <p:spPr/>
        <p:txBody>
          <a:bodyPr/>
          <a:lstStyle/>
          <a:p>
            <a:endParaRPr lang="en-GB"/>
          </a:p>
        </p:txBody>
      </p:sp>
      <p:sp>
        <p:nvSpPr>
          <p:cNvPr id="6" name="Text Placeholder 5"/>
          <p:cNvSpPr>
            <a:spLocks noGrp="1"/>
          </p:cNvSpPr>
          <p:nvPr>
            <p:ph type="body" sz="quarter" idx="15"/>
          </p:nvPr>
        </p:nvSpPr>
        <p:spPr/>
        <p:txBody>
          <a:bodyPr/>
          <a:lstStyle/>
          <a:p>
            <a:endParaRPr lang="en-GB"/>
          </a:p>
        </p:txBody>
      </p:sp>
      <p:pic>
        <p:nvPicPr>
          <p:cNvPr id="12" name="Picture 3" descr="W:\UKOMM\GRAFIK\STYLE\Tombstones\Tombs_PNG\Nordex_BDAG_d_2001-42.png"/>
          <p:cNvPicPr preferRelativeResize="0">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967351" y="4247095"/>
            <a:ext cx="1580051" cy="189606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2" descr="W:\UKOMM\GRAFIK\STYLE\Tombstones\Tombs_PNG\EnergieKontor_d_2013.png"/>
          <p:cNvPicPr preferRelativeResize="0">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821471" y="3933896"/>
            <a:ext cx="1440000"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Picture 12" descr="\\fss.metzde.metzler.com\profilep$\mgl\Desktop\Ventotec_d_2017.png"/>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985" y="4933384"/>
            <a:ext cx="1436410" cy="17236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Grafik 10">
            <a:extLst>
              <a:ext uri="{FF2B5EF4-FFF2-40B4-BE49-F238E27FC236}">
                <a16:creationId xmlns:a16="http://schemas.microsoft.com/office/drawing/2014/main" id="{4C083C5B-F093-4F39-A66D-1ED6921F4B8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81765" y="2787403"/>
            <a:ext cx="1440000" cy="1728406"/>
          </a:xfrm>
          <a:prstGeom prst="rect">
            <a:avLst/>
          </a:prstGeom>
          <a:effectLst>
            <a:outerShdw blurRad="50800" dist="38100" dir="2700000" algn="tl" rotWithShape="0">
              <a:prstClr val="black">
                <a:alpha val="40000"/>
              </a:prstClr>
            </a:outerShdw>
          </a:effectLst>
        </p:spPr>
      </p:pic>
      <p:pic>
        <p:nvPicPr>
          <p:cNvPr id="22" name="Grafik 11" descr="Ein Bild, das Text enthält.&#10;&#10;Automatisch generierte Beschreibung">
            <a:extLst>
              <a:ext uri="{FF2B5EF4-FFF2-40B4-BE49-F238E27FC236}">
                <a16:creationId xmlns:a16="http://schemas.microsoft.com/office/drawing/2014/main" id="{B6991CFE-DEE2-46F1-AAA6-8BDDDF4ED559}"/>
              </a:ext>
            </a:extLst>
          </p:cNvPr>
          <p:cNvPicPr>
            <a:picLocks noChangeAspect="1"/>
          </p:cNvPicPr>
          <p:nvPr/>
        </p:nvPicPr>
        <p:blipFill>
          <a:blip r:embed="rId9"/>
          <a:stretch>
            <a:fillRect/>
          </a:stretch>
        </p:blipFill>
        <p:spPr>
          <a:xfrm>
            <a:off x="461985" y="2792117"/>
            <a:ext cx="1436072" cy="1723692"/>
          </a:xfrm>
          <a:prstGeom prst="rect">
            <a:avLst/>
          </a:prstGeom>
          <a:effectLst>
            <a:outerShdw blurRad="50800" dist="38100" dir="2700000" algn="tl" rotWithShape="0">
              <a:prstClr val="black">
                <a:alpha val="40000"/>
              </a:prstClr>
            </a:outerShdw>
          </a:effectLst>
        </p:spPr>
      </p:pic>
      <p:sp>
        <p:nvSpPr>
          <p:cNvPr id="17" name="Rectangle 16">
            <a:extLst>
              <a:ext uri="{FF2B5EF4-FFF2-40B4-BE49-F238E27FC236}">
                <a16:creationId xmlns:a16="http://schemas.microsoft.com/office/drawing/2014/main" id="{4E2752C7-B7E7-0276-3FBF-DB676BE7FC93}"/>
              </a:ext>
            </a:extLst>
          </p:cNvPr>
          <p:cNvSpPr/>
          <p:nvPr/>
        </p:nvSpPr>
        <p:spPr>
          <a:xfrm>
            <a:off x="388308" y="1681204"/>
            <a:ext cx="4870968" cy="9588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24" name="Straight Connector 23">
            <a:extLst>
              <a:ext uri="{FF2B5EF4-FFF2-40B4-BE49-F238E27FC236}">
                <a16:creationId xmlns:a16="http://schemas.microsoft.com/office/drawing/2014/main" id="{3FA56499-1131-A3DD-FD5D-0E39C981BC17}"/>
              </a:ext>
            </a:extLst>
          </p:cNvPr>
          <p:cNvCxnSpPr>
            <a:cxnSpLocks/>
          </p:cNvCxnSpPr>
          <p:nvPr/>
        </p:nvCxnSpPr>
        <p:spPr>
          <a:xfrm>
            <a:off x="388308" y="1681204"/>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9C53831-0F2D-E770-ADC6-A86C6A5253BC}"/>
              </a:ext>
            </a:extLst>
          </p:cNvPr>
          <p:cNvCxnSpPr>
            <a:cxnSpLocks/>
          </p:cNvCxnSpPr>
          <p:nvPr/>
        </p:nvCxnSpPr>
        <p:spPr>
          <a:xfrm>
            <a:off x="388308" y="2640018"/>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E7F33F95-1819-43EF-5FFE-1849EEE3970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00101" y="1764407"/>
            <a:ext cx="524323" cy="524323"/>
          </a:xfrm>
          <a:prstGeom prst="rect">
            <a:avLst/>
          </a:prstGeom>
        </p:spPr>
      </p:pic>
      <p:sp>
        <p:nvSpPr>
          <p:cNvPr id="33" name="TextBox 32">
            <a:extLst>
              <a:ext uri="{FF2B5EF4-FFF2-40B4-BE49-F238E27FC236}">
                <a16:creationId xmlns:a16="http://schemas.microsoft.com/office/drawing/2014/main" id="{D5BBAD0C-12E4-C2BA-1582-D3AFF0A6AAE2}"/>
              </a:ext>
            </a:extLst>
          </p:cNvPr>
          <p:cNvSpPr txBox="1"/>
          <p:nvPr/>
        </p:nvSpPr>
        <p:spPr>
          <a:xfrm>
            <a:off x="1427372" y="2323946"/>
            <a:ext cx="2869780" cy="276999"/>
          </a:xfrm>
          <a:prstGeom prst="rect">
            <a:avLst/>
          </a:prstGeom>
          <a:noFill/>
        </p:spPr>
        <p:txBody>
          <a:bodyPr wrap="square" rtlCol="0">
            <a:spAutoFit/>
          </a:bodyPr>
          <a:lstStyle/>
          <a:p>
            <a:pPr algn="ctr"/>
            <a:r>
              <a:rPr lang="de-DE" sz="1200" b="1" dirty="0">
                <a:solidFill>
                  <a:schemeClr val="accent1"/>
                </a:solidFill>
              </a:rPr>
              <a:t>Energie und Infrastruktur</a:t>
            </a:r>
          </a:p>
        </p:txBody>
      </p:sp>
      <p:sp>
        <p:nvSpPr>
          <p:cNvPr id="34" name="Rectangle 33">
            <a:extLst>
              <a:ext uri="{FF2B5EF4-FFF2-40B4-BE49-F238E27FC236}">
                <a16:creationId xmlns:a16="http://schemas.microsoft.com/office/drawing/2014/main" id="{84938949-A256-289E-22DF-89B0D3137E52}"/>
              </a:ext>
            </a:extLst>
          </p:cNvPr>
          <p:cNvSpPr/>
          <p:nvPr/>
        </p:nvSpPr>
        <p:spPr>
          <a:xfrm>
            <a:off x="5444607" y="2662653"/>
            <a:ext cx="4870968" cy="4142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5" name="Rectangle 34">
            <a:extLst>
              <a:ext uri="{FF2B5EF4-FFF2-40B4-BE49-F238E27FC236}">
                <a16:creationId xmlns:a16="http://schemas.microsoft.com/office/drawing/2014/main" id="{5591238E-F1FE-949B-D878-A0CEB1A39C94}"/>
              </a:ext>
            </a:extLst>
          </p:cNvPr>
          <p:cNvSpPr/>
          <p:nvPr/>
        </p:nvSpPr>
        <p:spPr>
          <a:xfrm>
            <a:off x="5444607" y="1681204"/>
            <a:ext cx="4870968" cy="9588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36" name="Straight Connector 35">
            <a:extLst>
              <a:ext uri="{FF2B5EF4-FFF2-40B4-BE49-F238E27FC236}">
                <a16:creationId xmlns:a16="http://schemas.microsoft.com/office/drawing/2014/main" id="{1E9AB932-69CC-7374-62B7-876D0D9F54E6}"/>
              </a:ext>
            </a:extLst>
          </p:cNvPr>
          <p:cNvCxnSpPr>
            <a:cxnSpLocks/>
          </p:cNvCxnSpPr>
          <p:nvPr/>
        </p:nvCxnSpPr>
        <p:spPr>
          <a:xfrm>
            <a:off x="5444607" y="1681204"/>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FDADBB6-CDF2-F224-EB08-C9DE062AB652}"/>
              </a:ext>
            </a:extLst>
          </p:cNvPr>
          <p:cNvCxnSpPr>
            <a:cxnSpLocks/>
          </p:cNvCxnSpPr>
          <p:nvPr/>
        </p:nvCxnSpPr>
        <p:spPr>
          <a:xfrm>
            <a:off x="5444607" y="2640018"/>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049783C-2D42-A825-E8F5-4B3C8BF22FD4}"/>
              </a:ext>
            </a:extLst>
          </p:cNvPr>
          <p:cNvSpPr txBox="1"/>
          <p:nvPr/>
        </p:nvSpPr>
        <p:spPr>
          <a:xfrm>
            <a:off x="6483671" y="2323946"/>
            <a:ext cx="2869780" cy="276999"/>
          </a:xfrm>
          <a:prstGeom prst="rect">
            <a:avLst/>
          </a:prstGeom>
          <a:noFill/>
        </p:spPr>
        <p:txBody>
          <a:bodyPr wrap="square" rtlCol="0">
            <a:spAutoFit/>
          </a:bodyPr>
          <a:lstStyle/>
          <a:p>
            <a:pPr algn="ctr"/>
            <a:r>
              <a:rPr lang="de-DE" sz="1200" b="1" dirty="0">
                <a:solidFill>
                  <a:schemeClr val="accent1"/>
                </a:solidFill>
              </a:rPr>
              <a:t>Öffentliche Hand</a:t>
            </a:r>
          </a:p>
        </p:txBody>
      </p:sp>
      <p:pic>
        <p:nvPicPr>
          <p:cNvPr id="40" name="Picture 2" descr="W:\UKOMM\GRAFIK\STYLE\Tombstones\Tombs_PNG\StadtFaM_Biokompost_d_1997.png">
            <a:extLst>
              <a:ext uri="{FF2B5EF4-FFF2-40B4-BE49-F238E27FC236}">
                <a16:creationId xmlns:a16="http://schemas.microsoft.com/office/drawing/2014/main" id="{9FB61AF7-1C5E-7203-0B6A-7A1638766BAF}"/>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2838095" y="3260893"/>
            <a:ext cx="1438057"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8" name="Picture 2" descr="W:\UKOMM\GRAFIK\STYLE\Tombstones\Tombs_PNG\FaM_Rethsmann_d_1997.png">
            <a:extLst>
              <a:ext uri="{FF2B5EF4-FFF2-40B4-BE49-F238E27FC236}">
                <a16:creationId xmlns:a16="http://schemas.microsoft.com/office/drawing/2014/main" id="{94766168-BF18-0434-AE1B-670F04C3562A}"/>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773706" y="2791409"/>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7" name="Picture 26" descr="\\fss.metzde.metzler.com\profilep$\gbl\Desktop\BGAG_d_1998.png">
            <a:extLst>
              <a:ext uri="{FF2B5EF4-FFF2-40B4-BE49-F238E27FC236}">
                <a16:creationId xmlns:a16="http://schemas.microsoft.com/office/drawing/2014/main" id="{F24394C4-C70D-F238-1F74-6F49D52F5A1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3405026" y="1426530"/>
            <a:ext cx="1438057" cy="17244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38">
            <a:extLst>
              <a:ext uri="{FF2B5EF4-FFF2-40B4-BE49-F238E27FC236}">
                <a16:creationId xmlns:a16="http://schemas.microsoft.com/office/drawing/2014/main" id="{CCFB772C-77E1-C9E0-835A-76F710BD750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76152" y="2895005"/>
            <a:ext cx="1908175" cy="23066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chemeClr val="hlink"/>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3" descr="W:\UKOMM\GRAFIK\STYLE\Tombstones\Tombs_PNG\NassauischeHeimstätten_d_2004.png">
            <a:extLst>
              <a:ext uri="{FF2B5EF4-FFF2-40B4-BE49-F238E27FC236}">
                <a16:creationId xmlns:a16="http://schemas.microsoft.com/office/drawing/2014/main" id="{F4EF18F3-E878-5C65-CE8A-B3616BEE61F2}"/>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1207989" y="3260893"/>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1" name="Grafik 5" descr="Ein Bild, das Text enthält.&#10;&#10;Automatisch generierte Beschreibung">
            <a:extLst>
              <a:ext uri="{FF2B5EF4-FFF2-40B4-BE49-F238E27FC236}">
                <a16:creationId xmlns:a16="http://schemas.microsoft.com/office/drawing/2014/main" id="{2D7F91DF-C303-2C9D-8205-7EA1113B8236}"/>
              </a:ext>
            </a:extLst>
          </p:cNvPr>
          <p:cNvPicPr>
            <a:picLocks noChangeAspect="1"/>
          </p:cNvPicPr>
          <p:nvPr/>
        </p:nvPicPr>
        <p:blipFill>
          <a:blip r:embed="rId17"/>
          <a:stretch>
            <a:fillRect/>
          </a:stretch>
        </p:blipFill>
        <p:spPr>
          <a:xfrm>
            <a:off x="11388077" y="196580"/>
            <a:ext cx="1440000" cy="1728406"/>
          </a:xfrm>
          <a:prstGeom prst="rect">
            <a:avLst/>
          </a:prstGeom>
          <a:effectLst>
            <a:outerShdw blurRad="50800" dist="38100" dir="2700000" algn="tl" rotWithShape="0">
              <a:prstClr val="black">
                <a:alpha val="40000"/>
              </a:prstClr>
            </a:outerShdw>
          </a:effectLst>
        </p:spPr>
      </p:pic>
      <p:pic>
        <p:nvPicPr>
          <p:cNvPr id="14" name="Picture 2" descr="W:\UKOMM\GRAFIK\STYLE\Tombstones\Tombs_PNG\juwi_d_2014.png"/>
          <p:cNvPicPr preferRelativeResize="0">
            <a:picLocks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081934" y="4933384"/>
            <a:ext cx="1440000"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2" descr="W:\UKOMM\GRAFIK\STYLE\Tombstones\Tombs_PNG\FaM_SachsenLB_d_1996.png">
            <a:extLst>
              <a:ext uri="{FF2B5EF4-FFF2-40B4-BE49-F238E27FC236}">
                <a16:creationId xmlns:a16="http://schemas.microsoft.com/office/drawing/2014/main" id="{7A3D6D93-194F-4F6C-8586-F45E6331CB4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4466258" y="3258561"/>
            <a:ext cx="1440000" cy="172673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F6519088-4AA7-AE7D-5346-4139E0AF7A09}"/>
              </a:ext>
            </a:extLst>
          </p:cNvPr>
          <p:cNvGrpSpPr/>
          <p:nvPr/>
        </p:nvGrpSpPr>
        <p:grpSpPr>
          <a:xfrm>
            <a:off x="13433183" y="5201642"/>
            <a:ext cx="1436072" cy="1723692"/>
            <a:chOff x="4082937" y="1332359"/>
            <a:chExt cx="1436072" cy="1723692"/>
          </a:xfrm>
        </p:grpSpPr>
        <p:pic>
          <p:nvPicPr>
            <p:cNvPr id="28" name="Grafik 11" descr="Ein Bild, das Text enthält.&#10;&#10;Automatisch generierte Beschreibung">
              <a:extLst>
                <a:ext uri="{FF2B5EF4-FFF2-40B4-BE49-F238E27FC236}">
                  <a16:creationId xmlns:a16="http://schemas.microsoft.com/office/drawing/2014/main" id="{84C88BEE-CC0A-9374-F9BC-E1081376833C}"/>
                </a:ext>
              </a:extLst>
            </p:cNvPr>
            <p:cNvPicPr>
              <a:picLocks noChangeAspect="1"/>
            </p:cNvPicPr>
            <p:nvPr/>
          </p:nvPicPr>
          <p:blipFill>
            <a:blip r:embed="rId9"/>
            <a:stretch>
              <a:fillRect/>
            </a:stretch>
          </p:blipFill>
          <p:spPr>
            <a:xfrm>
              <a:off x="4082937" y="1332359"/>
              <a:ext cx="1436072" cy="1723692"/>
            </a:xfrm>
            <a:prstGeom prst="rect">
              <a:avLst/>
            </a:prstGeom>
            <a:effectLst>
              <a:outerShdw blurRad="50800" dist="38100" dir="2700000" algn="tl" rotWithShape="0">
                <a:prstClr val="black">
                  <a:alpha val="40000"/>
                </a:prstClr>
              </a:outerShdw>
            </a:effectLst>
          </p:spPr>
        </p:pic>
        <p:sp>
          <p:nvSpPr>
            <p:cNvPr id="38" name="Rectangle 37">
              <a:extLst>
                <a:ext uri="{FF2B5EF4-FFF2-40B4-BE49-F238E27FC236}">
                  <a16:creationId xmlns:a16="http://schemas.microsoft.com/office/drawing/2014/main" id="{06A15664-DECC-CF49-7F71-BF0C0EF3724A}"/>
                </a:ext>
              </a:extLst>
            </p:cNvPr>
            <p:cNvSpPr/>
            <p:nvPr/>
          </p:nvSpPr>
          <p:spPr>
            <a:xfrm>
              <a:off x="4143363" y="1402377"/>
              <a:ext cx="1315219" cy="15816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800" b="1" dirty="0">
                  <a:solidFill>
                    <a:schemeClr val="tx1"/>
                  </a:solidFill>
                </a:rPr>
                <a:t>Laufendes Beratungsmandat für einen Energieversorger</a:t>
              </a:r>
            </a:p>
            <a:p>
              <a:pPr algn="ct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r>
                <a:rPr lang="de-DE" sz="800" dirty="0" err="1">
                  <a:solidFill>
                    <a:schemeClr val="tx1"/>
                  </a:solidFill>
                </a:rPr>
                <a:t>Kapitalflexibilsierung</a:t>
              </a:r>
              <a:r>
                <a:rPr lang="de-DE" sz="800" dirty="0">
                  <a:solidFill>
                    <a:schemeClr val="tx1"/>
                  </a:solidFill>
                </a:rPr>
                <a:t>, u.a. Beteiligung von Investoren an einem Erneuerbare Energien-Bestand von </a:t>
              </a:r>
              <a:br>
                <a:rPr lang="de-DE" sz="800" dirty="0">
                  <a:solidFill>
                    <a:schemeClr val="tx1"/>
                  </a:solidFill>
                </a:rPr>
              </a:br>
              <a:r>
                <a:rPr lang="de-DE" sz="800" dirty="0">
                  <a:solidFill>
                    <a:schemeClr val="tx1"/>
                  </a:solidFill>
                </a:rPr>
                <a:t>150 MW und Pipeline</a:t>
              </a:r>
            </a:p>
          </p:txBody>
        </p:sp>
      </p:grpSp>
      <p:grpSp>
        <p:nvGrpSpPr>
          <p:cNvPr id="42" name="Group 41">
            <a:extLst>
              <a:ext uri="{FF2B5EF4-FFF2-40B4-BE49-F238E27FC236}">
                <a16:creationId xmlns:a16="http://schemas.microsoft.com/office/drawing/2014/main" id="{6B158E5B-0F31-378F-C275-25642ACAC952}"/>
              </a:ext>
            </a:extLst>
          </p:cNvPr>
          <p:cNvGrpSpPr/>
          <p:nvPr/>
        </p:nvGrpSpPr>
        <p:grpSpPr>
          <a:xfrm>
            <a:off x="11251356" y="2066853"/>
            <a:ext cx="1436410" cy="1723692"/>
            <a:chOff x="4962061" y="1332359"/>
            <a:chExt cx="1436410" cy="1723692"/>
          </a:xfrm>
        </p:grpSpPr>
        <p:pic>
          <p:nvPicPr>
            <p:cNvPr id="43" name="Picture 12" descr="\\fss.metzde.metzler.com\profilep$\mgl\Desktop\Ventotec_d_2017.png">
              <a:extLst>
                <a:ext uri="{FF2B5EF4-FFF2-40B4-BE49-F238E27FC236}">
                  <a16:creationId xmlns:a16="http://schemas.microsoft.com/office/drawing/2014/main" id="{9672E9AD-5FC9-C83E-1D10-F5CA40F49F49}"/>
                </a:ext>
              </a:extLst>
            </p:cNvPr>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2061" y="1332359"/>
              <a:ext cx="1436410" cy="17236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43">
              <a:extLst>
                <a:ext uri="{FF2B5EF4-FFF2-40B4-BE49-F238E27FC236}">
                  <a16:creationId xmlns:a16="http://schemas.microsoft.com/office/drawing/2014/main" id="{04365080-8D8B-CE40-EBA6-9B977CD10378}"/>
                </a:ext>
              </a:extLst>
            </p:cNvPr>
            <p:cNvSpPr>
              <a:spLocks noChangeAspect="1"/>
            </p:cNvSpPr>
            <p:nvPr/>
          </p:nvSpPr>
          <p:spPr>
            <a:xfrm>
              <a:off x="5022656" y="1402377"/>
              <a:ext cx="1315219" cy="15816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800" b="1" dirty="0">
                  <a:solidFill>
                    <a:schemeClr val="tx1"/>
                  </a:solidFill>
                </a:rPr>
                <a:t>Laufendes Kaufmandat für einen deutschen Finanzinvestor</a:t>
              </a: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r>
                <a:rPr lang="de-DE" sz="800" dirty="0">
                  <a:solidFill>
                    <a:schemeClr val="tx1"/>
                  </a:solidFill>
                </a:rPr>
                <a:t>Buy-Side für einen deutschen Finanzinvestor für ein </a:t>
              </a:r>
              <a:br>
                <a:rPr lang="de-DE" sz="800" dirty="0">
                  <a:solidFill>
                    <a:schemeClr val="tx1"/>
                  </a:solidFill>
                </a:rPr>
              </a:br>
              <a:r>
                <a:rPr lang="de-DE" sz="800" dirty="0">
                  <a:solidFill>
                    <a:schemeClr val="tx1"/>
                  </a:solidFill>
                </a:rPr>
                <a:t>160 MW-</a:t>
              </a:r>
              <a:r>
                <a:rPr lang="de-DE" sz="800" dirty="0" err="1">
                  <a:solidFill>
                    <a:schemeClr val="tx1"/>
                  </a:solidFill>
                </a:rPr>
                <a:t>Onshore</a:t>
              </a:r>
              <a:r>
                <a:rPr lang="de-DE" sz="800" dirty="0">
                  <a:solidFill>
                    <a:schemeClr val="tx1"/>
                  </a:solidFill>
                </a:rPr>
                <a:t>-Projekt </a:t>
              </a:r>
              <a:br>
                <a:rPr lang="de-DE" sz="800" dirty="0">
                  <a:solidFill>
                    <a:schemeClr val="tx1"/>
                  </a:solidFill>
                </a:rPr>
              </a:br>
              <a:r>
                <a:rPr lang="de-DE" sz="800" dirty="0">
                  <a:solidFill>
                    <a:schemeClr val="tx1"/>
                  </a:solidFill>
                </a:rPr>
                <a:t>in Schleswig-Holstein</a:t>
              </a:r>
            </a:p>
          </p:txBody>
        </p:sp>
      </p:grpSp>
      <p:pic>
        <p:nvPicPr>
          <p:cNvPr id="9" name="Graphic 8">
            <a:extLst>
              <a:ext uri="{FF2B5EF4-FFF2-40B4-BE49-F238E27FC236}">
                <a16:creationId xmlns:a16="http://schemas.microsoft.com/office/drawing/2014/main" id="{416A3364-3545-E06A-EFEC-EE37293BEE6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619730" y="1752776"/>
            <a:ext cx="597663" cy="597663"/>
          </a:xfrm>
          <a:prstGeom prst="rect">
            <a:avLst/>
          </a:prstGeom>
        </p:spPr>
      </p:pic>
      <p:pic>
        <p:nvPicPr>
          <p:cNvPr id="15" name="Picture 32" descr="\\fss.metzde.metzler.com\profilep$\mgl\Desktop\Breeze_d_2017.png">
            <a:extLst>
              <a:ext uri="{FF2B5EF4-FFF2-40B4-BE49-F238E27FC236}">
                <a16:creationId xmlns:a16="http://schemas.microsoft.com/office/drawing/2014/main" id="{D75B197F-B227-B03F-7472-17DB0867D51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05474" y="2790159"/>
            <a:ext cx="1440000" cy="172565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51">
            <a:extLst>
              <a:ext uri="{FF2B5EF4-FFF2-40B4-BE49-F238E27FC236}">
                <a16:creationId xmlns:a16="http://schemas.microsoft.com/office/drawing/2014/main" id="{E6E1C916-BB20-466D-D7C0-CCC2EBAB98D5}"/>
              </a:ext>
            </a:extLst>
          </p:cNvPr>
          <p:cNvPicPr>
            <a:picLocks noChangeAspect="1"/>
          </p:cNvPicPr>
          <p:nvPr/>
        </p:nvPicPr>
        <p:blipFill>
          <a:blip r:embed="rId23"/>
          <a:stretch>
            <a:fillRect/>
          </a:stretch>
        </p:blipFill>
        <p:spPr>
          <a:xfrm>
            <a:off x="5532901" y="2786908"/>
            <a:ext cx="1440000" cy="1728901"/>
          </a:xfrm>
          <a:prstGeom prst="rect">
            <a:avLst/>
          </a:prstGeom>
          <a:effectLst>
            <a:outerShdw blurRad="50800" dist="38100" dir="2700000" algn="tl" rotWithShape="0">
              <a:prstClr val="black">
                <a:alpha val="40000"/>
              </a:prstClr>
            </a:outerShdw>
          </a:effectLst>
        </p:spPr>
      </p:pic>
      <p:pic>
        <p:nvPicPr>
          <p:cNvPr id="11" name="Picture 3" descr="W:\UKOMM\GRAFIK\STYLE\Tombstones\Tombs_PNG\Dusiburg_Oberhausen_d_2001.png">
            <a:extLst>
              <a:ext uri="{FF2B5EF4-FFF2-40B4-BE49-F238E27FC236}">
                <a16:creationId xmlns:a16="http://schemas.microsoft.com/office/drawing/2014/main" id="{0A0E05BF-2EC2-7633-0D37-C07A021ACB54}"/>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7141656"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2" descr="W:\UKOMM\GRAFIK\STYLE\Tombstones\Tombs_PNG\HB_Abwasser_d_1998.png">
            <a:extLst>
              <a:ext uri="{FF2B5EF4-FFF2-40B4-BE49-F238E27FC236}">
                <a16:creationId xmlns:a16="http://schemas.microsoft.com/office/drawing/2014/main" id="{BB1E60CC-E612-C45F-7490-1327D4861D01}"/>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8771762"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1" name="Picture 2" descr="W:\UKOMM\GRAFIK\STYLE\Tombstones\Tombs_PNG\NRWWhitehal_d_2008.png">
            <a:extLst>
              <a:ext uri="{FF2B5EF4-FFF2-40B4-BE49-F238E27FC236}">
                <a16:creationId xmlns:a16="http://schemas.microsoft.com/office/drawing/2014/main" id="{87B61A79-CAEF-78DE-133B-66F281A027A2}"/>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5532901"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9" name="Picture 2" descr="W:\UKOMM\GRAFIK\STYLE\Tombstones\Tombs_PNG\BRD_Hessen_FaM_d_2001.png">
            <a:extLst>
              <a:ext uri="{FF2B5EF4-FFF2-40B4-BE49-F238E27FC236}">
                <a16:creationId xmlns:a16="http://schemas.microsoft.com/office/drawing/2014/main" id="{81D74CB7-DB67-0F65-6B77-C826FC6B9CB5}"/>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0940849" y="5944663"/>
            <a:ext cx="1438057"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1" name="Picture 3" descr="W:\UKOMM\GRAFIK\STYLE\Tombstones\Tombs_PNG\FaM_Waldstadion_d_2004.png">
            <a:extLst>
              <a:ext uri="{FF2B5EF4-FFF2-40B4-BE49-F238E27FC236}">
                <a16:creationId xmlns:a16="http://schemas.microsoft.com/office/drawing/2014/main" id="{5E6FB517-0693-EB68-5473-FEFE66D14144}"/>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2549604" y="5944663"/>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2" descr="W:\UKOMM\GRAFIK\STYLE\Tombstones\Tombs_PNG\MA_MVV_d_2013.png">
            <a:extLst>
              <a:ext uri="{FF2B5EF4-FFF2-40B4-BE49-F238E27FC236}">
                <a16:creationId xmlns:a16="http://schemas.microsoft.com/office/drawing/2014/main" id="{58E4E801-0689-A912-B32A-5E9C1EE18763}"/>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7141656" y="2786908"/>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Picture 3" descr="W:\UKOMM\GRAFIK\STYLE\Tombstones\Tombs_PNG\steag_d_2015.png">
            <a:extLst>
              <a:ext uri="{FF2B5EF4-FFF2-40B4-BE49-F238E27FC236}">
                <a16:creationId xmlns:a16="http://schemas.microsoft.com/office/drawing/2014/main" id="{CDC709B5-602A-9680-6CB5-30E643F1C5FF}"/>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3705474" y="4931054"/>
            <a:ext cx="1440000" cy="172673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711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extLst>
              <p:ext uri="{D42A27DB-BD31-4B8C-83A1-F6EECF244321}">
                <p14:modId xmlns:p14="http://schemas.microsoft.com/office/powerpoint/2010/main" val="2480509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a:xfrm>
            <a:off x="381618" y="3616322"/>
            <a:ext cx="9789618" cy="2525713"/>
          </a:xfrm>
        </p:spPr>
        <p:txBody>
          <a:bodyPr vert="horz" lIns="0" tIns="0" rIns="0" bIns="0" rtlCol="0">
            <a:noAutofit/>
          </a:bodyPr>
          <a:lstStyle/>
          <a:p>
            <a:r>
              <a:rPr lang="de-DE" dirty="0"/>
              <a:t>Übersicht und Herausforderungen ESWE Versorgungs AG</a:t>
            </a:r>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2</a:t>
            </a:r>
          </a:p>
        </p:txBody>
      </p:sp>
    </p:spTree>
    <p:extLst>
      <p:ext uri="{BB962C8B-B14F-4D97-AF65-F5344CB8AC3E}">
        <p14:creationId xmlns:p14="http://schemas.microsoft.com/office/powerpoint/2010/main" val="381745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extLst>
              <p:ext uri="{D42A27DB-BD31-4B8C-83A1-F6EECF244321}">
                <p14:modId xmlns:p14="http://schemas.microsoft.com/office/powerpoint/2010/main" val="3412401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vert="horz"/>
          <a:lstStyle/>
          <a:p>
            <a:r>
              <a:rPr lang="de-DE" dirty="0"/>
              <a:t>Die Umsetzung der Kommunalen Wärmeplanung und der Klimaneutralität Wiesbadens bis 2045 erfordert von ESWE erheblich steigende Investitionsmittel</a:t>
            </a:r>
          </a:p>
        </p:txBody>
      </p:sp>
      <p:sp>
        <p:nvSpPr>
          <p:cNvPr id="6" name="Text Placeholder 5"/>
          <p:cNvSpPr>
            <a:spLocks noGrp="1"/>
          </p:cNvSpPr>
          <p:nvPr>
            <p:ph type="body" sz="quarter" idx="13"/>
          </p:nvPr>
        </p:nvSpPr>
        <p:spPr/>
        <p:txBody>
          <a:bodyPr/>
          <a:lstStyle/>
          <a:p>
            <a:r>
              <a:rPr lang="de-DE" dirty="0"/>
              <a:t>2. Übersicht und Herausforderungen ESWE Versorgungs AG</a:t>
            </a:r>
          </a:p>
        </p:txBody>
      </p:sp>
      <p:sp>
        <p:nvSpPr>
          <p:cNvPr id="7" name="Text Placeholder 6"/>
          <p:cNvSpPr>
            <a:spLocks noGrp="1"/>
          </p:cNvSpPr>
          <p:nvPr>
            <p:ph type="body" sz="quarter" idx="14"/>
          </p:nvPr>
        </p:nvSpPr>
        <p:spPr/>
        <p:txBody>
          <a:bodyPr/>
          <a:lstStyle/>
          <a:p>
            <a:r>
              <a:rPr lang="de-DE" dirty="0"/>
              <a:t>Quelle: Geschäftsbericht 2025, Jahresabschlüsse 2021–2024, Unternehmensinformationen, Metzler Research</a:t>
            </a:r>
          </a:p>
        </p:txBody>
      </p:sp>
      <p:sp>
        <p:nvSpPr>
          <p:cNvPr id="2" name="Text Placeholder 1"/>
          <p:cNvSpPr>
            <a:spLocks noGrp="1"/>
          </p:cNvSpPr>
          <p:nvPr>
            <p:ph type="body" sz="quarter" idx="12"/>
          </p:nvPr>
        </p:nvSpPr>
        <p:spPr>
          <a:xfrm>
            <a:off x="378700" y="1243937"/>
            <a:ext cx="9936000" cy="271120"/>
          </a:xfrm>
        </p:spPr>
        <p:txBody>
          <a:bodyPr/>
          <a:lstStyle/>
          <a:p>
            <a:r>
              <a:rPr lang="de-DE" dirty="0"/>
              <a:t>Unser Verständnis der Ausgangslage</a:t>
            </a:r>
          </a:p>
        </p:txBody>
      </p:sp>
      <p:sp>
        <p:nvSpPr>
          <p:cNvPr id="16" name="Text Placeholder 15">
            <a:extLst>
              <a:ext uri="{FF2B5EF4-FFF2-40B4-BE49-F238E27FC236}">
                <a16:creationId xmlns:a16="http://schemas.microsoft.com/office/drawing/2014/main" id="{072640DF-F252-4BE5-A85C-8964B69F7277}"/>
              </a:ext>
            </a:extLst>
          </p:cNvPr>
          <p:cNvSpPr>
            <a:spLocks noGrp="1"/>
          </p:cNvSpPr>
          <p:nvPr>
            <p:ph type="body" sz="quarter" idx="15"/>
          </p:nvPr>
        </p:nvSpPr>
        <p:spPr/>
        <p:txBody>
          <a:bodyPr/>
          <a:lstStyle/>
          <a:p>
            <a:endParaRPr lang="de-DE" dirty="0"/>
          </a:p>
        </p:txBody>
      </p:sp>
      <p:sp>
        <p:nvSpPr>
          <p:cNvPr id="18" name="Rectangle 17">
            <a:extLst>
              <a:ext uri="{FF2B5EF4-FFF2-40B4-BE49-F238E27FC236}">
                <a16:creationId xmlns:a16="http://schemas.microsoft.com/office/drawing/2014/main" id="{AA5EC36B-EA57-4EED-9674-BDBDC9C5B926}"/>
              </a:ext>
            </a:extLst>
          </p:cNvPr>
          <p:cNvSpPr/>
          <p:nvPr/>
        </p:nvSpPr>
        <p:spPr>
          <a:xfrm>
            <a:off x="378149" y="1620837"/>
            <a:ext cx="1241996" cy="4451190"/>
          </a:xfrm>
          <a:prstGeom prst="rect">
            <a:avLst/>
          </a:prstGeom>
          <a:solidFill>
            <a:schemeClr val="accent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540000" rIns="36000" rtlCol="0" anchor="t"/>
          <a:lstStyle/>
          <a:p>
            <a:pPr algn="ctr"/>
            <a:r>
              <a:rPr lang="de-DE" sz="1050" b="1" dirty="0"/>
              <a:t>Ausgangslage</a:t>
            </a:r>
            <a:endParaRPr lang="de-DE" sz="1050" b="1" dirty="0"/>
          </a:p>
        </p:txBody>
      </p:sp>
      <p:grpSp>
        <p:nvGrpSpPr>
          <p:cNvPr id="27" name="Graphic 24">
            <a:extLst>
              <a:ext uri="{FF2B5EF4-FFF2-40B4-BE49-F238E27FC236}">
                <a16:creationId xmlns:a16="http://schemas.microsoft.com/office/drawing/2014/main" id="{C15C8E93-E86D-42EE-9918-FD785C987507}"/>
              </a:ext>
            </a:extLst>
          </p:cNvPr>
          <p:cNvGrpSpPr>
            <a:grpSpLocks noChangeAspect="1"/>
          </p:cNvGrpSpPr>
          <p:nvPr/>
        </p:nvGrpSpPr>
        <p:grpSpPr>
          <a:xfrm>
            <a:off x="711600" y="3792848"/>
            <a:ext cx="575095" cy="707863"/>
            <a:chOff x="3412238" y="1399652"/>
            <a:chExt cx="3868953" cy="4762137"/>
          </a:xfrm>
          <a:solidFill>
            <a:schemeClr val="bg1"/>
          </a:solidFill>
        </p:grpSpPr>
        <p:sp>
          <p:nvSpPr>
            <p:cNvPr id="29" name="Freeform: Shape 28">
              <a:extLst>
                <a:ext uri="{FF2B5EF4-FFF2-40B4-BE49-F238E27FC236}">
                  <a16:creationId xmlns:a16="http://schemas.microsoft.com/office/drawing/2014/main" id="{C7C5F3D8-7F34-4C2D-BE58-A9C954F642E4}"/>
                </a:ext>
              </a:extLst>
            </p:cNvPr>
            <p:cNvSpPr/>
            <p:nvPr/>
          </p:nvSpPr>
          <p:spPr>
            <a:xfrm>
              <a:off x="3412238" y="1399652"/>
              <a:ext cx="3868953" cy="4762137"/>
            </a:xfrm>
            <a:custGeom>
              <a:avLst/>
              <a:gdLst>
                <a:gd name="connsiteX0" fmla="*/ 3866490 w 3868953"/>
                <a:gd name="connsiteY0" fmla="*/ 800549 h 4762137"/>
                <a:gd name="connsiteX1" fmla="*/ 3843698 w 3868953"/>
                <a:gd name="connsiteY1" fmla="*/ 762694 h 4762137"/>
                <a:gd name="connsiteX2" fmla="*/ 2998223 w 3868953"/>
                <a:gd name="connsiteY2" fmla="*/ 18666 h 4762137"/>
                <a:gd name="connsiteX3" fmla="*/ 2998223 w 3868953"/>
                <a:gd name="connsiteY3" fmla="*/ 18690 h 4762137"/>
                <a:gd name="connsiteX4" fmla="*/ 2949069 w 3868953"/>
                <a:gd name="connsiteY4" fmla="*/ 132 h 4762137"/>
                <a:gd name="connsiteX5" fmla="*/ 243523 w 3868953"/>
                <a:gd name="connsiteY5" fmla="*/ 132 h 4762137"/>
                <a:gd name="connsiteX6" fmla="*/ 72903 w 3868953"/>
                <a:gd name="connsiteY6" fmla="*/ 65209 h 4762137"/>
                <a:gd name="connsiteX7" fmla="*/ 0 w 3868953"/>
                <a:gd name="connsiteY7" fmla="*/ 232628 h 4762137"/>
                <a:gd name="connsiteX8" fmla="*/ 0 w 3868953"/>
                <a:gd name="connsiteY8" fmla="*/ 4548030 h 4762137"/>
                <a:gd name="connsiteX9" fmla="*/ 243523 w 3868953"/>
                <a:gd name="connsiteY9" fmla="*/ 4761944 h 4762137"/>
                <a:gd name="connsiteX10" fmla="*/ 3625424 w 3868953"/>
                <a:gd name="connsiteY10" fmla="*/ 4761944 h 4762137"/>
                <a:gd name="connsiteX11" fmla="*/ 3793215 w 3868953"/>
                <a:gd name="connsiteY11" fmla="*/ 4700558 h 4762137"/>
                <a:gd name="connsiteX12" fmla="*/ 3868953 w 3868953"/>
                <a:gd name="connsiteY12" fmla="*/ 4538722 h 4762137"/>
                <a:gd name="connsiteX13" fmla="*/ 3868953 w 3868953"/>
                <a:gd name="connsiteY13" fmla="*/ 818581 h 4762137"/>
                <a:gd name="connsiteX14" fmla="*/ 3866492 w 3868953"/>
                <a:gd name="connsiteY14" fmla="*/ 800588 h 4762137"/>
                <a:gd name="connsiteX15" fmla="*/ 3589023 w 3868953"/>
                <a:gd name="connsiteY15" fmla="*/ 744160 h 4762137"/>
                <a:gd name="connsiteX16" fmla="*/ 3080264 w 3868953"/>
                <a:gd name="connsiteY16" fmla="*/ 744160 h 4762137"/>
                <a:gd name="connsiteX17" fmla="*/ 2976101 w 3868953"/>
                <a:gd name="connsiteY17" fmla="*/ 669751 h 4762137"/>
                <a:gd name="connsiteX18" fmla="*/ 2976101 w 3868953"/>
                <a:gd name="connsiteY18" fmla="*/ 233378 h 4762137"/>
                <a:gd name="connsiteX19" fmla="*/ 3625426 w 3868953"/>
                <a:gd name="connsiteY19" fmla="*/ 4613133 h 4762137"/>
                <a:gd name="connsiteX20" fmla="*/ 243525 w 3868953"/>
                <a:gd name="connsiteY20" fmla="*/ 4613108 h 4762137"/>
                <a:gd name="connsiteX21" fmla="*/ 148814 w 3868953"/>
                <a:gd name="connsiteY21" fmla="*/ 4548006 h 4762137"/>
                <a:gd name="connsiteX22" fmla="*/ 148814 w 3868953"/>
                <a:gd name="connsiteY22" fmla="*/ 232603 h 4762137"/>
                <a:gd name="connsiteX23" fmla="*/ 178375 w 3868953"/>
                <a:gd name="connsiteY23" fmla="*/ 170627 h 4762137"/>
                <a:gd name="connsiteX24" fmla="*/ 243528 w 3868953"/>
                <a:gd name="connsiteY24" fmla="*/ 148918 h 4762137"/>
                <a:gd name="connsiteX25" fmla="*/ 2827337 w 3868953"/>
                <a:gd name="connsiteY25" fmla="*/ 148918 h 4762137"/>
                <a:gd name="connsiteX26" fmla="*/ 2827337 w 3868953"/>
                <a:gd name="connsiteY26" fmla="*/ 669738 h 4762137"/>
                <a:gd name="connsiteX27" fmla="*/ 3080293 w 3868953"/>
                <a:gd name="connsiteY27" fmla="*/ 892959 h 4762137"/>
                <a:gd name="connsiteX28" fmla="*/ 3720165 w 3868953"/>
                <a:gd name="connsiteY28" fmla="*/ 892934 h 4762137"/>
                <a:gd name="connsiteX29" fmla="*/ 3720165 w 3868953"/>
                <a:gd name="connsiteY29" fmla="*/ 4538660 h 4762137"/>
                <a:gd name="connsiteX30" fmla="*/ 3625454 w 3868953"/>
                <a:gd name="connsiteY30" fmla="*/ 4613069 h 476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68953" h="4762137">
                  <a:moveTo>
                    <a:pt x="3866490" y="800549"/>
                  </a:moveTo>
                  <a:cubicBezTo>
                    <a:pt x="3862749" y="785978"/>
                    <a:pt x="3854823" y="772810"/>
                    <a:pt x="3843698" y="762694"/>
                  </a:cubicBezTo>
                  <a:lnTo>
                    <a:pt x="2998223" y="18666"/>
                  </a:lnTo>
                  <a:lnTo>
                    <a:pt x="2998223" y="18690"/>
                  </a:lnTo>
                  <a:cubicBezTo>
                    <a:pt x="2984636" y="6728"/>
                    <a:pt x="2967160" y="132"/>
                    <a:pt x="2949069" y="132"/>
                  </a:cubicBezTo>
                  <a:lnTo>
                    <a:pt x="243523" y="132"/>
                  </a:lnTo>
                  <a:cubicBezTo>
                    <a:pt x="180216" y="-1985"/>
                    <a:pt x="118706" y="21472"/>
                    <a:pt x="72903" y="65209"/>
                  </a:cubicBezTo>
                  <a:cubicBezTo>
                    <a:pt x="27101" y="108947"/>
                    <a:pt x="813" y="169302"/>
                    <a:pt x="0" y="232628"/>
                  </a:cubicBezTo>
                  <a:lnTo>
                    <a:pt x="0" y="4548030"/>
                  </a:lnTo>
                  <a:cubicBezTo>
                    <a:pt x="0" y="4663982"/>
                    <a:pt x="111522" y="4761944"/>
                    <a:pt x="243523" y="4761944"/>
                  </a:cubicBezTo>
                  <a:lnTo>
                    <a:pt x="3625424" y="4761944"/>
                  </a:lnTo>
                  <a:cubicBezTo>
                    <a:pt x="3687278" y="4764455"/>
                    <a:pt x="3747583" y="4742377"/>
                    <a:pt x="3793215" y="4700558"/>
                  </a:cubicBezTo>
                  <a:cubicBezTo>
                    <a:pt x="3838848" y="4658740"/>
                    <a:pt x="3866068" y="4600554"/>
                    <a:pt x="3868953" y="4538722"/>
                  </a:cubicBezTo>
                  <a:lnTo>
                    <a:pt x="3868953" y="818581"/>
                  </a:lnTo>
                  <a:cubicBezTo>
                    <a:pt x="3868904" y="812501"/>
                    <a:pt x="3868092" y="806471"/>
                    <a:pt x="3866492" y="800588"/>
                  </a:cubicBezTo>
                  <a:close/>
                  <a:moveTo>
                    <a:pt x="3589023" y="744160"/>
                  </a:moveTo>
                  <a:lnTo>
                    <a:pt x="3080264" y="744160"/>
                  </a:lnTo>
                  <a:cubicBezTo>
                    <a:pt x="3023800" y="744160"/>
                    <a:pt x="2976101" y="710070"/>
                    <a:pt x="2976101" y="669751"/>
                  </a:cubicBezTo>
                  <a:lnTo>
                    <a:pt x="2976101" y="233378"/>
                  </a:lnTo>
                  <a:close/>
                  <a:moveTo>
                    <a:pt x="3625426" y="4613133"/>
                  </a:moveTo>
                  <a:lnTo>
                    <a:pt x="243525" y="4613108"/>
                  </a:lnTo>
                  <a:cubicBezTo>
                    <a:pt x="191049" y="4613108"/>
                    <a:pt x="148814" y="4577493"/>
                    <a:pt x="148814" y="4548006"/>
                  </a:cubicBezTo>
                  <a:lnTo>
                    <a:pt x="148814" y="232603"/>
                  </a:lnTo>
                  <a:cubicBezTo>
                    <a:pt x="149823" y="208802"/>
                    <a:pt x="160506" y="186404"/>
                    <a:pt x="178375" y="170627"/>
                  </a:cubicBezTo>
                  <a:cubicBezTo>
                    <a:pt x="196244" y="154825"/>
                    <a:pt x="219750" y="146998"/>
                    <a:pt x="243528" y="148918"/>
                  </a:cubicBezTo>
                  <a:lnTo>
                    <a:pt x="2827337" y="148918"/>
                  </a:lnTo>
                  <a:lnTo>
                    <a:pt x="2827337" y="669738"/>
                  </a:lnTo>
                  <a:cubicBezTo>
                    <a:pt x="2827337" y="792829"/>
                    <a:pt x="2940832" y="892959"/>
                    <a:pt x="3080293" y="892959"/>
                  </a:cubicBezTo>
                  <a:lnTo>
                    <a:pt x="3720165" y="892934"/>
                  </a:lnTo>
                  <a:lnTo>
                    <a:pt x="3720165" y="4538660"/>
                  </a:lnTo>
                  <a:cubicBezTo>
                    <a:pt x="3713347" y="4584688"/>
                    <a:pt x="3671775" y="4617348"/>
                    <a:pt x="3625454" y="4613069"/>
                  </a:cubicBezTo>
                  <a:close/>
                </a:path>
              </a:pathLst>
            </a:custGeom>
            <a:grpFill/>
            <a:ln w="6294" cap="flat">
              <a:noFill/>
              <a:prstDash val="solid"/>
              <a:miter/>
            </a:ln>
          </p:spPr>
          <p:txBody>
            <a:bodyPr rtlCol="0" anchor="ctr"/>
            <a:lstStyle/>
            <a:p>
              <a:endParaRPr lang="de-DE"/>
            </a:p>
          </p:txBody>
        </p:sp>
        <p:sp>
          <p:nvSpPr>
            <p:cNvPr id="30" name="Freeform: Shape 29">
              <a:extLst>
                <a:ext uri="{FF2B5EF4-FFF2-40B4-BE49-F238E27FC236}">
                  <a16:creationId xmlns:a16="http://schemas.microsoft.com/office/drawing/2014/main" id="{595B8A8F-AF3B-4BC6-9534-24EF2387E0E2}"/>
                </a:ext>
              </a:extLst>
            </p:cNvPr>
            <p:cNvSpPr/>
            <p:nvPr/>
          </p:nvSpPr>
          <p:spPr>
            <a:xfrm>
              <a:off x="3858649" y="1883359"/>
              <a:ext cx="1785705" cy="148793"/>
            </a:xfrm>
            <a:custGeom>
              <a:avLst/>
              <a:gdLst>
                <a:gd name="connsiteX0" fmla="*/ 74409 w 1785705"/>
                <a:gd name="connsiteY0" fmla="*/ 148793 h 148793"/>
                <a:gd name="connsiteX1" fmla="*/ 1711297 w 1785705"/>
                <a:gd name="connsiteY1" fmla="*/ 148793 h 148793"/>
                <a:gd name="connsiteX2" fmla="*/ 1785706 w 1785705"/>
                <a:gd name="connsiteY2" fmla="*/ 74384 h 148793"/>
                <a:gd name="connsiteX3" fmla="*/ 1711297 w 1785705"/>
                <a:gd name="connsiteY3" fmla="*/ 0 h 148793"/>
                <a:gd name="connsiteX4" fmla="*/ 74409 w 1785705"/>
                <a:gd name="connsiteY4" fmla="*/ 0 h 148793"/>
                <a:gd name="connsiteX5" fmla="*/ 0 w 1785705"/>
                <a:gd name="connsiteY5" fmla="*/ 74384 h 148793"/>
                <a:gd name="connsiteX6" fmla="*/ 74409 w 1785705"/>
                <a:gd name="connsiteY6" fmla="*/ 148793 h 14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5705" h="148793">
                  <a:moveTo>
                    <a:pt x="74409" y="148793"/>
                  </a:moveTo>
                  <a:lnTo>
                    <a:pt x="1711297" y="148793"/>
                  </a:lnTo>
                  <a:cubicBezTo>
                    <a:pt x="1752376" y="148793"/>
                    <a:pt x="1785706" y="115491"/>
                    <a:pt x="1785706" y="74384"/>
                  </a:cubicBezTo>
                  <a:cubicBezTo>
                    <a:pt x="1785706" y="33304"/>
                    <a:pt x="1752379" y="0"/>
                    <a:pt x="1711297" y="0"/>
                  </a:cubicBezTo>
                  <a:lnTo>
                    <a:pt x="74409" y="0"/>
                  </a:lnTo>
                  <a:cubicBezTo>
                    <a:pt x="33329" y="0"/>
                    <a:pt x="0" y="33302"/>
                    <a:pt x="0" y="74384"/>
                  </a:cubicBezTo>
                  <a:cubicBezTo>
                    <a:pt x="0" y="115488"/>
                    <a:pt x="33327" y="148793"/>
                    <a:pt x="74409" y="148793"/>
                  </a:cubicBezTo>
                  <a:close/>
                </a:path>
              </a:pathLst>
            </a:custGeom>
            <a:grpFill/>
            <a:ln w="6294" cap="flat">
              <a:noFill/>
              <a:prstDash val="solid"/>
              <a:miter/>
            </a:ln>
          </p:spPr>
          <p:txBody>
            <a:bodyPr rtlCol="0" anchor="ctr"/>
            <a:lstStyle/>
            <a:p>
              <a:endParaRPr lang="de-DE"/>
            </a:p>
          </p:txBody>
        </p:sp>
        <p:sp>
          <p:nvSpPr>
            <p:cNvPr id="32" name="Freeform: Shape 31">
              <a:extLst>
                <a:ext uri="{FF2B5EF4-FFF2-40B4-BE49-F238E27FC236}">
                  <a16:creationId xmlns:a16="http://schemas.microsoft.com/office/drawing/2014/main" id="{D464D5A4-98C2-4360-83CB-720EFCA30D8A}"/>
                </a:ext>
              </a:extLst>
            </p:cNvPr>
            <p:cNvSpPr/>
            <p:nvPr/>
          </p:nvSpPr>
          <p:spPr>
            <a:xfrm>
              <a:off x="3858686" y="4115392"/>
              <a:ext cx="520861" cy="371329"/>
            </a:xfrm>
            <a:custGeom>
              <a:avLst/>
              <a:gdLst>
                <a:gd name="connsiteX0" fmla="*/ 399380 w 520861"/>
                <a:gd name="connsiteY0" fmla="*/ 16774 h 371329"/>
                <a:gd name="connsiteX1" fmla="*/ 183985 w 520861"/>
                <a:gd name="connsiteY1" fmla="*/ 192290 h 371329"/>
                <a:gd name="connsiteX2" fmla="*/ 132715 w 520861"/>
                <a:gd name="connsiteY2" fmla="*/ 127509 h 371329"/>
                <a:gd name="connsiteX3" fmla="*/ 132740 w 520861"/>
                <a:gd name="connsiteY3" fmla="*/ 127509 h 371329"/>
                <a:gd name="connsiteX4" fmla="*/ 28256 w 520861"/>
                <a:gd name="connsiteY4" fmla="*/ 115301 h 371329"/>
                <a:gd name="connsiteX5" fmla="*/ 16047 w 520861"/>
                <a:gd name="connsiteY5" fmla="*/ 219785 h 371329"/>
                <a:gd name="connsiteX6" fmla="*/ 114104 w 520861"/>
                <a:gd name="connsiteY6" fmla="*/ 343789 h 371329"/>
                <a:gd name="connsiteX7" fmla="*/ 114080 w 520861"/>
                <a:gd name="connsiteY7" fmla="*/ 343789 h 371329"/>
                <a:gd name="connsiteX8" fmla="*/ 219452 w 520861"/>
                <a:gd name="connsiteY8" fmla="*/ 355333 h 371329"/>
                <a:gd name="connsiteX9" fmla="*/ 493422 w 520861"/>
                <a:gd name="connsiteY9" fmla="*/ 132112 h 371329"/>
                <a:gd name="connsiteX10" fmla="*/ 493397 w 520861"/>
                <a:gd name="connsiteY10" fmla="*/ 132112 h 371329"/>
                <a:gd name="connsiteX11" fmla="*/ 520472 w 520861"/>
                <a:gd name="connsiteY11" fmla="*/ 81975 h 371329"/>
                <a:gd name="connsiteX12" fmla="*/ 504129 w 520861"/>
                <a:gd name="connsiteY12" fmla="*/ 27381 h 371329"/>
                <a:gd name="connsiteX13" fmla="*/ 453967 w 520861"/>
                <a:gd name="connsiteY13" fmla="*/ 380 h 371329"/>
                <a:gd name="connsiteX14" fmla="*/ 399398 w 520861"/>
                <a:gd name="connsiteY14" fmla="*/ 16773 h 371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329">
                  <a:moveTo>
                    <a:pt x="399380" y="16774"/>
                  </a:moveTo>
                  <a:lnTo>
                    <a:pt x="183985" y="192290"/>
                  </a:lnTo>
                  <a:lnTo>
                    <a:pt x="132715" y="127509"/>
                  </a:lnTo>
                  <a:lnTo>
                    <a:pt x="132740" y="127509"/>
                  </a:lnTo>
                  <a:cubicBezTo>
                    <a:pt x="107240" y="95290"/>
                    <a:pt x="60473" y="89825"/>
                    <a:pt x="28256" y="115301"/>
                  </a:cubicBezTo>
                  <a:cubicBezTo>
                    <a:pt x="-3964" y="140776"/>
                    <a:pt x="-9452" y="187568"/>
                    <a:pt x="16047" y="219785"/>
                  </a:cubicBezTo>
                  <a:lnTo>
                    <a:pt x="114104" y="343789"/>
                  </a:lnTo>
                  <a:lnTo>
                    <a:pt x="114080" y="343789"/>
                  </a:lnTo>
                  <a:cubicBezTo>
                    <a:pt x="140343" y="375418"/>
                    <a:pt x="186958" y="380537"/>
                    <a:pt x="219452" y="355333"/>
                  </a:cubicBezTo>
                  <a:lnTo>
                    <a:pt x="493422" y="132112"/>
                  </a:lnTo>
                  <a:lnTo>
                    <a:pt x="493397" y="132112"/>
                  </a:lnTo>
                  <a:cubicBezTo>
                    <a:pt x="508732" y="119657"/>
                    <a:pt x="518454" y="101616"/>
                    <a:pt x="520472" y="81975"/>
                  </a:cubicBezTo>
                  <a:cubicBezTo>
                    <a:pt x="522491" y="62333"/>
                    <a:pt x="516608" y="42691"/>
                    <a:pt x="504129" y="27381"/>
                  </a:cubicBezTo>
                  <a:cubicBezTo>
                    <a:pt x="491649" y="12096"/>
                    <a:pt x="473608" y="2374"/>
                    <a:pt x="453967" y="380"/>
                  </a:cubicBezTo>
                  <a:cubicBezTo>
                    <a:pt x="434300" y="-1614"/>
                    <a:pt x="414683" y="4294"/>
                    <a:pt x="399398" y="16773"/>
                  </a:cubicBezTo>
                  <a:close/>
                </a:path>
              </a:pathLst>
            </a:custGeom>
            <a:grpFill/>
            <a:ln w="6294" cap="flat">
              <a:noFill/>
              <a:prstDash val="solid"/>
              <a:miter/>
            </a:ln>
          </p:spPr>
          <p:txBody>
            <a:bodyPr rtlCol="0" anchor="ctr"/>
            <a:lstStyle/>
            <a:p>
              <a:endParaRPr lang="de-DE"/>
            </a:p>
          </p:txBody>
        </p:sp>
        <p:sp>
          <p:nvSpPr>
            <p:cNvPr id="48" name="Freeform: Shape 47">
              <a:extLst>
                <a:ext uri="{FF2B5EF4-FFF2-40B4-BE49-F238E27FC236}">
                  <a16:creationId xmlns:a16="http://schemas.microsoft.com/office/drawing/2014/main" id="{29F96764-916E-433A-8619-8094CA3B62D8}"/>
                </a:ext>
              </a:extLst>
            </p:cNvPr>
            <p:cNvSpPr/>
            <p:nvPr/>
          </p:nvSpPr>
          <p:spPr>
            <a:xfrm>
              <a:off x="3858686" y="4710652"/>
              <a:ext cx="520861" cy="371511"/>
            </a:xfrm>
            <a:custGeom>
              <a:avLst/>
              <a:gdLst>
                <a:gd name="connsiteX0" fmla="*/ 399380 w 520861"/>
                <a:gd name="connsiteY0" fmla="*/ 16775 h 371511"/>
                <a:gd name="connsiteX1" fmla="*/ 183985 w 520861"/>
                <a:gd name="connsiteY1" fmla="*/ 192291 h 371511"/>
                <a:gd name="connsiteX2" fmla="*/ 132715 w 520861"/>
                <a:gd name="connsiteY2" fmla="*/ 127510 h 371511"/>
                <a:gd name="connsiteX3" fmla="*/ 132740 w 520861"/>
                <a:gd name="connsiteY3" fmla="*/ 127510 h 371511"/>
                <a:gd name="connsiteX4" fmla="*/ 28256 w 520861"/>
                <a:gd name="connsiteY4" fmla="*/ 115301 h 371511"/>
                <a:gd name="connsiteX5" fmla="*/ 16047 w 520861"/>
                <a:gd name="connsiteY5" fmla="*/ 219786 h 371511"/>
                <a:gd name="connsiteX6" fmla="*/ 114104 w 520861"/>
                <a:gd name="connsiteY6" fmla="*/ 343790 h 371511"/>
                <a:gd name="connsiteX7" fmla="*/ 114080 w 520861"/>
                <a:gd name="connsiteY7" fmla="*/ 343790 h 371511"/>
                <a:gd name="connsiteX8" fmla="*/ 219452 w 520861"/>
                <a:gd name="connsiteY8" fmla="*/ 355334 h 371511"/>
                <a:gd name="connsiteX9" fmla="*/ 493422 w 520861"/>
                <a:gd name="connsiteY9" fmla="*/ 132113 h 371511"/>
                <a:gd name="connsiteX10" fmla="*/ 493397 w 520861"/>
                <a:gd name="connsiteY10" fmla="*/ 132113 h 371511"/>
                <a:gd name="connsiteX11" fmla="*/ 520472 w 520861"/>
                <a:gd name="connsiteY11" fmla="*/ 81975 h 371511"/>
                <a:gd name="connsiteX12" fmla="*/ 504129 w 520861"/>
                <a:gd name="connsiteY12" fmla="*/ 27382 h 371511"/>
                <a:gd name="connsiteX13" fmla="*/ 453967 w 520861"/>
                <a:gd name="connsiteY13" fmla="*/ 381 h 371511"/>
                <a:gd name="connsiteX14" fmla="*/ 399398 w 520861"/>
                <a:gd name="connsiteY14" fmla="*/ 16774 h 371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511">
                  <a:moveTo>
                    <a:pt x="399380" y="16775"/>
                  </a:moveTo>
                  <a:lnTo>
                    <a:pt x="183985" y="192291"/>
                  </a:lnTo>
                  <a:lnTo>
                    <a:pt x="132715" y="127510"/>
                  </a:lnTo>
                  <a:lnTo>
                    <a:pt x="132740" y="127510"/>
                  </a:lnTo>
                  <a:cubicBezTo>
                    <a:pt x="107240" y="95291"/>
                    <a:pt x="60473" y="89802"/>
                    <a:pt x="28256" y="115301"/>
                  </a:cubicBezTo>
                  <a:cubicBezTo>
                    <a:pt x="-3964" y="140777"/>
                    <a:pt x="-9452" y="187568"/>
                    <a:pt x="16047" y="219786"/>
                  </a:cubicBezTo>
                  <a:lnTo>
                    <a:pt x="114104" y="343790"/>
                  </a:lnTo>
                  <a:lnTo>
                    <a:pt x="114080" y="343790"/>
                  </a:lnTo>
                  <a:cubicBezTo>
                    <a:pt x="140219" y="375665"/>
                    <a:pt x="187033" y="380784"/>
                    <a:pt x="219452" y="355334"/>
                  </a:cubicBezTo>
                  <a:lnTo>
                    <a:pt x="493422" y="132113"/>
                  </a:lnTo>
                  <a:lnTo>
                    <a:pt x="493397" y="132113"/>
                  </a:lnTo>
                  <a:cubicBezTo>
                    <a:pt x="508732" y="119658"/>
                    <a:pt x="518454" y="101617"/>
                    <a:pt x="520472" y="81975"/>
                  </a:cubicBezTo>
                  <a:cubicBezTo>
                    <a:pt x="522491" y="62334"/>
                    <a:pt x="516608" y="42692"/>
                    <a:pt x="504129" y="27382"/>
                  </a:cubicBezTo>
                  <a:cubicBezTo>
                    <a:pt x="491649" y="12072"/>
                    <a:pt x="473608" y="2375"/>
                    <a:pt x="453967" y="381"/>
                  </a:cubicBezTo>
                  <a:cubicBezTo>
                    <a:pt x="434300" y="-1613"/>
                    <a:pt x="414683" y="4270"/>
                    <a:pt x="399398" y="16774"/>
                  </a:cubicBezTo>
                  <a:close/>
                </a:path>
              </a:pathLst>
            </a:custGeom>
            <a:grpFill/>
            <a:ln w="6294" cap="flat">
              <a:noFill/>
              <a:prstDash val="solid"/>
              <a:miter/>
            </a:ln>
          </p:spPr>
          <p:txBody>
            <a:bodyPr rtlCol="0" anchor="ctr"/>
            <a:lstStyle/>
            <a:p>
              <a:endParaRPr lang="de-DE"/>
            </a:p>
          </p:txBody>
        </p:sp>
        <p:sp>
          <p:nvSpPr>
            <p:cNvPr id="50" name="Freeform: Shape 49">
              <a:extLst>
                <a:ext uri="{FF2B5EF4-FFF2-40B4-BE49-F238E27FC236}">
                  <a16:creationId xmlns:a16="http://schemas.microsoft.com/office/drawing/2014/main" id="{77947B76-9174-4D63-9C69-7712F841197D}"/>
                </a:ext>
              </a:extLst>
            </p:cNvPr>
            <p:cNvSpPr/>
            <p:nvPr/>
          </p:nvSpPr>
          <p:spPr>
            <a:xfrm>
              <a:off x="4602740" y="5305927"/>
              <a:ext cx="2232072" cy="148818"/>
            </a:xfrm>
            <a:custGeom>
              <a:avLst/>
              <a:gdLst>
                <a:gd name="connsiteX0" fmla="*/ 2157663 w 2232072"/>
                <a:gd name="connsiteY0" fmla="*/ 0 h 148818"/>
                <a:gd name="connsiteX1" fmla="*/ 74409 w 2232072"/>
                <a:gd name="connsiteY1" fmla="*/ 0 h 148818"/>
                <a:gd name="connsiteX2" fmla="*/ 0 w 2232072"/>
                <a:gd name="connsiteY2" fmla="*/ 74409 h 148818"/>
                <a:gd name="connsiteX3" fmla="*/ 74409 w 2232072"/>
                <a:gd name="connsiteY3" fmla="*/ 148818 h 148818"/>
                <a:gd name="connsiteX4" fmla="*/ 2157663 w 2232072"/>
                <a:gd name="connsiteY4" fmla="*/ 148818 h 148818"/>
                <a:gd name="connsiteX5" fmla="*/ 2232072 w 2232072"/>
                <a:gd name="connsiteY5" fmla="*/ 74409 h 148818"/>
                <a:gd name="connsiteX6" fmla="*/ 2157663 w 2232072"/>
                <a:gd name="connsiteY6"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2072" h="148818">
                  <a:moveTo>
                    <a:pt x="2157663" y="0"/>
                  </a:moveTo>
                  <a:lnTo>
                    <a:pt x="74409" y="0"/>
                  </a:lnTo>
                  <a:cubicBezTo>
                    <a:pt x="33305" y="0"/>
                    <a:pt x="0" y="33302"/>
                    <a:pt x="0" y="74409"/>
                  </a:cubicBezTo>
                  <a:cubicBezTo>
                    <a:pt x="0" y="115489"/>
                    <a:pt x="33302" y="148818"/>
                    <a:pt x="74409" y="148818"/>
                  </a:cubicBezTo>
                  <a:lnTo>
                    <a:pt x="2157663" y="148818"/>
                  </a:lnTo>
                  <a:cubicBezTo>
                    <a:pt x="2198743" y="148818"/>
                    <a:pt x="2232072" y="115491"/>
                    <a:pt x="2232072" y="74409"/>
                  </a:cubicBezTo>
                  <a:cubicBezTo>
                    <a:pt x="2232072" y="33305"/>
                    <a:pt x="2198745" y="0"/>
                    <a:pt x="2157663" y="0"/>
                  </a:cubicBezTo>
                  <a:close/>
                </a:path>
              </a:pathLst>
            </a:custGeom>
            <a:grpFill/>
            <a:ln w="6294" cap="flat">
              <a:noFill/>
              <a:prstDash val="solid"/>
              <a:miter/>
            </a:ln>
          </p:spPr>
          <p:txBody>
            <a:bodyPr rtlCol="0" anchor="ctr"/>
            <a:lstStyle/>
            <a:p>
              <a:endParaRPr lang="de-DE"/>
            </a:p>
          </p:txBody>
        </p:sp>
        <p:sp>
          <p:nvSpPr>
            <p:cNvPr id="51" name="Freeform: Shape 50">
              <a:extLst>
                <a:ext uri="{FF2B5EF4-FFF2-40B4-BE49-F238E27FC236}">
                  <a16:creationId xmlns:a16="http://schemas.microsoft.com/office/drawing/2014/main" id="{88EF27B2-1F6D-4CB0-B34D-EB233E940B77}"/>
                </a:ext>
              </a:extLst>
            </p:cNvPr>
            <p:cNvSpPr/>
            <p:nvPr/>
          </p:nvSpPr>
          <p:spPr>
            <a:xfrm>
              <a:off x="3858686" y="5305850"/>
              <a:ext cx="520861" cy="371821"/>
            </a:xfrm>
            <a:custGeom>
              <a:avLst/>
              <a:gdLst>
                <a:gd name="connsiteX0" fmla="*/ 399380 w 520861"/>
                <a:gd name="connsiteY0" fmla="*/ 16775 h 371821"/>
                <a:gd name="connsiteX1" fmla="*/ 183985 w 520861"/>
                <a:gd name="connsiteY1" fmla="*/ 192291 h 371821"/>
                <a:gd name="connsiteX2" fmla="*/ 132715 w 520861"/>
                <a:gd name="connsiteY2" fmla="*/ 127510 h 371821"/>
                <a:gd name="connsiteX3" fmla="*/ 132740 w 520861"/>
                <a:gd name="connsiteY3" fmla="*/ 127510 h 371821"/>
                <a:gd name="connsiteX4" fmla="*/ 28256 w 520861"/>
                <a:gd name="connsiteY4" fmla="*/ 115301 h 371821"/>
                <a:gd name="connsiteX5" fmla="*/ 16047 w 520861"/>
                <a:gd name="connsiteY5" fmla="*/ 219785 h 371821"/>
                <a:gd name="connsiteX6" fmla="*/ 114104 w 520861"/>
                <a:gd name="connsiteY6" fmla="*/ 343790 h 371821"/>
                <a:gd name="connsiteX7" fmla="*/ 114080 w 520861"/>
                <a:gd name="connsiteY7" fmla="*/ 343790 h 371821"/>
                <a:gd name="connsiteX8" fmla="*/ 219452 w 520861"/>
                <a:gd name="connsiteY8" fmla="*/ 355334 h 371821"/>
                <a:gd name="connsiteX9" fmla="*/ 493422 w 520861"/>
                <a:gd name="connsiteY9" fmla="*/ 132112 h 371821"/>
                <a:gd name="connsiteX10" fmla="*/ 493397 w 520861"/>
                <a:gd name="connsiteY10" fmla="*/ 132112 h 371821"/>
                <a:gd name="connsiteX11" fmla="*/ 520472 w 520861"/>
                <a:gd name="connsiteY11" fmla="*/ 81975 h 371821"/>
                <a:gd name="connsiteX12" fmla="*/ 504129 w 520861"/>
                <a:gd name="connsiteY12" fmla="*/ 27382 h 371821"/>
                <a:gd name="connsiteX13" fmla="*/ 453967 w 520861"/>
                <a:gd name="connsiteY13" fmla="*/ 381 h 371821"/>
                <a:gd name="connsiteX14" fmla="*/ 399374 w 520861"/>
                <a:gd name="connsiteY14" fmla="*/ 16774 h 37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821">
                  <a:moveTo>
                    <a:pt x="399380" y="16775"/>
                  </a:moveTo>
                  <a:lnTo>
                    <a:pt x="183985" y="192291"/>
                  </a:lnTo>
                  <a:lnTo>
                    <a:pt x="132715" y="127510"/>
                  </a:lnTo>
                  <a:lnTo>
                    <a:pt x="132740" y="127510"/>
                  </a:lnTo>
                  <a:cubicBezTo>
                    <a:pt x="107240" y="95266"/>
                    <a:pt x="60473" y="89801"/>
                    <a:pt x="28256" y="115301"/>
                  </a:cubicBezTo>
                  <a:cubicBezTo>
                    <a:pt x="-3964" y="140776"/>
                    <a:pt x="-9452" y="187543"/>
                    <a:pt x="16047" y="219785"/>
                  </a:cubicBezTo>
                  <a:lnTo>
                    <a:pt x="114104" y="343790"/>
                  </a:lnTo>
                  <a:lnTo>
                    <a:pt x="114080" y="343790"/>
                  </a:lnTo>
                  <a:cubicBezTo>
                    <a:pt x="139998" y="376059"/>
                    <a:pt x="187159" y="381227"/>
                    <a:pt x="219452" y="355334"/>
                  </a:cubicBezTo>
                  <a:lnTo>
                    <a:pt x="493422" y="132112"/>
                  </a:lnTo>
                  <a:lnTo>
                    <a:pt x="493397" y="132112"/>
                  </a:lnTo>
                  <a:cubicBezTo>
                    <a:pt x="508732" y="119658"/>
                    <a:pt x="518454" y="101617"/>
                    <a:pt x="520472" y="81975"/>
                  </a:cubicBezTo>
                  <a:cubicBezTo>
                    <a:pt x="522491" y="62334"/>
                    <a:pt x="516608" y="42692"/>
                    <a:pt x="504129" y="27382"/>
                  </a:cubicBezTo>
                  <a:cubicBezTo>
                    <a:pt x="491649" y="12072"/>
                    <a:pt x="473608" y="2350"/>
                    <a:pt x="453967" y="381"/>
                  </a:cubicBezTo>
                  <a:cubicBezTo>
                    <a:pt x="434300" y="-1613"/>
                    <a:pt x="414683" y="4270"/>
                    <a:pt x="399374" y="16774"/>
                  </a:cubicBezTo>
                  <a:close/>
                </a:path>
              </a:pathLst>
            </a:custGeom>
            <a:grpFill/>
            <a:ln w="6294" cap="flat">
              <a:noFill/>
              <a:prstDash val="solid"/>
              <a:miter/>
            </a:ln>
          </p:spPr>
          <p:txBody>
            <a:bodyPr rtlCol="0" anchor="ctr"/>
            <a:lstStyle/>
            <a:p>
              <a:endParaRPr lang="de-DE"/>
            </a:p>
          </p:txBody>
        </p:sp>
        <p:sp>
          <p:nvSpPr>
            <p:cNvPr id="52" name="Freeform: Shape 51">
              <a:extLst>
                <a:ext uri="{FF2B5EF4-FFF2-40B4-BE49-F238E27FC236}">
                  <a16:creationId xmlns:a16="http://schemas.microsoft.com/office/drawing/2014/main" id="{EE5E53CA-89DB-4107-8A85-F6D1BEDF7DF8}"/>
                </a:ext>
              </a:extLst>
            </p:cNvPr>
            <p:cNvSpPr/>
            <p:nvPr/>
          </p:nvSpPr>
          <p:spPr>
            <a:xfrm>
              <a:off x="4602696" y="4710685"/>
              <a:ext cx="1144056" cy="148818"/>
            </a:xfrm>
            <a:custGeom>
              <a:avLst/>
              <a:gdLst>
                <a:gd name="connsiteX0" fmla="*/ 74390 w 1144056"/>
                <a:gd name="connsiteY0" fmla="*/ 148812 h 148818"/>
                <a:gd name="connsiteX1" fmla="*/ 1144057 w 1144056"/>
                <a:gd name="connsiteY1" fmla="*/ 148812 h 148818"/>
                <a:gd name="connsiteX2" fmla="*/ 995245 w 1144056"/>
                <a:gd name="connsiteY2" fmla="*/ 0 h 148818"/>
                <a:gd name="connsiteX3" fmla="*/ 74409 w 1144056"/>
                <a:gd name="connsiteY3" fmla="*/ 0 h 148818"/>
                <a:gd name="connsiteX4" fmla="*/ 0 w 1144056"/>
                <a:gd name="connsiteY4" fmla="*/ 74409 h 148818"/>
                <a:gd name="connsiteX5" fmla="*/ 74409 w 1144056"/>
                <a:gd name="connsiteY5" fmla="*/ 148818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4056" h="148818">
                  <a:moveTo>
                    <a:pt x="74390" y="148812"/>
                  </a:moveTo>
                  <a:lnTo>
                    <a:pt x="1144057" y="148812"/>
                  </a:lnTo>
                  <a:lnTo>
                    <a:pt x="995245" y="0"/>
                  </a:lnTo>
                  <a:lnTo>
                    <a:pt x="74409" y="0"/>
                  </a:lnTo>
                  <a:cubicBezTo>
                    <a:pt x="33305" y="0"/>
                    <a:pt x="0" y="33327"/>
                    <a:pt x="0" y="74409"/>
                  </a:cubicBezTo>
                  <a:cubicBezTo>
                    <a:pt x="0" y="115489"/>
                    <a:pt x="33302" y="148818"/>
                    <a:pt x="74409" y="148818"/>
                  </a:cubicBezTo>
                  <a:close/>
                </a:path>
              </a:pathLst>
            </a:custGeom>
            <a:grpFill/>
            <a:ln w="6294" cap="flat">
              <a:noFill/>
              <a:prstDash val="solid"/>
              <a:miter/>
            </a:ln>
          </p:spPr>
          <p:txBody>
            <a:bodyPr rtlCol="0" anchor="ctr"/>
            <a:lstStyle/>
            <a:p>
              <a:endParaRPr lang="de-DE"/>
            </a:p>
          </p:txBody>
        </p:sp>
        <p:sp>
          <p:nvSpPr>
            <p:cNvPr id="53" name="Freeform: Shape 52">
              <a:extLst>
                <a:ext uri="{FF2B5EF4-FFF2-40B4-BE49-F238E27FC236}">
                  <a16:creationId xmlns:a16="http://schemas.microsoft.com/office/drawing/2014/main" id="{0FA08784-B9D7-4898-8E17-12E9B7E2B353}"/>
                </a:ext>
              </a:extLst>
            </p:cNvPr>
            <p:cNvSpPr/>
            <p:nvPr/>
          </p:nvSpPr>
          <p:spPr>
            <a:xfrm>
              <a:off x="6601176" y="4710660"/>
              <a:ext cx="233631" cy="148818"/>
            </a:xfrm>
            <a:custGeom>
              <a:avLst/>
              <a:gdLst>
                <a:gd name="connsiteX0" fmla="*/ 159227 w 233631"/>
                <a:gd name="connsiteY0" fmla="*/ 6 h 148818"/>
                <a:gd name="connsiteX1" fmla="*/ 0 w 233631"/>
                <a:gd name="connsiteY1" fmla="*/ 6 h 148818"/>
                <a:gd name="connsiteX2" fmla="*/ 1526 w 233631"/>
                <a:gd name="connsiteY2" fmla="*/ 148818 h 148818"/>
                <a:gd name="connsiteX3" fmla="*/ 159222 w 233631"/>
                <a:gd name="connsiteY3" fmla="*/ 148818 h 148818"/>
                <a:gd name="connsiteX4" fmla="*/ 233632 w 233631"/>
                <a:gd name="connsiteY4" fmla="*/ 74409 h 148818"/>
                <a:gd name="connsiteX5" fmla="*/ 159222 w 233631"/>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631" h="148818">
                  <a:moveTo>
                    <a:pt x="159227" y="6"/>
                  </a:moveTo>
                  <a:lnTo>
                    <a:pt x="0" y="6"/>
                  </a:lnTo>
                  <a:cubicBezTo>
                    <a:pt x="13341" y="48643"/>
                    <a:pt x="13857" y="99910"/>
                    <a:pt x="1526" y="148818"/>
                  </a:cubicBezTo>
                  <a:lnTo>
                    <a:pt x="159222" y="148818"/>
                  </a:lnTo>
                  <a:cubicBezTo>
                    <a:pt x="200302" y="148818"/>
                    <a:pt x="233632" y="115491"/>
                    <a:pt x="233632" y="74409"/>
                  </a:cubicBezTo>
                  <a:cubicBezTo>
                    <a:pt x="233632" y="33329"/>
                    <a:pt x="200305" y="0"/>
                    <a:pt x="159222" y="0"/>
                  </a:cubicBezTo>
                  <a:close/>
                </a:path>
              </a:pathLst>
            </a:custGeom>
            <a:grpFill/>
            <a:ln w="6294" cap="flat">
              <a:noFill/>
              <a:prstDash val="solid"/>
              <a:miter/>
            </a:ln>
          </p:spPr>
          <p:txBody>
            <a:bodyPr rtlCol="0" anchor="ctr"/>
            <a:lstStyle/>
            <a:p>
              <a:endParaRPr lang="de-DE"/>
            </a:p>
          </p:txBody>
        </p:sp>
        <p:sp>
          <p:nvSpPr>
            <p:cNvPr id="54" name="Freeform: Shape 53">
              <a:extLst>
                <a:ext uri="{FF2B5EF4-FFF2-40B4-BE49-F238E27FC236}">
                  <a16:creationId xmlns:a16="http://schemas.microsoft.com/office/drawing/2014/main" id="{ADE4F821-4E52-4891-90DB-C6BDC8F209C1}"/>
                </a:ext>
              </a:extLst>
            </p:cNvPr>
            <p:cNvSpPr/>
            <p:nvPr/>
          </p:nvSpPr>
          <p:spPr>
            <a:xfrm>
              <a:off x="6062751" y="4115462"/>
              <a:ext cx="772055" cy="148818"/>
            </a:xfrm>
            <a:custGeom>
              <a:avLst/>
              <a:gdLst>
                <a:gd name="connsiteX0" fmla="*/ 697652 w 772055"/>
                <a:gd name="connsiteY0" fmla="*/ 7 h 148818"/>
                <a:gd name="connsiteX1" fmla="*/ 0 w 772055"/>
                <a:gd name="connsiteY1" fmla="*/ 7 h 148818"/>
                <a:gd name="connsiteX2" fmla="*/ 148812 w 772055"/>
                <a:gd name="connsiteY2" fmla="*/ 148819 h 148818"/>
                <a:gd name="connsiteX3" fmla="*/ 697646 w 772055"/>
                <a:gd name="connsiteY3" fmla="*/ 148819 h 148818"/>
                <a:gd name="connsiteX4" fmla="*/ 772055 w 772055"/>
                <a:gd name="connsiteY4" fmla="*/ 74409 h 148818"/>
                <a:gd name="connsiteX5" fmla="*/ 697646 w 772055"/>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2055" h="148818">
                  <a:moveTo>
                    <a:pt x="697652" y="7"/>
                  </a:moveTo>
                  <a:lnTo>
                    <a:pt x="0" y="7"/>
                  </a:lnTo>
                  <a:lnTo>
                    <a:pt x="148812" y="148819"/>
                  </a:lnTo>
                  <a:lnTo>
                    <a:pt x="697646" y="148819"/>
                  </a:lnTo>
                  <a:cubicBezTo>
                    <a:pt x="738726" y="148819"/>
                    <a:pt x="772055" y="115516"/>
                    <a:pt x="772055" y="74409"/>
                  </a:cubicBezTo>
                  <a:cubicBezTo>
                    <a:pt x="772055" y="33330"/>
                    <a:pt x="738728" y="0"/>
                    <a:pt x="697646" y="0"/>
                  </a:cubicBezTo>
                  <a:close/>
                </a:path>
              </a:pathLst>
            </a:custGeom>
            <a:grpFill/>
            <a:ln w="6294" cap="flat">
              <a:noFill/>
              <a:prstDash val="solid"/>
              <a:miter/>
            </a:ln>
          </p:spPr>
          <p:txBody>
            <a:bodyPr rtlCol="0" anchor="ctr"/>
            <a:lstStyle/>
            <a:p>
              <a:endParaRPr lang="de-DE"/>
            </a:p>
          </p:txBody>
        </p:sp>
        <p:sp>
          <p:nvSpPr>
            <p:cNvPr id="55" name="Freeform: Shape 54">
              <a:extLst>
                <a:ext uri="{FF2B5EF4-FFF2-40B4-BE49-F238E27FC236}">
                  <a16:creationId xmlns:a16="http://schemas.microsoft.com/office/drawing/2014/main" id="{7A03B239-387F-48A8-B64F-C023DEE84850}"/>
                </a:ext>
              </a:extLst>
            </p:cNvPr>
            <p:cNvSpPr/>
            <p:nvPr/>
          </p:nvSpPr>
          <p:spPr>
            <a:xfrm>
              <a:off x="4602679" y="4115201"/>
              <a:ext cx="548832" cy="149039"/>
            </a:xfrm>
            <a:custGeom>
              <a:avLst/>
              <a:gdLst>
                <a:gd name="connsiteX0" fmla="*/ 74407 w 548832"/>
                <a:gd name="connsiteY0" fmla="*/ 149036 h 149039"/>
                <a:gd name="connsiteX1" fmla="*/ 548833 w 548832"/>
                <a:gd name="connsiteY1" fmla="*/ 149036 h 149039"/>
                <a:gd name="connsiteX2" fmla="*/ 456825 w 548832"/>
                <a:gd name="connsiteY2" fmla="*/ 224 h 149039"/>
                <a:gd name="connsiteX3" fmla="*/ 83563 w 548832"/>
                <a:gd name="connsiteY3" fmla="*/ 224 h 149039"/>
                <a:gd name="connsiteX4" fmla="*/ 25967 w 548832"/>
                <a:gd name="connsiteY4" fmla="*/ 19668 h 149039"/>
                <a:gd name="connsiteX5" fmla="*/ 0 w 548832"/>
                <a:gd name="connsiteY5" fmla="*/ 74631 h 149039"/>
                <a:gd name="connsiteX6" fmla="*/ 74409 w 548832"/>
                <a:gd name="connsiteY6" fmla="*/ 149040 h 14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8832" h="149039">
                  <a:moveTo>
                    <a:pt x="74407" y="149036"/>
                  </a:moveTo>
                  <a:lnTo>
                    <a:pt x="548833" y="149036"/>
                  </a:lnTo>
                  <a:cubicBezTo>
                    <a:pt x="505266" y="108670"/>
                    <a:pt x="473466" y="57230"/>
                    <a:pt x="456825" y="224"/>
                  </a:cubicBezTo>
                  <a:lnTo>
                    <a:pt x="83563" y="224"/>
                  </a:lnTo>
                  <a:cubicBezTo>
                    <a:pt x="62518" y="-1376"/>
                    <a:pt x="41720" y="5639"/>
                    <a:pt x="25967" y="19668"/>
                  </a:cubicBezTo>
                  <a:cubicBezTo>
                    <a:pt x="10215" y="33698"/>
                    <a:pt x="837" y="53537"/>
                    <a:pt x="0" y="74631"/>
                  </a:cubicBezTo>
                  <a:cubicBezTo>
                    <a:pt x="0" y="115735"/>
                    <a:pt x="33302" y="149040"/>
                    <a:pt x="74409" y="149040"/>
                  </a:cubicBezTo>
                  <a:close/>
                </a:path>
              </a:pathLst>
            </a:custGeom>
            <a:grpFill/>
            <a:ln w="6294" cap="flat">
              <a:noFill/>
              <a:prstDash val="solid"/>
              <a:miter/>
            </a:ln>
          </p:spPr>
          <p:txBody>
            <a:bodyPr rtlCol="0" anchor="ctr"/>
            <a:lstStyle/>
            <a:p>
              <a:endParaRPr lang="de-DE"/>
            </a:p>
          </p:txBody>
        </p:sp>
        <p:sp>
          <p:nvSpPr>
            <p:cNvPr id="56" name="Freeform: Shape 55">
              <a:extLst>
                <a:ext uri="{FF2B5EF4-FFF2-40B4-BE49-F238E27FC236}">
                  <a16:creationId xmlns:a16="http://schemas.microsoft.com/office/drawing/2014/main" id="{7A1A7D43-603A-46D1-9E16-27C9DF4C38FF}"/>
                </a:ext>
              </a:extLst>
            </p:cNvPr>
            <p:cNvSpPr/>
            <p:nvPr/>
          </p:nvSpPr>
          <p:spPr>
            <a:xfrm>
              <a:off x="5410212" y="3520205"/>
              <a:ext cx="1424574" cy="148818"/>
            </a:xfrm>
            <a:custGeom>
              <a:avLst/>
              <a:gdLst>
                <a:gd name="connsiteX0" fmla="*/ 1350191 w 1424574"/>
                <a:gd name="connsiteY0" fmla="*/ 3 h 148818"/>
                <a:gd name="connsiteX1" fmla="*/ 55577 w 1424574"/>
                <a:gd name="connsiteY1" fmla="*/ 3 h 148818"/>
                <a:gd name="connsiteX2" fmla="*/ 0 w 1424574"/>
                <a:gd name="connsiteY2" fmla="*/ 115344 h 148818"/>
                <a:gd name="connsiteX3" fmla="*/ 45092 w 1424574"/>
                <a:gd name="connsiteY3" fmla="*/ 111628 h 148818"/>
                <a:gd name="connsiteX4" fmla="*/ 189448 w 1424574"/>
                <a:gd name="connsiteY4" fmla="*/ 148819 h 148818"/>
                <a:gd name="connsiteX5" fmla="*/ 1350166 w 1424574"/>
                <a:gd name="connsiteY5" fmla="*/ 148819 h 148818"/>
                <a:gd name="connsiteX6" fmla="*/ 1424575 w 1424574"/>
                <a:gd name="connsiteY6" fmla="*/ 74409 h 148818"/>
                <a:gd name="connsiteX7" fmla="*/ 1350166 w 1424574"/>
                <a:gd name="connsiteY7"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4574" h="148818">
                  <a:moveTo>
                    <a:pt x="1350191" y="3"/>
                  </a:moveTo>
                  <a:lnTo>
                    <a:pt x="55577" y="3"/>
                  </a:lnTo>
                  <a:cubicBezTo>
                    <a:pt x="39628" y="39632"/>
                    <a:pt x="21069" y="78174"/>
                    <a:pt x="0" y="115344"/>
                  </a:cubicBezTo>
                  <a:cubicBezTo>
                    <a:pt x="14916" y="112981"/>
                    <a:pt x="29979" y="111726"/>
                    <a:pt x="45092" y="111628"/>
                  </a:cubicBezTo>
                  <a:cubicBezTo>
                    <a:pt x="95574" y="111554"/>
                    <a:pt x="145266" y="124353"/>
                    <a:pt x="189448" y="148819"/>
                  </a:cubicBezTo>
                  <a:lnTo>
                    <a:pt x="1350166" y="148819"/>
                  </a:lnTo>
                  <a:cubicBezTo>
                    <a:pt x="1391245" y="148819"/>
                    <a:pt x="1424575" y="115516"/>
                    <a:pt x="1424575" y="74409"/>
                  </a:cubicBezTo>
                  <a:cubicBezTo>
                    <a:pt x="1424575" y="33330"/>
                    <a:pt x="1391248" y="0"/>
                    <a:pt x="1350166" y="0"/>
                  </a:cubicBezTo>
                  <a:close/>
                </a:path>
              </a:pathLst>
            </a:custGeom>
            <a:grpFill/>
            <a:ln w="6294" cap="flat">
              <a:noFill/>
              <a:prstDash val="solid"/>
              <a:miter/>
            </a:ln>
          </p:spPr>
          <p:txBody>
            <a:bodyPr rtlCol="0" anchor="ctr"/>
            <a:lstStyle/>
            <a:p>
              <a:endParaRPr lang="de-DE"/>
            </a:p>
          </p:txBody>
        </p:sp>
        <p:sp>
          <p:nvSpPr>
            <p:cNvPr id="57" name="Freeform: Shape 56">
              <a:extLst>
                <a:ext uri="{FF2B5EF4-FFF2-40B4-BE49-F238E27FC236}">
                  <a16:creationId xmlns:a16="http://schemas.microsoft.com/office/drawing/2014/main" id="{7BD36BB3-9198-477B-8617-DB542C59F6C7}"/>
                </a:ext>
              </a:extLst>
            </p:cNvPr>
            <p:cNvSpPr/>
            <p:nvPr/>
          </p:nvSpPr>
          <p:spPr>
            <a:xfrm>
              <a:off x="5514496" y="2925005"/>
              <a:ext cx="1320291" cy="148792"/>
            </a:xfrm>
            <a:custGeom>
              <a:avLst/>
              <a:gdLst>
                <a:gd name="connsiteX0" fmla="*/ 1245907 w 1320291"/>
                <a:gd name="connsiteY0" fmla="*/ 6 h 148792"/>
                <a:gd name="connsiteX1" fmla="*/ 0 w 1320291"/>
                <a:gd name="connsiteY1" fmla="*/ 6 h 148792"/>
                <a:gd name="connsiteX2" fmla="*/ 22029 w 1320291"/>
                <a:gd name="connsiteY2" fmla="*/ 148793 h 148792"/>
                <a:gd name="connsiteX3" fmla="*/ 1245882 w 1320291"/>
                <a:gd name="connsiteY3" fmla="*/ 148793 h 148792"/>
                <a:gd name="connsiteX4" fmla="*/ 1320292 w 1320291"/>
                <a:gd name="connsiteY4" fmla="*/ 74384 h 148792"/>
                <a:gd name="connsiteX5" fmla="*/ 1245882 w 1320291"/>
                <a:gd name="connsiteY5" fmla="*/ 0 h 1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291" h="148792">
                  <a:moveTo>
                    <a:pt x="1245907" y="6"/>
                  </a:moveTo>
                  <a:lnTo>
                    <a:pt x="0" y="6"/>
                  </a:lnTo>
                  <a:cubicBezTo>
                    <a:pt x="11076" y="48987"/>
                    <a:pt x="18436" y="98706"/>
                    <a:pt x="22029" y="148793"/>
                  </a:cubicBezTo>
                  <a:lnTo>
                    <a:pt x="1245882" y="148793"/>
                  </a:lnTo>
                  <a:cubicBezTo>
                    <a:pt x="1286962" y="148793"/>
                    <a:pt x="1320292" y="115491"/>
                    <a:pt x="1320292" y="74384"/>
                  </a:cubicBezTo>
                  <a:cubicBezTo>
                    <a:pt x="1320292" y="33304"/>
                    <a:pt x="1286965" y="0"/>
                    <a:pt x="1245882" y="0"/>
                  </a:cubicBezTo>
                  <a:close/>
                </a:path>
              </a:pathLst>
            </a:custGeom>
            <a:grpFill/>
            <a:ln w="6294" cap="flat">
              <a:noFill/>
              <a:prstDash val="solid"/>
              <a:miter/>
            </a:ln>
          </p:spPr>
          <p:txBody>
            <a:bodyPr rtlCol="0" anchor="ctr"/>
            <a:lstStyle/>
            <a:p>
              <a:endParaRPr lang="de-DE"/>
            </a:p>
          </p:txBody>
        </p:sp>
        <p:sp>
          <p:nvSpPr>
            <p:cNvPr id="58" name="Freeform: Shape 57">
              <a:extLst>
                <a:ext uri="{FF2B5EF4-FFF2-40B4-BE49-F238E27FC236}">
                  <a16:creationId xmlns:a16="http://schemas.microsoft.com/office/drawing/2014/main" id="{E6CBD6AA-6033-4E61-A162-BB639BFDD687}"/>
                </a:ext>
              </a:extLst>
            </p:cNvPr>
            <p:cNvSpPr/>
            <p:nvPr/>
          </p:nvSpPr>
          <p:spPr>
            <a:xfrm>
              <a:off x="4995163" y="2255348"/>
              <a:ext cx="946789" cy="148818"/>
            </a:xfrm>
            <a:custGeom>
              <a:avLst/>
              <a:gdLst>
                <a:gd name="connsiteX0" fmla="*/ 214677 w 946789"/>
                <a:gd name="connsiteY0" fmla="*/ 148818 h 148818"/>
                <a:gd name="connsiteX1" fmla="*/ 872380 w 946789"/>
                <a:gd name="connsiteY1" fmla="*/ 148818 h 148818"/>
                <a:gd name="connsiteX2" fmla="*/ 946790 w 946789"/>
                <a:gd name="connsiteY2" fmla="*/ 74409 h 148818"/>
                <a:gd name="connsiteX3" fmla="*/ 872380 w 946789"/>
                <a:gd name="connsiteY3" fmla="*/ 0 h 148818"/>
                <a:gd name="connsiteX4" fmla="*/ 0 w 946789"/>
                <a:gd name="connsiteY4" fmla="*/ 0 h 148818"/>
                <a:gd name="connsiteX5" fmla="*/ 214727 w 946789"/>
                <a:gd name="connsiteY5" fmla="*/ 148812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6789" h="148818">
                  <a:moveTo>
                    <a:pt x="214677" y="148818"/>
                  </a:moveTo>
                  <a:lnTo>
                    <a:pt x="872380" y="148818"/>
                  </a:lnTo>
                  <a:cubicBezTo>
                    <a:pt x="913485" y="148818"/>
                    <a:pt x="946790" y="115491"/>
                    <a:pt x="946790" y="74409"/>
                  </a:cubicBezTo>
                  <a:cubicBezTo>
                    <a:pt x="946790" y="33305"/>
                    <a:pt x="913487" y="0"/>
                    <a:pt x="872380" y="0"/>
                  </a:cubicBezTo>
                  <a:lnTo>
                    <a:pt x="0" y="0"/>
                  </a:lnTo>
                  <a:cubicBezTo>
                    <a:pt x="77755" y="40022"/>
                    <a:pt x="149946" y="90036"/>
                    <a:pt x="214727" y="148812"/>
                  </a:cubicBezTo>
                  <a:close/>
                </a:path>
              </a:pathLst>
            </a:custGeom>
            <a:grpFill/>
            <a:ln w="6294" cap="flat">
              <a:noFill/>
              <a:prstDash val="solid"/>
              <a:miter/>
            </a:ln>
          </p:spPr>
          <p:txBody>
            <a:bodyPr rtlCol="0" anchor="ctr"/>
            <a:lstStyle/>
            <a:p>
              <a:endParaRPr lang="de-DE"/>
            </a:p>
          </p:txBody>
        </p:sp>
        <p:sp>
          <p:nvSpPr>
            <p:cNvPr id="59" name="Freeform: Shape 58">
              <a:extLst>
                <a:ext uri="{FF2B5EF4-FFF2-40B4-BE49-F238E27FC236}">
                  <a16:creationId xmlns:a16="http://schemas.microsoft.com/office/drawing/2014/main" id="{56888D54-0F9B-445A-83F5-1986AF0D9B00}"/>
                </a:ext>
              </a:extLst>
            </p:cNvPr>
            <p:cNvSpPr/>
            <p:nvPr/>
          </p:nvSpPr>
          <p:spPr>
            <a:xfrm>
              <a:off x="3858634" y="2255398"/>
              <a:ext cx="223657" cy="133774"/>
            </a:xfrm>
            <a:custGeom>
              <a:avLst/>
              <a:gdLst>
                <a:gd name="connsiteX0" fmla="*/ 30001 w 223657"/>
                <a:gd name="connsiteY0" fmla="*/ 133772 h 133774"/>
                <a:gd name="connsiteX1" fmla="*/ 223658 w 223657"/>
                <a:gd name="connsiteY1" fmla="*/ 0 h 133774"/>
                <a:gd name="connsiteX2" fmla="*/ 74398 w 223657"/>
                <a:gd name="connsiteY2" fmla="*/ 0 h 133774"/>
                <a:gd name="connsiteX3" fmla="*/ 3783 w 223657"/>
                <a:gd name="connsiteY3" fmla="*/ 50827 h 133774"/>
                <a:gd name="connsiteX4" fmla="*/ 29996 w 223657"/>
                <a:gd name="connsiteY4" fmla="*/ 133774 h 133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57" h="133774">
                  <a:moveTo>
                    <a:pt x="30001" y="133772"/>
                  </a:moveTo>
                  <a:cubicBezTo>
                    <a:pt x="88852" y="81443"/>
                    <a:pt x="153905" y="36521"/>
                    <a:pt x="223658" y="0"/>
                  </a:cubicBezTo>
                  <a:lnTo>
                    <a:pt x="74398" y="0"/>
                  </a:lnTo>
                  <a:cubicBezTo>
                    <a:pt x="42352" y="-98"/>
                    <a:pt x="13874" y="20405"/>
                    <a:pt x="3783" y="50827"/>
                  </a:cubicBezTo>
                  <a:cubicBezTo>
                    <a:pt x="-6309" y="81225"/>
                    <a:pt x="4250" y="114701"/>
                    <a:pt x="29996" y="133774"/>
                  </a:cubicBezTo>
                  <a:close/>
                </a:path>
              </a:pathLst>
            </a:custGeom>
            <a:grpFill/>
            <a:ln w="6294" cap="flat">
              <a:noFill/>
              <a:prstDash val="solid"/>
              <a:miter/>
            </a:ln>
          </p:spPr>
          <p:txBody>
            <a:bodyPr rtlCol="0" anchor="ctr"/>
            <a:lstStyle/>
            <a:p>
              <a:endParaRPr lang="de-DE"/>
            </a:p>
          </p:txBody>
        </p:sp>
        <p:sp>
          <p:nvSpPr>
            <p:cNvPr id="60" name="Freeform: Shape 59">
              <a:extLst>
                <a:ext uri="{FF2B5EF4-FFF2-40B4-BE49-F238E27FC236}">
                  <a16:creationId xmlns:a16="http://schemas.microsoft.com/office/drawing/2014/main" id="{D298BDC8-C327-45DD-A20E-310B6FE2D739}"/>
                </a:ext>
              </a:extLst>
            </p:cNvPr>
            <p:cNvSpPr/>
            <p:nvPr/>
          </p:nvSpPr>
          <p:spPr>
            <a:xfrm>
              <a:off x="3707454" y="2290261"/>
              <a:ext cx="2755282" cy="2755242"/>
            </a:xfrm>
            <a:custGeom>
              <a:avLst/>
              <a:gdLst>
                <a:gd name="connsiteX0" fmla="*/ 1535403 w 2755282"/>
                <a:gd name="connsiteY0" fmla="*/ 1640587 h 2755242"/>
                <a:gd name="connsiteX1" fmla="*/ 1534419 w 2755282"/>
                <a:gd name="connsiteY1" fmla="*/ 1641571 h 2755242"/>
                <a:gd name="connsiteX2" fmla="*/ 1534419 w 2755282"/>
                <a:gd name="connsiteY2" fmla="*/ 1641547 h 2755242"/>
                <a:gd name="connsiteX3" fmla="*/ 1490434 w 2755282"/>
                <a:gd name="connsiteY3" fmla="*/ 1747751 h 2755242"/>
                <a:gd name="connsiteX4" fmla="*/ 1534419 w 2755282"/>
                <a:gd name="connsiteY4" fmla="*/ 1853936 h 2755242"/>
                <a:gd name="connsiteX5" fmla="*/ 2391740 w 2755282"/>
                <a:gd name="connsiteY5" fmla="*/ 2711257 h 2755242"/>
                <a:gd name="connsiteX6" fmla="*/ 2497925 w 2755282"/>
                <a:gd name="connsiteY6" fmla="*/ 2755242 h 2755242"/>
                <a:gd name="connsiteX7" fmla="*/ 2604129 w 2755282"/>
                <a:gd name="connsiteY7" fmla="*/ 2711257 h 2755242"/>
                <a:gd name="connsiteX8" fmla="*/ 2711298 w 2755282"/>
                <a:gd name="connsiteY8" fmla="*/ 2604115 h 2755242"/>
                <a:gd name="connsiteX9" fmla="*/ 2711298 w 2755282"/>
                <a:gd name="connsiteY9" fmla="*/ 2604090 h 2755242"/>
                <a:gd name="connsiteX10" fmla="*/ 2755282 w 2755282"/>
                <a:gd name="connsiteY10" fmla="*/ 2497904 h 2755242"/>
                <a:gd name="connsiteX11" fmla="*/ 2711298 w 2755282"/>
                <a:gd name="connsiteY11" fmla="*/ 2391700 h 2755242"/>
                <a:gd name="connsiteX12" fmla="*/ 1853977 w 2755282"/>
                <a:gd name="connsiteY12" fmla="*/ 1534379 h 2755242"/>
                <a:gd name="connsiteX13" fmla="*/ 1747791 w 2755282"/>
                <a:gd name="connsiteY13" fmla="*/ 1490395 h 2755242"/>
                <a:gd name="connsiteX14" fmla="*/ 1641587 w 2755282"/>
                <a:gd name="connsiteY14" fmla="*/ 1534379 h 2755242"/>
                <a:gd name="connsiteX15" fmla="*/ 1640603 w 2755282"/>
                <a:gd name="connsiteY15" fmla="*/ 1535364 h 2755242"/>
                <a:gd name="connsiteX16" fmla="*/ 1481205 w 2755282"/>
                <a:gd name="connsiteY16" fmla="*/ 1375940 h 2755242"/>
                <a:gd name="connsiteX17" fmla="*/ 1481205 w 2755282"/>
                <a:gd name="connsiteY17" fmla="*/ 1375965 h 2755242"/>
                <a:gd name="connsiteX18" fmla="*/ 1633615 w 2755282"/>
                <a:gd name="connsiteY18" fmla="*/ 573715 h 2755242"/>
                <a:gd name="connsiteX19" fmla="*/ 1031076 w 2755282"/>
                <a:gd name="connsiteY19" fmla="*/ 22499 h 2755242"/>
                <a:gd name="connsiteX20" fmla="*/ 245524 w 2755282"/>
                <a:gd name="connsiteY20" fmla="*/ 245525 h 2755242"/>
                <a:gd name="connsiteX21" fmla="*/ 22498 w 2755282"/>
                <a:gd name="connsiteY21" fmla="*/ 1031140 h 2755242"/>
                <a:gd name="connsiteX22" fmla="*/ 573740 w 2755282"/>
                <a:gd name="connsiteY22" fmla="*/ 1633653 h 2755242"/>
                <a:gd name="connsiteX23" fmla="*/ 1375990 w 2755282"/>
                <a:gd name="connsiteY23" fmla="*/ 1481224 h 2755242"/>
                <a:gd name="connsiteX24" fmla="*/ 1748776 w 2755282"/>
                <a:gd name="connsiteY24" fmla="*/ 1639627 h 2755242"/>
                <a:gd name="connsiteX25" fmla="*/ 2606097 w 2755282"/>
                <a:gd name="connsiteY25" fmla="*/ 2496948 h 2755242"/>
                <a:gd name="connsiteX26" fmla="*/ 2606072 w 2755282"/>
                <a:gd name="connsiteY26" fmla="*/ 2496948 h 2755242"/>
                <a:gd name="connsiteX27" fmla="*/ 2606072 w 2755282"/>
                <a:gd name="connsiteY27" fmla="*/ 2498868 h 2755242"/>
                <a:gd name="connsiteX28" fmla="*/ 2496938 w 2755282"/>
                <a:gd name="connsiteY28" fmla="*/ 2606036 h 2755242"/>
                <a:gd name="connsiteX29" fmla="*/ 1639680 w 2755282"/>
                <a:gd name="connsiteY29" fmla="*/ 1746762 h 2755242"/>
                <a:gd name="connsiteX30" fmla="*/ 839408 w 2755282"/>
                <a:gd name="connsiteY30" fmla="*/ 1527613 h 2755242"/>
                <a:gd name="connsiteX31" fmla="*/ 352752 w 2755282"/>
                <a:gd name="connsiteY31" fmla="*/ 1326030 h 2755242"/>
                <a:gd name="connsiteX32" fmla="*/ 151169 w 2755282"/>
                <a:gd name="connsiteY32" fmla="*/ 839374 h 2755242"/>
                <a:gd name="connsiteX33" fmla="*/ 352752 w 2755282"/>
                <a:gd name="connsiteY33" fmla="*/ 352744 h 2755242"/>
                <a:gd name="connsiteX34" fmla="*/ 839408 w 2755282"/>
                <a:gd name="connsiteY34" fmla="*/ 151161 h 2755242"/>
                <a:gd name="connsiteX35" fmla="*/ 1326038 w 2755282"/>
                <a:gd name="connsiteY35" fmla="*/ 352744 h 2755242"/>
                <a:gd name="connsiteX36" fmla="*/ 1527621 w 2755282"/>
                <a:gd name="connsiteY36" fmla="*/ 839374 h 2755242"/>
                <a:gd name="connsiteX37" fmla="*/ 1325818 w 2755282"/>
                <a:gd name="connsiteY37" fmla="*/ 1325809 h 2755242"/>
                <a:gd name="connsiteX38" fmla="*/ 839408 w 2755282"/>
                <a:gd name="connsiteY38" fmla="*/ 1527613 h 275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755282" h="2755242">
                  <a:moveTo>
                    <a:pt x="1535403" y="1640587"/>
                  </a:moveTo>
                  <a:lnTo>
                    <a:pt x="1534419" y="1641571"/>
                  </a:lnTo>
                  <a:lnTo>
                    <a:pt x="1534419" y="1641547"/>
                  </a:lnTo>
                  <a:cubicBezTo>
                    <a:pt x="1506261" y="1669705"/>
                    <a:pt x="1490434" y="1707903"/>
                    <a:pt x="1490434" y="1747751"/>
                  </a:cubicBezTo>
                  <a:cubicBezTo>
                    <a:pt x="1490434" y="1787576"/>
                    <a:pt x="1506261" y="1825777"/>
                    <a:pt x="1534419" y="1853936"/>
                  </a:cubicBezTo>
                  <a:lnTo>
                    <a:pt x="2391740" y="2711257"/>
                  </a:lnTo>
                  <a:cubicBezTo>
                    <a:pt x="2419898" y="2739416"/>
                    <a:pt x="2458097" y="2755242"/>
                    <a:pt x="2497925" y="2755242"/>
                  </a:cubicBezTo>
                  <a:cubicBezTo>
                    <a:pt x="2537750" y="2755242"/>
                    <a:pt x="2575951" y="2739416"/>
                    <a:pt x="2604129" y="2711257"/>
                  </a:cubicBezTo>
                  <a:lnTo>
                    <a:pt x="2711298" y="2604115"/>
                  </a:lnTo>
                  <a:lnTo>
                    <a:pt x="2711298" y="2604090"/>
                  </a:lnTo>
                  <a:cubicBezTo>
                    <a:pt x="2739456" y="2575932"/>
                    <a:pt x="2755282" y="2537734"/>
                    <a:pt x="2755282" y="2497904"/>
                  </a:cubicBezTo>
                  <a:cubicBezTo>
                    <a:pt x="2755282" y="2458055"/>
                    <a:pt x="2739456" y="2419853"/>
                    <a:pt x="2711298" y="2391700"/>
                  </a:cubicBezTo>
                  <a:lnTo>
                    <a:pt x="1853977" y="1534379"/>
                  </a:lnTo>
                  <a:cubicBezTo>
                    <a:pt x="1825818" y="1506221"/>
                    <a:pt x="1787620" y="1490395"/>
                    <a:pt x="1747791" y="1490395"/>
                  </a:cubicBezTo>
                  <a:cubicBezTo>
                    <a:pt x="1707967" y="1490395"/>
                    <a:pt x="1669765" y="1506221"/>
                    <a:pt x="1641587" y="1534379"/>
                  </a:cubicBezTo>
                  <a:lnTo>
                    <a:pt x="1640603" y="1535364"/>
                  </a:lnTo>
                  <a:lnTo>
                    <a:pt x="1481205" y="1375940"/>
                  </a:lnTo>
                  <a:lnTo>
                    <a:pt x="1481205" y="1375965"/>
                  </a:lnTo>
                  <a:cubicBezTo>
                    <a:pt x="1667653" y="1153040"/>
                    <a:pt x="1725320" y="849437"/>
                    <a:pt x="1633615" y="573715"/>
                  </a:cubicBezTo>
                  <a:cubicBezTo>
                    <a:pt x="1541903" y="297943"/>
                    <a:pt x="1313887" y="89372"/>
                    <a:pt x="1031076" y="22499"/>
                  </a:cubicBezTo>
                  <a:cubicBezTo>
                    <a:pt x="748266" y="-44349"/>
                    <a:pt x="450989" y="40024"/>
                    <a:pt x="245524" y="245525"/>
                  </a:cubicBezTo>
                  <a:cubicBezTo>
                    <a:pt x="40028" y="451021"/>
                    <a:pt x="-44349" y="748305"/>
                    <a:pt x="22498" y="1031140"/>
                  </a:cubicBezTo>
                  <a:cubicBezTo>
                    <a:pt x="89372" y="1313950"/>
                    <a:pt x="297974" y="1541941"/>
                    <a:pt x="573740" y="1633653"/>
                  </a:cubicBezTo>
                  <a:cubicBezTo>
                    <a:pt x="849486" y="1725340"/>
                    <a:pt x="1153090" y="1667669"/>
                    <a:pt x="1375990" y="1481224"/>
                  </a:cubicBezTo>
                  <a:close/>
                  <a:moveTo>
                    <a:pt x="1748776" y="1639627"/>
                  </a:moveTo>
                  <a:lnTo>
                    <a:pt x="2606097" y="2496948"/>
                  </a:lnTo>
                  <a:lnTo>
                    <a:pt x="2606072" y="2496948"/>
                  </a:lnTo>
                  <a:cubicBezTo>
                    <a:pt x="2606540" y="2497490"/>
                    <a:pt x="2606540" y="2498302"/>
                    <a:pt x="2606072" y="2498868"/>
                  </a:cubicBezTo>
                  <a:lnTo>
                    <a:pt x="2496938" y="2606036"/>
                  </a:lnTo>
                  <a:lnTo>
                    <a:pt x="1639680" y="1746762"/>
                  </a:lnTo>
                  <a:close/>
                  <a:moveTo>
                    <a:pt x="839408" y="1527613"/>
                  </a:moveTo>
                  <a:cubicBezTo>
                    <a:pt x="656873" y="1527613"/>
                    <a:pt x="481823" y="1455100"/>
                    <a:pt x="352752" y="1326030"/>
                  </a:cubicBezTo>
                  <a:cubicBezTo>
                    <a:pt x="223682" y="1196959"/>
                    <a:pt x="151169" y="1021903"/>
                    <a:pt x="151169" y="839374"/>
                  </a:cubicBezTo>
                  <a:cubicBezTo>
                    <a:pt x="151169" y="656864"/>
                    <a:pt x="223682" y="481790"/>
                    <a:pt x="352752" y="352744"/>
                  </a:cubicBezTo>
                  <a:cubicBezTo>
                    <a:pt x="481823" y="223673"/>
                    <a:pt x="656879" y="151161"/>
                    <a:pt x="839408" y="151161"/>
                  </a:cubicBezTo>
                  <a:cubicBezTo>
                    <a:pt x="1021937" y="151161"/>
                    <a:pt x="1196993" y="223673"/>
                    <a:pt x="1326038" y="352744"/>
                  </a:cubicBezTo>
                  <a:cubicBezTo>
                    <a:pt x="1455109" y="481790"/>
                    <a:pt x="1527621" y="656871"/>
                    <a:pt x="1527621" y="839374"/>
                  </a:cubicBezTo>
                  <a:cubicBezTo>
                    <a:pt x="1527424" y="1021859"/>
                    <a:pt x="1454838" y="1196789"/>
                    <a:pt x="1325818" y="1325809"/>
                  </a:cubicBezTo>
                  <a:cubicBezTo>
                    <a:pt x="1196791" y="1454836"/>
                    <a:pt x="1021867" y="1527418"/>
                    <a:pt x="839408" y="1527613"/>
                  </a:cubicBezTo>
                  <a:close/>
                </a:path>
              </a:pathLst>
            </a:custGeom>
            <a:grpFill/>
            <a:ln w="6294" cap="flat">
              <a:noFill/>
              <a:prstDash val="solid"/>
              <a:miter/>
            </a:ln>
          </p:spPr>
          <p:txBody>
            <a:bodyPr rtlCol="0" anchor="ctr"/>
            <a:lstStyle/>
            <a:p>
              <a:endParaRPr lang="de-DE"/>
            </a:p>
          </p:txBody>
        </p:sp>
        <p:sp>
          <p:nvSpPr>
            <p:cNvPr id="61" name="Freeform: Shape 60">
              <a:extLst>
                <a:ext uri="{FF2B5EF4-FFF2-40B4-BE49-F238E27FC236}">
                  <a16:creationId xmlns:a16="http://schemas.microsoft.com/office/drawing/2014/main" id="{1FEDA82D-C08A-413D-9C28-3A50B183ADB0}"/>
                </a:ext>
              </a:extLst>
            </p:cNvPr>
            <p:cNvSpPr/>
            <p:nvPr/>
          </p:nvSpPr>
          <p:spPr>
            <a:xfrm>
              <a:off x="4267855" y="2925034"/>
              <a:ext cx="669641" cy="445795"/>
            </a:xfrm>
            <a:custGeom>
              <a:avLst/>
              <a:gdLst>
                <a:gd name="connsiteX0" fmla="*/ 654783 w 669641"/>
                <a:gd name="connsiteY0" fmla="*/ 29782 h 445795"/>
                <a:gd name="connsiteX1" fmla="*/ 550620 w 669641"/>
                <a:gd name="connsiteY1" fmla="*/ 14841 h 445795"/>
                <a:gd name="connsiteX2" fmla="*/ 217918 w 669641"/>
                <a:gd name="connsiteY2" fmla="*/ 264123 h 445795"/>
                <a:gd name="connsiteX3" fmla="*/ 137334 w 669641"/>
                <a:gd name="connsiteY3" fmla="*/ 136502 h 445795"/>
                <a:gd name="connsiteX4" fmla="*/ 34721 w 669641"/>
                <a:gd name="connsiteY4" fmla="*/ 113291 h 445795"/>
                <a:gd name="connsiteX5" fmla="*/ 11486 w 669641"/>
                <a:gd name="connsiteY5" fmla="*/ 215904 h 445795"/>
                <a:gd name="connsiteX6" fmla="*/ 135069 w 669641"/>
                <a:gd name="connsiteY6" fmla="*/ 411703 h 445795"/>
                <a:gd name="connsiteX7" fmla="*/ 135094 w 669641"/>
                <a:gd name="connsiteY7" fmla="*/ 411703 h 445795"/>
                <a:gd name="connsiteX8" fmla="*/ 184616 w 669641"/>
                <a:gd name="connsiteY8" fmla="*/ 444537 h 445795"/>
                <a:gd name="connsiteX9" fmla="*/ 242630 w 669641"/>
                <a:gd name="connsiteY9" fmla="*/ 431541 h 445795"/>
                <a:gd name="connsiteX10" fmla="*/ 639867 w 669641"/>
                <a:gd name="connsiteY10" fmla="*/ 133942 h 445795"/>
                <a:gd name="connsiteX11" fmla="*/ 639842 w 669641"/>
                <a:gd name="connsiteY11" fmla="*/ 133942 h 445795"/>
                <a:gd name="connsiteX12" fmla="*/ 654783 w 669641"/>
                <a:gd name="connsiteY12" fmla="*/ 29780 h 44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9641" h="445795">
                  <a:moveTo>
                    <a:pt x="654783" y="29782"/>
                  </a:moveTo>
                  <a:cubicBezTo>
                    <a:pt x="630144" y="-3077"/>
                    <a:pt x="583524" y="-9772"/>
                    <a:pt x="550620" y="14841"/>
                  </a:cubicBezTo>
                  <a:lnTo>
                    <a:pt x="217918" y="264123"/>
                  </a:lnTo>
                  <a:lnTo>
                    <a:pt x="137334" y="136502"/>
                  </a:lnTo>
                  <a:cubicBezTo>
                    <a:pt x="115403" y="101748"/>
                    <a:pt x="69453" y="91360"/>
                    <a:pt x="34721" y="113291"/>
                  </a:cubicBezTo>
                  <a:cubicBezTo>
                    <a:pt x="-33" y="135197"/>
                    <a:pt x="-10445" y="181154"/>
                    <a:pt x="11486" y="215904"/>
                  </a:cubicBezTo>
                  <a:lnTo>
                    <a:pt x="135069" y="411703"/>
                  </a:lnTo>
                  <a:lnTo>
                    <a:pt x="135094" y="411703"/>
                  </a:lnTo>
                  <a:cubicBezTo>
                    <a:pt x="146440" y="428932"/>
                    <a:pt x="164334" y="440796"/>
                    <a:pt x="184616" y="444537"/>
                  </a:cubicBezTo>
                  <a:cubicBezTo>
                    <a:pt x="204922" y="448278"/>
                    <a:pt x="225868" y="443602"/>
                    <a:pt x="242630" y="431541"/>
                  </a:cubicBezTo>
                  <a:lnTo>
                    <a:pt x="639867" y="133942"/>
                  </a:lnTo>
                  <a:lnTo>
                    <a:pt x="639842" y="133942"/>
                  </a:lnTo>
                  <a:cubicBezTo>
                    <a:pt x="672726" y="109279"/>
                    <a:pt x="679421" y="62665"/>
                    <a:pt x="654783" y="29780"/>
                  </a:cubicBezTo>
                  <a:close/>
                </a:path>
              </a:pathLst>
            </a:custGeom>
            <a:grpFill/>
            <a:ln w="6294" cap="flat">
              <a:noFill/>
              <a:prstDash val="solid"/>
              <a:miter/>
            </a:ln>
          </p:spPr>
          <p:txBody>
            <a:bodyPr rtlCol="0" anchor="ctr"/>
            <a:lstStyle/>
            <a:p>
              <a:endParaRPr lang="de-DE"/>
            </a:p>
          </p:txBody>
        </p:sp>
      </p:grpSp>
      <p:sp>
        <p:nvSpPr>
          <p:cNvPr id="14" name="Rectangle 13">
            <a:extLst>
              <a:ext uri="{FF2B5EF4-FFF2-40B4-BE49-F238E27FC236}">
                <a16:creationId xmlns:a16="http://schemas.microsoft.com/office/drawing/2014/main" id="{E044495C-BE75-CDA4-6731-43B6857C9C76}"/>
              </a:ext>
            </a:extLst>
          </p:cNvPr>
          <p:cNvSpPr/>
          <p:nvPr/>
        </p:nvSpPr>
        <p:spPr>
          <a:xfrm>
            <a:off x="377825" y="6280799"/>
            <a:ext cx="9937750" cy="524168"/>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Die Finanzierung von Energie- und Wärmewende übersteigt Innenfinanzierungskraft und klassischen Fremdkapitalrahmen – innovative Strukturen zur Kapitalflexibilisierung könnten eine Option sein</a:t>
            </a:r>
          </a:p>
        </p:txBody>
      </p:sp>
      <p:sp>
        <p:nvSpPr>
          <p:cNvPr id="15" name="Isosceles Triangle 14">
            <a:extLst>
              <a:ext uri="{FF2B5EF4-FFF2-40B4-BE49-F238E27FC236}">
                <a16:creationId xmlns:a16="http://schemas.microsoft.com/office/drawing/2014/main" id="{82CFABD1-C537-A228-6083-819B1288A754}"/>
              </a:ext>
            </a:extLst>
          </p:cNvPr>
          <p:cNvSpPr/>
          <p:nvPr/>
        </p:nvSpPr>
        <p:spPr>
          <a:xfrm rot="5400000">
            <a:off x="335782" y="6396706"/>
            <a:ext cx="474356" cy="2923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37">
            <a:extLst>
              <a:ext uri="{FF2B5EF4-FFF2-40B4-BE49-F238E27FC236}">
                <a16:creationId xmlns:a16="http://schemas.microsoft.com/office/drawing/2014/main" id="{5EDDB9ED-77BF-8302-E63C-47086EDBF38D}"/>
              </a:ext>
            </a:extLst>
          </p:cNvPr>
          <p:cNvSpPr txBox="1"/>
          <p:nvPr/>
        </p:nvSpPr>
        <p:spPr>
          <a:xfrm>
            <a:off x="1767431" y="1620837"/>
            <a:ext cx="8548144" cy="4451190"/>
          </a:xfrm>
          <a:prstGeom prst="rect">
            <a:avLst/>
          </a:prstGeom>
          <a:solidFill>
            <a:srgbClr val="EBF4FF"/>
          </a:solidFill>
          <a:ln>
            <a:solidFill>
              <a:schemeClr val="bg1">
                <a:lumMod val="85000"/>
              </a:schemeClr>
            </a:solidFill>
          </a:ln>
          <a:effectLst>
            <a:outerShdw blurRad="50800" dist="38100" dir="2700000" algn="tl" rotWithShape="0">
              <a:prstClr val="black">
                <a:alpha val="40000"/>
              </a:prstClr>
            </a:outerShdw>
          </a:effectLst>
        </p:spPr>
        <p:txBody>
          <a:bodyPr wrap="square" lIns="144000" rtlCol="0" anchor="ctr">
            <a:noAutofit/>
          </a:bodyPr>
          <a:lstStyle/>
          <a:p>
            <a:pPr marL="360000" lvl="1" indent="-360000" defTabSz="447675">
              <a:spcBef>
                <a:spcPts val="0"/>
              </a:spcBef>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Landeshauptstadt Wiesbaden will bis 2045 klimaneutral werden – die ESWE Versorgungs AG („ESWE") ist als kommunaler Querverbund-Versorger und Umsetzungspartner der Kommunalen Wärmeplanung („KWP") der zentrale Akteur dieser Transformation</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ESWE versorgt rund 200.000 Kunden mit Strom, Gas und Wärme, betreibt das Gas-, Wasser- und Wärmenetz in Wiesbaden sowie die Gasnetze in Taunusstein, Walluf und Schlangenbad; Strom- und Straßenbeleuchtungsnetz liegen bei der 100 %-Tochter Stadtwerke Wiesbaden Netz GmbH („sw netz")</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Stabile duale Aktionärsstruktur: WVV Wiesbaden Holding GmbH (Landeshauptstadt Wiesbaden) 50,62 % und Thüga AG 49,38 %; Ergebnisabführungsvertrag mit der WVV seit 2010, Ausgleichszahlung an die Thüga</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Nach zwei sondereffektgetriebenen Rekordjahren 2023/2024 (EBT von 74,7 bzw. 84,3 Mio. EUR) hat sich das Ergebnis 2025 mit 52,7 Mio. EUR normalisiert; die Mittelfristplanung bis 2030 sieht stabile, aber deutlich unter den Sonderjahren liegende Ergebnisse vor</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Das Projekt „Wärmewende" (Transformation Fernwärme- und Gasnetz, Energieentwicklungsplan, Kommunale Wärmeplanung) bündelt die Transformation: Fernwärmeausbau, Anbindung des MHKW, Ablösung erdgasbefeuerter Heizwerke und Ausbau des Stromnetzes für Wärmepumpen und E-Mobilität</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ESWE erwartet laut Lagebericht 2025 eine nochmals erhebliche Steigerung des Investitionsvolumens und hält ausdrücklich fest, dass klassische Bankdarlehen allein angesichts der Dimension der Energiewende künftig nicht mehr ausreichen</a:t>
            </a:r>
          </a:p>
        </p:txBody>
      </p:sp>
    </p:spTree>
    <p:extLst>
      <p:ext uri="{BB962C8B-B14F-4D97-AF65-F5344CB8AC3E}">
        <p14:creationId xmlns:p14="http://schemas.microsoft.com/office/powerpoint/2010/main" val="278463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F42BD70-4C56-4ABC-A4E6-CB3CCDC5EF5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1F42BD70-4C56-4ABC-A4E6-CB3CCDC5EF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9" name="Freeform: Shape 228">
            <a:extLst>
              <a:ext uri="{FF2B5EF4-FFF2-40B4-BE49-F238E27FC236}">
                <a16:creationId xmlns:a16="http://schemas.microsoft.com/office/drawing/2014/main" id="{5B4980E9-A88E-4D62-367E-D8AFD001549D}"/>
              </a:ext>
            </a:extLst>
          </p:cNvPr>
          <p:cNvSpPr/>
          <p:nvPr/>
        </p:nvSpPr>
        <p:spPr>
          <a:xfrm flipH="1">
            <a:off x="313561" y="2638007"/>
            <a:ext cx="10044000" cy="4140000"/>
          </a:xfrm>
          <a:custGeom>
            <a:avLst/>
            <a:gdLst>
              <a:gd name="connsiteX0" fmla="*/ 0 w 9929531"/>
              <a:gd name="connsiteY0" fmla="*/ 0 h 4103495"/>
              <a:gd name="connsiteX1" fmla="*/ 2385562 w 9929531"/>
              <a:gd name="connsiteY1" fmla="*/ 0 h 4103495"/>
              <a:gd name="connsiteX2" fmla="*/ 2385562 w 9929531"/>
              <a:gd name="connsiteY2" fmla="*/ 1728192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0" fmla="*/ 0 w 9929531"/>
              <a:gd name="connsiteY0" fmla="*/ 0 h 4103495"/>
              <a:gd name="connsiteX1" fmla="*/ 2385562 w 9929531"/>
              <a:gd name="connsiteY1" fmla="*/ 0 h 4103495"/>
              <a:gd name="connsiteX2" fmla="*/ 1763557 w 9929531"/>
              <a:gd name="connsiteY2" fmla="*/ 1950725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863078 w 9929531"/>
              <a:gd name="connsiteY1" fmla="*/ 198690 h 4103495"/>
              <a:gd name="connsiteX2" fmla="*/ 1763557 w 9929531"/>
              <a:gd name="connsiteY2" fmla="*/ 1950725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39738 h 4143233"/>
              <a:gd name="connsiteX1" fmla="*/ 2012359 w 9929531"/>
              <a:gd name="connsiteY1" fmla="*/ 0 h 4143233"/>
              <a:gd name="connsiteX2" fmla="*/ 1763557 w 9929531"/>
              <a:gd name="connsiteY2" fmla="*/ 1990463 h 4143233"/>
              <a:gd name="connsiteX3" fmla="*/ 9929531 w 9929531"/>
              <a:gd name="connsiteY3" fmla="*/ 1767930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847406 h 4143233"/>
              <a:gd name="connsiteX3" fmla="*/ 9929531 w 9929531"/>
              <a:gd name="connsiteY3" fmla="*/ 1767930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847406 h 4143233"/>
              <a:gd name="connsiteX3" fmla="*/ 9929531 w 9929531"/>
              <a:gd name="connsiteY3" fmla="*/ 1887144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903040 h 4143233"/>
              <a:gd name="connsiteX3" fmla="*/ 9929531 w 9929531"/>
              <a:gd name="connsiteY3" fmla="*/ 1887144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0 h 4103495"/>
              <a:gd name="connsiteX1" fmla="*/ 2012359 w 9929531"/>
              <a:gd name="connsiteY1" fmla="*/ 0 h 4103495"/>
              <a:gd name="connsiteX2" fmla="*/ 1995772 w 9929531"/>
              <a:gd name="connsiteY2" fmla="*/ 1863302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2012359 w 9929531"/>
              <a:gd name="connsiteY1" fmla="*/ 0 h 4103495"/>
              <a:gd name="connsiteX2" fmla="*/ 1937719 w 9929531"/>
              <a:gd name="connsiteY2" fmla="*/ 1863303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37719 w 9929531"/>
              <a:gd name="connsiteY2" fmla="*/ 1863303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8459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50299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50300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19491 w 9929531"/>
              <a:gd name="connsiteY3" fmla="*/ 1999505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8184 w 9929531"/>
              <a:gd name="connsiteY3" fmla="*/ 1990931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29531" h="4103495">
                <a:moveTo>
                  <a:pt x="0" y="0"/>
                </a:moveTo>
                <a:lnTo>
                  <a:pt x="1954305" y="7948"/>
                </a:lnTo>
                <a:lnTo>
                  <a:pt x="1929026" y="1966196"/>
                </a:lnTo>
                <a:lnTo>
                  <a:pt x="9928184" y="1990931"/>
                </a:lnTo>
                <a:cubicBezTo>
                  <a:pt x="9931531" y="2692261"/>
                  <a:pt x="9926184" y="3402165"/>
                  <a:pt x="9929531" y="4103495"/>
                </a:cubicBezTo>
                <a:lnTo>
                  <a:pt x="0" y="4103495"/>
                </a:lnTo>
                <a:lnTo>
                  <a:pt x="0" y="1773093"/>
                </a:lnTo>
                <a:lnTo>
                  <a:pt x="0" y="1728192"/>
                </a:lnTo>
                <a:lnTo>
                  <a:pt x="0" y="0"/>
                </a:lnTo>
                <a:close/>
              </a:path>
            </a:pathLst>
          </a:custGeom>
          <a:solidFill>
            <a:schemeClr val="accent6">
              <a:lumMod val="20000"/>
              <a:lumOff val="80000"/>
            </a:schemeClr>
          </a:solidFill>
          <a:ln>
            <a:solidFill>
              <a:srgbClr val="EF664B"/>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cxnSp>
        <p:nvCxnSpPr>
          <p:cNvPr id="26" name="Straight Connector 25">
            <a:extLst>
              <a:ext uri="{FF2B5EF4-FFF2-40B4-BE49-F238E27FC236}">
                <a16:creationId xmlns:a16="http://schemas.microsoft.com/office/drawing/2014/main" id="{408BF40D-770B-51EE-A1D8-34F4624FBEDB}"/>
              </a:ext>
            </a:extLst>
          </p:cNvPr>
          <p:cNvCxnSpPr>
            <a:cxnSpLocks/>
          </p:cNvCxnSpPr>
          <p:nvPr/>
        </p:nvCxnSpPr>
        <p:spPr>
          <a:xfrm flipV="1">
            <a:off x="1242244" y="1764406"/>
            <a:ext cx="0" cy="1188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2BA2E5A-B9E1-4450-D4F0-B14C00519E46}"/>
              </a:ext>
            </a:extLst>
          </p:cNvPr>
          <p:cNvCxnSpPr>
            <a:cxnSpLocks/>
          </p:cNvCxnSpPr>
          <p:nvPr/>
        </p:nvCxnSpPr>
        <p:spPr>
          <a:xfrm flipV="1">
            <a:off x="1948344" y="2568055"/>
            <a:ext cx="0" cy="34848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8DC0FF-B024-8163-B9F8-FADF4DC0CDE0}"/>
              </a:ext>
            </a:extLst>
          </p:cNvPr>
          <p:cNvCxnSpPr>
            <a:cxnSpLocks/>
          </p:cNvCxnSpPr>
          <p:nvPr/>
        </p:nvCxnSpPr>
        <p:spPr>
          <a:xfrm flipV="1">
            <a:off x="7349527" y="2561992"/>
            <a:ext cx="0" cy="30856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D68971-A0F1-440E-745D-D6486EB67240}"/>
              </a:ext>
            </a:extLst>
          </p:cNvPr>
          <p:cNvCxnSpPr>
            <a:cxnSpLocks/>
          </p:cNvCxnSpPr>
          <p:nvPr/>
        </p:nvCxnSpPr>
        <p:spPr>
          <a:xfrm flipV="1">
            <a:off x="5328580" y="2600359"/>
            <a:ext cx="0" cy="324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AD727B-6DD3-A68C-AB28-684BB2B79563}"/>
              </a:ext>
            </a:extLst>
          </p:cNvPr>
          <p:cNvCxnSpPr>
            <a:cxnSpLocks/>
          </p:cNvCxnSpPr>
          <p:nvPr/>
        </p:nvCxnSpPr>
        <p:spPr>
          <a:xfrm flipV="1">
            <a:off x="3308704" y="2577119"/>
            <a:ext cx="0" cy="33941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BD6BF1-7F54-DE6C-54F6-2EA750A85230}"/>
              </a:ext>
            </a:extLst>
          </p:cNvPr>
          <p:cNvCxnSpPr>
            <a:cxnSpLocks/>
          </p:cNvCxnSpPr>
          <p:nvPr/>
        </p:nvCxnSpPr>
        <p:spPr>
          <a:xfrm flipV="1">
            <a:off x="8826990" y="2600359"/>
            <a:ext cx="0" cy="324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1368E90-8CD3-373B-0367-D151E39D29CE}"/>
              </a:ext>
            </a:extLst>
          </p:cNvPr>
          <p:cNvCxnSpPr>
            <a:cxnSpLocks/>
            <a:endCxn id="240" idx="2"/>
          </p:cNvCxnSpPr>
          <p:nvPr/>
        </p:nvCxnSpPr>
        <p:spPr>
          <a:xfrm flipH="1" flipV="1">
            <a:off x="9811197" y="2321539"/>
            <a:ext cx="0" cy="62958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35A27D69-3764-4384-9556-3EBA70F9EE35}"/>
              </a:ext>
            </a:extLst>
          </p:cNvPr>
          <p:cNvSpPr>
            <a:spLocks noGrp="1"/>
          </p:cNvSpPr>
          <p:nvPr>
            <p:ph type="body" sz="quarter" idx="14"/>
          </p:nvPr>
        </p:nvSpPr>
        <p:spPr>
          <a:xfrm>
            <a:off x="603250" y="7133281"/>
            <a:ext cx="8150225" cy="168344"/>
          </a:xfrm>
        </p:spPr>
        <p:txBody>
          <a:bodyPr/>
          <a:lstStyle/>
          <a:p>
            <a:r>
              <a:rPr lang="de-DE" dirty="0"/>
              <a:t>Quelle: Geschäftsbericht 2025, Jahresabschlüsse 2021–2024, Unternehmensinformationen, Metzler Research</a:t>
            </a:r>
          </a:p>
        </p:txBody>
      </p:sp>
      <p:sp>
        <p:nvSpPr>
          <p:cNvPr id="11" name="Title 10">
            <a:extLst>
              <a:ext uri="{FF2B5EF4-FFF2-40B4-BE49-F238E27FC236}">
                <a16:creationId xmlns:a16="http://schemas.microsoft.com/office/drawing/2014/main" id="{DB333E89-82AE-49B4-BC8C-6F320156F447}"/>
              </a:ext>
            </a:extLst>
          </p:cNvPr>
          <p:cNvSpPr>
            <a:spLocks noGrp="1"/>
          </p:cNvSpPr>
          <p:nvPr>
            <p:ph type="title"/>
          </p:nvPr>
        </p:nvSpPr>
        <p:spPr/>
        <p:txBody>
          <a:bodyPr vert="horz"/>
          <a:lstStyle/>
          <a:p>
            <a:r>
              <a:rPr lang="de-DE" kern="200" spc="-30" dirty="0"/>
              <a:t>Die ESWE bündelt Vertrieb, Netze und Erzeugung – Netzbetrieb, Telekommunikation und Erzeugung sind in Tochtergesellschaften und Beteiligungen organisiert</a:t>
            </a:r>
          </a:p>
        </p:txBody>
      </p:sp>
      <p:sp>
        <p:nvSpPr>
          <p:cNvPr id="6" name="Text Placeholder 5">
            <a:extLst>
              <a:ext uri="{FF2B5EF4-FFF2-40B4-BE49-F238E27FC236}">
                <a16:creationId xmlns:a16="http://schemas.microsoft.com/office/drawing/2014/main" id="{E145D6E6-65A9-4CDB-B352-D64184ACF701}"/>
              </a:ext>
            </a:extLst>
          </p:cNvPr>
          <p:cNvSpPr>
            <a:spLocks noGrp="1"/>
          </p:cNvSpPr>
          <p:nvPr>
            <p:ph type="body" sz="quarter" idx="13"/>
          </p:nvPr>
        </p:nvSpPr>
        <p:spPr/>
        <p:txBody>
          <a:bodyPr/>
          <a:lstStyle/>
          <a:p>
            <a:r>
              <a:rPr lang="de-DE" dirty="0"/>
              <a:t>2. Übersicht und Herausforderungen ESWE Versorgungs AG</a:t>
            </a:r>
          </a:p>
        </p:txBody>
      </p:sp>
      <p:sp>
        <p:nvSpPr>
          <p:cNvPr id="8" name="Text Placeholder 7">
            <a:extLst>
              <a:ext uri="{FF2B5EF4-FFF2-40B4-BE49-F238E27FC236}">
                <a16:creationId xmlns:a16="http://schemas.microsoft.com/office/drawing/2014/main" id="{72753FA4-3524-40F1-9EE7-54C4604A36AA}"/>
              </a:ext>
            </a:extLst>
          </p:cNvPr>
          <p:cNvSpPr>
            <a:spLocks noGrp="1"/>
          </p:cNvSpPr>
          <p:nvPr>
            <p:ph type="body" sz="quarter" idx="15"/>
          </p:nvPr>
        </p:nvSpPr>
        <p:spPr>
          <a:xfrm>
            <a:off x="378700" y="6915600"/>
            <a:ext cx="8371857" cy="168344"/>
          </a:xfrm>
        </p:spPr>
        <p:txBody>
          <a:bodyPr/>
          <a:lstStyle/>
          <a:p>
            <a:pPr>
              <a:spcBef>
                <a:spcPts val="0"/>
              </a:spcBef>
              <a:spcAft>
                <a:spcPts val="100"/>
              </a:spcAft>
            </a:pPr>
            <a:r>
              <a:rPr lang="de-DE" dirty="0"/>
              <a:t>Eigenkapital und Jahresergebnis jeweils zum bzw. für das Geschäftsjahr 2025 lt. Angaben zum Anteilsbesitz (§ 285 Nr. 11 HGB); 1) Übrige Anteile bei Thüga Erneuerbare Energien und weiteren Partnern; 2) Jahresabschluss 2024, Werte für 2025 liegen noch nicht vor</a:t>
            </a:r>
          </a:p>
        </p:txBody>
      </p:sp>
      <p:sp>
        <p:nvSpPr>
          <p:cNvPr id="140" name="Textplatzhalter 2">
            <a:extLst>
              <a:ext uri="{FF2B5EF4-FFF2-40B4-BE49-F238E27FC236}">
                <a16:creationId xmlns:a16="http://schemas.microsoft.com/office/drawing/2014/main" id="{3ECE8F61-7C81-83DE-003A-63BA77E02941}"/>
              </a:ext>
            </a:extLst>
          </p:cNvPr>
          <p:cNvSpPr txBox="1">
            <a:spLocks/>
          </p:cNvSpPr>
          <p:nvPr/>
        </p:nvSpPr>
        <p:spPr>
          <a:xfrm>
            <a:off x="378700" y="1243937"/>
            <a:ext cx="9936000" cy="271120"/>
          </a:xfrm>
          <a:prstGeom prst="rect">
            <a:avLst/>
          </a:prstGeom>
        </p:spPr>
        <p:txBody>
          <a:bodyPr vert="horz" lIns="0" tIns="0" rIns="0" bIns="0" rtlCol="0">
            <a:noAutofit/>
          </a:bodyPr>
          <a:lstStyle>
            <a:lvl1pPr marL="0" indent="0" algn="l" defTabSz="1043056" rtl="0" eaLnBrk="1" latinLnBrk="0" hangingPunct="1">
              <a:spcBef>
                <a:spcPct val="20000"/>
              </a:spcBef>
              <a:buClr>
                <a:schemeClr val="accent1"/>
              </a:buClr>
              <a:buFont typeface="Wingdings" pitchFamily="2" charset="2"/>
              <a:buNone/>
              <a:tabLst/>
              <a:defRPr sz="1400" b="1" kern="1200">
                <a:solidFill>
                  <a:schemeClr val="tx2"/>
                </a:solidFill>
                <a:latin typeface="Univers for Metzler" panose="020B0503030202020203" pitchFamily="34" charset="0"/>
                <a:ea typeface="+mn-ea"/>
                <a:cs typeface="+mn-cs"/>
              </a:defRPr>
            </a:lvl1pPr>
            <a:lvl2pPr marL="521528" indent="0" algn="l" defTabSz="1043056" rtl="0" eaLnBrk="1" latinLnBrk="0" hangingPunct="1">
              <a:spcBef>
                <a:spcPct val="20000"/>
              </a:spcBef>
              <a:buClr>
                <a:schemeClr val="accent1"/>
              </a:buClr>
              <a:buFont typeface="Arial" pitchFamily="34" charset="0"/>
              <a:buNone/>
              <a:defRPr sz="1600" b="1" kern="1200">
                <a:solidFill>
                  <a:schemeClr val="tx1"/>
                </a:solidFill>
                <a:latin typeface="+mn-lt"/>
                <a:ea typeface="+mn-ea"/>
                <a:cs typeface="+mn-cs"/>
              </a:defRPr>
            </a:lvl2pPr>
            <a:lvl3pPr marL="1043056" indent="0" algn="l" defTabSz="1043056" rtl="0" eaLnBrk="1" latinLnBrk="0" hangingPunct="1">
              <a:spcBef>
                <a:spcPct val="20000"/>
              </a:spcBef>
              <a:buClr>
                <a:schemeClr val="accent1"/>
              </a:buClr>
              <a:buSzPct val="80000"/>
              <a:buFont typeface="Wingdings" pitchFamily="2" charset="2"/>
              <a:buNone/>
              <a:defRPr sz="1600" b="1" kern="1200">
                <a:solidFill>
                  <a:schemeClr val="tx1"/>
                </a:solidFill>
                <a:latin typeface="+mn-lt"/>
                <a:ea typeface="+mn-ea"/>
                <a:cs typeface="+mn-cs"/>
              </a:defRPr>
            </a:lvl3pPr>
            <a:lvl4pPr marL="1564584"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4pPr>
            <a:lvl5pPr marL="2086112"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Beteiligungsstruktur (vereinfacht)</a:t>
            </a:r>
          </a:p>
        </p:txBody>
      </p:sp>
      <p:cxnSp>
        <p:nvCxnSpPr>
          <p:cNvPr id="227" name="Straight Connector 226">
            <a:extLst>
              <a:ext uri="{FF2B5EF4-FFF2-40B4-BE49-F238E27FC236}">
                <a16:creationId xmlns:a16="http://schemas.microsoft.com/office/drawing/2014/main" id="{5A98CE7A-58D9-BC7A-5CD5-88901CE3B75E}"/>
              </a:ext>
            </a:extLst>
          </p:cNvPr>
          <p:cNvCxnSpPr>
            <a:cxnSpLocks/>
          </p:cNvCxnSpPr>
          <p:nvPr/>
        </p:nvCxnSpPr>
        <p:spPr>
          <a:xfrm flipV="1">
            <a:off x="4697949" y="1833300"/>
            <a:ext cx="0" cy="19159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35" name="Rectangle 131">
            <a:extLst>
              <a:ext uri="{FF2B5EF4-FFF2-40B4-BE49-F238E27FC236}">
                <a16:creationId xmlns:a16="http://schemas.microsoft.com/office/drawing/2014/main" id="{514C3C70-DE76-2C72-E8A4-E51E6E344C73}"/>
              </a:ext>
            </a:extLst>
          </p:cNvPr>
          <p:cNvSpPr/>
          <p:nvPr/>
        </p:nvSpPr>
        <p:spPr>
          <a:xfrm>
            <a:off x="8458723"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THEE ESWE Windparkbeteiligung</a:t>
            </a:r>
            <a:endParaRPr lang="de-DE" sz="900" b="1" dirty="0">
              <a:solidFill>
                <a:schemeClr val="bg1"/>
              </a:solidFill>
            </a:endParaRPr>
          </a:p>
        </p:txBody>
      </p:sp>
      <p:sp>
        <p:nvSpPr>
          <p:cNvPr id="240" name="Rectangle 239">
            <a:extLst>
              <a:ext uri="{FF2B5EF4-FFF2-40B4-BE49-F238E27FC236}">
                <a16:creationId xmlns:a16="http://schemas.microsoft.com/office/drawing/2014/main" id="{A904A328-94C7-5A54-7191-71ADE110418E}"/>
              </a:ext>
            </a:extLst>
          </p:cNvPr>
          <p:cNvSpPr/>
          <p:nvPr/>
        </p:nvSpPr>
        <p:spPr>
          <a:xfrm>
            <a:off x="9307141" y="2041108"/>
            <a:ext cx="1008111" cy="280431"/>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Thüga AG</a:t>
            </a:r>
            <a:endParaRPr lang="de-DE" sz="900" dirty="0">
              <a:solidFill>
                <a:schemeClr val="bg1"/>
              </a:solidFill>
            </a:endParaRPr>
          </a:p>
        </p:txBody>
      </p:sp>
      <p:sp>
        <p:nvSpPr>
          <p:cNvPr id="248" name="Rectangle 247">
            <a:extLst>
              <a:ext uri="{FF2B5EF4-FFF2-40B4-BE49-F238E27FC236}">
                <a16:creationId xmlns:a16="http://schemas.microsoft.com/office/drawing/2014/main" id="{F9D50416-1E93-953D-0203-69C106818392}"/>
              </a:ext>
            </a:extLst>
          </p:cNvPr>
          <p:cNvSpPr/>
          <p:nvPr/>
        </p:nvSpPr>
        <p:spPr>
          <a:xfrm>
            <a:off x="378148" y="1577432"/>
            <a:ext cx="7956356" cy="255868"/>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bg1"/>
                </a:solidFill>
              </a:rPr>
              <a:t>Landeshauptstadt Wiesbaden</a:t>
            </a:r>
          </a:p>
        </p:txBody>
      </p:sp>
      <p:sp>
        <p:nvSpPr>
          <p:cNvPr id="249" name="Rectangle 248">
            <a:extLst>
              <a:ext uri="{FF2B5EF4-FFF2-40B4-BE49-F238E27FC236}">
                <a16:creationId xmlns:a16="http://schemas.microsoft.com/office/drawing/2014/main" id="{5924F8B6-6C88-7DCF-B269-AD756866C125}"/>
              </a:ext>
            </a:extLst>
          </p:cNvPr>
          <p:cNvSpPr/>
          <p:nvPr/>
        </p:nvSpPr>
        <p:spPr>
          <a:xfrm>
            <a:off x="1848827" y="2041108"/>
            <a:ext cx="7314295" cy="28080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ESWE Versorgungs AG</a:t>
            </a:r>
            <a:endParaRPr lang="de-DE" sz="800" b="1" dirty="0">
              <a:solidFill>
                <a:schemeClr val="accent1"/>
              </a:solidFill>
            </a:endParaRPr>
          </a:p>
        </p:txBody>
      </p:sp>
      <p:sp>
        <p:nvSpPr>
          <p:cNvPr id="2050" name="Rechteck 26">
            <a:extLst>
              <a:ext uri="{FF2B5EF4-FFF2-40B4-BE49-F238E27FC236}">
                <a16:creationId xmlns:a16="http://schemas.microsoft.com/office/drawing/2014/main" id="{A29DFC45-24A2-8594-C0D0-D6AFA4A3FD71}"/>
              </a:ext>
            </a:extLst>
          </p:cNvPr>
          <p:cNvSpPr/>
          <p:nvPr/>
        </p:nvSpPr>
        <p:spPr>
          <a:xfrm>
            <a:off x="8459147"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Gemeinsames Windportfolio mit Thüga Erneuerbare Energien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11,3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2025:</a:t>
            </a:r>
            <a:br/>
            <a:r>
              <a:rPr lang="de-DE" sz="900" dirty="0">
                <a:solidFill>
                  <a:srgbClr val="00B050"/>
                </a:solidFill>
              </a:rPr>
              <a:t>(1,1) Mio. EUR</a:t>
            </a:r>
          </a:p>
        </p:txBody>
      </p:sp>
      <p:sp>
        <p:nvSpPr>
          <p:cNvPr id="2068" name="TextBox 2067">
            <a:extLst>
              <a:ext uri="{FF2B5EF4-FFF2-40B4-BE49-F238E27FC236}">
                <a16:creationId xmlns:a16="http://schemas.microsoft.com/office/drawing/2014/main" id="{71B096F5-D4B2-56C8-B446-5B5566862031}"/>
              </a:ext>
            </a:extLst>
          </p:cNvPr>
          <p:cNvSpPr txBox="1"/>
          <p:nvPr/>
        </p:nvSpPr>
        <p:spPr>
          <a:xfrm>
            <a:off x="1920349" y="2674488"/>
            <a:ext cx="617661" cy="153888"/>
          </a:xfrm>
          <a:prstGeom prst="rect">
            <a:avLst/>
          </a:prstGeom>
          <a:noFill/>
        </p:spPr>
        <p:txBody>
          <a:bodyPr wrap="square" lIns="72000" tIns="0" rIns="72000" bIns="0" rtlCol="0">
            <a:spAutoFit/>
          </a:bodyPr>
          <a:lstStyle/>
          <a:p>
            <a:r>
              <a:rPr lang="de-DE" sz="1000" dirty="0"/>
              <a:t>100 %</a:t>
            </a:r>
            <a:endParaRPr lang="de-DE" sz="1000" dirty="0"/>
          </a:p>
        </p:txBody>
      </p:sp>
      <p:sp>
        <p:nvSpPr>
          <p:cNvPr id="2070" name="TextBox 2069">
            <a:extLst>
              <a:ext uri="{FF2B5EF4-FFF2-40B4-BE49-F238E27FC236}">
                <a16:creationId xmlns:a16="http://schemas.microsoft.com/office/drawing/2014/main" id="{24691FB9-715A-2FC8-A3F9-EF0745B66C3D}"/>
              </a:ext>
            </a:extLst>
          </p:cNvPr>
          <p:cNvSpPr txBox="1"/>
          <p:nvPr/>
        </p:nvSpPr>
        <p:spPr>
          <a:xfrm>
            <a:off x="9873567" y="2672463"/>
            <a:ext cx="510464" cy="157938"/>
          </a:xfrm>
          <a:prstGeom prst="rect">
            <a:avLst/>
          </a:prstGeom>
          <a:noFill/>
        </p:spPr>
        <p:txBody>
          <a:bodyPr wrap="square" lIns="72000" tIns="0" rIns="72000" bIns="0" rtlCol="0">
            <a:spAutoFit/>
          </a:bodyPr>
          <a:lstStyle/>
          <a:p>
            <a:r>
              <a:rPr lang="de-DE" sz="1000" dirty="0"/>
              <a:t>49,38 %</a:t>
            </a:r>
          </a:p>
        </p:txBody>
      </p:sp>
      <p:sp>
        <p:nvSpPr>
          <p:cNvPr id="2073" name="TextBox 2072">
            <a:extLst>
              <a:ext uri="{FF2B5EF4-FFF2-40B4-BE49-F238E27FC236}">
                <a16:creationId xmlns:a16="http://schemas.microsoft.com/office/drawing/2014/main" id="{0ED176AA-FDFF-2A55-D4CE-FB12203F912F}"/>
              </a:ext>
            </a:extLst>
          </p:cNvPr>
          <p:cNvSpPr txBox="1"/>
          <p:nvPr/>
        </p:nvSpPr>
        <p:spPr>
          <a:xfrm>
            <a:off x="1170887" y="4716735"/>
            <a:ext cx="617661" cy="153888"/>
          </a:xfrm>
          <a:prstGeom prst="rect">
            <a:avLst/>
          </a:prstGeom>
          <a:noFill/>
        </p:spPr>
        <p:txBody>
          <a:bodyPr wrap="square" lIns="72000" tIns="0" rIns="72000" bIns="0" rtlCol="0">
            <a:spAutoFit/>
          </a:bodyPr>
          <a:lstStyle/>
          <a:p>
            <a:r>
              <a:rPr lang="de-DE" sz="1000" dirty="0"/>
              <a:t>50,0 %</a:t>
            </a:r>
          </a:p>
        </p:txBody>
      </p:sp>
      <p:pic>
        <p:nvPicPr>
          <p:cNvPr id="2" name="Picture 1">
            <a:extLst>
              <a:ext uri="{FF2B5EF4-FFF2-40B4-BE49-F238E27FC236}">
                <a16:creationId xmlns:a16="http://schemas.microsoft.com/office/drawing/2014/main" id="{A4C83E4F-FCF9-17FC-F630-A5E747EC7E67}"/>
              </a:ext>
            </a:extLst>
          </p:cNvPr>
          <p:cNvPicPr>
            <a:picLocks noChangeAspect="1"/>
          </p:cNvPicPr>
          <p:nvPr/>
        </p:nvPicPr>
        <p:blipFill rotWithShape="1">
          <a:blip r:embed="rId5"/>
          <a:srcRect b="54764"/>
          <a:stretch/>
        </p:blipFill>
        <p:spPr>
          <a:xfrm>
            <a:off x="4073842" y="1605694"/>
            <a:ext cx="564969" cy="199345"/>
          </a:xfrm>
          <a:prstGeom prst="rect">
            <a:avLst/>
          </a:prstGeom>
        </p:spPr>
      </p:pic>
      <p:pic>
        <p:nvPicPr>
          <p:cNvPr id="5" name="Picture 4">
            <a:extLst>
              <a:ext uri="{FF2B5EF4-FFF2-40B4-BE49-F238E27FC236}">
                <a16:creationId xmlns:a16="http://schemas.microsoft.com/office/drawing/2014/main" id="{3AC56EB4-A871-88AD-6DF4-CCAE4FAFDDAA}"/>
              </a:ext>
            </a:extLst>
          </p:cNvPr>
          <p:cNvPicPr>
            <a:picLocks noChangeAspect="1"/>
          </p:cNvPicPr>
          <p:nvPr/>
        </p:nvPicPr>
        <p:blipFill>
          <a:blip r:embed="rId6"/>
          <a:stretch>
            <a:fillRect/>
          </a:stretch>
        </p:blipFill>
        <p:spPr>
          <a:xfrm>
            <a:off x="5207295" y="2049342"/>
            <a:ext cx="597359" cy="264332"/>
          </a:xfrm>
          <a:prstGeom prst="rect">
            <a:avLst/>
          </a:prstGeom>
        </p:spPr>
      </p:pic>
      <p:pic>
        <p:nvPicPr>
          <p:cNvPr id="12" name="Picture 11">
            <a:extLst>
              <a:ext uri="{FF2B5EF4-FFF2-40B4-BE49-F238E27FC236}">
                <a16:creationId xmlns:a16="http://schemas.microsoft.com/office/drawing/2014/main" id="{2A5BFA5E-87B1-6D48-32DC-D382105FB1E3}"/>
              </a:ext>
            </a:extLst>
          </p:cNvPr>
          <p:cNvPicPr>
            <a:picLocks noChangeAspect="1"/>
          </p:cNvPicPr>
          <p:nvPr/>
        </p:nvPicPr>
        <p:blipFill>
          <a:blip r:embed="rId7"/>
          <a:stretch>
            <a:fillRect/>
          </a:stretch>
        </p:blipFill>
        <p:spPr>
          <a:xfrm>
            <a:off x="9330169" y="2063840"/>
            <a:ext cx="962055" cy="235705"/>
          </a:xfrm>
          <a:prstGeom prst="rect">
            <a:avLst/>
          </a:prstGeom>
        </p:spPr>
      </p:pic>
      <p:sp>
        <p:nvSpPr>
          <p:cNvPr id="21" name="TextBox 20">
            <a:extLst>
              <a:ext uri="{FF2B5EF4-FFF2-40B4-BE49-F238E27FC236}">
                <a16:creationId xmlns:a16="http://schemas.microsoft.com/office/drawing/2014/main" id="{ADC9A8A1-1F67-B6A0-4900-7EB70197854F}"/>
              </a:ext>
            </a:extLst>
          </p:cNvPr>
          <p:cNvSpPr txBox="1"/>
          <p:nvPr/>
        </p:nvSpPr>
        <p:spPr>
          <a:xfrm>
            <a:off x="8802599" y="2674488"/>
            <a:ext cx="617661" cy="153888"/>
          </a:xfrm>
          <a:prstGeom prst="rect">
            <a:avLst/>
          </a:prstGeom>
          <a:noFill/>
        </p:spPr>
        <p:txBody>
          <a:bodyPr wrap="square" lIns="72000" tIns="0" rIns="72000" bIns="0" rtlCol="0">
            <a:spAutoFit/>
          </a:bodyPr>
          <a:lstStyle/>
          <a:p>
            <a:r>
              <a:rPr lang="de-DE" sz="1000" dirty="0"/>
              <a:t>33,33 %1)</a:t>
            </a:r>
          </a:p>
        </p:txBody>
      </p:sp>
      <p:sp>
        <p:nvSpPr>
          <p:cNvPr id="22" name="TextBox 21">
            <a:extLst>
              <a:ext uri="{FF2B5EF4-FFF2-40B4-BE49-F238E27FC236}">
                <a16:creationId xmlns:a16="http://schemas.microsoft.com/office/drawing/2014/main" id="{3E359B79-AC9B-6D69-9515-3CF51CDA0C0E}"/>
              </a:ext>
            </a:extLst>
          </p:cNvPr>
          <p:cNvSpPr txBox="1"/>
          <p:nvPr/>
        </p:nvSpPr>
        <p:spPr>
          <a:xfrm>
            <a:off x="4894947" y="1864455"/>
            <a:ext cx="617661" cy="153888"/>
          </a:xfrm>
          <a:prstGeom prst="rect">
            <a:avLst/>
          </a:prstGeom>
          <a:noFill/>
        </p:spPr>
        <p:txBody>
          <a:bodyPr wrap="square" lIns="72000" tIns="0" rIns="72000" bIns="0" rtlCol="0">
            <a:spAutoFit/>
          </a:bodyPr>
          <a:lstStyle/>
          <a:p>
            <a:r>
              <a:rPr lang="de-DE" sz="1000" dirty="0"/>
              <a:t>100 %</a:t>
            </a:r>
          </a:p>
        </p:txBody>
      </p:sp>
      <p:pic>
        <p:nvPicPr>
          <p:cNvPr id="250" name="Picture 249">
            <a:extLst>
              <a:ext uri="{FF2B5EF4-FFF2-40B4-BE49-F238E27FC236}">
                <a16:creationId xmlns:a16="http://schemas.microsoft.com/office/drawing/2014/main" id="{861FBD82-C1B8-B9B1-1FA8-20B6B0C2ED2F}"/>
              </a:ext>
            </a:extLst>
          </p:cNvPr>
          <p:cNvPicPr>
            <a:picLocks noChangeAspect="1"/>
          </p:cNvPicPr>
          <p:nvPr/>
        </p:nvPicPr>
        <p:blipFill>
          <a:blip r:embed="rId8"/>
          <a:stretch>
            <a:fillRect/>
          </a:stretch>
        </p:blipFill>
        <p:spPr>
          <a:xfrm>
            <a:off x="9025585" y="2902408"/>
            <a:ext cx="722805" cy="206000"/>
          </a:xfrm>
          <a:prstGeom prst="rect">
            <a:avLst/>
          </a:prstGeom>
        </p:spPr>
      </p:pic>
      <p:sp>
        <p:nvSpPr>
          <p:cNvPr id="251" name="Rectangle 131">
            <a:extLst>
              <a:ext uri="{FF2B5EF4-FFF2-40B4-BE49-F238E27FC236}">
                <a16:creationId xmlns:a16="http://schemas.microsoft.com/office/drawing/2014/main" id="{C924BA0D-CBE1-8AB8-1DFA-1EE1B10C9533}"/>
              </a:ext>
            </a:extLst>
          </p:cNvPr>
          <p:cNvSpPr/>
          <p:nvPr/>
        </p:nvSpPr>
        <p:spPr>
          <a:xfrm>
            <a:off x="4417900"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ESWE BioEnergie</a:t>
            </a:r>
            <a:endParaRPr lang="de-DE" sz="900" b="1" dirty="0">
              <a:solidFill>
                <a:schemeClr val="bg1"/>
              </a:solidFill>
            </a:endParaRPr>
          </a:p>
        </p:txBody>
      </p:sp>
      <p:sp>
        <p:nvSpPr>
          <p:cNvPr id="252" name="Rechteck 26">
            <a:extLst>
              <a:ext uri="{FF2B5EF4-FFF2-40B4-BE49-F238E27FC236}">
                <a16:creationId xmlns:a16="http://schemas.microsoft.com/office/drawing/2014/main" id="{8BC1AD70-8993-2948-E017-0564F797F99F}"/>
              </a:ext>
            </a:extLst>
          </p:cNvPr>
          <p:cNvSpPr/>
          <p:nvPr/>
        </p:nvSpPr>
        <p:spPr>
          <a:xfrm>
            <a:off x="4417900"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Biomasse-Heizkraftwerk Wiesbaden (Altholz), Strom- und Wärmeerzeugung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18,8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2025:</a:t>
            </a:r>
            <a:br/>
            <a:r>
              <a:rPr lang="de-DE" sz="900" dirty="0">
                <a:solidFill>
                  <a:srgbClr val="00B050"/>
                </a:solidFill>
              </a:rPr>
              <a:t>1,3 Mio. EUR</a:t>
            </a:r>
          </a:p>
        </p:txBody>
      </p:sp>
      <p:sp>
        <p:nvSpPr>
          <p:cNvPr id="253" name="Rectangle 131">
            <a:extLst>
              <a:ext uri="{FF2B5EF4-FFF2-40B4-BE49-F238E27FC236}">
                <a16:creationId xmlns:a16="http://schemas.microsoft.com/office/drawing/2014/main" id="{95D68F48-00E1-E193-F06D-6FF45E7DB7AD}"/>
              </a:ext>
            </a:extLst>
          </p:cNvPr>
          <p:cNvSpPr/>
          <p:nvPr/>
        </p:nvSpPr>
        <p:spPr>
          <a:xfrm>
            <a:off x="2398024"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WiTCOM</a:t>
            </a:r>
            <a:endParaRPr lang="de-DE" sz="900" b="1" dirty="0">
              <a:solidFill>
                <a:schemeClr val="bg1"/>
              </a:solidFill>
            </a:endParaRPr>
          </a:p>
        </p:txBody>
      </p:sp>
      <p:sp>
        <p:nvSpPr>
          <p:cNvPr id="254" name="Rechteck 26">
            <a:extLst>
              <a:ext uri="{FF2B5EF4-FFF2-40B4-BE49-F238E27FC236}">
                <a16:creationId xmlns:a16="http://schemas.microsoft.com/office/drawing/2014/main" id="{2C7A8F2B-1691-A914-B638-AD8B52678214}"/>
              </a:ext>
            </a:extLst>
          </p:cNvPr>
          <p:cNvSpPr/>
          <p:nvPr/>
        </p:nvSpPr>
        <p:spPr>
          <a:xfrm>
            <a:off x="2398024"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Glasfaser- und Telekommunikations-infrastruktur in Wiesbaden und der Region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8,7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2025:</a:t>
            </a:r>
            <a:br/>
            <a:r>
              <a:rPr lang="de-DE" sz="900" dirty="0">
                <a:solidFill>
                  <a:srgbClr val="00B050"/>
                </a:solidFill>
              </a:rPr>
              <a:t>3,4 Mio. EUR</a:t>
            </a:r>
          </a:p>
        </p:txBody>
      </p:sp>
      <p:sp>
        <p:nvSpPr>
          <p:cNvPr id="255" name="Rechteck 26">
            <a:extLst>
              <a:ext uri="{FF2B5EF4-FFF2-40B4-BE49-F238E27FC236}">
                <a16:creationId xmlns:a16="http://schemas.microsoft.com/office/drawing/2014/main" id="{ABBF9F40-AEB0-795F-84C4-8B1FC29A063E}"/>
              </a:ext>
            </a:extLst>
          </p:cNvPr>
          <p:cNvSpPr/>
          <p:nvPr/>
        </p:nvSpPr>
        <p:spPr>
          <a:xfrm>
            <a:off x="6437776" y="3240711"/>
            <a:ext cx="1857600"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Halten und Betrieb der Onshore-Windbeteiligungen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0,1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Ergebnisübernahme</a:t>
            </a:r>
            <a:br/>
            <a:r>
              <a:rPr lang="de-DE" sz="900" dirty="0">
                <a:solidFill>
                  <a:srgbClr val="00B050"/>
                </a:solidFill>
              </a:rPr>
              <a:t>durch ESWE</a:t>
            </a:r>
          </a:p>
        </p:txBody>
      </p:sp>
      <p:sp>
        <p:nvSpPr>
          <p:cNvPr id="2052" name="Rechteck 26">
            <a:extLst>
              <a:ext uri="{FF2B5EF4-FFF2-40B4-BE49-F238E27FC236}">
                <a16:creationId xmlns:a16="http://schemas.microsoft.com/office/drawing/2014/main" id="{94FA27F8-1819-4F69-0E60-149B948954FC}"/>
              </a:ext>
            </a:extLst>
          </p:cNvPr>
          <p:cNvSpPr/>
          <p:nvPr/>
        </p:nvSpPr>
        <p:spPr>
          <a:xfrm>
            <a:off x="378148"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Betrieb des Strom- und Straßen-beleuchtungsnetzes Wiesbaden sowie der Gasnetze Taunusstein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69,6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FF0000"/>
                </a:solidFill>
              </a:rPr>
              <a:t>Gewinnabführung 2025:</a:t>
            </a:r>
            <a:br/>
            <a:r>
              <a:rPr lang="de-DE" sz="900" dirty="0">
                <a:solidFill>
                  <a:srgbClr val="FF0000"/>
                </a:solidFill>
              </a:rPr>
              <a:t>5,4 Mio. EUR</a:t>
            </a:r>
          </a:p>
        </p:txBody>
      </p:sp>
      <p:sp>
        <p:nvSpPr>
          <p:cNvPr id="288" name="Rectangle 131">
            <a:extLst>
              <a:ext uri="{FF2B5EF4-FFF2-40B4-BE49-F238E27FC236}">
                <a16:creationId xmlns:a16="http://schemas.microsoft.com/office/drawing/2014/main" id="{CBD9B0BB-5F51-450B-DDAB-68EDE941DFB7}"/>
              </a:ext>
            </a:extLst>
          </p:cNvPr>
          <p:cNvSpPr/>
          <p:nvPr/>
        </p:nvSpPr>
        <p:spPr>
          <a:xfrm>
            <a:off x="378193"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sw netz</a:t>
            </a:r>
            <a:endParaRPr lang="de-DE" sz="900" b="1" dirty="0">
              <a:solidFill>
                <a:schemeClr val="bg1"/>
              </a:solidFill>
            </a:endParaRPr>
          </a:p>
        </p:txBody>
      </p:sp>
      <p:sp>
        <p:nvSpPr>
          <p:cNvPr id="289" name="Rectangle 131">
            <a:extLst>
              <a:ext uri="{FF2B5EF4-FFF2-40B4-BE49-F238E27FC236}">
                <a16:creationId xmlns:a16="http://schemas.microsoft.com/office/drawing/2014/main" id="{82B573E8-6374-7447-A144-2C93ADAEAA53}"/>
              </a:ext>
            </a:extLst>
          </p:cNvPr>
          <p:cNvSpPr/>
          <p:nvPr/>
        </p:nvSpPr>
        <p:spPr>
          <a:xfrm>
            <a:off x="378229"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KMW</a:t>
            </a:r>
            <a:endParaRPr lang="de-DE" sz="900" b="1" dirty="0">
              <a:solidFill>
                <a:schemeClr val="bg1"/>
              </a:solidFill>
            </a:endParaRPr>
          </a:p>
        </p:txBody>
      </p:sp>
      <p:sp>
        <p:nvSpPr>
          <p:cNvPr id="290" name="Rechteck 26">
            <a:extLst>
              <a:ext uri="{FF2B5EF4-FFF2-40B4-BE49-F238E27FC236}">
                <a16:creationId xmlns:a16="http://schemas.microsoft.com/office/drawing/2014/main" id="{9B86B3A1-304F-2E97-6EEC-FD5577FCC065}"/>
              </a:ext>
            </a:extLst>
          </p:cNvPr>
          <p:cNvSpPr/>
          <p:nvPr/>
        </p:nvSpPr>
        <p:spPr>
          <a:xfrm>
            <a:off x="378148"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Kraftwerke Mainz-Wiesbaden AG – Strom- und Wärmeerzeugung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396,0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Ausschüttung 2025: 14,0 Mio. EUR</a:t>
            </a:r>
          </a:p>
        </p:txBody>
      </p:sp>
      <p:pic>
        <p:nvPicPr>
          <p:cNvPr id="291" name="Picture 290">
            <a:extLst>
              <a:ext uri="{FF2B5EF4-FFF2-40B4-BE49-F238E27FC236}">
                <a16:creationId xmlns:a16="http://schemas.microsoft.com/office/drawing/2014/main" id="{DF18F755-64AE-AD8A-DD77-8704C61D2878}"/>
              </a:ext>
            </a:extLst>
          </p:cNvPr>
          <p:cNvPicPr>
            <a:picLocks noChangeAspect="1"/>
          </p:cNvPicPr>
          <p:nvPr/>
        </p:nvPicPr>
        <p:blipFill>
          <a:blip r:embed="rId9"/>
          <a:stretch>
            <a:fillRect/>
          </a:stretch>
        </p:blipFill>
        <p:spPr>
          <a:xfrm>
            <a:off x="945055" y="2884941"/>
            <a:ext cx="722805" cy="240935"/>
          </a:xfrm>
          <a:prstGeom prst="rect">
            <a:avLst/>
          </a:prstGeom>
        </p:spPr>
      </p:pic>
      <p:pic>
        <p:nvPicPr>
          <p:cNvPr id="292" name="Picture 291">
            <a:extLst>
              <a:ext uri="{FF2B5EF4-FFF2-40B4-BE49-F238E27FC236}">
                <a16:creationId xmlns:a16="http://schemas.microsoft.com/office/drawing/2014/main" id="{7A04517A-4988-7B8E-1CB1-17E8C9E44B78}"/>
              </a:ext>
            </a:extLst>
          </p:cNvPr>
          <p:cNvPicPr>
            <a:picLocks noChangeAspect="1"/>
          </p:cNvPicPr>
          <p:nvPr/>
        </p:nvPicPr>
        <p:blipFill>
          <a:blip r:embed="rId10"/>
          <a:stretch>
            <a:fillRect/>
          </a:stretch>
        </p:blipFill>
        <p:spPr>
          <a:xfrm>
            <a:off x="4984762" y="2881666"/>
            <a:ext cx="722805" cy="247484"/>
          </a:xfrm>
          <a:prstGeom prst="rect">
            <a:avLst/>
          </a:prstGeom>
        </p:spPr>
      </p:pic>
      <p:pic>
        <p:nvPicPr>
          <p:cNvPr id="293" name="Picture 292">
            <a:extLst>
              <a:ext uri="{FF2B5EF4-FFF2-40B4-BE49-F238E27FC236}">
                <a16:creationId xmlns:a16="http://schemas.microsoft.com/office/drawing/2014/main" id="{3F9BA953-8EFF-E2F4-11CC-8231C0A0DB24}"/>
              </a:ext>
            </a:extLst>
          </p:cNvPr>
          <p:cNvPicPr>
            <a:picLocks noChangeAspect="1"/>
          </p:cNvPicPr>
          <p:nvPr/>
        </p:nvPicPr>
        <p:blipFill>
          <a:blip r:embed="rId11"/>
          <a:stretch>
            <a:fillRect/>
          </a:stretch>
        </p:blipFill>
        <p:spPr>
          <a:xfrm>
            <a:off x="2997741" y="2878573"/>
            <a:ext cx="657095" cy="253670"/>
          </a:xfrm>
          <a:prstGeom prst="rect">
            <a:avLst/>
          </a:prstGeom>
        </p:spPr>
      </p:pic>
      <p:sp>
        <p:nvSpPr>
          <p:cNvPr id="294" name="Rectangle 131">
            <a:extLst>
              <a:ext uri="{FF2B5EF4-FFF2-40B4-BE49-F238E27FC236}">
                <a16:creationId xmlns:a16="http://schemas.microsoft.com/office/drawing/2014/main" id="{B9F62067-A3D0-C99D-3BBC-160C5C4040BF}"/>
              </a:ext>
            </a:extLst>
          </p:cNvPr>
          <p:cNvSpPr/>
          <p:nvPr/>
        </p:nvSpPr>
        <p:spPr>
          <a:xfrm>
            <a:off x="2058920"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MHKW Wiesbaden</a:t>
            </a:r>
            <a:endParaRPr lang="de-DE" sz="900" b="1" dirty="0">
              <a:solidFill>
                <a:schemeClr val="bg1"/>
              </a:solidFill>
            </a:endParaRPr>
          </a:p>
        </p:txBody>
      </p:sp>
      <p:sp>
        <p:nvSpPr>
          <p:cNvPr id="295" name="Rechteck 26">
            <a:extLst>
              <a:ext uri="{FF2B5EF4-FFF2-40B4-BE49-F238E27FC236}">
                <a16:creationId xmlns:a16="http://schemas.microsoft.com/office/drawing/2014/main" id="{1547DE56-6BB2-306A-8315-13AE557D568E}"/>
              </a:ext>
            </a:extLst>
          </p:cNvPr>
          <p:cNvSpPr/>
          <p:nvPr/>
        </p:nvSpPr>
        <p:spPr>
          <a:xfrm>
            <a:off x="2058839"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Müllheizkraftwerk im Bau – künftige Wärmequelle für die Fernwärme (~39 MW)</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27,4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2025: (3,5) Mio. EUR</a:t>
            </a:r>
          </a:p>
        </p:txBody>
      </p:sp>
      <p:pic>
        <p:nvPicPr>
          <p:cNvPr id="296" name="Picture 295">
            <a:extLst>
              <a:ext uri="{FF2B5EF4-FFF2-40B4-BE49-F238E27FC236}">
                <a16:creationId xmlns:a16="http://schemas.microsoft.com/office/drawing/2014/main" id="{4152019F-8CBF-24A2-B31C-45245EA27199}"/>
              </a:ext>
            </a:extLst>
          </p:cNvPr>
          <p:cNvPicPr>
            <a:picLocks noChangeAspect="1"/>
          </p:cNvPicPr>
          <p:nvPr/>
        </p:nvPicPr>
        <p:blipFill>
          <a:blip r:embed="rId12"/>
          <a:stretch>
            <a:fillRect/>
          </a:stretch>
        </p:blipFill>
        <p:spPr>
          <a:xfrm>
            <a:off x="664363" y="4929210"/>
            <a:ext cx="962055" cy="238109"/>
          </a:xfrm>
          <a:prstGeom prst="rect">
            <a:avLst/>
          </a:prstGeom>
        </p:spPr>
      </p:pic>
      <p:pic>
        <p:nvPicPr>
          <p:cNvPr id="297" name="Picture 296">
            <a:extLst>
              <a:ext uri="{FF2B5EF4-FFF2-40B4-BE49-F238E27FC236}">
                <a16:creationId xmlns:a16="http://schemas.microsoft.com/office/drawing/2014/main" id="{6A293CF5-C73A-C41F-2F47-FD03E5C8BC7D}"/>
              </a:ext>
            </a:extLst>
          </p:cNvPr>
          <p:cNvPicPr>
            <a:picLocks noChangeAspect="1"/>
          </p:cNvPicPr>
          <p:nvPr/>
        </p:nvPicPr>
        <p:blipFill>
          <a:blip r:embed="rId13"/>
          <a:stretch>
            <a:fillRect/>
          </a:stretch>
        </p:blipFill>
        <p:spPr>
          <a:xfrm>
            <a:off x="2428538" y="4909586"/>
            <a:ext cx="795086" cy="277356"/>
          </a:xfrm>
          <a:prstGeom prst="rect">
            <a:avLst/>
          </a:prstGeom>
        </p:spPr>
      </p:pic>
      <p:sp>
        <p:nvSpPr>
          <p:cNvPr id="304" name="Rectangle 131">
            <a:extLst>
              <a:ext uri="{FF2B5EF4-FFF2-40B4-BE49-F238E27FC236}">
                <a16:creationId xmlns:a16="http://schemas.microsoft.com/office/drawing/2014/main" id="{CBBB2355-2033-13A9-A2B3-07376197E224}"/>
              </a:ext>
            </a:extLst>
          </p:cNvPr>
          <p:cNvSpPr/>
          <p:nvPr/>
        </p:nvSpPr>
        <p:spPr>
          <a:xfrm>
            <a:off x="3739611"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WRT Infrastrukturbau</a:t>
            </a:r>
            <a:endParaRPr lang="de-DE" sz="900" b="1" dirty="0">
              <a:solidFill>
                <a:schemeClr val="bg1"/>
              </a:solidFill>
            </a:endParaRPr>
          </a:p>
        </p:txBody>
      </p:sp>
      <p:sp>
        <p:nvSpPr>
          <p:cNvPr id="307" name="Rechteck 26">
            <a:extLst>
              <a:ext uri="{FF2B5EF4-FFF2-40B4-BE49-F238E27FC236}">
                <a16:creationId xmlns:a16="http://schemas.microsoft.com/office/drawing/2014/main" id="{3C6E2CA4-7E3A-45BB-E77B-CC1DD5439245}"/>
              </a:ext>
            </a:extLst>
          </p:cNvPr>
          <p:cNvSpPr/>
          <p:nvPr/>
        </p:nvSpPr>
        <p:spPr>
          <a:xfrm>
            <a:off x="3739530"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Gemeinschaftsunternehmen Tief- und Rohrleitungsbau zur Sicherung von Baukapazitäten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2024: 0,03 Mio. EUR2)</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2024: (0,0) Mio. EUR</a:t>
            </a:r>
          </a:p>
        </p:txBody>
      </p:sp>
      <p:pic>
        <p:nvPicPr>
          <p:cNvPr id="309" name="Picture 308">
            <a:extLst>
              <a:ext uri="{FF2B5EF4-FFF2-40B4-BE49-F238E27FC236}">
                <a16:creationId xmlns:a16="http://schemas.microsoft.com/office/drawing/2014/main" id="{AF4CBA8F-A4A7-EC2A-2233-02FB39C98716}"/>
              </a:ext>
            </a:extLst>
          </p:cNvPr>
          <p:cNvPicPr>
            <a:picLocks noChangeAspect="1"/>
          </p:cNvPicPr>
          <p:nvPr/>
        </p:nvPicPr>
        <p:blipFill>
          <a:blip r:embed="rId14"/>
          <a:stretch>
            <a:fillRect/>
          </a:stretch>
        </p:blipFill>
        <p:spPr>
          <a:xfrm>
            <a:off x="4145370" y="4922879"/>
            <a:ext cx="722805" cy="250770"/>
          </a:xfrm>
          <a:prstGeom prst="rect">
            <a:avLst/>
          </a:prstGeom>
        </p:spPr>
      </p:pic>
      <p:sp>
        <p:nvSpPr>
          <p:cNvPr id="311" name="Rectangle 131">
            <a:extLst>
              <a:ext uri="{FF2B5EF4-FFF2-40B4-BE49-F238E27FC236}">
                <a16:creationId xmlns:a16="http://schemas.microsoft.com/office/drawing/2014/main" id="{DA259E0C-62D2-8ED0-CF13-4B1A9306E82A}"/>
              </a:ext>
            </a:extLst>
          </p:cNvPr>
          <p:cNvSpPr/>
          <p:nvPr/>
        </p:nvSpPr>
        <p:spPr>
          <a:xfrm>
            <a:off x="5420302"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Windkraft Kahlenberg</a:t>
            </a:r>
            <a:endParaRPr lang="de-DE" sz="900" b="1" dirty="0">
              <a:solidFill>
                <a:schemeClr val="bg1"/>
              </a:solidFill>
            </a:endParaRPr>
          </a:p>
        </p:txBody>
      </p:sp>
      <p:sp>
        <p:nvSpPr>
          <p:cNvPr id="313" name="Rechteck 26">
            <a:extLst>
              <a:ext uri="{FF2B5EF4-FFF2-40B4-BE49-F238E27FC236}">
                <a16:creationId xmlns:a16="http://schemas.microsoft.com/office/drawing/2014/main" id="{6949270C-63F6-2C5B-18E4-02CE5BCD1727}"/>
              </a:ext>
            </a:extLst>
          </p:cNvPr>
          <p:cNvSpPr/>
          <p:nvPr/>
        </p:nvSpPr>
        <p:spPr>
          <a:xfrm>
            <a:off x="5420221"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Onshore-Windpark</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2,6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2025: (0,2) Mio. EUR</a:t>
            </a:r>
          </a:p>
        </p:txBody>
      </p:sp>
      <p:pic>
        <p:nvPicPr>
          <p:cNvPr id="314" name="Picture 313">
            <a:extLst>
              <a:ext uri="{FF2B5EF4-FFF2-40B4-BE49-F238E27FC236}">
                <a16:creationId xmlns:a16="http://schemas.microsoft.com/office/drawing/2014/main" id="{1B003025-7E35-DF05-C742-D65983655C08}"/>
              </a:ext>
            </a:extLst>
          </p:cNvPr>
          <p:cNvPicPr>
            <a:picLocks noChangeAspect="1"/>
          </p:cNvPicPr>
          <p:nvPr/>
        </p:nvPicPr>
        <p:blipFill>
          <a:blip r:embed="rId15"/>
          <a:stretch>
            <a:fillRect/>
          </a:stretch>
        </p:blipFill>
        <p:spPr>
          <a:xfrm>
            <a:off x="5750166" y="4949172"/>
            <a:ext cx="874595" cy="198185"/>
          </a:xfrm>
          <a:prstGeom prst="rect">
            <a:avLst/>
          </a:prstGeom>
        </p:spPr>
      </p:pic>
      <p:sp>
        <p:nvSpPr>
          <p:cNvPr id="4" name="Rectangle 131">
            <a:extLst>
              <a:ext uri="{FF2B5EF4-FFF2-40B4-BE49-F238E27FC236}">
                <a16:creationId xmlns:a16="http://schemas.microsoft.com/office/drawing/2014/main" id="{D7C92EDB-AD88-1705-E602-8257BEA399A0}"/>
              </a:ext>
            </a:extLst>
          </p:cNvPr>
          <p:cNvSpPr/>
          <p:nvPr/>
        </p:nvSpPr>
        <p:spPr>
          <a:xfrm>
            <a:off x="7100993"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Windpark Bad Camberg</a:t>
            </a:r>
            <a:endParaRPr lang="de-DE" sz="900" b="1" dirty="0">
              <a:solidFill>
                <a:schemeClr val="bg1"/>
              </a:solidFill>
            </a:endParaRPr>
          </a:p>
        </p:txBody>
      </p:sp>
      <p:sp>
        <p:nvSpPr>
          <p:cNvPr id="10" name="Rechteck 26">
            <a:extLst>
              <a:ext uri="{FF2B5EF4-FFF2-40B4-BE49-F238E27FC236}">
                <a16:creationId xmlns:a16="http://schemas.microsoft.com/office/drawing/2014/main" id="{190CBE79-A563-FFF9-D3AC-3C3EE91F11BF}"/>
              </a:ext>
            </a:extLst>
          </p:cNvPr>
          <p:cNvSpPr/>
          <p:nvPr/>
        </p:nvSpPr>
        <p:spPr>
          <a:xfrm>
            <a:off x="7100912"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Onshore-Windpark</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3,1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2025: (0,3) Mio. EUR</a:t>
            </a:r>
          </a:p>
        </p:txBody>
      </p:sp>
      <p:sp>
        <p:nvSpPr>
          <p:cNvPr id="13" name="Rectangle 131">
            <a:extLst>
              <a:ext uri="{FF2B5EF4-FFF2-40B4-BE49-F238E27FC236}">
                <a16:creationId xmlns:a16="http://schemas.microsoft.com/office/drawing/2014/main" id="{815EB8A5-E090-8AE0-23FD-004ED321740B}"/>
              </a:ext>
            </a:extLst>
          </p:cNvPr>
          <p:cNvSpPr/>
          <p:nvPr/>
        </p:nvSpPr>
        <p:spPr>
          <a:xfrm>
            <a:off x="8781685"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ESWE Windpark Uettingen</a:t>
            </a:r>
            <a:endParaRPr lang="de-DE" sz="900" b="1" dirty="0">
              <a:solidFill>
                <a:schemeClr val="bg1"/>
              </a:solidFill>
            </a:endParaRPr>
          </a:p>
        </p:txBody>
      </p:sp>
      <p:sp>
        <p:nvSpPr>
          <p:cNvPr id="14" name="Rechteck 26">
            <a:extLst>
              <a:ext uri="{FF2B5EF4-FFF2-40B4-BE49-F238E27FC236}">
                <a16:creationId xmlns:a16="http://schemas.microsoft.com/office/drawing/2014/main" id="{67BB9B38-5AFF-6325-6925-E7E527936FCA}"/>
              </a:ext>
            </a:extLst>
          </p:cNvPr>
          <p:cNvSpPr/>
          <p:nvPr/>
        </p:nvSpPr>
        <p:spPr>
          <a:xfrm>
            <a:off x="8781604"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Onshore-Windpark Uettingen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Eigenkapital 2025: 3,6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Jahresergebnis 2025: (0,1) Mio. EUR</a:t>
            </a:r>
          </a:p>
        </p:txBody>
      </p:sp>
      <p:pic>
        <p:nvPicPr>
          <p:cNvPr id="15" name="Picture 14">
            <a:extLst>
              <a:ext uri="{FF2B5EF4-FFF2-40B4-BE49-F238E27FC236}">
                <a16:creationId xmlns:a16="http://schemas.microsoft.com/office/drawing/2014/main" id="{D29E40B2-4D69-5BE0-2572-4D9F12F0EBA7}"/>
              </a:ext>
            </a:extLst>
          </p:cNvPr>
          <p:cNvPicPr>
            <a:picLocks noChangeAspect="1"/>
          </p:cNvPicPr>
          <p:nvPr/>
        </p:nvPicPr>
        <p:blipFill>
          <a:blip r:embed="rId16"/>
          <a:stretch>
            <a:fillRect/>
          </a:stretch>
        </p:blipFill>
        <p:spPr>
          <a:xfrm>
            <a:off x="8844574" y="4932059"/>
            <a:ext cx="1408545" cy="232410"/>
          </a:xfrm>
          <a:prstGeom prst="rect">
            <a:avLst/>
          </a:prstGeom>
        </p:spPr>
      </p:pic>
      <p:sp>
        <p:nvSpPr>
          <p:cNvPr id="9" name="Rectangle 131">
            <a:extLst>
              <a:ext uri="{FF2B5EF4-FFF2-40B4-BE49-F238E27FC236}">
                <a16:creationId xmlns:a16="http://schemas.microsoft.com/office/drawing/2014/main" id="{8F25F0CC-E856-6E24-B634-5403D9A9F9B0}"/>
              </a:ext>
            </a:extLst>
          </p:cNvPr>
          <p:cNvSpPr/>
          <p:nvPr/>
        </p:nvSpPr>
        <p:spPr>
          <a:xfrm>
            <a:off x="6438847"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t>ESWE Taunuswind / Windpark</a:t>
            </a:r>
            <a:endParaRPr lang="de-DE" sz="900" b="1" dirty="0">
              <a:solidFill>
                <a:schemeClr val="bg1"/>
              </a:solidFill>
            </a:endParaRPr>
          </a:p>
        </p:txBody>
      </p:sp>
      <p:pic>
        <p:nvPicPr>
          <p:cNvPr id="16" name="Picture 15">
            <a:extLst>
              <a:ext uri="{FF2B5EF4-FFF2-40B4-BE49-F238E27FC236}">
                <a16:creationId xmlns:a16="http://schemas.microsoft.com/office/drawing/2014/main" id="{AD04DD9B-F5E3-DC62-F5B2-9222CB1CBBDC}"/>
              </a:ext>
            </a:extLst>
          </p:cNvPr>
          <p:cNvPicPr>
            <a:picLocks noChangeAspect="1"/>
          </p:cNvPicPr>
          <p:nvPr/>
        </p:nvPicPr>
        <p:blipFill>
          <a:blip r:embed="rId17"/>
          <a:stretch>
            <a:fillRect/>
          </a:stretch>
        </p:blipFill>
        <p:spPr>
          <a:xfrm>
            <a:off x="7095584" y="2881805"/>
            <a:ext cx="543054" cy="238945"/>
          </a:xfrm>
          <a:prstGeom prst="rect">
            <a:avLst/>
          </a:prstGeom>
        </p:spPr>
      </p:pic>
      <p:sp>
        <p:nvSpPr>
          <p:cNvPr id="30" name="TextBox 29">
            <a:extLst>
              <a:ext uri="{FF2B5EF4-FFF2-40B4-BE49-F238E27FC236}">
                <a16:creationId xmlns:a16="http://schemas.microsoft.com/office/drawing/2014/main" id="{B1D219CB-D69D-0452-336C-BDE48DC67518}"/>
              </a:ext>
            </a:extLst>
          </p:cNvPr>
          <p:cNvSpPr txBox="1"/>
          <p:nvPr/>
        </p:nvSpPr>
        <p:spPr>
          <a:xfrm>
            <a:off x="1231166" y="2127642"/>
            <a:ext cx="617661" cy="153888"/>
          </a:xfrm>
          <a:prstGeom prst="rect">
            <a:avLst/>
          </a:prstGeom>
          <a:noFill/>
        </p:spPr>
        <p:txBody>
          <a:bodyPr wrap="square" lIns="72000" tIns="0" rIns="72000" bIns="0" rtlCol="0">
            <a:spAutoFit/>
          </a:bodyPr>
          <a:lstStyle/>
          <a:p>
            <a:r>
              <a:rPr lang="de-DE" sz="1000" dirty="0"/>
              <a:t>50,62 %</a:t>
            </a:r>
          </a:p>
        </p:txBody>
      </p:sp>
      <p:sp>
        <p:nvSpPr>
          <p:cNvPr id="31" name="TextBox 30">
            <a:extLst>
              <a:ext uri="{FF2B5EF4-FFF2-40B4-BE49-F238E27FC236}">
                <a16:creationId xmlns:a16="http://schemas.microsoft.com/office/drawing/2014/main" id="{1DC51CC2-9B34-0843-7D30-8E1F07F520BA}"/>
              </a:ext>
            </a:extLst>
          </p:cNvPr>
          <p:cNvSpPr txBox="1"/>
          <p:nvPr/>
        </p:nvSpPr>
        <p:spPr>
          <a:xfrm>
            <a:off x="3288501" y="2674488"/>
            <a:ext cx="617661" cy="153888"/>
          </a:xfrm>
          <a:prstGeom prst="rect">
            <a:avLst/>
          </a:prstGeom>
          <a:noFill/>
        </p:spPr>
        <p:txBody>
          <a:bodyPr wrap="square" lIns="72000" tIns="0" rIns="72000" bIns="0" rtlCol="0">
            <a:spAutoFit/>
          </a:bodyPr>
          <a:lstStyle/>
          <a:p>
            <a:r>
              <a:rPr lang="de-DE" sz="1000" dirty="0"/>
              <a:t>100 %</a:t>
            </a:r>
          </a:p>
        </p:txBody>
      </p:sp>
      <p:sp>
        <p:nvSpPr>
          <p:cNvPr id="224" name="TextBox 223">
            <a:extLst>
              <a:ext uri="{FF2B5EF4-FFF2-40B4-BE49-F238E27FC236}">
                <a16:creationId xmlns:a16="http://schemas.microsoft.com/office/drawing/2014/main" id="{F49295C3-58C5-3FD5-1F70-D18FD646342C}"/>
              </a:ext>
            </a:extLst>
          </p:cNvPr>
          <p:cNvSpPr txBox="1"/>
          <p:nvPr/>
        </p:nvSpPr>
        <p:spPr>
          <a:xfrm>
            <a:off x="5304725" y="2674488"/>
            <a:ext cx="617661" cy="153888"/>
          </a:xfrm>
          <a:prstGeom prst="rect">
            <a:avLst/>
          </a:prstGeom>
          <a:noFill/>
        </p:spPr>
        <p:txBody>
          <a:bodyPr wrap="square" lIns="72000" tIns="0" rIns="72000" bIns="0" rtlCol="0">
            <a:spAutoFit/>
          </a:bodyPr>
          <a:lstStyle/>
          <a:p>
            <a:r>
              <a:rPr lang="de-DE" sz="1000" dirty="0"/>
              <a:t>90,0 %</a:t>
            </a:r>
          </a:p>
        </p:txBody>
      </p:sp>
      <p:sp>
        <p:nvSpPr>
          <p:cNvPr id="225" name="TextBox 224">
            <a:extLst>
              <a:ext uri="{FF2B5EF4-FFF2-40B4-BE49-F238E27FC236}">
                <a16:creationId xmlns:a16="http://schemas.microsoft.com/office/drawing/2014/main" id="{24EBFE4C-FCA5-9A7B-971A-8C99CD41AD3B}"/>
              </a:ext>
            </a:extLst>
          </p:cNvPr>
          <p:cNvSpPr txBox="1"/>
          <p:nvPr/>
        </p:nvSpPr>
        <p:spPr>
          <a:xfrm>
            <a:off x="7351882" y="2674488"/>
            <a:ext cx="617661" cy="153888"/>
          </a:xfrm>
          <a:prstGeom prst="rect">
            <a:avLst/>
          </a:prstGeom>
          <a:noFill/>
        </p:spPr>
        <p:txBody>
          <a:bodyPr wrap="square" lIns="72000" tIns="0" rIns="72000" bIns="0" rtlCol="0">
            <a:spAutoFit/>
          </a:bodyPr>
          <a:lstStyle/>
          <a:p>
            <a:r>
              <a:rPr lang="de-DE" sz="1000" dirty="0"/>
              <a:t>100 %</a:t>
            </a:r>
          </a:p>
        </p:txBody>
      </p:sp>
      <p:cxnSp>
        <p:nvCxnSpPr>
          <p:cNvPr id="230" name="Connector: Elbow 229">
            <a:extLst>
              <a:ext uri="{FF2B5EF4-FFF2-40B4-BE49-F238E27FC236}">
                <a16:creationId xmlns:a16="http://schemas.microsoft.com/office/drawing/2014/main" id="{20B2E3B0-AF1D-6975-2E8D-CDD4AD119856}"/>
              </a:ext>
            </a:extLst>
          </p:cNvPr>
          <p:cNvCxnSpPr>
            <a:cxnSpLocks/>
            <a:stCxn id="2050" idx="2"/>
            <a:endCxn id="13" idx="0"/>
          </p:cNvCxnSpPr>
          <p:nvPr/>
        </p:nvCxnSpPr>
        <p:spPr>
          <a:xfrm rot="16200000" flipH="1">
            <a:off x="9264447" y="4623464"/>
            <a:ext cx="407153" cy="16164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2" name="Connector: Elbow 231">
            <a:extLst>
              <a:ext uri="{FF2B5EF4-FFF2-40B4-BE49-F238E27FC236}">
                <a16:creationId xmlns:a16="http://schemas.microsoft.com/office/drawing/2014/main" id="{B680E03E-ADD1-1D04-E2E3-3B18E87567F1}"/>
              </a:ext>
            </a:extLst>
          </p:cNvPr>
          <p:cNvCxnSpPr>
            <a:stCxn id="2050" idx="2"/>
            <a:endCxn id="4" idx="0"/>
          </p:cNvCxnSpPr>
          <p:nvPr/>
        </p:nvCxnSpPr>
        <p:spPr>
          <a:xfrm rot="5400000">
            <a:off x="8424101" y="3944764"/>
            <a:ext cx="407153" cy="151904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31B7603F-6CE1-26AB-3C73-412AE216B085}"/>
              </a:ext>
            </a:extLst>
          </p:cNvPr>
          <p:cNvCxnSpPr>
            <a:stCxn id="2050" idx="2"/>
            <a:endCxn id="311" idx="0"/>
          </p:cNvCxnSpPr>
          <p:nvPr/>
        </p:nvCxnSpPr>
        <p:spPr>
          <a:xfrm rot="5400000">
            <a:off x="7583756" y="3104419"/>
            <a:ext cx="407153" cy="319973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7" name="Connector: Elbow 236">
            <a:extLst>
              <a:ext uri="{FF2B5EF4-FFF2-40B4-BE49-F238E27FC236}">
                <a16:creationId xmlns:a16="http://schemas.microsoft.com/office/drawing/2014/main" id="{62672F44-97EC-D749-3104-11F5A49F0EC8}"/>
              </a:ext>
            </a:extLst>
          </p:cNvPr>
          <p:cNvCxnSpPr>
            <a:stCxn id="2050" idx="2"/>
            <a:endCxn id="304" idx="0"/>
          </p:cNvCxnSpPr>
          <p:nvPr/>
        </p:nvCxnSpPr>
        <p:spPr>
          <a:xfrm rot="5400000">
            <a:off x="6743410" y="2264073"/>
            <a:ext cx="407153" cy="488042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9" name="Connector: Elbow 238">
            <a:extLst>
              <a:ext uri="{FF2B5EF4-FFF2-40B4-BE49-F238E27FC236}">
                <a16:creationId xmlns:a16="http://schemas.microsoft.com/office/drawing/2014/main" id="{3C81A59C-21BB-4309-DE4D-F3B8B6CA95F3}"/>
              </a:ext>
            </a:extLst>
          </p:cNvPr>
          <p:cNvCxnSpPr>
            <a:stCxn id="2050" idx="2"/>
            <a:endCxn id="297" idx="0"/>
          </p:cNvCxnSpPr>
          <p:nvPr/>
        </p:nvCxnSpPr>
        <p:spPr>
          <a:xfrm rot="5400000">
            <a:off x="5902204" y="1424589"/>
            <a:ext cx="408875" cy="656111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2" name="Connector: Elbow 241">
            <a:extLst>
              <a:ext uri="{FF2B5EF4-FFF2-40B4-BE49-F238E27FC236}">
                <a16:creationId xmlns:a16="http://schemas.microsoft.com/office/drawing/2014/main" id="{80576C1F-BB78-2399-FDEE-72AA209543AC}"/>
              </a:ext>
            </a:extLst>
          </p:cNvPr>
          <p:cNvCxnSpPr>
            <a:stCxn id="2050" idx="2"/>
            <a:endCxn id="289" idx="0"/>
          </p:cNvCxnSpPr>
          <p:nvPr/>
        </p:nvCxnSpPr>
        <p:spPr>
          <a:xfrm rot="5400000">
            <a:off x="5062719" y="583382"/>
            <a:ext cx="407153" cy="8241810"/>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43" name="Picture 242">
            <a:extLst>
              <a:ext uri="{FF2B5EF4-FFF2-40B4-BE49-F238E27FC236}">
                <a16:creationId xmlns:a16="http://schemas.microsoft.com/office/drawing/2014/main" id="{E2F909A0-EC4D-40F1-9B45-541802ED4F82}"/>
              </a:ext>
            </a:extLst>
          </p:cNvPr>
          <p:cNvPicPr>
            <a:picLocks noChangeAspect="1"/>
          </p:cNvPicPr>
          <p:nvPr/>
        </p:nvPicPr>
        <p:blipFill>
          <a:blip r:embed="rId18"/>
          <a:stretch>
            <a:fillRect/>
          </a:stretch>
        </p:blipFill>
        <p:spPr>
          <a:xfrm>
            <a:off x="7430857" y="4921608"/>
            <a:ext cx="874595" cy="253313"/>
          </a:xfrm>
          <a:prstGeom prst="rect">
            <a:avLst/>
          </a:prstGeom>
        </p:spPr>
      </p:pic>
      <p:sp>
        <p:nvSpPr>
          <p:cNvPr id="244" name="TextBox 243">
            <a:extLst>
              <a:ext uri="{FF2B5EF4-FFF2-40B4-BE49-F238E27FC236}">
                <a16:creationId xmlns:a16="http://schemas.microsoft.com/office/drawing/2014/main" id="{D54FE0E6-C904-1A4A-088F-4810B8F0CA8A}"/>
              </a:ext>
            </a:extLst>
          </p:cNvPr>
          <p:cNvSpPr txBox="1"/>
          <p:nvPr/>
        </p:nvSpPr>
        <p:spPr>
          <a:xfrm>
            <a:off x="2848114" y="4716735"/>
            <a:ext cx="617661" cy="153888"/>
          </a:xfrm>
          <a:prstGeom prst="rect">
            <a:avLst/>
          </a:prstGeom>
          <a:noFill/>
        </p:spPr>
        <p:txBody>
          <a:bodyPr wrap="square" lIns="72000" tIns="0" rIns="72000" bIns="0" rtlCol="0">
            <a:spAutoFit/>
          </a:bodyPr>
          <a:lstStyle/>
          <a:p>
            <a:r>
              <a:rPr lang="de-DE" sz="1000" dirty="0"/>
              <a:t>24,5 %</a:t>
            </a:r>
          </a:p>
        </p:txBody>
      </p:sp>
      <p:sp>
        <p:nvSpPr>
          <p:cNvPr id="245" name="TextBox 244">
            <a:extLst>
              <a:ext uri="{FF2B5EF4-FFF2-40B4-BE49-F238E27FC236}">
                <a16:creationId xmlns:a16="http://schemas.microsoft.com/office/drawing/2014/main" id="{7259865B-6545-D80E-E12B-372021B57FA4}"/>
              </a:ext>
            </a:extLst>
          </p:cNvPr>
          <p:cNvSpPr txBox="1"/>
          <p:nvPr/>
        </p:nvSpPr>
        <p:spPr>
          <a:xfrm>
            <a:off x="4525341" y="4716735"/>
            <a:ext cx="617661" cy="153888"/>
          </a:xfrm>
          <a:prstGeom prst="rect">
            <a:avLst/>
          </a:prstGeom>
          <a:noFill/>
        </p:spPr>
        <p:txBody>
          <a:bodyPr wrap="square" lIns="72000" tIns="0" rIns="72000" bIns="0" rtlCol="0">
            <a:spAutoFit/>
          </a:bodyPr>
          <a:lstStyle/>
          <a:p>
            <a:r>
              <a:rPr lang="de-DE" sz="1000" dirty="0"/>
              <a:t>49,0 %</a:t>
            </a:r>
          </a:p>
        </p:txBody>
      </p:sp>
      <p:sp>
        <p:nvSpPr>
          <p:cNvPr id="246" name="TextBox 245">
            <a:extLst>
              <a:ext uri="{FF2B5EF4-FFF2-40B4-BE49-F238E27FC236}">
                <a16:creationId xmlns:a16="http://schemas.microsoft.com/office/drawing/2014/main" id="{1DDADE13-E838-2899-4AE0-D520B9EB7B1A}"/>
              </a:ext>
            </a:extLst>
          </p:cNvPr>
          <p:cNvSpPr txBox="1"/>
          <p:nvPr/>
        </p:nvSpPr>
        <p:spPr>
          <a:xfrm>
            <a:off x="6219346" y="4716735"/>
            <a:ext cx="617661" cy="153888"/>
          </a:xfrm>
          <a:prstGeom prst="rect">
            <a:avLst/>
          </a:prstGeom>
          <a:noFill/>
        </p:spPr>
        <p:txBody>
          <a:bodyPr wrap="square" lIns="72000" tIns="0" rIns="72000" bIns="0" rtlCol="0">
            <a:spAutoFit/>
          </a:bodyPr>
          <a:lstStyle/>
          <a:p>
            <a:r>
              <a:rPr lang="de-DE" sz="1000" dirty="0"/>
              <a:t>50,0 %</a:t>
            </a:r>
          </a:p>
        </p:txBody>
      </p:sp>
      <p:sp>
        <p:nvSpPr>
          <p:cNvPr id="247" name="TextBox 246">
            <a:extLst>
              <a:ext uri="{FF2B5EF4-FFF2-40B4-BE49-F238E27FC236}">
                <a16:creationId xmlns:a16="http://schemas.microsoft.com/office/drawing/2014/main" id="{726DDF01-7AE5-D3EB-93F2-C72F48224FBF}"/>
              </a:ext>
            </a:extLst>
          </p:cNvPr>
          <p:cNvSpPr txBox="1"/>
          <p:nvPr/>
        </p:nvSpPr>
        <p:spPr>
          <a:xfrm>
            <a:off x="7896573" y="4716735"/>
            <a:ext cx="617661" cy="153888"/>
          </a:xfrm>
          <a:prstGeom prst="rect">
            <a:avLst/>
          </a:prstGeom>
          <a:noFill/>
        </p:spPr>
        <p:txBody>
          <a:bodyPr wrap="square" lIns="72000" tIns="0" rIns="72000" bIns="0" rtlCol="0">
            <a:spAutoFit/>
          </a:bodyPr>
          <a:lstStyle/>
          <a:p>
            <a:r>
              <a:rPr lang="de-DE" sz="1000" dirty="0"/>
              <a:t>33,33 %</a:t>
            </a:r>
            <a:endParaRPr lang="de-DE" sz="1000" dirty="0"/>
          </a:p>
        </p:txBody>
      </p:sp>
      <p:sp>
        <p:nvSpPr>
          <p:cNvPr id="2048" name="TextBox 2047">
            <a:extLst>
              <a:ext uri="{FF2B5EF4-FFF2-40B4-BE49-F238E27FC236}">
                <a16:creationId xmlns:a16="http://schemas.microsoft.com/office/drawing/2014/main" id="{DD217991-5BEF-C8DA-370A-83C4FEA08925}"/>
              </a:ext>
            </a:extLst>
          </p:cNvPr>
          <p:cNvSpPr txBox="1"/>
          <p:nvPr/>
        </p:nvSpPr>
        <p:spPr>
          <a:xfrm>
            <a:off x="9573802" y="4716735"/>
            <a:ext cx="617661" cy="153888"/>
          </a:xfrm>
          <a:prstGeom prst="rect">
            <a:avLst/>
          </a:prstGeom>
          <a:noFill/>
        </p:spPr>
        <p:txBody>
          <a:bodyPr wrap="square" lIns="72000" tIns="0" rIns="72000" bIns="0" rtlCol="0">
            <a:spAutoFit/>
          </a:bodyPr>
          <a:lstStyle/>
          <a:p>
            <a:r>
              <a:rPr lang="de-DE" sz="1000" dirty="0"/>
              <a:t>100 %</a:t>
            </a:r>
            <a:endParaRPr lang="de-DE" sz="1000" dirty="0"/>
          </a:p>
        </p:txBody>
      </p:sp>
      <p:sp>
        <p:nvSpPr>
          <p:cNvPr id="18" name="Rectangle 17">
            <a:extLst>
              <a:ext uri="{FF2B5EF4-FFF2-40B4-BE49-F238E27FC236}">
                <a16:creationId xmlns:a16="http://schemas.microsoft.com/office/drawing/2014/main" id="{240A33E5-93DE-7FCC-2D42-9A4505E17B87}"/>
              </a:ext>
            </a:extLst>
          </p:cNvPr>
          <p:cNvSpPr/>
          <p:nvPr/>
        </p:nvSpPr>
        <p:spPr>
          <a:xfrm>
            <a:off x="6657412" y="7133281"/>
            <a:ext cx="291356" cy="149512"/>
          </a:xfrm>
          <a:prstGeom prst="rect">
            <a:avLst/>
          </a:prstGeom>
          <a:solidFill>
            <a:schemeClr val="accent6">
              <a:lumMod val="20000"/>
              <a:lumOff val="80000"/>
            </a:schemeClr>
          </a:solidFill>
          <a:ln>
            <a:solidFill>
              <a:srgbClr val="EF664B"/>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24" name="TextBox 23">
            <a:extLst>
              <a:ext uri="{FF2B5EF4-FFF2-40B4-BE49-F238E27FC236}">
                <a16:creationId xmlns:a16="http://schemas.microsoft.com/office/drawing/2014/main" id="{953130E6-2697-B631-1949-CEC980D3A3F4}"/>
              </a:ext>
            </a:extLst>
          </p:cNvPr>
          <p:cNvSpPr txBox="1"/>
          <p:nvPr/>
        </p:nvSpPr>
        <p:spPr>
          <a:xfrm>
            <a:off x="7021177" y="7106492"/>
            <a:ext cx="1781907" cy="215444"/>
          </a:xfrm>
          <a:prstGeom prst="rect">
            <a:avLst/>
          </a:prstGeom>
          <a:noFill/>
        </p:spPr>
        <p:txBody>
          <a:bodyPr wrap="square" rtlCol="0" anchor="ctr">
            <a:spAutoFit/>
          </a:bodyPr>
          <a:lstStyle/>
          <a:p>
            <a:r>
              <a:rPr lang="de-DE" sz="800" dirty="0"/>
              <a:t>Gesprächsfokus</a:t>
            </a:r>
          </a:p>
        </p:txBody>
      </p:sp>
      <p:sp>
        <p:nvSpPr>
          <p:cNvPr id="28" name="Rechteck 26">
            <a:extLst>
              <a:ext uri="{FF2B5EF4-FFF2-40B4-BE49-F238E27FC236}">
                <a16:creationId xmlns:a16="http://schemas.microsoft.com/office/drawing/2014/main" id="{BFFA3184-B03B-F673-87E5-5E1ACE0BA8C0}"/>
              </a:ext>
            </a:extLst>
          </p:cNvPr>
          <p:cNvSpPr/>
          <p:nvPr/>
        </p:nvSpPr>
        <p:spPr>
          <a:xfrm>
            <a:off x="1848827" y="2374515"/>
            <a:ext cx="7314293" cy="22443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numCol="2"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2025: 473,8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Ergebnis vor Ausgleichszahlung und Gewinnabführung 2025: 48,9 Mio. EUR</a:t>
            </a:r>
          </a:p>
        </p:txBody>
      </p:sp>
    </p:spTree>
    <p:extLst>
      <p:ext uri="{BB962C8B-B14F-4D97-AF65-F5344CB8AC3E}">
        <p14:creationId xmlns:p14="http://schemas.microsoft.com/office/powerpoint/2010/main" val="470085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F42BD70-4C56-4ABC-A4E6-CB3CCDC5EF52}"/>
              </a:ext>
            </a:extLst>
          </p:cNvPr>
          <p:cNvGraphicFramePr>
            <a:graphicFrameLocks/>
          </p:cNvGraphicFramePr>
          <p:nvPr>
            <p:custDataLst>
              <p:tags r:id="rId1"/>
            </p:custDataLst>
            <p:extLst>
              <p:ext uri="{D42A27DB-BD31-4B8C-83A1-F6EECF244321}">
                <p14:modId xmlns:p14="http://schemas.microsoft.com/office/powerpoint/2010/main" val="3027791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a:extLst>
                          <a:ext uri="{FF2B5EF4-FFF2-40B4-BE49-F238E27FC236}">
                            <a16:creationId xmlns:a16="http://schemas.microsoft.com/office/drawing/2014/main" id="{1F42BD70-4C56-4ABC-A4E6-CB3CCDC5EF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35A27D69-3764-4384-9556-3EBA70F9EE35}"/>
              </a:ext>
            </a:extLst>
          </p:cNvPr>
          <p:cNvSpPr>
            <a:spLocks noGrp="1"/>
          </p:cNvSpPr>
          <p:nvPr>
            <p:ph type="body" sz="quarter" idx="14"/>
          </p:nvPr>
        </p:nvSpPr>
        <p:spPr/>
        <p:txBody>
          <a:bodyPr/>
          <a:lstStyle/>
          <a:p>
            <a:r>
              <a:rPr lang="de-DE" dirty="0"/>
              <a:t>Quelle: Geschäftsbericht 2025, Jahresabschlüsse 2021–2024, Unternehmensinformationen, Metzler Research</a:t>
            </a:r>
          </a:p>
        </p:txBody>
      </p:sp>
      <p:sp>
        <p:nvSpPr>
          <p:cNvPr id="9" name="Text Placeholder 8">
            <a:extLst>
              <a:ext uri="{FF2B5EF4-FFF2-40B4-BE49-F238E27FC236}">
                <a16:creationId xmlns:a16="http://schemas.microsoft.com/office/drawing/2014/main" id="{74E357C4-DDD7-4CB5-B994-3F4A07617F1B}"/>
              </a:ext>
            </a:extLst>
          </p:cNvPr>
          <p:cNvSpPr>
            <a:spLocks noGrp="1"/>
          </p:cNvSpPr>
          <p:nvPr>
            <p:ph type="body" sz="quarter" idx="16"/>
          </p:nvPr>
        </p:nvSpPr>
        <p:spPr>
          <a:xfrm>
            <a:off x="378700" y="1623075"/>
            <a:ext cx="3194479" cy="252000"/>
          </a:xfrm>
        </p:spPr>
        <p:txBody>
          <a:bodyPr lIns="54000" rIns="0"/>
          <a:lstStyle/>
          <a:p>
            <a:r>
              <a:rPr lang="de-DE" dirty="0"/>
              <a:t>Überblick ESWE Versorgungs AG (in Mio. EUR)</a:t>
            </a:r>
            <a:endParaRPr lang="de-DE" baseline="30000" dirty="0"/>
          </a:p>
        </p:txBody>
      </p:sp>
      <p:sp>
        <p:nvSpPr>
          <p:cNvPr id="17" name="Text Placeholder 16">
            <a:extLst>
              <a:ext uri="{FF2B5EF4-FFF2-40B4-BE49-F238E27FC236}">
                <a16:creationId xmlns:a16="http://schemas.microsoft.com/office/drawing/2014/main" id="{42D4E154-1047-4F9A-BF3C-851BB0D8445A}"/>
              </a:ext>
            </a:extLst>
          </p:cNvPr>
          <p:cNvSpPr>
            <a:spLocks noGrp="1"/>
          </p:cNvSpPr>
          <p:nvPr>
            <p:ph type="body" sz="quarter" idx="21"/>
          </p:nvPr>
        </p:nvSpPr>
        <p:spPr>
          <a:xfrm>
            <a:off x="378700" y="4680759"/>
            <a:ext cx="3194479" cy="252000"/>
          </a:xfrm>
          <a:noFill/>
        </p:spPr>
        <p:txBody>
          <a:bodyPr/>
          <a:lstStyle/>
          <a:p>
            <a:r>
              <a:rPr lang="de-DE" dirty="0"/>
              <a:t>Absatzmengen 20251)</a:t>
            </a:r>
            <a:endParaRPr lang="de-DE" b="0" i="1" baseline="30000" dirty="0"/>
          </a:p>
        </p:txBody>
      </p:sp>
      <p:sp>
        <p:nvSpPr>
          <p:cNvPr id="11" name="Title 10">
            <a:extLst>
              <a:ext uri="{FF2B5EF4-FFF2-40B4-BE49-F238E27FC236}">
                <a16:creationId xmlns:a16="http://schemas.microsoft.com/office/drawing/2014/main" id="{DB333E89-82AE-49B4-BC8C-6F320156F447}"/>
              </a:ext>
            </a:extLst>
          </p:cNvPr>
          <p:cNvSpPr>
            <a:spLocks noGrp="1"/>
          </p:cNvSpPr>
          <p:nvPr>
            <p:ph type="title"/>
          </p:nvPr>
        </p:nvSpPr>
        <p:spPr/>
        <p:txBody>
          <a:bodyPr vert="horz"/>
          <a:lstStyle/>
          <a:p>
            <a:r>
              <a:rPr lang="de-DE" kern="200" spc="-30" dirty="0"/>
              <a:t>Die ESWE Versorgungs AG ist der kommunale Versorger der Landeshauptstadt Wiesbaden und zentraler Umsetzer der Wärmewende in der Region</a:t>
            </a:r>
            <a:endParaRPr lang="de-DE" dirty="0"/>
          </a:p>
        </p:txBody>
      </p:sp>
      <p:sp>
        <p:nvSpPr>
          <p:cNvPr id="5" name="Text Placeholder 4">
            <a:extLst>
              <a:ext uri="{FF2B5EF4-FFF2-40B4-BE49-F238E27FC236}">
                <a16:creationId xmlns:a16="http://schemas.microsoft.com/office/drawing/2014/main" id="{E6080802-BBE8-47C3-BD6D-F0956D6DBFE0}"/>
              </a:ext>
            </a:extLst>
          </p:cNvPr>
          <p:cNvSpPr>
            <a:spLocks noGrp="1"/>
          </p:cNvSpPr>
          <p:nvPr>
            <p:ph type="body" sz="quarter" idx="12"/>
          </p:nvPr>
        </p:nvSpPr>
        <p:spPr/>
        <p:txBody>
          <a:bodyPr/>
          <a:lstStyle/>
          <a:p>
            <a:endParaRPr lang="de-DE" dirty="0"/>
          </a:p>
        </p:txBody>
      </p:sp>
      <p:sp>
        <p:nvSpPr>
          <p:cNvPr id="6" name="Text Placeholder 5">
            <a:extLst>
              <a:ext uri="{FF2B5EF4-FFF2-40B4-BE49-F238E27FC236}">
                <a16:creationId xmlns:a16="http://schemas.microsoft.com/office/drawing/2014/main" id="{E145D6E6-65A9-4CDB-B352-D64184ACF701}"/>
              </a:ext>
            </a:extLst>
          </p:cNvPr>
          <p:cNvSpPr>
            <a:spLocks noGrp="1"/>
          </p:cNvSpPr>
          <p:nvPr>
            <p:ph type="body" sz="quarter" idx="13"/>
          </p:nvPr>
        </p:nvSpPr>
        <p:spPr/>
        <p:txBody>
          <a:bodyPr/>
          <a:lstStyle/>
          <a:p>
            <a:r>
              <a:rPr lang="de-DE" dirty="0"/>
              <a:t>2. Übersicht und Herausforderungen ESWE Versorgungs AG</a:t>
            </a:r>
          </a:p>
        </p:txBody>
      </p:sp>
      <p:sp>
        <p:nvSpPr>
          <p:cNvPr id="8" name="Text Placeholder 7">
            <a:extLst>
              <a:ext uri="{FF2B5EF4-FFF2-40B4-BE49-F238E27FC236}">
                <a16:creationId xmlns:a16="http://schemas.microsoft.com/office/drawing/2014/main" id="{72753FA4-3524-40F1-9EE7-54C4604A36AA}"/>
              </a:ext>
            </a:extLst>
          </p:cNvPr>
          <p:cNvSpPr>
            <a:spLocks noGrp="1"/>
          </p:cNvSpPr>
          <p:nvPr>
            <p:ph type="body" sz="quarter" idx="15"/>
          </p:nvPr>
        </p:nvSpPr>
        <p:spPr>
          <a:xfrm>
            <a:off x="378700" y="6913910"/>
            <a:ext cx="8371857" cy="168344"/>
          </a:xfrm>
        </p:spPr>
        <p:txBody>
          <a:bodyPr/>
          <a:lstStyle/>
          <a:p>
            <a:pPr>
              <a:spcBef>
                <a:spcPts val="0"/>
              </a:spcBef>
              <a:spcAft>
                <a:spcPts val="100"/>
              </a:spcAft>
            </a:pPr>
            <a:r>
              <a:rPr lang="de-DE" dirty="0"/>
              <a:t>1) Absatzmengen lt. Geschäftsbericht 2025; 2) Umsatzerlöse 2025 der ESWE Versorgungs AG (HGB-Einzelabschluss); 3) EBITDA-Definition der Gesellschaft, inkl. Beteiligungsergebnis</a:t>
            </a:r>
          </a:p>
        </p:txBody>
      </p:sp>
      <p:grpSp>
        <p:nvGrpSpPr>
          <p:cNvPr id="2" name="Group 1">
            <a:extLst>
              <a:ext uri="{FF2B5EF4-FFF2-40B4-BE49-F238E27FC236}">
                <a16:creationId xmlns:a16="http://schemas.microsoft.com/office/drawing/2014/main" id="{749B9059-88CD-78D2-553E-5BFD792E69B2}"/>
              </a:ext>
            </a:extLst>
          </p:cNvPr>
          <p:cNvGrpSpPr/>
          <p:nvPr/>
        </p:nvGrpSpPr>
        <p:grpSpPr>
          <a:xfrm>
            <a:off x="378700" y="2054454"/>
            <a:ext cx="1494062" cy="648051"/>
            <a:chOff x="378700" y="2712273"/>
            <a:chExt cx="1494062" cy="648051"/>
          </a:xfrm>
        </p:grpSpPr>
        <p:sp>
          <p:nvSpPr>
            <p:cNvPr id="23" name="Text Box 29">
              <a:extLst>
                <a:ext uri="{FF2B5EF4-FFF2-40B4-BE49-F238E27FC236}">
                  <a16:creationId xmlns:a16="http://schemas.microsoft.com/office/drawing/2014/main" id="{21B330D4-63DA-41FE-B73D-5885FC7C68CA}"/>
                </a:ext>
              </a:extLst>
            </p:cNvPr>
            <p:cNvSpPr txBox="1">
              <a:spLocks noChangeArrowheads="1"/>
            </p:cNvSpPr>
            <p:nvPr/>
          </p:nvSpPr>
          <p:spPr bwMode="gray">
            <a:xfrm>
              <a:off x="378700"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473,8 Mio. EUR</a:t>
              </a:r>
            </a:p>
          </p:txBody>
        </p:sp>
        <p:sp>
          <p:nvSpPr>
            <p:cNvPr id="24" name="Text Box 29">
              <a:extLst>
                <a:ext uri="{FF2B5EF4-FFF2-40B4-BE49-F238E27FC236}">
                  <a16:creationId xmlns:a16="http://schemas.microsoft.com/office/drawing/2014/main" id="{7C6E6D21-E2FD-4DFB-8768-46FF5BB4B4AE}"/>
                </a:ext>
              </a:extLst>
            </p:cNvPr>
            <p:cNvSpPr txBox="1">
              <a:spLocks noChangeArrowheads="1"/>
            </p:cNvSpPr>
            <p:nvPr/>
          </p:nvSpPr>
          <p:spPr bwMode="gray">
            <a:xfrm>
              <a:off x="746256" y="2712273"/>
              <a:ext cx="75901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Umsatz 2025</a:t>
              </a:r>
            </a:p>
          </p:txBody>
        </p:sp>
      </p:grpSp>
      <p:sp>
        <p:nvSpPr>
          <p:cNvPr id="26" name="Text Box 29">
            <a:extLst>
              <a:ext uri="{FF2B5EF4-FFF2-40B4-BE49-F238E27FC236}">
                <a16:creationId xmlns:a16="http://schemas.microsoft.com/office/drawing/2014/main" id="{377DBC01-34C0-4024-B89A-1B21C237BD44}"/>
              </a:ext>
            </a:extLst>
          </p:cNvPr>
          <p:cNvSpPr txBox="1">
            <a:spLocks noChangeArrowheads="1"/>
          </p:cNvSpPr>
          <p:nvPr/>
        </p:nvSpPr>
        <p:spPr bwMode="gray">
          <a:xfrm>
            <a:off x="378148" y="3937557"/>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42,7 Mio. EUR</a:t>
            </a:r>
          </a:p>
        </p:txBody>
      </p:sp>
      <p:sp>
        <p:nvSpPr>
          <p:cNvPr id="27" name="Text Box 29">
            <a:extLst>
              <a:ext uri="{FF2B5EF4-FFF2-40B4-BE49-F238E27FC236}">
                <a16:creationId xmlns:a16="http://schemas.microsoft.com/office/drawing/2014/main" id="{2E1290A3-9326-4A39-BF8F-6695FB738D29}"/>
              </a:ext>
            </a:extLst>
          </p:cNvPr>
          <p:cNvSpPr txBox="1">
            <a:spLocks noChangeArrowheads="1"/>
          </p:cNvSpPr>
          <p:nvPr/>
        </p:nvSpPr>
        <p:spPr bwMode="gray">
          <a:xfrm>
            <a:off x="437977" y="3852660"/>
            <a:ext cx="1374404" cy="201127"/>
          </a:xfrm>
          <a:prstGeom prst="rect">
            <a:avLst/>
          </a:prstGeom>
          <a:solidFill>
            <a:schemeClr val="bg1"/>
          </a:solidFill>
          <a:ln>
            <a:noFill/>
          </a:ln>
          <a:effectLst/>
        </p:spPr>
        <p:txBody>
          <a:bodyPr vert="horz" wrap="square" lIns="0" tIns="36000" rIns="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Operating Cash Flow 2025</a:t>
            </a:r>
          </a:p>
        </p:txBody>
      </p:sp>
      <p:grpSp>
        <p:nvGrpSpPr>
          <p:cNvPr id="14" name="Group 13">
            <a:extLst>
              <a:ext uri="{FF2B5EF4-FFF2-40B4-BE49-F238E27FC236}">
                <a16:creationId xmlns:a16="http://schemas.microsoft.com/office/drawing/2014/main" id="{B18A2D58-D174-8BF2-8416-F0ABC8989DF8}"/>
              </a:ext>
            </a:extLst>
          </p:cNvPr>
          <p:cNvGrpSpPr/>
          <p:nvPr/>
        </p:nvGrpSpPr>
        <p:grpSpPr>
          <a:xfrm>
            <a:off x="2079669" y="2054454"/>
            <a:ext cx="1494062" cy="648051"/>
            <a:chOff x="2079669" y="2712273"/>
            <a:chExt cx="1494062" cy="648051"/>
          </a:xfrm>
        </p:grpSpPr>
        <p:sp>
          <p:nvSpPr>
            <p:cNvPr id="32" name="Text Box 29">
              <a:extLst>
                <a:ext uri="{FF2B5EF4-FFF2-40B4-BE49-F238E27FC236}">
                  <a16:creationId xmlns:a16="http://schemas.microsoft.com/office/drawing/2014/main" id="{63788926-8EF7-486D-B8D3-EC7F78D6F036}"/>
                </a:ext>
              </a:extLst>
            </p:cNvPr>
            <p:cNvSpPr txBox="1">
              <a:spLocks noChangeArrowheads="1"/>
            </p:cNvSpPr>
            <p:nvPr/>
          </p:nvSpPr>
          <p:spPr bwMode="gray">
            <a:xfrm>
              <a:off x="2079669"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70,2 Mio. EUR</a:t>
              </a:r>
            </a:p>
          </p:txBody>
        </p:sp>
        <p:sp>
          <p:nvSpPr>
            <p:cNvPr id="33" name="Text Box 29">
              <a:extLst>
                <a:ext uri="{FF2B5EF4-FFF2-40B4-BE49-F238E27FC236}">
                  <a16:creationId xmlns:a16="http://schemas.microsoft.com/office/drawing/2014/main" id="{DF9C6057-5085-47A3-BD82-1102164E3C4B}"/>
                </a:ext>
              </a:extLst>
            </p:cNvPr>
            <p:cNvSpPr txBox="1">
              <a:spLocks noChangeArrowheads="1"/>
            </p:cNvSpPr>
            <p:nvPr/>
          </p:nvSpPr>
          <p:spPr bwMode="gray">
            <a:xfrm>
              <a:off x="2415781" y="2712273"/>
              <a:ext cx="821900"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EBITDA 20253)</a:t>
              </a:r>
              <a:endParaRPr lang="de-DE" sz="900" baseline="30000" dirty="0">
                <a:cs typeface="Arial" pitchFamily="34" charset="0"/>
              </a:endParaRPr>
            </a:p>
          </p:txBody>
        </p:sp>
      </p:grpSp>
      <p:grpSp>
        <p:nvGrpSpPr>
          <p:cNvPr id="21" name="Group 20">
            <a:extLst>
              <a:ext uri="{FF2B5EF4-FFF2-40B4-BE49-F238E27FC236}">
                <a16:creationId xmlns:a16="http://schemas.microsoft.com/office/drawing/2014/main" id="{BBA21037-A061-63C2-FDB8-8320FEF4BCC1}"/>
              </a:ext>
            </a:extLst>
          </p:cNvPr>
          <p:cNvGrpSpPr/>
          <p:nvPr/>
        </p:nvGrpSpPr>
        <p:grpSpPr>
          <a:xfrm>
            <a:off x="2079117" y="2953557"/>
            <a:ext cx="1494062" cy="648051"/>
            <a:chOff x="2079117" y="3487560"/>
            <a:chExt cx="1494062" cy="648051"/>
          </a:xfrm>
        </p:grpSpPr>
        <p:sp>
          <p:nvSpPr>
            <p:cNvPr id="35" name="Text Box 29">
              <a:extLst>
                <a:ext uri="{FF2B5EF4-FFF2-40B4-BE49-F238E27FC236}">
                  <a16:creationId xmlns:a16="http://schemas.microsoft.com/office/drawing/2014/main" id="{B9471182-8A03-4C21-BA60-005B9D96CA86}"/>
                </a:ext>
              </a:extLst>
            </p:cNvPr>
            <p:cNvSpPr txBox="1">
              <a:spLocks noChangeArrowheads="1"/>
            </p:cNvSpPr>
            <p:nvPr/>
          </p:nvSpPr>
          <p:spPr bwMode="gray">
            <a:xfrm>
              <a:off x="2079117" y="3572457"/>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37,0 Mio. EUR</a:t>
              </a:r>
            </a:p>
          </p:txBody>
        </p:sp>
        <p:sp>
          <p:nvSpPr>
            <p:cNvPr id="36" name="Text Box 29">
              <a:extLst>
                <a:ext uri="{FF2B5EF4-FFF2-40B4-BE49-F238E27FC236}">
                  <a16:creationId xmlns:a16="http://schemas.microsoft.com/office/drawing/2014/main" id="{FE16F227-1C15-4F2D-A4E9-369DAF5614FB}"/>
                </a:ext>
              </a:extLst>
            </p:cNvPr>
            <p:cNvSpPr txBox="1">
              <a:spLocks noChangeArrowheads="1"/>
            </p:cNvSpPr>
            <p:nvPr/>
          </p:nvSpPr>
          <p:spPr bwMode="gray">
            <a:xfrm>
              <a:off x="2415907" y="3487560"/>
              <a:ext cx="820483"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Investitionen 2025</a:t>
              </a:r>
            </a:p>
          </p:txBody>
        </p:sp>
      </p:grpSp>
      <p:grpSp>
        <p:nvGrpSpPr>
          <p:cNvPr id="15" name="Group 14">
            <a:extLst>
              <a:ext uri="{FF2B5EF4-FFF2-40B4-BE49-F238E27FC236}">
                <a16:creationId xmlns:a16="http://schemas.microsoft.com/office/drawing/2014/main" id="{C2992F3A-49F1-2689-CFF3-E9EE4FB705CC}"/>
              </a:ext>
            </a:extLst>
          </p:cNvPr>
          <p:cNvGrpSpPr/>
          <p:nvPr/>
        </p:nvGrpSpPr>
        <p:grpSpPr>
          <a:xfrm>
            <a:off x="378700" y="2953557"/>
            <a:ext cx="1494062" cy="648051"/>
            <a:chOff x="3780638" y="2712273"/>
            <a:chExt cx="1494062" cy="648051"/>
          </a:xfrm>
        </p:grpSpPr>
        <p:sp>
          <p:nvSpPr>
            <p:cNvPr id="47" name="Text Box 29">
              <a:extLst>
                <a:ext uri="{FF2B5EF4-FFF2-40B4-BE49-F238E27FC236}">
                  <a16:creationId xmlns:a16="http://schemas.microsoft.com/office/drawing/2014/main" id="{555098C0-81A3-4E3C-94C1-58FE85C18930}"/>
                </a:ext>
              </a:extLst>
            </p:cNvPr>
            <p:cNvSpPr txBox="1">
              <a:spLocks noChangeArrowheads="1"/>
            </p:cNvSpPr>
            <p:nvPr/>
          </p:nvSpPr>
          <p:spPr bwMode="gray">
            <a:xfrm>
              <a:off x="3780638"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52,7 Mio. EUR</a:t>
              </a:r>
            </a:p>
          </p:txBody>
        </p:sp>
        <p:sp>
          <p:nvSpPr>
            <p:cNvPr id="48" name="Text Box 29">
              <a:extLst>
                <a:ext uri="{FF2B5EF4-FFF2-40B4-BE49-F238E27FC236}">
                  <a16:creationId xmlns:a16="http://schemas.microsoft.com/office/drawing/2014/main" id="{A52F1800-09D2-4CB1-A36E-83400C31F2FA}"/>
                </a:ext>
              </a:extLst>
            </p:cNvPr>
            <p:cNvSpPr txBox="1">
              <a:spLocks noChangeArrowheads="1"/>
            </p:cNvSpPr>
            <p:nvPr/>
          </p:nvSpPr>
          <p:spPr bwMode="gray">
            <a:xfrm>
              <a:off x="4154109" y="2712273"/>
              <a:ext cx="74718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EBT 2025</a:t>
              </a:r>
            </a:p>
          </p:txBody>
        </p:sp>
      </p:grpSp>
      <p:grpSp>
        <p:nvGrpSpPr>
          <p:cNvPr id="16" name="Group 15">
            <a:extLst>
              <a:ext uri="{FF2B5EF4-FFF2-40B4-BE49-F238E27FC236}">
                <a16:creationId xmlns:a16="http://schemas.microsoft.com/office/drawing/2014/main" id="{1251ED95-0B42-B853-8BA8-589179553E1D}"/>
              </a:ext>
            </a:extLst>
          </p:cNvPr>
          <p:cNvGrpSpPr/>
          <p:nvPr/>
        </p:nvGrpSpPr>
        <p:grpSpPr>
          <a:xfrm>
            <a:off x="2078841" y="3852660"/>
            <a:ext cx="1494062" cy="648051"/>
            <a:chOff x="3780086" y="3487560"/>
            <a:chExt cx="1494062" cy="648051"/>
          </a:xfrm>
        </p:grpSpPr>
        <p:sp>
          <p:nvSpPr>
            <p:cNvPr id="50" name="Text Box 29">
              <a:extLst>
                <a:ext uri="{FF2B5EF4-FFF2-40B4-BE49-F238E27FC236}">
                  <a16:creationId xmlns:a16="http://schemas.microsoft.com/office/drawing/2014/main" id="{2DA28B3F-11F9-4643-BF94-3DF95D25DCE4}"/>
                </a:ext>
              </a:extLst>
            </p:cNvPr>
            <p:cNvSpPr txBox="1">
              <a:spLocks noChangeArrowheads="1"/>
            </p:cNvSpPr>
            <p:nvPr/>
          </p:nvSpPr>
          <p:spPr bwMode="gray">
            <a:xfrm>
              <a:off x="3780086" y="3572457"/>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28,5 %</a:t>
              </a:r>
            </a:p>
          </p:txBody>
        </p:sp>
        <p:sp>
          <p:nvSpPr>
            <p:cNvPr id="51" name="Text Box 29">
              <a:extLst>
                <a:ext uri="{FF2B5EF4-FFF2-40B4-BE49-F238E27FC236}">
                  <a16:creationId xmlns:a16="http://schemas.microsoft.com/office/drawing/2014/main" id="{BDC86E9A-E958-432C-ACBA-E44D25927225}"/>
                </a:ext>
              </a:extLst>
            </p:cNvPr>
            <p:cNvSpPr txBox="1">
              <a:spLocks noChangeArrowheads="1"/>
            </p:cNvSpPr>
            <p:nvPr/>
          </p:nvSpPr>
          <p:spPr bwMode="gray">
            <a:xfrm>
              <a:off x="3975357" y="3487560"/>
              <a:ext cx="1103520"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Eigenkapitalquote 2025</a:t>
              </a:r>
            </a:p>
          </p:txBody>
        </p:sp>
      </p:grpSp>
      <p:sp>
        <p:nvSpPr>
          <p:cNvPr id="178" name="Text Placeholder 8">
            <a:extLst>
              <a:ext uri="{FF2B5EF4-FFF2-40B4-BE49-F238E27FC236}">
                <a16:creationId xmlns:a16="http://schemas.microsoft.com/office/drawing/2014/main" id="{F205CB61-B562-4FBE-A9D6-A4FFDF4C6F28}"/>
              </a:ext>
            </a:extLst>
          </p:cNvPr>
          <p:cNvSpPr txBox="1">
            <a:spLocks/>
          </p:cNvSpPr>
          <p:nvPr/>
        </p:nvSpPr>
        <p:spPr>
          <a:xfrm>
            <a:off x="5424111" y="1624272"/>
            <a:ext cx="4896000" cy="252000"/>
          </a:xfrm>
          <a:prstGeom prst="rect">
            <a:avLst/>
          </a:prstGeom>
          <a:solidFill>
            <a:schemeClr val="bg1">
              <a:lumMod val="95000"/>
            </a:schemeClr>
          </a:solidFill>
          <a:ln w="25400" cap="flat" cmpd="sng" algn="ctr">
            <a:noFill/>
            <a:prstDash val="solid"/>
          </a:ln>
          <a:effectLst/>
        </p:spPr>
        <p:txBody>
          <a:bodyPr vert="horz" lIns="90000" tIns="46800" rIns="90000" bIns="46800" rtlCol="0" anchor="ctr">
            <a:noAutofit/>
          </a:bodyPr>
          <a:lstStyle>
            <a:lvl1pPr marL="0" indent="0" algn="l" defTabSz="1043056" rtl="0" eaLnBrk="1" latinLnBrk="0" hangingPunct="1">
              <a:spcBef>
                <a:spcPts val="0"/>
              </a:spcBef>
              <a:buClr>
                <a:schemeClr val="accent1"/>
              </a:buClr>
              <a:buFont typeface="Arial" panose="020B0604020202020204" pitchFamily="34" charset="0"/>
              <a:buNone/>
              <a:tabLst/>
              <a:defRPr lang="de-DE" sz="1000" b="1" kern="1200" dirty="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lt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lt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lt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lt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9pPr>
          </a:lstStyle>
          <a:p>
            <a:r>
              <a:rPr lang="de-DE" dirty="0"/>
              <a:t>Geschäftsmodell</a:t>
            </a:r>
          </a:p>
        </p:txBody>
      </p:sp>
      <p:sp>
        <p:nvSpPr>
          <p:cNvPr id="4" name="Text Placeholder 3">
            <a:extLst>
              <a:ext uri="{FF2B5EF4-FFF2-40B4-BE49-F238E27FC236}">
                <a16:creationId xmlns:a16="http://schemas.microsoft.com/office/drawing/2014/main" id="{37A505EA-7C70-4AD6-AF80-4F53E2A49AF8}"/>
              </a:ext>
            </a:extLst>
          </p:cNvPr>
          <p:cNvSpPr>
            <a:spLocks noGrp="1"/>
          </p:cNvSpPr>
          <p:nvPr>
            <p:ph type="body" sz="quarter" idx="19"/>
          </p:nvPr>
        </p:nvSpPr>
        <p:spPr>
          <a:xfrm>
            <a:off x="3779534" y="1623075"/>
            <a:ext cx="6535166" cy="252000"/>
          </a:xfrm>
          <a:ln>
            <a:noFill/>
          </a:ln>
        </p:spPr>
        <p:txBody>
          <a:bodyPr/>
          <a:lstStyle/>
          <a:p>
            <a:r>
              <a:rPr lang="de-DE" dirty="0"/>
              <a:t>Geschäftsfelder der ESWE Versorgungs AG</a:t>
            </a:r>
            <a:endParaRPr lang="en-GB" baseline="30000" dirty="0"/>
          </a:p>
        </p:txBody>
      </p:sp>
      <p:sp>
        <p:nvSpPr>
          <p:cNvPr id="25" name="Text Box 29">
            <a:extLst>
              <a:ext uri="{FF2B5EF4-FFF2-40B4-BE49-F238E27FC236}">
                <a16:creationId xmlns:a16="http://schemas.microsoft.com/office/drawing/2014/main" id="{33261C6D-EBB4-4CFB-9BD8-1A8374334AE5}"/>
              </a:ext>
            </a:extLst>
          </p:cNvPr>
          <p:cNvSpPr txBox="1">
            <a:spLocks noChangeArrowheads="1"/>
          </p:cNvSpPr>
          <p:nvPr/>
        </p:nvSpPr>
        <p:spPr bwMode="gray">
          <a:xfrm>
            <a:off x="378148" y="6025768"/>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275 Mio. kWh</a:t>
            </a:r>
          </a:p>
        </p:txBody>
      </p:sp>
      <p:sp>
        <p:nvSpPr>
          <p:cNvPr id="31" name="Text Box 29">
            <a:extLst>
              <a:ext uri="{FF2B5EF4-FFF2-40B4-BE49-F238E27FC236}">
                <a16:creationId xmlns:a16="http://schemas.microsoft.com/office/drawing/2014/main" id="{95792CFD-397E-1FFD-968E-2B9141CAD97F}"/>
              </a:ext>
            </a:extLst>
          </p:cNvPr>
          <p:cNvSpPr txBox="1">
            <a:spLocks noChangeArrowheads="1"/>
          </p:cNvSpPr>
          <p:nvPr/>
        </p:nvSpPr>
        <p:spPr bwMode="gray">
          <a:xfrm>
            <a:off x="655811" y="5940871"/>
            <a:ext cx="938736"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Wärme</a:t>
            </a:r>
          </a:p>
        </p:txBody>
      </p:sp>
      <p:sp>
        <p:nvSpPr>
          <p:cNvPr id="41" name="Text Box 29">
            <a:extLst>
              <a:ext uri="{FF2B5EF4-FFF2-40B4-BE49-F238E27FC236}">
                <a16:creationId xmlns:a16="http://schemas.microsoft.com/office/drawing/2014/main" id="{9E386528-9D4D-2402-2996-EEAB4E41A1D3}"/>
              </a:ext>
            </a:extLst>
          </p:cNvPr>
          <p:cNvSpPr txBox="1">
            <a:spLocks noChangeArrowheads="1"/>
          </p:cNvSpPr>
          <p:nvPr/>
        </p:nvSpPr>
        <p:spPr bwMode="gray">
          <a:xfrm>
            <a:off x="378700" y="5089664"/>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605 Mio. kWh</a:t>
            </a:r>
            <a:endParaRPr lang="de-DE" baseline="30000" dirty="0"/>
          </a:p>
        </p:txBody>
      </p:sp>
      <p:sp>
        <p:nvSpPr>
          <p:cNvPr id="43" name="Text Box 29">
            <a:extLst>
              <a:ext uri="{FF2B5EF4-FFF2-40B4-BE49-F238E27FC236}">
                <a16:creationId xmlns:a16="http://schemas.microsoft.com/office/drawing/2014/main" id="{0D115CE2-1F06-93C3-AE2C-5B9AC4D9CDA9}"/>
              </a:ext>
            </a:extLst>
          </p:cNvPr>
          <p:cNvSpPr txBox="1">
            <a:spLocks noChangeArrowheads="1"/>
          </p:cNvSpPr>
          <p:nvPr/>
        </p:nvSpPr>
        <p:spPr bwMode="gray">
          <a:xfrm>
            <a:off x="752171" y="5004767"/>
            <a:ext cx="74718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Strom</a:t>
            </a:r>
          </a:p>
        </p:txBody>
      </p:sp>
      <p:sp>
        <p:nvSpPr>
          <p:cNvPr id="45" name="Text Box 29">
            <a:extLst>
              <a:ext uri="{FF2B5EF4-FFF2-40B4-BE49-F238E27FC236}">
                <a16:creationId xmlns:a16="http://schemas.microsoft.com/office/drawing/2014/main" id="{4F8B014C-95AC-39B9-80A9-689585236881}"/>
              </a:ext>
            </a:extLst>
          </p:cNvPr>
          <p:cNvSpPr txBox="1">
            <a:spLocks noChangeArrowheads="1"/>
          </p:cNvSpPr>
          <p:nvPr/>
        </p:nvSpPr>
        <p:spPr bwMode="gray">
          <a:xfrm>
            <a:off x="2078841" y="6025768"/>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14,7 Mio. m³</a:t>
            </a:r>
          </a:p>
        </p:txBody>
      </p:sp>
      <p:sp>
        <p:nvSpPr>
          <p:cNvPr id="46" name="Text Box 29">
            <a:extLst>
              <a:ext uri="{FF2B5EF4-FFF2-40B4-BE49-F238E27FC236}">
                <a16:creationId xmlns:a16="http://schemas.microsoft.com/office/drawing/2014/main" id="{3670C91B-63EC-0F07-6E8C-9CEE2D9719A0}"/>
              </a:ext>
            </a:extLst>
          </p:cNvPr>
          <p:cNvSpPr txBox="1">
            <a:spLocks noChangeArrowheads="1"/>
          </p:cNvSpPr>
          <p:nvPr/>
        </p:nvSpPr>
        <p:spPr bwMode="gray">
          <a:xfrm>
            <a:off x="2201143" y="5940871"/>
            <a:ext cx="1249458"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Wasser</a:t>
            </a:r>
          </a:p>
        </p:txBody>
      </p:sp>
      <p:sp>
        <p:nvSpPr>
          <p:cNvPr id="52" name="Text Box 29">
            <a:extLst>
              <a:ext uri="{FF2B5EF4-FFF2-40B4-BE49-F238E27FC236}">
                <a16:creationId xmlns:a16="http://schemas.microsoft.com/office/drawing/2014/main" id="{418CE6C9-86A1-C27C-048B-72ED89861019}"/>
              </a:ext>
            </a:extLst>
          </p:cNvPr>
          <p:cNvSpPr txBox="1">
            <a:spLocks noChangeArrowheads="1"/>
          </p:cNvSpPr>
          <p:nvPr/>
        </p:nvSpPr>
        <p:spPr bwMode="gray">
          <a:xfrm>
            <a:off x="2078841" y="5089664"/>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1.445 Mio. kWh</a:t>
            </a:r>
            <a:endParaRPr lang="de-DE" baseline="30000" dirty="0"/>
          </a:p>
        </p:txBody>
      </p:sp>
      <p:sp>
        <p:nvSpPr>
          <p:cNvPr id="53" name="Text Box 29">
            <a:extLst>
              <a:ext uri="{FF2B5EF4-FFF2-40B4-BE49-F238E27FC236}">
                <a16:creationId xmlns:a16="http://schemas.microsoft.com/office/drawing/2014/main" id="{5FE17C65-0763-F5D9-594E-9925F3A7A791}"/>
              </a:ext>
            </a:extLst>
          </p:cNvPr>
          <p:cNvSpPr txBox="1">
            <a:spLocks noChangeArrowheads="1"/>
          </p:cNvSpPr>
          <p:nvPr/>
        </p:nvSpPr>
        <p:spPr bwMode="gray">
          <a:xfrm>
            <a:off x="2328654" y="5004767"/>
            <a:ext cx="994499"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Gas</a:t>
            </a:r>
          </a:p>
        </p:txBody>
      </p:sp>
      <p:sp>
        <p:nvSpPr>
          <p:cNvPr id="38" name="Rectangle 37">
            <a:extLst>
              <a:ext uri="{FF2B5EF4-FFF2-40B4-BE49-F238E27FC236}">
                <a16:creationId xmlns:a16="http://schemas.microsoft.com/office/drawing/2014/main" id="{D6DD787B-7AEB-428A-DEDB-0C0E0CB27A54}"/>
              </a:ext>
            </a:extLst>
          </p:cNvPr>
          <p:cNvSpPr/>
          <p:nvPr/>
        </p:nvSpPr>
        <p:spPr>
          <a:xfrm>
            <a:off x="3786188" y="1923675"/>
            <a:ext cx="6534150" cy="4881938"/>
          </a:xfrm>
          <a:prstGeom prst="rect">
            <a:avLst/>
          </a:prstGeom>
          <a:solidFill>
            <a:srgbClr val="EBF4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sp>
        <p:nvSpPr>
          <p:cNvPr id="247" name="Rectangle 246">
            <a:extLst>
              <a:ext uri="{FF2B5EF4-FFF2-40B4-BE49-F238E27FC236}">
                <a16:creationId xmlns:a16="http://schemas.microsoft.com/office/drawing/2014/main" id="{8997114C-9549-948C-5A99-85990E6F7FE6}"/>
              </a:ext>
            </a:extLst>
          </p:cNvPr>
          <p:cNvSpPr/>
          <p:nvPr/>
        </p:nvSpPr>
        <p:spPr>
          <a:xfrm>
            <a:off x="3872630" y="1982019"/>
            <a:ext cx="6355319" cy="1069968"/>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Beschaffung und Vertrieb von Strom für rund 200.000 Kunden in Wiesbaden sowie – seit 2024 wieder forciert – überregional</a:t>
            </a:r>
          </a:p>
          <a:p>
            <a:pPr marL="174625" indent="-174625">
              <a:spcAft>
                <a:spcPts val="600"/>
              </a:spcAft>
              <a:buClr>
                <a:srgbClr val="003D7C"/>
              </a:buClr>
              <a:buFont typeface="Wingdings" pitchFamily="2" charset="2"/>
              <a:buChar char="n"/>
            </a:pPr>
            <a:r>
              <a:rPr lang="de-DE" sz="900" dirty="0">
                <a:solidFill>
                  <a:schemeClr val="tx1"/>
                </a:solidFill>
              </a:rPr>
              <a:t>Eigenerzeugung anteilig über die Beteiligungen KMW (50 %) und ESWE BioEnergie (90 %); Stromnetz über die Tochter sw netz</a:t>
            </a:r>
          </a:p>
        </p:txBody>
      </p:sp>
      <p:sp>
        <p:nvSpPr>
          <p:cNvPr id="248" name="Rectangle 247">
            <a:extLst>
              <a:ext uri="{FF2B5EF4-FFF2-40B4-BE49-F238E27FC236}">
                <a16:creationId xmlns:a16="http://schemas.microsoft.com/office/drawing/2014/main" id="{11E69820-5564-5735-6AAF-B2FF065FBDEF}"/>
              </a:ext>
            </a:extLst>
          </p:cNvPr>
          <p:cNvSpPr/>
          <p:nvPr/>
        </p:nvSpPr>
        <p:spPr>
          <a:xfrm>
            <a:off x="3872631" y="1982019"/>
            <a:ext cx="6355319" cy="180975"/>
          </a:xfrm>
          <a:prstGeom prst="rect">
            <a:avLst/>
          </a:prstGeom>
          <a:solidFill>
            <a:srgbClr val="003D7C"/>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Strom</a:t>
            </a:r>
          </a:p>
        </p:txBody>
      </p:sp>
      <p:pic>
        <p:nvPicPr>
          <p:cNvPr id="250" name="Picture 249">
            <a:extLst>
              <a:ext uri="{FF2B5EF4-FFF2-40B4-BE49-F238E27FC236}">
                <a16:creationId xmlns:a16="http://schemas.microsoft.com/office/drawing/2014/main" id="{E0E737C6-AAF6-2CE9-2137-A64799DEF63B}"/>
              </a:ext>
            </a:extLst>
          </p:cNvPr>
          <p:cNvPicPr>
            <a:picLocks noChangeAspect="1"/>
          </p:cNvPicPr>
          <p:nvPr/>
        </p:nvPicPr>
        <p:blipFill>
          <a:blip r:embed="rId7"/>
          <a:stretch>
            <a:fillRect/>
          </a:stretch>
        </p:blipFill>
        <p:spPr>
          <a:xfrm>
            <a:off x="6590542" y="2720406"/>
            <a:ext cx="795086" cy="226600"/>
          </a:xfrm>
          <a:prstGeom prst="rect">
            <a:avLst/>
          </a:prstGeom>
        </p:spPr>
      </p:pic>
      <p:pic>
        <p:nvPicPr>
          <p:cNvPr id="252" name="Picture 251">
            <a:extLst>
              <a:ext uri="{FF2B5EF4-FFF2-40B4-BE49-F238E27FC236}">
                <a16:creationId xmlns:a16="http://schemas.microsoft.com/office/drawing/2014/main" id="{C405FA14-949A-DEF2-79C3-8946B3704DAF}"/>
              </a:ext>
            </a:extLst>
          </p:cNvPr>
          <p:cNvPicPr>
            <a:picLocks noChangeAspect="1"/>
          </p:cNvPicPr>
          <p:nvPr/>
        </p:nvPicPr>
        <p:blipFill>
          <a:blip r:embed="rId8"/>
          <a:stretch>
            <a:fillRect/>
          </a:stretch>
        </p:blipFill>
        <p:spPr>
          <a:xfrm>
            <a:off x="5042717" y="2725475"/>
            <a:ext cx="874595" cy="216463"/>
          </a:xfrm>
          <a:prstGeom prst="rect">
            <a:avLst/>
          </a:prstGeom>
        </p:spPr>
      </p:pic>
      <p:sp>
        <p:nvSpPr>
          <p:cNvPr id="61" name="TextBox 60">
            <a:extLst>
              <a:ext uri="{FF2B5EF4-FFF2-40B4-BE49-F238E27FC236}">
                <a16:creationId xmlns:a16="http://schemas.microsoft.com/office/drawing/2014/main" id="{A2AC385B-691E-6A49-6770-B3BEB68BE4E6}"/>
              </a:ext>
            </a:extLst>
          </p:cNvPr>
          <p:cNvSpPr txBox="1"/>
          <p:nvPr/>
        </p:nvSpPr>
        <p:spPr>
          <a:xfrm>
            <a:off x="6160522" y="3178003"/>
            <a:ext cx="1781907" cy="246063"/>
          </a:xfrm>
          <a:prstGeom prst="rect">
            <a:avLst/>
          </a:prstGeom>
          <a:noFill/>
        </p:spPr>
        <p:txBody>
          <a:bodyPr wrap="square" rtlCol="0">
            <a:spAutoFit/>
          </a:bodyPr>
          <a:lstStyle/>
          <a:p>
            <a:pPr algn="ctr"/>
            <a:r>
              <a:rPr lang="de-DE" sz="1000" b="1" i="1" dirty="0">
                <a:solidFill>
                  <a:schemeClr val="accent1"/>
                </a:solidFill>
              </a:rPr>
              <a:t>Umsatzverteilung 2025</a:t>
            </a:r>
            <a:r>
              <a:rPr lang="de-DE" sz="1000" b="1" i="1" baseline="30000" dirty="0">
                <a:solidFill>
                  <a:schemeClr val="accent1"/>
                </a:solidFill>
              </a:rPr>
              <a:t>2)</a:t>
            </a:r>
          </a:p>
        </p:txBody>
      </p:sp>
      <p:sp>
        <p:nvSpPr>
          <p:cNvPr id="254" name="Rectangle 253">
            <a:extLst>
              <a:ext uri="{FF2B5EF4-FFF2-40B4-BE49-F238E27FC236}">
                <a16:creationId xmlns:a16="http://schemas.microsoft.com/office/drawing/2014/main" id="{91068A60-0721-2B9E-52C0-F0A0E8FC98D2}"/>
              </a:ext>
            </a:extLst>
          </p:cNvPr>
          <p:cNvSpPr/>
          <p:nvPr/>
        </p:nvSpPr>
        <p:spPr>
          <a:xfrm>
            <a:off x="3872632" y="3178003"/>
            <a:ext cx="1512000" cy="2358794"/>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Energienahe Dienst-leistungen (PV, Wärme-pumpen, Contracting)</a:t>
            </a:r>
          </a:p>
          <a:p>
            <a:pPr marL="174625" indent="-174625">
              <a:spcAft>
                <a:spcPts val="600"/>
              </a:spcAft>
              <a:buClr>
                <a:srgbClr val="003D7C"/>
              </a:buClr>
              <a:buFont typeface="Wingdings" pitchFamily="2" charset="2"/>
              <a:buChar char="n"/>
            </a:pPr>
            <a:r>
              <a:rPr lang="de-DE" sz="900" dirty="0">
                <a:solidFill>
                  <a:schemeClr val="tx1"/>
                </a:solidFill>
              </a:rPr>
              <a:t>Ladeinfrastruktur / ESWE Charge Center</a:t>
            </a:r>
          </a:p>
          <a:p>
            <a:pPr marL="174625" indent="-174625">
              <a:spcAft>
                <a:spcPts val="600"/>
              </a:spcAft>
              <a:buClr>
                <a:srgbClr val="003D7C"/>
              </a:buClr>
              <a:buFont typeface="Wingdings" pitchFamily="2" charset="2"/>
              <a:buChar char="n"/>
            </a:pPr>
            <a:r>
              <a:rPr lang="de-DE" sz="900" dirty="0">
                <a:solidFill>
                  <a:schemeClr val="tx1"/>
                </a:solidFill>
              </a:rPr>
              <a:t>Konzerninterne Leistungen an sw netz und WiTCOM</a:t>
            </a:r>
          </a:p>
        </p:txBody>
      </p:sp>
      <p:sp>
        <p:nvSpPr>
          <p:cNvPr id="249" name="Rectangle 248">
            <a:extLst>
              <a:ext uri="{FF2B5EF4-FFF2-40B4-BE49-F238E27FC236}">
                <a16:creationId xmlns:a16="http://schemas.microsoft.com/office/drawing/2014/main" id="{BDA7AD5D-896F-0279-04DD-5B37ADB1C650}"/>
              </a:ext>
            </a:extLst>
          </p:cNvPr>
          <p:cNvSpPr/>
          <p:nvPr/>
        </p:nvSpPr>
        <p:spPr>
          <a:xfrm>
            <a:off x="3872632" y="3178003"/>
            <a:ext cx="1512000" cy="179388"/>
          </a:xfrm>
          <a:prstGeom prst="rect">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Sonstiges</a:t>
            </a:r>
          </a:p>
        </p:txBody>
      </p:sp>
      <p:pic>
        <p:nvPicPr>
          <p:cNvPr id="13" name="Picture 12">
            <a:extLst>
              <a:ext uri="{FF2B5EF4-FFF2-40B4-BE49-F238E27FC236}">
                <a16:creationId xmlns:a16="http://schemas.microsoft.com/office/drawing/2014/main" id="{0EF79CBE-56BB-1FB8-5DC1-25EC177ADA65}"/>
              </a:ext>
            </a:extLst>
          </p:cNvPr>
          <p:cNvPicPr>
            <a:picLocks noChangeAspect="1"/>
          </p:cNvPicPr>
          <p:nvPr/>
        </p:nvPicPr>
        <p:blipFill>
          <a:blip r:embed="rId9"/>
          <a:stretch>
            <a:fillRect/>
          </a:stretch>
        </p:blipFill>
        <p:spPr>
          <a:xfrm>
            <a:off x="37932" y="7722621"/>
            <a:ext cx="10693400" cy="296071"/>
          </a:xfrm>
          <a:prstGeom prst="rect">
            <a:avLst/>
          </a:prstGeom>
        </p:spPr>
      </p:pic>
      <p:sp>
        <p:nvSpPr>
          <p:cNvPr id="18" name="Rectangle 17">
            <a:extLst>
              <a:ext uri="{FF2B5EF4-FFF2-40B4-BE49-F238E27FC236}">
                <a16:creationId xmlns:a16="http://schemas.microsoft.com/office/drawing/2014/main" id="{10B318E8-4EBA-A86F-5474-7ED0D34D4EA3}"/>
              </a:ext>
            </a:extLst>
          </p:cNvPr>
          <p:cNvSpPr/>
          <p:nvPr/>
        </p:nvSpPr>
        <p:spPr>
          <a:xfrm>
            <a:off x="-3237397" y="4113813"/>
            <a:ext cx="3156758" cy="1781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dirty="0"/>
              <a:t>Quellen ESWE:</a:t>
            </a:r>
          </a:p>
          <a:p>
            <a:pPr algn="ctr"/>
            <a:r>
              <a:rPr lang="de-DE" sz="800" dirty="0"/>
              <a:t>Absatzmengen 2025 (Strom 605 / Gas 1.445 / Wärme 275 Mio. kWh, Wasser 14,7 Mio. m³): Geschäftsbericht 2025, S. 15</a:t>
            </a:r>
          </a:p>
          <a:p>
            <a:pPr algn="ctr"/>
            <a:r>
              <a:rPr lang="de-DE" sz="800" dirty="0"/>
              <a:t>Kennzahlen 2025 (Umsatz, EBITDA, EBT, EK-Quote): Geschäftsbericht 2025, S. 15/19</a:t>
            </a:r>
          </a:p>
          <a:p>
            <a:pPr algn="ctr"/>
            <a:r>
              <a:rPr lang="de-DE" sz="800" dirty="0"/>
              <a:t>Investitionen 2025 und Kapitalflussrechnung: Geschäftsbericht 2025, S. 18</a:t>
            </a:r>
            <a:endParaRPr lang="de-DE" sz="1000" dirty="0"/>
          </a:p>
        </p:txBody>
      </p:sp>
      <p:grpSp>
        <p:nvGrpSpPr>
          <p:cNvPr id="79" name="Group 78">
            <a:extLst>
              <a:ext uri="{FF2B5EF4-FFF2-40B4-BE49-F238E27FC236}">
                <a16:creationId xmlns:a16="http://schemas.microsoft.com/office/drawing/2014/main" id="{EBF86ECC-6E53-6DCD-43DC-AF4C03577653}"/>
              </a:ext>
            </a:extLst>
          </p:cNvPr>
          <p:cNvGrpSpPr/>
          <p:nvPr/>
        </p:nvGrpSpPr>
        <p:grpSpPr>
          <a:xfrm>
            <a:off x="8715952" y="3178003"/>
            <a:ext cx="1512000" cy="2358795"/>
            <a:chOff x="8715952" y="3187650"/>
            <a:chExt cx="1512000" cy="2358795"/>
          </a:xfrm>
        </p:grpSpPr>
        <p:sp>
          <p:nvSpPr>
            <p:cNvPr id="232" name="Rectangle 231">
              <a:extLst>
                <a:ext uri="{FF2B5EF4-FFF2-40B4-BE49-F238E27FC236}">
                  <a16:creationId xmlns:a16="http://schemas.microsoft.com/office/drawing/2014/main" id="{27695B0F-C476-B927-D464-511E44FD8183}"/>
                </a:ext>
              </a:extLst>
            </p:cNvPr>
            <p:cNvSpPr/>
            <p:nvPr/>
          </p:nvSpPr>
          <p:spPr>
            <a:xfrm>
              <a:off x="8715952" y="3187650"/>
              <a:ext cx="1512000" cy="2358795"/>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Beschaffung und Vertrieb von Erdgas an Privat- und Geschäftskunden</a:t>
              </a:r>
            </a:p>
            <a:p>
              <a:pPr marL="174625" indent="-174625">
                <a:spcAft>
                  <a:spcPts val="600"/>
                </a:spcAft>
                <a:buClr>
                  <a:srgbClr val="003D7C"/>
                </a:buClr>
                <a:buFont typeface="Wingdings" pitchFamily="2" charset="2"/>
                <a:buChar char="n"/>
              </a:pPr>
              <a:r>
                <a:rPr lang="de-DE" sz="900" dirty="0">
                  <a:solidFill>
                    <a:schemeClr val="tx1"/>
                  </a:solidFill>
                </a:rPr>
                <a:t>Betrieb des Gasnetzes Wiesbaden sowie der Gasnetze Taunusstein, Walluf und Schlangenbad</a:t>
              </a:r>
            </a:p>
          </p:txBody>
        </p:sp>
        <p:sp>
          <p:nvSpPr>
            <p:cNvPr id="234" name="Rectangle 233">
              <a:extLst>
                <a:ext uri="{FF2B5EF4-FFF2-40B4-BE49-F238E27FC236}">
                  <a16:creationId xmlns:a16="http://schemas.microsoft.com/office/drawing/2014/main" id="{C7E79931-DF30-5958-A14C-717778650C51}"/>
                </a:ext>
              </a:extLst>
            </p:cNvPr>
            <p:cNvSpPr/>
            <p:nvPr/>
          </p:nvSpPr>
          <p:spPr>
            <a:xfrm>
              <a:off x="8715952" y="3187650"/>
              <a:ext cx="1512000" cy="179388"/>
            </a:xfrm>
            <a:prstGeom prst="rect">
              <a:avLst/>
            </a:prstGeom>
            <a:solidFill>
              <a:srgbClr val="718B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Gas</a:t>
              </a:r>
            </a:p>
          </p:txBody>
        </p:sp>
      </p:grpSp>
      <p:grpSp>
        <p:nvGrpSpPr>
          <p:cNvPr id="63" name="Group 62">
            <a:extLst>
              <a:ext uri="{FF2B5EF4-FFF2-40B4-BE49-F238E27FC236}">
                <a16:creationId xmlns:a16="http://schemas.microsoft.com/office/drawing/2014/main" id="{7CF3D652-BEC6-CBEA-9923-EF688258D3BB}"/>
              </a:ext>
            </a:extLst>
          </p:cNvPr>
          <p:cNvGrpSpPr/>
          <p:nvPr/>
        </p:nvGrpSpPr>
        <p:grpSpPr>
          <a:xfrm>
            <a:off x="3872631" y="5663583"/>
            <a:ext cx="3128400" cy="1069200"/>
            <a:chOff x="7101512" y="5148783"/>
            <a:chExt cx="1512000" cy="1069200"/>
          </a:xfrm>
        </p:grpSpPr>
        <p:sp>
          <p:nvSpPr>
            <p:cNvPr id="218" name="Rectangle 217">
              <a:extLst>
                <a:ext uri="{FF2B5EF4-FFF2-40B4-BE49-F238E27FC236}">
                  <a16:creationId xmlns:a16="http://schemas.microsoft.com/office/drawing/2014/main" id="{9CFCE555-9AC2-784A-9478-15BCD9EA7A07}"/>
                </a:ext>
              </a:extLst>
            </p:cNvPr>
            <p:cNvSpPr/>
            <p:nvPr/>
          </p:nvSpPr>
          <p:spPr>
            <a:xfrm>
              <a:off x="7101512" y="5148783"/>
              <a:ext cx="1512000" cy="1069200"/>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400"/>
                </a:spcAft>
                <a:buClr>
                  <a:srgbClr val="003D7C"/>
                </a:buClr>
                <a:buFont typeface="Wingdings" pitchFamily="2" charset="2"/>
                <a:buChar char="n"/>
              </a:pPr>
              <a:r>
                <a:rPr lang="de-DE" sz="900" dirty="0">
                  <a:solidFill>
                    <a:schemeClr val="tx1"/>
                  </a:solidFill>
                </a:rPr>
                <a:t>Fernwärmeerzeugung und -vertrieb mit wachsendem Netz; Anbindung des MHKW und schrittweise Ablösung der erdgasbefeuerten Heizwerke</a:t>
              </a:r>
            </a:p>
          </p:txBody>
        </p:sp>
        <p:sp>
          <p:nvSpPr>
            <p:cNvPr id="224" name="Rectangle 223">
              <a:extLst>
                <a:ext uri="{FF2B5EF4-FFF2-40B4-BE49-F238E27FC236}">
                  <a16:creationId xmlns:a16="http://schemas.microsoft.com/office/drawing/2014/main" id="{ADEAE608-4D4C-A803-7293-0868B76927B8}"/>
                </a:ext>
              </a:extLst>
            </p:cNvPr>
            <p:cNvSpPr/>
            <p:nvPr/>
          </p:nvSpPr>
          <p:spPr>
            <a:xfrm>
              <a:off x="7101512" y="5148783"/>
              <a:ext cx="1512000" cy="180000"/>
            </a:xfrm>
            <a:prstGeom prst="rect">
              <a:avLst/>
            </a:prstGeom>
            <a:solidFill>
              <a:srgbClr val="A5CA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Wärme</a:t>
              </a:r>
            </a:p>
          </p:txBody>
        </p:sp>
      </p:grpSp>
      <p:grpSp>
        <p:nvGrpSpPr>
          <p:cNvPr id="72" name="Group 71">
            <a:extLst>
              <a:ext uri="{FF2B5EF4-FFF2-40B4-BE49-F238E27FC236}">
                <a16:creationId xmlns:a16="http://schemas.microsoft.com/office/drawing/2014/main" id="{DEC14433-388D-CA28-2DE5-7A9E939CD30E}"/>
              </a:ext>
            </a:extLst>
          </p:cNvPr>
          <p:cNvGrpSpPr/>
          <p:nvPr/>
        </p:nvGrpSpPr>
        <p:grpSpPr>
          <a:xfrm>
            <a:off x="7101511" y="5662814"/>
            <a:ext cx="3126440" cy="1069969"/>
            <a:chOff x="7101511" y="1980431"/>
            <a:chExt cx="3126440" cy="1069969"/>
          </a:xfrm>
        </p:grpSpPr>
        <p:sp>
          <p:nvSpPr>
            <p:cNvPr id="73" name="Rectangle 72">
              <a:extLst>
                <a:ext uri="{FF2B5EF4-FFF2-40B4-BE49-F238E27FC236}">
                  <a16:creationId xmlns:a16="http://schemas.microsoft.com/office/drawing/2014/main" id="{DD6BD73D-F7A9-ADB9-3DFF-201ABEDA74D4}"/>
                </a:ext>
              </a:extLst>
            </p:cNvPr>
            <p:cNvSpPr/>
            <p:nvPr/>
          </p:nvSpPr>
          <p:spPr>
            <a:xfrm>
              <a:off x="7101511" y="1980431"/>
              <a:ext cx="3126440" cy="1069969"/>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Verpachtung und Betriebsführung des Wassernetzes für den städtischen Eigenbetrieb WLW (Erlöse 2025: 32,6 Mio. EUR)</a:t>
              </a:r>
            </a:p>
            <a:p>
              <a:pPr marL="174625" indent="-174625">
                <a:spcAft>
                  <a:spcPts val="600"/>
                </a:spcAft>
                <a:buClr>
                  <a:srgbClr val="003D7C"/>
                </a:buClr>
                <a:buFont typeface="Wingdings" pitchFamily="2" charset="2"/>
                <a:buChar char="n"/>
              </a:pPr>
              <a:r>
                <a:rPr lang="de-DE" sz="900" dirty="0">
                  <a:solidFill>
                    <a:schemeClr val="tx1"/>
                  </a:solidFill>
                </a:rPr>
                <a:t>Weiterverkauf des Wasserbezugs an den Eigenbetrieb (16,9 Mio. EUR)</a:t>
              </a:r>
            </a:p>
          </p:txBody>
        </p:sp>
        <p:sp>
          <p:nvSpPr>
            <p:cNvPr id="74" name="Rectangle 73">
              <a:extLst>
                <a:ext uri="{FF2B5EF4-FFF2-40B4-BE49-F238E27FC236}">
                  <a16:creationId xmlns:a16="http://schemas.microsoft.com/office/drawing/2014/main" id="{6040B9F6-4F69-F0A4-6E85-67BB20B8099D}"/>
                </a:ext>
              </a:extLst>
            </p:cNvPr>
            <p:cNvSpPr/>
            <p:nvPr/>
          </p:nvSpPr>
          <p:spPr>
            <a:xfrm>
              <a:off x="7101512" y="1982019"/>
              <a:ext cx="3126438" cy="179388"/>
            </a:xfrm>
            <a:prstGeom prst="rect">
              <a:avLst/>
            </a:prstGeom>
            <a:solidFill>
              <a:srgbClr val="718B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Wasser</a:t>
              </a:r>
            </a:p>
          </p:txBody>
        </p:sp>
      </p:grpSp>
      <p:pic>
        <p:nvPicPr>
          <p:cNvPr id="76" name="Picture 75">
            <a:extLst>
              <a:ext uri="{FF2B5EF4-FFF2-40B4-BE49-F238E27FC236}">
                <a16:creationId xmlns:a16="http://schemas.microsoft.com/office/drawing/2014/main" id="{B58154AE-EBE6-5882-BBC6-039834E4EAD1}"/>
              </a:ext>
            </a:extLst>
          </p:cNvPr>
          <p:cNvPicPr>
            <a:picLocks noChangeAspect="1"/>
          </p:cNvPicPr>
          <p:nvPr/>
        </p:nvPicPr>
        <p:blipFill>
          <a:blip r:embed="rId10"/>
          <a:stretch>
            <a:fillRect/>
          </a:stretch>
        </p:blipFill>
        <p:spPr>
          <a:xfrm>
            <a:off x="8010996" y="6432846"/>
            <a:ext cx="1058260" cy="174614"/>
          </a:xfrm>
          <a:prstGeom prst="rect">
            <a:avLst/>
          </a:prstGeom>
        </p:spPr>
      </p:pic>
      <p:pic>
        <p:nvPicPr>
          <p:cNvPr id="82" name="Picture 81">
            <a:extLst>
              <a:ext uri="{FF2B5EF4-FFF2-40B4-BE49-F238E27FC236}">
                <a16:creationId xmlns:a16="http://schemas.microsoft.com/office/drawing/2014/main" id="{C031654F-5932-2B83-2825-667FD6BCCBFC}"/>
              </a:ext>
            </a:extLst>
          </p:cNvPr>
          <p:cNvPicPr>
            <a:picLocks noChangeAspect="1"/>
          </p:cNvPicPr>
          <p:nvPr/>
        </p:nvPicPr>
        <p:blipFill>
          <a:blip r:embed="rId11"/>
          <a:stretch>
            <a:fillRect/>
          </a:stretch>
        </p:blipFill>
        <p:spPr>
          <a:xfrm>
            <a:off x="9143405" y="5135587"/>
            <a:ext cx="657095" cy="229220"/>
          </a:xfrm>
          <a:prstGeom prst="rect">
            <a:avLst/>
          </a:prstGeom>
        </p:spPr>
      </p:pic>
      <p:pic>
        <p:nvPicPr>
          <p:cNvPr id="86" name="Picture 85">
            <a:extLst>
              <a:ext uri="{FF2B5EF4-FFF2-40B4-BE49-F238E27FC236}">
                <a16:creationId xmlns:a16="http://schemas.microsoft.com/office/drawing/2014/main" id="{C5C9D2C5-A240-CE6C-C7D9-4CDDA0510D04}"/>
              </a:ext>
            </a:extLst>
          </p:cNvPr>
          <p:cNvPicPr>
            <a:picLocks noChangeAspect="1"/>
          </p:cNvPicPr>
          <p:nvPr/>
        </p:nvPicPr>
        <p:blipFill>
          <a:blip r:embed="rId11"/>
          <a:stretch>
            <a:fillRect/>
          </a:stretch>
        </p:blipFill>
        <p:spPr>
          <a:xfrm>
            <a:off x="8058857" y="2719096"/>
            <a:ext cx="657095" cy="229220"/>
          </a:xfrm>
          <a:prstGeom prst="rect">
            <a:avLst/>
          </a:prstGeom>
        </p:spPr>
      </p:pic>
      <p:pic>
        <p:nvPicPr>
          <p:cNvPr id="229" name="Picture 228">
            <a:extLst>
              <a:ext uri="{FF2B5EF4-FFF2-40B4-BE49-F238E27FC236}">
                <a16:creationId xmlns:a16="http://schemas.microsoft.com/office/drawing/2014/main" id="{56141491-81BE-8C3A-0960-D699EE4456CE}"/>
              </a:ext>
            </a:extLst>
          </p:cNvPr>
          <p:cNvPicPr>
            <a:picLocks noChangeAspect="1"/>
          </p:cNvPicPr>
          <p:nvPr/>
        </p:nvPicPr>
        <p:blipFill>
          <a:blip r:embed="rId7"/>
          <a:stretch>
            <a:fillRect/>
          </a:stretch>
        </p:blipFill>
        <p:spPr>
          <a:xfrm>
            <a:off x="5177358" y="6376049"/>
            <a:ext cx="657095" cy="187273"/>
          </a:xfrm>
          <a:prstGeom prst="rect">
            <a:avLst/>
          </a:prstGeom>
        </p:spPr>
      </p:pic>
      <p:pic>
        <p:nvPicPr>
          <p:cNvPr id="228" name="Picture 227">
            <a:extLst>
              <a:ext uri="{FF2B5EF4-FFF2-40B4-BE49-F238E27FC236}">
                <a16:creationId xmlns:a16="http://schemas.microsoft.com/office/drawing/2014/main" id="{6F79E8BC-0445-D5DD-5675-C77637EBC14F}"/>
              </a:ext>
            </a:extLst>
          </p:cNvPr>
          <p:cNvPicPr>
            <a:picLocks noChangeAspect="1"/>
          </p:cNvPicPr>
          <p:nvPr/>
        </p:nvPicPr>
        <p:blipFill>
          <a:blip r:embed="rId12"/>
          <a:stretch>
            <a:fillRect/>
          </a:stretch>
        </p:blipFill>
        <p:spPr>
          <a:xfrm>
            <a:off x="4208184" y="6354520"/>
            <a:ext cx="795243" cy="230331"/>
          </a:xfrm>
          <a:prstGeom prst="rect">
            <a:avLst/>
          </a:prstGeom>
        </p:spPr>
      </p:pic>
      <p:pic>
        <p:nvPicPr>
          <p:cNvPr id="87" name="Picture 86">
            <a:extLst>
              <a:ext uri="{FF2B5EF4-FFF2-40B4-BE49-F238E27FC236}">
                <a16:creationId xmlns:a16="http://schemas.microsoft.com/office/drawing/2014/main" id="{59557F0E-B00F-FFCE-A86A-5B1752EA5C66}"/>
              </a:ext>
            </a:extLst>
          </p:cNvPr>
          <p:cNvPicPr>
            <a:picLocks noChangeAspect="1"/>
          </p:cNvPicPr>
          <p:nvPr/>
        </p:nvPicPr>
        <p:blipFill>
          <a:blip r:embed="rId11"/>
          <a:stretch>
            <a:fillRect/>
          </a:stretch>
        </p:blipFill>
        <p:spPr>
          <a:xfrm>
            <a:off x="6008384" y="6355075"/>
            <a:ext cx="657095" cy="229220"/>
          </a:xfrm>
          <a:prstGeom prst="rect">
            <a:avLst/>
          </a:prstGeom>
        </p:spPr>
      </p:pic>
      <p:pic>
        <p:nvPicPr>
          <p:cNvPr id="88" name="Picture 87">
            <a:extLst>
              <a:ext uri="{FF2B5EF4-FFF2-40B4-BE49-F238E27FC236}">
                <a16:creationId xmlns:a16="http://schemas.microsoft.com/office/drawing/2014/main" id="{6952F5A2-F5D4-2C12-7DD0-F114B57DFF68}"/>
              </a:ext>
            </a:extLst>
          </p:cNvPr>
          <p:cNvPicPr>
            <a:picLocks noChangeAspect="1"/>
          </p:cNvPicPr>
          <p:nvPr/>
        </p:nvPicPr>
        <p:blipFill>
          <a:blip r:embed="rId11"/>
          <a:stretch>
            <a:fillRect/>
          </a:stretch>
        </p:blipFill>
        <p:spPr>
          <a:xfrm>
            <a:off x="9242309" y="6405543"/>
            <a:ext cx="657095" cy="229220"/>
          </a:xfrm>
          <a:prstGeom prst="rect">
            <a:avLst/>
          </a:prstGeom>
        </p:spPr>
      </p:pic>
      <p:pic>
        <p:nvPicPr>
          <p:cNvPr id="94" name="Picture 93">
            <a:extLst>
              <a:ext uri="{FF2B5EF4-FFF2-40B4-BE49-F238E27FC236}">
                <a16:creationId xmlns:a16="http://schemas.microsoft.com/office/drawing/2014/main" id="{1547B92E-6E7E-4CDF-D560-30DF4C9C93B0}"/>
              </a:ext>
            </a:extLst>
          </p:cNvPr>
          <p:cNvPicPr>
            <a:picLocks noChangeAspect="1"/>
          </p:cNvPicPr>
          <p:nvPr/>
        </p:nvPicPr>
        <p:blipFill>
          <a:blip r:embed="rId7"/>
          <a:stretch>
            <a:fillRect/>
          </a:stretch>
        </p:blipFill>
        <p:spPr>
          <a:xfrm>
            <a:off x="4233151" y="5137485"/>
            <a:ext cx="790963" cy="225425"/>
          </a:xfrm>
          <a:prstGeom prst="rect">
            <a:avLst/>
          </a:prstGeom>
        </p:spPr>
      </p:pic>
      <p:pic>
        <p:nvPicPr>
          <p:cNvPr id="77" name="Picture 76">
            <a:extLst>
              <a:ext uri="{FF2B5EF4-FFF2-40B4-BE49-F238E27FC236}">
                <a16:creationId xmlns:a16="http://schemas.microsoft.com/office/drawing/2014/main" id="{A1448F67-1AE2-C08F-1037-A05D014E9685}"/>
              </a:ext>
            </a:extLst>
          </p:cNvPr>
          <p:cNvPicPr>
            <a:picLocks noChangeAspect="1"/>
          </p:cNvPicPr>
          <p:nvPr/>
        </p:nvPicPr>
        <p:blipFill>
          <a:blip r:embed="rId7"/>
          <a:stretch>
            <a:fillRect/>
          </a:stretch>
        </p:blipFill>
        <p:spPr>
          <a:xfrm>
            <a:off x="9076471" y="4722837"/>
            <a:ext cx="790963" cy="225425"/>
          </a:xfrm>
          <a:prstGeom prst="rect">
            <a:avLst/>
          </a:prstGeom>
        </p:spPr>
      </p:pic>
      <p:pic>
        <p:nvPicPr>
          <p:cNvPr id="78" name="Picture 77">
            <a:extLst>
              <a:ext uri="{FF2B5EF4-FFF2-40B4-BE49-F238E27FC236}">
                <a16:creationId xmlns:a16="http://schemas.microsoft.com/office/drawing/2014/main" id="{5A29BBF9-F066-D134-7B97-E247766A90D7}"/>
              </a:ext>
            </a:extLst>
          </p:cNvPr>
          <p:cNvPicPr>
            <a:picLocks noChangeAspect="1"/>
          </p:cNvPicPr>
          <p:nvPr/>
        </p:nvPicPr>
        <p:blipFill>
          <a:blip r:embed="rId13"/>
          <a:stretch>
            <a:fillRect/>
          </a:stretch>
        </p:blipFill>
        <p:spPr>
          <a:xfrm>
            <a:off x="9110470" y="4356695"/>
            <a:ext cx="722964" cy="250825"/>
          </a:xfrm>
          <a:prstGeom prst="rect">
            <a:avLst/>
          </a:prstGeom>
        </p:spPr>
      </p:pic>
      <p:sp>
        <p:nvSpPr>
          <p:cNvPr id="92" name="Rectangle 91">
            <a:extLst>
              <a:ext uri="{FF2B5EF4-FFF2-40B4-BE49-F238E27FC236}">
                <a16:creationId xmlns:a16="http://schemas.microsoft.com/office/drawing/2014/main" id="{8CD7260B-2D29-D61F-6F2A-CD0145D346A4}"/>
              </a:ext>
            </a:extLst>
          </p:cNvPr>
          <p:cNvSpPr/>
          <p:nvPr/>
        </p:nvSpPr>
        <p:spPr>
          <a:xfrm>
            <a:off x="6500813" y="4103688"/>
            <a:ext cx="1106488" cy="754063"/>
          </a:xfrm>
          <a:prstGeom prst="rect">
            <a:avLst/>
          </a:prstGeom>
          <a:solidFill>
            <a:srgbClr val="EB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100 %</a:t>
            </a:r>
            <a:br/>
            <a:r>
              <a:rPr lang="de-DE" sz="900" b="1" dirty="0">
                <a:solidFill>
                  <a:schemeClr val="accent1"/>
                </a:solidFill>
              </a:rPr>
              <a:t>≙</a:t>
            </a:r>
            <a:br/>
            <a:r>
              <a:rPr lang="de-DE" sz="900" b="1" dirty="0">
                <a:solidFill>
                  <a:schemeClr val="accent1"/>
                </a:solidFill>
              </a:rPr>
              <a:t>473,8 Mio. EUR</a:t>
            </a:r>
            <a:r>
              <a:rPr lang="de-DE" sz="900" b="1" kern="400" baseline="30000" dirty="0">
                <a:solidFill>
                  <a:schemeClr val="accent1"/>
                </a:solidFill>
              </a:rPr>
              <a:t>2)</a:t>
            </a:r>
          </a:p>
        </p:txBody>
      </p:sp>
      <p:graphicFrame>
        <p:nvGraphicFramePr>
          <p:cNvPr id="242" name="Chart 241">
            <a:extLst>
              <a:ext uri="{FF2B5EF4-FFF2-40B4-BE49-F238E27FC236}">
                <a16:creationId xmlns:a16="http://schemas.microsoft.com/office/drawing/2014/main" id="{2C6418FD-D80B-EC18-C042-D23C238ED9CD}"/>
              </a:ext>
            </a:extLst>
          </p:cNvPr>
          <p:cNvGraphicFramePr/>
          <p:nvPr>
            <p:custDataLst>
              <p:tags r:id="rId2"/>
            </p:custDataLst>
            <p:extLst>
              <p:ext uri="{D42A27DB-BD31-4B8C-83A1-F6EECF244321}">
                <p14:modId xmlns:p14="http://schemas.microsoft.com/office/powerpoint/2010/main" val="4279220201"/>
              </p:ext>
            </p:extLst>
          </p:nvPr>
        </p:nvGraphicFramePr>
        <p:xfrm>
          <a:off x="5911850" y="3341688"/>
          <a:ext cx="2290763" cy="2278062"/>
        </p:xfrm>
        <a:graphic>
          <a:graphicData uri="http://schemas.openxmlformats.org/drawingml/2006/chart">
            <c:chart xmlns:c="http://schemas.openxmlformats.org/drawingml/2006/chart" xmlns:r="http://schemas.openxmlformats.org/officeDocument/2006/relationships" r:id="rId14"/>
          </a:graphicData>
        </a:graphic>
      </p:graphicFrame>
      <p:sp>
        <p:nvSpPr>
          <p:cNvPr id="238" name="Textplatzhalter 2">
            <a:extLst>
              <a:ext uri="{FF2B5EF4-FFF2-40B4-BE49-F238E27FC236}">
                <a16:creationId xmlns:a16="http://schemas.microsoft.com/office/drawing/2014/main" id="{ABD3E78A-B212-094C-28E5-FD4C4261A096}"/>
              </a:ext>
            </a:extLst>
          </p:cNvPr>
          <p:cNvSpPr>
            <a:spLocks/>
          </p:cNvSpPr>
          <p:nvPr>
            <p:custDataLst>
              <p:tags r:id="rId3"/>
            </p:custDataLst>
          </p:nvPr>
        </p:nvSpPr>
        <p:spPr bwMode="gray">
          <a:xfrm>
            <a:off x="7645400" y="4608513"/>
            <a:ext cx="231775" cy="152400"/>
          </a:xfrm>
          <a:prstGeom prst="rect">
            <a:avLst/>
          </a:prstGeom>
          <a:solidFill>
            <a:schemeClr val="accent3"/>
          </a:solidFill>
          <a:ln>
            <a:noFill/>
          </a:ln>
          <a:effectLst/>
        </p:spPr>
        <p:txBody>
          <a:bodyPr vert="horz" wrap="none" lIns="17463" tIns="0" rIns="17463"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F64EAFB5-E3B7-4BB6-B548-45D1C8F95102}" type="datetime'''''''''''''''''''''''''1%'''">
              <a:rPr lang="de-DE" altLang="en-US" sz="1000" b="1" smtClean="0">
                <a:solidFill>
                  <a:schemeClr val="bg1"/>
                </a:solidFill>
                <a:effectLst/>
              </a:rPr>
              <a:pPr marL="0" lvl="0" indent="0" algn="ctr">
                <a:spcBef>
                  <a:spcPct val="0"/>
                </a:spcBef>
                <a:spcAft>
                  <a:spcPct val="0"/>
                </a:spcAft>
                <a:buNone/>
              </a:pPr>
              <a:t>1%</a:t>
            </a:fld>
            <a:endParaRPr lang="de-DE" sz="1000" b="1" dirty="0">
              <a:solidFill>
                <a:schemeClr val="bg1"/>
              </a:solidFill>
            </a:endParaRPr>
          </a:p>
        </p:txBody>
      </p:sp>
      <p:sp>
        <p:nvSpPr>
          <p:cNvPr id="235" name="Rectangle 234">
            <a:extLst>
              <a:ext uri="{FF2B5EF4-FFF2-40B4-BE49-F238E27FC236}">
                <a16:creationId xmlns:a16="http://schemas.microsoft.com/office/drawing/2014/main" id="{31A78ED4-1554-5DE6-FD53-BFBD275876AF}"/>
              </a:ext>
            </a:extLst>
          </p:cNvPr>
          <p:cNvSpPr/>
          <p:nvPr/>
        </p:nvSpPr>
        <p:spPr>
          <a:xfrm>
            <a:off x="7650956" y="4779366"/>
            <a:ext cx="230981" cy="153393"/>
          </a:xfrm>
          <a:prstGeom prst="rect">
            <a:avLst/>
          </a:prstGeom>
          <a:solidFill>
            <a:srgbClr val="67A6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t>1%</a:t>
            </a:r>
          </a:p>
        </p:txBody>
      </p:sp>
    </p:spTree>
    <p:extLst>
      <p:ext uri="{BB962C8B-B14F-4D97-AF65-F5344CB8AC3E}">
        <p14:creationId xmlns:p14="http://schemas.microsoft.com/office/powerpoint/2010/main" val="83510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extLst>
              <p:ext uri="{D42A27DB-BD31-4B8C-83A1-F6EECF244321}">
                <p14:modId xmlns:p14="http://schemas.microsoft.com/office/powerpoint/2010/main" val="2883246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286" imgH="286" progId="TCLayout.ActiveDocument.1">
                  <p:embed/>
                </p:oleObj>
              </mc:Choice>
              <mc:Fallback>
                <p:oleObj name="think-cell Slide" r:id="rId9"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378700" y="450279"/>
            <a:ext cx="9936000" cy="720000"/>
          </a:xfrm>
        </p:spPr>
        <p:txBody>
          <a:bodyPr vert="horz"/>
          <a:lstStyle/>
          <a:p>
            <a:r>
              <a:rPr lang="de-DE" spc="-30" dirty="0"/>
              <a:t>Das Investitionsvolumen wird sich laut Lagebericht in den nächsten Jahren nochmals erheblich steigern – Wärme- und Stromnetz sind die zentralen Treiber</a:t>
            </a:r>
          </a:p>
        </p:txBody>
      </p:sp>
      <p:sp>
        <p:nvSpPr>
          <p:cNvPr id="6" name="Text Placeholder 5"/>
          <p:cNvSpPr>
            <a:spLocks noGrp="1"/>
          </p:cNvSpPr>
          <p:nvPr>
            <p:ph type="body" sz="quarter" idx="13"/>
          </p:nvPr>
        </p:nvSpPr>
        <p:spPr>
          <a:xfrm>
            <a:off x="378700" y="233868"/>
            <a:ext cx="9936000" cy="216000"/>
          </a:xfrm>
        </p:spPr>
        <p:txBody>
          <a:bodyPr/>
          <a:lstStyle/>
          <a:p>
            <a:r>
              <a:rPr lang="de-DE" dirty="0"/>
              <a:t>2. Übersicht und Herausforderungen ESWE Versorgungs AG</a:t>
            </a:r>
          </a:p>
        </p:txBody>
      </p:sp>
      <p:sp>
        <p:nvSpPr>
          <p:cNvPr id="16" name="Text Placeholder 15">
            <a:extLst>
              <a:ext uri="{FF2B5EF4-FFF2-40B4-BE49-F238E27FC236}">
                <a16:creationId xmlns:a16="http://schemas.microsoft.com/office/drawing/2014/main" id="{072640DF-F252-4BE5-A85C-8964B69F7277}"/>
              </a:ext>
            </a:extLst>
          </p:cNvPr>
          <p:cNvSpPr>
            <a:spLocks noGrp="1"/>
          </p:cNvSpPr>
          <p:nvPr>
            <p:ph type="body" sz="quarter" idx="15"/>
          </p:nvPr>
        </p:nvSpPr>
        <p:spPr>
          <a:xfrm>
            <a:off x="378699" y="6924655"/>
            <a:ext cx="8532000" cy="168344"/>
          </a:xfrm>
        </p:spPr>
        <p:txBody>
          <a:bodyPr/>
          <a:lstStyle/>
          <a:p>
            <a:r>
              <a:rPr lang="de-DE" dirty="0"/>
              <a:t>1) Gesamtinvestitionen 2025 inkl. Finanzanlagen lt. Geschäftsbericht 2025 (Summe 37,0 Mio. EUR); 2) Erwartetes Volumen lt. Lagebericht 2025; 3) Net Debt = Verbindlichkeiten gegenüber </a:t>
            </a:r>
          </a:p>
          <a:p>
            <a:r>
              <a:rPr lang="de-DE" dirty="0"/>
              <a:t>Kreditinstituten + Pensionsrückstellungen ./. liquide Mittel</a:t>
            </a:r>
          </a:p>
        </p:txBody>
      </p:sp>
      <p:sp>
        <p:nvSpPr>
          <p:cNvPr id="58" name="Rectangle 57">
            <a:extLst>
              <a:ext uri="{FF2B5EF4-FFF2-40B4-BE49-F238E27FC236}">
                <a16:creationId xmlns:a16="http://schemas.microsoft.com/office/drawing/2014/main" id="{E1DF4BED-7EEA-02E9-0A3A-11890CA70F0E}"/>
              </a:ext>
            </a:extLst>
          </p:cNvPr>
          <p:cNvSpPr/>
          <p:nvPr/>
        </p:nvSpPr>
        <p:spPr>
          <a:xfrm>
            <a:off x="378700" y="1465984"/>
            <a:ext cx="9936000" cy="252000"/>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Investitionsbedarf ESWE Versorgungs AG</a:t>
            </a:r>
          </a:p>
        </p:txBody>
      </p:sp>
      <p:sp>
        <p:nvSpPr>
          <p:cNvPr id="2" name="Rectangle 1">
            <a:extLst>
              <a:ext uri="{FF2B5EF4-FFF2-40B4-BE49-F238E27FC236}">
                <a16:creationId xmlns:a16="http://schemas.microsoft.com/office/drawing/2014/main" id="{B8D5EB07-C9F9-44FD-036B-0945B0752B10}"/>
              </a:ext>
            </a:extLst>
          </p:cNvPr>
          <p:cNvSpPr/>
          <p:nvPr/>
        </p:nvSpPr>
        <p:spPr>
          <a:xfrm>
            <a:off x="1089040" y="1797202"/>
            <a:ext cx="9226535" cy="1038673"/>
          </a:xfrm>
          <a:prstGeom prst="rect">
            <a:avLst/>
          </a:prstGeom>
          <a:solidFill>
            <a:srgbClr val="E1ED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000" b="1" dirty="0">
              <a:solidFill>
                <a:schemeClr val="accent1"/>
              </a:solidFill>
              <a:highlight>
                <a:srgbClr val="FFFF00"/>
              </a:highlight>
            </a:endParaRPr>
          </a:p>
        </p:txBody>
      </p:sp>
      <p:sp>
        <p:nvSpPr>
          <p:cNvPr id="29" name="Rectangle 28">
            <a:extLst>
              <a:ext uri="{FF2B5EF4-FFF2-40B4-BE49-F238E27FC236}">
                <a16:creationId xmlns:a16="http://schemas.microsoft.com/office/drawing/2014/main" id="{8FB00587-00A2-043B-1D9E-744FE95D84F0}"/>
              </a:ext>
            </a:extLst>
          </p:cNvPr>
          <p:cNvSpPr/>
          <p:nvPr/>
        </p:nvSpPr>
        <p:spPr>
          <a:xfrm>
            <a:off x="1089039" y="3225777"/>
            <a:ext cx="9226800" cy="140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chemeClr val="accent1"/>
              </a:buClr>
              <a:buFont typeface="Wingdings" panose="05000000000000000000" pitchFamily="2" charset="2"/>
              <a:buChar char="n"/>
            </a:pPr>
            <a:endParaRPr lang="de-DE" sz="900" b="1" dirty="0">
              <a:solidFill>
                <a:schemeClr val="accent1"/>
              </a:solidFill>
              <a:highlight>
                <a:srgbClr val="FFFF00"/>
              </a:highlight>
              <a:latin typeface="+mj-lt"/>
            </a:endParaRPr>
          </a:p>
        </p:txBody>
      </p:sp>
      <p:sp>
        <p:nvSpPr>
          <p:cNvPr id="72" name="Rectangle 71">
            <a:extLst>
              <a:ext uri="{FF2B5EF4-FFF2-40B4-BE49-F238E27FC236}">
                <a16:creationId xmlns:a16="http://schemas.microsoft.com/office/drawing/2014/main" id="{9037B3D3-0E4D-18FE-7F5D-547AB1349580}"/>
              </a:ext>
            </a:extLst>
          </p:cNvPr>
          <p:cNvSpPr/>
          <p:nvPr/>
        </p:nvSpPr>
        <p:spPr>
          <a:xfrm>
            <a:off x="378702" y="5049838"/>
            <a:ext cx="9936000" cy="168275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108000" tIns="18000" rIns="18000" bIns="18000" rtlCol="0" anchor="ctr"/>
          <a:lstStyle/>
          <a:p>
            <a:pPr algn="ctr">
              <a:spcAft>
                <a:spcPts val="200"/>
              </a:spcAft>
            </a:pPr>
            <a:endParaRPr lang="de-DE" sz="800" dirty="0">
              <a:solidFill>
                <a:schemeClr val="accent1"/>
              </a:solidFill>
              <a:highlight>
                <a:srgbClr val="FFFF00"/>
              </a:highlight>
            </a:endParaRPr>
          </a:p>
        </p:txBody>
      </p:sp>
      <p:sp>
        <p:nvSpPr>
          <p:cNvPr id="73" name="Rectangle 72">
            <a:extLst>
              <a:ext uri="{FF2B5EF4-FFF2-40B4-BE49-F238E27FC236}">
                <a16:creationId xmlns:a16="http://schemas.microsoft.com/office/drawing/2014/main" id="{5CC55A12-8DF9-5267-4975-710818C54327}"/>
              </a:ext>
            </a:extLst>
          </p:cNvPr>
          <p:cNvSpPr/>
          <p:nvPr/>
        </p:nvSpPr>
        <p:spPr>
          <a:xfrm>
            <a:off x="378702" y="5041900"/>
            <a:ext cx="9936000" cy="25082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Entwicklung der Verschuldung der ESWE (in Mio. EUR)</a:t>
            </a:r>
          </a:p>
        </p:txBody>
      </p:sp>
      <p:grpSp>
        <p:nvGrpSpPr>
          <p:cNvPr id="75" name="Group 74">
            <a:extLst>
              <a:ext uri="{FF2B5EF4-FFF2-40B4-BE49-F238E27FC236}">
                <a16:creationId xmlns:a16="http://schemas.microsoft.com/office/drawing/2014/main" id="{584A62D4-DD64-9505-05A5-1AA0525E12C5}"/>
              </a:ext>
            </a:extLst>
          </p:cNvPr>
          <p:cNvGrpSpPr/>
          <p:nvPr/>
        </p:nvGrpSpPr>
        <p:grpSpPr>
          <a:xfrm>
            <a:off x="450156" y="5348649"/>
            <a:ext cx="733609" cy="123111"/>
            <a:chOff x="558827" y="1963983"/>
            <a:chExt cx="733609" cy="121349"/>
          </a:xfrm>
        </p:grpSpPr>
        <p:sp>
          <p:nvSpPr>
            <p:cNvPr id="76" name="Textfeld 56">
              <a:extLst>
                <a:ext uri="{FF2B5EF4-FFF2-40B4-BE49-F238E27FC236}">
                  <a16:creationId xmlns:a16="http://schemas.microsoft.com/office/drawing/2014/main" id="{4E33ACE9-66C2-6E49-D4CC-278DADCFB07F}"/>
                </a:ext>
              </a:extLst>
            </p:cNvPr>
            <p:cNvSpPr txBox="1"/>
            <p:nvPr/>
          </p:nvSpPr>
          <p:spPr>
            <a:xfrm>
              <a:off x="716390" y="1963983"/>
              <a:ext cx="576046" cy="121349"/>
            </a:xfrm>
            <a:prstGeom prst="rect">
              <a:avLst/>
            </a:prstGeom>
            <a:noFill/>
            <a:ln>
              <a:noFill/>
            </a:ln>
          </p:spPr>
          <p:txBody>
            <a:bodyPr wrap="none" lIns="72000" tIns="0" rIns="0" bIns="0" rtlCol="0" anchor="ctr" anchorCtr="0">
              <a:spAutoFit/>
            </a:bodyPr>
            <a:lstStyle/>
            <a:p>
              <a:r>
                <a:rPr lang="de-DE" sz="800" dirty="0"/>
                <a:t> Net Debt</a:t>
              </a:r>
              <a:r>
                <a:rPr lang="de-DE" sz="800" baseline="30000" dirty="0"/>
                <a:t>3)</a:t>
              </a:r>
              <a:endParaRPr lang="de-DE" sz="900" baseline="30000" dirty="0"/>
            </a:p>
          </p:txBody>
        </p:sp>
        <p:sp>
          <p:nvSpPr>
            <p:cNvPr id="77" name="Rechteck 55">
              <a:extLst>
                <a:ext uri="{FF2B5EF4-FFF2-40B4-BE49-F238E27FC236}">
                  <a16:creationId xmlns:a16="http://schemas.microsoft.com/office/drawing/2014/main" id="{59CDF9C9-14F9-F9A9-C2C3-BFB50F9C64FE}"/>
                </a:ext>
              </a:extLst>
            </p:cNvPr>
            <p:cNvSpPr/>
            <p:nvPr/>
          </p:nvSpPr>
          <p:spPr>
            <a:xfrm>
              <a:off x="558827" y="1965007"/>
              <a:ext cx="209920" cy="11931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grpSp>
        <p:nvGrpSpPr>
          <p:cNvPr id="78" name="Group 77">
            <a:extLst>
              <a:ext uri="{FF2B5EF4-FFF2-40B4-BE49-F238E27FC236}">
                <a16:creationId xmlns:a16="http://schemas.microsoft.com/office/drawing/2014/main" id="{A131CDCF-16A6-27BA-5BB2-2EBAC24FBC95}"/>
              </a:ext>
            </a:extLst>
          </p:cNvPr>
          <p:cNvGrpSpPr/>
          <p:nvPr/>
        </p:nvGrpSpPr>
        <p:grpSpPr>
          <a:xfrm>
            <a:off x="1474551" y="5348288"/>
            <a:ext cx="1124742" cy="123825"/>
            <a:chOff x="558827" y="1963631"/>
            <a:chExt cx="1124742" cy="122053"/>
          </a:xfrm>
        </p:grpSpPr>
        <p:sp>
          <p:nvSpPr>
            <p:cNvPr id="79" name="Textfeld 56">
              <a:extLst>
                <a:ext uri="{FF2B5EF4-FFF2-40B4-BE49-F238E27FC236}">
                  <a16:creationId xmlns:a16="http://schemas.microsoft.com/office/drawing/2014/main" id="{256B1B6B-F926-B90C-D947-3003800B0227}"/>
                </a:ext>
              </a:extLst>
            </p:cNvPr>
            <p:cNvSpPr txBox="1"/>
            <p:nvPr/>
          </p:nvSpPr>
          <p:spPr>
            <a:xfrm>
              <a:off x="716390" y="1963631"/>
              <a:ext cx="967179" cy="122053"/>
            </a:xfrm>
            <a:prstGeom prst="rect">
              <a:avLst/>
            </a:prstGeom>
            <a:noFill/>
            <a:ln>
              <a:noFill/>
            </a:ln>
          </p:spPr>
          <p:txBody>
            <a:bodyPr wrap="none" lIns="72000" tIns="0" rIns="0" bIns="0" rtlCol="0" anchor="ctr" anchorCtr="0">
              <a:spAutoFit/>
            </a:bodyPr>
            <a:lstStyle/>
            <a:p>
              <a:r>
                <a:rPr lang="de-DE" sz="800" dirty="0"/>
                <a:t> Net Debt / EBITDA</a:t>
              </a:r>
              <a:endParaRPr lang="de-DE" sz="900" baseline="30000" dirty="0"/>
            </a:p>
          </p:txBody>
        </p:sp>
        <p:sp>
          <p:nvSpPr>
            <p:cNvPr id="80" name="Rechteck 55">
              <a:extLst>
                <a:ext uri="{FF2B5EF4-FFF2-40B4-BE49-F238E27FC236}">
                  <a16:creationId xmlns:a16="http://schemas.microsoft.com/office/drawing/2014/main" id="{324ED9EF-65A4-97FB-F548-5B689F580FF8}"/>
                </a:ext>
              </a:extLst>
            </p:cNvPr>
            <p:cNvSpPr/>
            <p:nvPr/>
          </p:nvSpPr>
          <p:spPr>
            <a:xfrm>
              <a:off x="558827" y="1965007"/>
              <a:ext cx="209920" cy="11931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sp>
        <p:nvSpPr>
          <p:cNvPr id="81" name="Rechteck 55">
            <a:extLst>
              <a:ext uri="{FF2B5EF4-FFF2-40B4-BE49-F238E27FC236}">
                <a16:creationId xmlns:a16="http://schemas.microsoft.com/office/drawing/2014/main" id="{DCFB99B8-9D82-038A-5335-F68F55000D16}"/>
              </a:ext>
            </a:extLst>
          </p:cNvPr>
          <p:cNvSpPr/>
          <p:nvPr/>
        </p:nvSpPr>
        <p:spPr>
          <a:xfrm>
            <a:off x="2009902" y="5673536"/>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1,1x</a:t>
            </a:r>
          </a:p>
        </p:txBody>
      </p:sp>
      <p:sp>
        <p:nvSpPr>
          <p:cNvPr id="82" name="Rechteck 55">
            <a:extLst>
              <a:ext uri="{FF2B5EF4-FFF2-40B4-BE49-F238E27FC236}">
                <a16:creationId xmlns:a16="http://schemas.microsoft.com/office/drawing/2014/main" id="{C43755F0-F41A-5825-001C-7D46DD103266}"/>
              </a:ext>
            </a:extLst>
          </p:cNvPr>
          <p:cNvSpPr/>
          <p:nvPr/>
        </p:nvSpPr>
        <p:spPr>
          <a:xfrm>
            <a:off x="3202113" y="5724847"/>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0,9x</a:t>
            </a:r>
          </a:p>
        </p:txBody>
      </p:sp>
      <p:sp>
        <p:nvSpPr>
          <p:cNvPr id="83" name="Rechteck 55">
            <a:extLst>
              <a:ext uri="{FF2B5EF4-FFF2-40B4-BE49-F238E27FC236}">
                <a16:creationId xmlns:a16="http://schemas.microsoft.com/office/drawing/2014/main" id="{3890B706-E086-D5DC-29A5-17194FD5221C}"/>
              </a:ext>
            </a:extLst>
          </p:cNvPr>
          <p:cNvSpPr/>
          <p:nvPr/>
        </p:nvSpPr>
        <p:spPr>
          <a:xfrm>
            <a:off x="4394324" y="5508823"/>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1,0x</a:t>
            </a:r>
          </a:p>
        </p:txBody>
      </p:sp>
      <p:sp>
        <p:nvSpPr>
          <p:cNvPr id="84" name="Rechteck 55">
            <a:extLst>
              <a:ext uri="{FF2B5EF4-FFF2-40B4-BE49-F238E27FC236}">
                <a16:creationId xmlns:a16="http://schemas.microsoft.com/office/drawing/2014/main" id="{DDF8EF4D-42B6-A0BC-2753-976758DAD30D}"/>
              </a:ext>
            </a:extLst>
          </p:cNvPr>
          <p:cNvSpPr/>
          <p:nvPr/>
        </p:nvSpPr>
        <p:spPr>
          <a:xfrm>
            <a:off x="5586536" y="5580831"/>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1,8x</a:t>
            </a:r>
          </a:p>
        </p:txBody>
      </p:sp>
      <p:sp>
        <p:nvSpPr>
          <p:cNvPr id="85" name="Rechteck 55">
            <a:extLst>
              <a:ext uri="{FF2B5EF4-FFF2-40B4-BE49-F238E27FC236}">
                <a16:creationId xmlns:a16="http://schemas.microsoft.com/office/drawing/2014/main" id="{37E472DD-A9A0-2ED9-BAA9-67815C7E318B}"/>
              </a:ext>
            </a:extLst>
          </p:cNvPr>
          <p:cNvSpPr/>
          <p:nvPr/>
        </p:nvSpPr>
        <p:spPr>
          <a:xfrm>
            <a:off x="817691" y="5673536"/>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1,4x</a:t>
            </a:r>
          </a:p>
        </p:txBody>
      </p:sp>
      <p:sp>
        <p:nvSpPr>
          <p:cNvPr id="20" name="Text Placeholder 6">
            <a:extLst>
              <a:ext uri="{FF2B5EF4-FFF2-40B4-BE49-F238E27FC236}">
                <a16:creationId xmlns:a16="http://schemas.microsoft.com/office/drawing/2014/main" id="{8321C599-9661-B88C-C2AA-0B00B3F245A0}"/>
              </a:ext>
            </a:extLst>
          </p:cNvPr>
          <p:cNvSpPr txBox="1">
            <a:spLocks/>
          </p:cNvSpPr>
          <p:nvPr/>
        </p:nvSpPr>
        <p:spPr>
          <a:xfrm>
            <a:off x="603250" y="7133281"/>
            <a:ext cx="8150225" cy="168344"/>
          </a:xfrm>
          <a:prstGeom prst="rect">
            <a:avLst/>
          </a:prstGeom>
        </p:spPr>
        <p:txBody>
          <a:bodyPr vert="horz" lIns="0" tIns="0" rIns="0" bIns="0" rtlCol="0">
            <a:noAutofit/>
          </a:bodyPr>
          <a:lstStyle>
            <a:lvl1pPr marL="0" indent="0" algn="l" defTabSz="1043056" rtl="0" eaLnBrk="1" latinLnBrk="0" hangingPunct="1">
              <a:spcBef>
                <a:spcPct val="20000"/>
              </a:spcBef>
              <a:buClr>
                <a:schemeClr val="accent1"/>
              </a:buClr>
              <a:buFont typeface="Wingdings" pitchFamily="2" charset="2"/>
              <a:buNone/>
              <a:tabLst/>
              <a:defRPr sz="800" b="0" kern="1200">
                <a:solidFill>
                  <a:schemeClr val="tx1"/>
                </a:solidFill>
                <a:latin typeface="+mn-lt"/>
                <a:ea typeface="+mn-ea"/>
                <a:cs typeface="+mn-cs"/>
              </a:defRPr>
            </a:lvl1pPr>
            <a:lvl2pPr marL="521528" indent="0" algn="l" defTabSz="1043056" rtl="0" eaLnBrk="1" latinLnBrk="0" hangingPunct="1">
              <a:spcBef>
                <a:spcPct val="20000"/>
              </a:spcBef>
              <a:buClr>
                <a:schemeClr val="accent1"/>
              </a:buClr>
              <a:buFont typeface="Arial" pitchFamily="34" charset="0"/>
              <a:buNone/>
              <a:defRPr sz="1600" b="1" kern="1200">
                <a:solidFill>
                  <a:schemeClr val="tx1"/>
                </a:solidFill>
                <a:latin typeface="+mn-lt"/>
                <a:ea typeface="+mn-ea"/>
                <a:cs typeface="+mn-cs"/>
              </a:defRPr>
            </a:lvl2pPr>
            <a:lvl3pPr marL="1043056" indent="0" algn="l" defTabSz="1043056" rtl="0" eaLnBrk="1" latinLnBrk="0" hangingPunct="1">
              <a:spcBef>
                <a:spcPct val="20000"/>
              </a:spcBef>
              <a:buClr>
                <a:schemeClr val="accent1"/>
              </a:buClr>
              <a:buSzPct val="80000"/>
              <a:buFont typeface="Wingdings" pitchFamily="2" charset="2"/>
              <a:buNone/>
              <a:defRPr sz="1600" b="1" kern="1200">
                <a:solidFill>
                  <a:schemeClr val="tx1"/>
                </a:solidFill>
                <a:latin typeface="+mn-lt"/>
                <a:ea typeface="+mn-ea"/>
                <a:cs typeface="+mn-cs"/>
              </a:defRPr>
            </a:lvl3pPr>
            <a:lvl4pPr marL="1564584"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4pPr>
            <a:lvl5pPr marL="2086112"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Quelle: Geschäftsbericht 2025, Jahresabschlüsse 2021–2024, Unternehmensinformationen, Metzler Research</a:t>
            </a:r>
          </a:p>
        </p:txBody>
      </p:sp>
      <p:graphicFrame>
        <p:nvGraphicFramePr>
          <p:cNvPr id="50" name="Chart 49">
            <a:extLst>
              <a:ext uri="{FF2B5EF4-FFF2-40B4-BE49-F238E27FC236}">
                <a16:creationId xmlns:a16="http://schemas.microsoft.com/office/drawing/2014/main" id="{6D6520B1-C95E-00BD-36CA-EF4B0C0FC494}"/>
              </a:ext>
            </a:extLst>
          </p:cNvPr>
          <p:cNvGraphicFramePr/>
          <p:nvPr>
            <p:custDataLst>
              <p:tags r:id="rId2"/>
            </p:custDataLst>
            <p:extLst>
              <p:ext uri="{D42A27DB-BD31-4B8C-83A1-F6EECF244321}">
                <p14:modId xmlns:p14="http://schemas.microsoft.com/office/powerpoint/2010/main" val="864127511"/>
              </p:ext>
            </p:extLst>
          </p:nvPr>
        </p:nvGraphicFramePr>
        <p:xfrm>
          <a:off x="404813" y="5834063"/>
          <a:ext cx="6129337" cy="754062"/>
        </p:xfrm>
        <a:graphic>
          <a:graphicData uri="http://schemas.openxmlformats.org/drawingml/2006/chart">
            <c:chart xmlns:c="http://schemas.openxmlformats.org/drawingml/2006/chart" xmlns:r="http://schemas.openxmlformats.org/officeDocument/2006/relationships" r:id="rId11"/>
          </a:graphicData>
        </a:graphic>
      </p:graphicFrame>
      <p:sp>
        <p:nvSpPr>
          <p:cNvPr id="12" name="Textplatzhalter 2">
            <a:extLst>
              <a:ext uri="{FF2B5EF4-FFF2-40B4-BE49-F238E27FC236}">
                <a16:creationId xmlns:a16="http://schemas.microsoft.com/office/drawing/2014/main" id="{716F403D-85BD-0DB8-1B4C-0D2056E6A4D0}"/>
              </a:ext>
            </a:extLst>
          </p:cNvPr>
          <p:cNvSpPr>
            <a:spLocks/>
          </p:cNvSpPr>
          <p:nvPr>
            <p:custDataLst>
              <p:tags r:id="rId3"/>
            </p:custDataLst>
          </p:nvPr>
        </p:nvSpPr>
        <p:spPr bwMode="auto">
          <a:xfrm>
            <a:off x="949325"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EAC3B14-5F49-4B47-A587-3E557E99BC67}" type="datetime'''''''''20''1''8'''''''''''''''''''''''">
              <a:rPr lang="de-DE" altLang="en-US" sz="900" smtClean="0"/>
              <a:pPr/>
              <a:t>2018</a:t>
            </a:fld>
            <a:endParaRPr lang="de-DE" sz="900" dirty="0"/>
          </a:p>
        </p:txBody>
      </p:sp>
      <p:sp>
        <p:nvSpPr>
          <p:cNvPr id="87" name="Textplatzhalter 2">
            <a:extLst>
              <a:ext uri="{FF2B5EF4-FFF2-40B4-BE49-F238E27FC236}">
                <a16:creationId xmlns:a16="http://schemas.microsoft.com/office/drawing/2014/main" id="{577D77E2-B599-A128-C132-1C3E98036614}"/>
              </a:ext>
            </a:extLst>
          </p:cNvPr>
          <p:cNvSpPr>
            <a:spLocks/>
          </p:cNvSpPr>
          <p:nvPr>
            <p:custDataLst>
              <p:tags r:id="rId4"/>
            </p:custDataLst>
          </p:nvPr>
        </p:nvSpPr>
        <p:spPr bwMode="auto">
          <a:xfrm>
            <a:off x="2143125"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8C164950-677D-48D8-8A9D-3441E9A3A712}" type="datetime'''''''''''2''''''''''''0''''''''''''''''19'''''''''''''''">
              <a:rPr lang="de-DE" altLang="en-US" sz="900" smtClean="0"/>
              <a:pPr/>
              <a:t>2019</a:t>
            </a:fld>
            <a:endParaRPr lang="de-DE" sz="900" dirty="0"/>
          </a:p>
        </p:txBody>
      </p:sp>
      <p:sp>
        <p:nvSpPr>
          <p:cNvPr id="90" name="Textplatzhalter 2">
            <a:extLst>
              <a:ext uri="{FF2B5EF4-FFF2-40B4-BE49-F238E27FC236}">
                <a16:creationId xmlns:a16="http://schemas.microsoft.com/office/drawing/2014/main" id="{DA160627-D049-2144-68FE-E918F80BF956}"/>
              </a:ext>
            </a:extLst>
          </p:cNvPr>
          <p:cNvSpPr>
            <a:spLocks/>
          </p:cNvSpPr>
          <p:nvPr>
            <p:custDataLst>
              <p:tags r:id="rId5"/>
            </p:custDataLst>
          </p:nvPr>
        </p:nvSpPr>
        <p:spPr bwMode="auto">
          <a:xfrm>
            <a:off x="3335338"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C8EC0FE9-78FE-419B-B7E9-992EE5EC73E4}" type="datetime'''''''''''2''''''''''''0''''''''''''2''''''''0'''''''''''''''">
              <a:rPr lang="de-DE" altLang="en-US" sz="900" smtClean="0"/>
              <a:pPr/>
              <a:t>2020</a:t>
            </a:fld>
            <a:endParaRPr lang="de-DE" sz="900" dirty="0"/>
          </a:p>
        </p:txBody>
      </p:sp>
      <p:sp>
        <p:nvSpPr>
          <p:cNvPr id="93" name="Textplatzhalter 2">
            <a:extLst>
              <a:ext uri="{FF2B5EF4-FFF2-40B4-BE49-F238E27FC236}">
                <a16:creationId xmlns:a16="http://schemas.microsoft.com/office/drawing/2014/main" id="{4E6BC9E2-683C-203E-6814-1679658ACE90}"/>
              </a:ext>
            </a:extLst>
          </p:cNvPr>
          <p:cNvSpPr>
            <a:spLocks/>
          </p:cNvSpPr>
          <p:nvPr>
            <p:custDataLst>
              <p:tags r:id="rId6"/>
            </p:custDataLst>
          </p:nvPr>
        </p:nvSpPr>
        <p:spPr bwMode="auto">
          <a:xfrm>
            <a:off x="4529138"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CCEA9D9-3931-4DE4-93B5-175459BB2CA4}" type="datetime'''''2''''0''''2''''''''''''''''''''''1'''''''''''''''">
              <a:rPr lang="de-DE" altLang="en-US" sz="900" smtClean="0"/>
              <a:pPr/>
              <a:t>2021</a:t>
            </a:fld>
            <a:endParaRPr lang="de-DE" sz="900" dirty="0"/>
          </a:p>
        </p:txBody>
      </p:sp>
      <p:sp>
        <p:nvSpPr>
          <p:cNvPr id="2080" name="Textplatzhalter 2">
            <a:extLst>
              <a:ext uri="{FF2B5EF4-FFF2-40B4-BE49-F238E27FC236}">
                <a16:creationId xmlns:a16="http://schemas.microsoft.com/office/drawing/2014/main" id="{18D50374-FCE0-3CA2-ED71-53BA57D44E01}"/>
              </a:ext>
            </a:extLst>
          </p:cNvPr>
          <p:cNvSpPr>
            <a:spLocks/>
          </p:cNvSpPr>
          <p:nvPr>
            <p:custDataLst>
              <p:tags r:id="rId7"/>
            </p:custDataLst>
          </p:nvPr>
        </p:nvSpPr>
        <p:spPr bwMode="auto">
          <a:xfrm>
            <a:off x="5721350"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54B37B9D-9235-4939-952C-C709DF9D925E}" type="datetime'''''''2''''''''''''''0''''''''22'''''''''''''''">
              <a:rPr lang="de-DE" altLang="en-US" sz="900" smtClean="0"/>
              <a:pPr/>
              <a:t>2022</a:t>
            </a:fld>
            <a:endParaRPr lang="de-DE" sz="900" dirty="0"/>
          </a:p>
        </p:txBody>
      </p:sp>
      <p:sp>
        <p:nvSpPr>
          <p:cNvPr id="2115" name="Rectangle 2114">
            <a:extLst>
              <a:ext uri="{FF2B5EF4-FFF2-40B4-BE49-F238E27FC236}">
                <a16:creationId xmlns:a16="http://schemas.microsoft.com/office/drawing/2014/main" id="{7ABC3E88-13F9-9832-9EE1-84D89AA3D34E}"/>
              </a:ext>
            </a:extLst>
          </p:cNvPr>
          <p:cNvSpPr/>
          <p:nvPr/>
        </p:nvSpPr>
        <p:spPr>
          <a:xfrm>
            <a:off x="10874713" y="911905"/>
            <a:ext cx="2608891" cy="3156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bg1"/>
                </a:solidFill>
              </a:rPr>
              <a:t>Quellen ESWE:</a:t>
            </a:r>
          </a:p>
          <a:p>
            <a:pPr algn="ctr"/>
            <a:r>
              <a:rPr lang="de-DE" sz="700" dirty="0">
                <a:solidFill>
                  <a:schemeClr val="bg1"/>
                </a:solidFill>
              </a:rPr>
              <a:t>Investitionen je Unternehmensbereich 2025: Geschäftsbericht 2025, S. 18</a:t>
            </a:r>
            <a:endParaRPr lang="de-DE" sz="700" dirty="0">
              <a:solidFill>
                <a:schemeClr val="bg1"/>
              </a:solidFill>
            </a:endParaRPr>
          </a:p>
          <a:p>
            <a:pPr algn="ctr"/>
            <a:r>
              <a:rPr lang="de-DE" sz="700" dirty="0">
                <a:solidFill>
                  <a:schemeClr val="bg1"/>
                </a:solidFill>
              </a:rPr>
              <a:t>Ausblick Investitionsvolumen / EK-Quote: Geschäftsbericht 2025, S. 23</a:t>
            </a:r>
          </a:p>
          <a:p>
            <a:pPr algn="ctr"/>
            <a:r>
              <a:rPr lang="de-DE" sz="700" dirty="0">
                <a:solidFill>
                  <a:schemeClr val="bg1"/>
                </a:solidFill>
              </a:rPr>
              <a:t>Bankverbindlichkeiten und Pensionsrückstellungen 2021–2024: Jahresabschlüsse (Anhang, Nr. 5/6)</a:t>
            </a:r>
          </a:p>
        </p:txBody>
      </p:sp>
      <p:pic>
        <p:nvPicPr>
          <p:cNvPr id="3074" name="Picture 2">
            <a:extLst>
              <a:ext uri="{FF2B5EF4-FFF2-40B4-BE49-F238E27FC236}">
                <a16:creationId xmlns:a16="http://schemas.microsoft.com/office/drawing/2014/main" id="{AE2309A0-0281-5204-C38F-D7C518F373AC}"/>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6667" r="16667"/>
          <a:stretch/>
        </p:blipFill>
        <p:spPr bwMode="auto">
          <a:xfrm>
            <a:off x="11179693" y="2831753"/>
            <a:ext cx="477016" cy="477016"/>
          </a:xfrm>
          <a:prstGeom prst="ellipse">
            <a:avLst/>
          </a:prstGeom>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4F682898-B2FF-201E-C794-D4FCB8EE2586}"/>
              </a:ext>
            </a:extLst>
          </p:cNvPr>
          <p:cNvSpPr/>
          <p:nvPr/>
        </p:nvSpPr>
        <p:spPr>
          <a:xfrm>
            <a:off x="1089039" y="2850826"/>
            <a:ext cx="9226800" cy="360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endParaRPr>
          </a:p>
        </p:txBody>
      </p:sp>
      <p:pic>
        <p:nvPicPr>
          <p:cNvPr id="1034" name="Picture 10">
            <a:extLst>
              <a:ext uri="{FF2B5EF4-FFF2-40B4-BE49-F238E27FC236}">
                <a16:creationId xmlns:a16="http://schemas.microsoft.com/office/drawing/2014/main" id="{E75F99D5-D7EA-760A-AC0C-E1FE54140B52}"/>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5683" r="15683"/>
          <a:stretch/>
        </p:blipFill>
        <p:spPr bwMode="auto">
          <a:xfrm>
            <a:off x="11782174" y="2812867"/>
            <a:ext cx="478800" cy="478800"/>
          </a:xfrm>
          <a:prstGeom prst="ellipse">
            <a:avLst/>
          </a:prstGeom>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675956D-8F03-73EE-0197-5CC89598B89E}"/>
              </a:ext>
            </a:extLst>
          </p:cNvPr>
          <p:cNvSpPr/>
          <p:nvPr/>
        </p:nvSpPr>
        <p:spPr>
          <a:xfrm>
            <a:off x="378701" y="1797202"/>
            <a:ext cx="702000" cy="10386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Segment</a:t>
            </a:r>
          </a:p>
        </p:txBody>
      </p:sp>
      <p:sp>
        <p:nvSpPr>
          <p:cNvPr id="26" name="Rectangle 25">
            <a:extLst>
              <a:ext uri="{FF2B5EF4-FFF2-40B4-BE49-F238E27FC236}">
                <a16:creationId xmlns:a16="http://schemas.microsoft.com/office/drawing/2014/main" id="{E5042515-9A71-E6EE-B89D-B203B9234344}"/>
              </a:ext>
            </a:extLst>
          </p:cNvPr>
          <p:cNvSpPr/>
          <p:nvPr/>
        </p:nvSpPr>
        <p:spPr>
          <a:xfrm>
            <a:off x="378701" y="3225777"/>
            <a:ext cx="702000" cy="1404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Geplante Projekte</a:t>
            </a:r>
          </a:p>
        </p:txBody>
      </p:sp>
      <p:sp>
        <p:nvSpPr>
          <p:cNvPr id="25" name="Rectangle 24">
            <a:extLst>
              <a:ext uri="{FF2B5EF4-FFF2-40B4-BE49-F238E27FC236}">
                <a16:creationId xmlns:a16="http://schemas.microsoft.com/office/drawing/2014/main" id="{2B33F99B-BFF5-B846-C204-8983ED714791}"/>
              </a:ext>
            </a:extLst>
          </p:cNvPr>
          <p:cNvSpPr/>
          <p:nvPr/>
        </p:nvSpPr>
        <p:spPr>
          <a:xfrm>
            <a:off x="378701" y="2850826"/>
            <a:ext cx="702000" cy="360000"/>
          </a:xfrm>
          <a:prstGeom prst="rect">
            <a:avLst/>
          </a:prstGeom>
          <a:solidFill>
            <a:srgbClr val="FFC5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de-DE" sz="1000" b="1" dirty="0"/>
              <a:t>Investitionen</a:t>
            </a:r>
            <a:br/>
            <a:r>
              <a:rPr lang="de-DE" sz="1000" b="1" dirty="0"/>
              <a:t>2025</a:t>
            </a:r>
            <a:r>
              <a:rPr lang="de-DE" sz="1000" b="1" baseline="30000" dirty="0"/>
              <a:t>1)</a:t>
            </a:r>
          </a:p>
        </p:txBody>
      </p:sp>
      <p:sp>
        <p:nvSpPr>
          <p:cNvPr id="2074" name="Rectangle 2073">
            <a:extLst>
              <a:ext uri="{FF2B5EF4-FFF2-40B4-BE49-F238E27FC236}">
                <a16:creationId xmlns:a16="http://schemas.microsoft.com/office/drawing/2014/main" id="{ACE9C3DB-8A80-D014-0A7D-3DB304DDE407}"/>
              </a:ext>
            </a:extLst>
          </p:cNvPr>
          <p:cNvSpPr/>
          <p:nvPr/>
        </p:nvSpPr>
        <p:spPr>
          <a:xfrm>
            <a:off x="378701" y="4644727"/>
            <a:ext cx="702000" cy="36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t>Investitionen</a:t>
            </a:r>
            <a:br/>
            <a:r>
              <a:rPr lang="de-DE" sz="1000" b="1" dirty="0"/>
              <a:t>ab 2026e</a:t>
            </a:r>
            <a:r>
              <a:rPr lang="de-DE" sz="1000" b="1" baseline="30000" dirty="0"/>
              <a:t>2)</a:t>
            </a:r>
          </a:p>
        </p:txBody>
      </p:sp>
      <p:sp>
        <p:nvSpPr>
          <p:cNvPr id="2075" name="Rectangle 2074">
            <a:extLst>
              <a:ext uri="{FF2B5EF4-FFF2-40B4-BE49-F238E27FC236}">
                <a16:creationId xmlns:a16="http://schemas.microsoft.com/office/drawing/2014/main" id="{000019AD-8D05-F882-D67C-BECB3609A0CF}"/>
              </a:ext>
            </a:extLst>
          </p:cNvPr>
          <p:cNvSpPr/>
          <p:nvPr/>
        </p:nvSpPr>
        <p:spPr>
          <a:xfrm>
            <a:off x="1089039" y="4644727"/>
            <a:ext cx="9226800" cy="360000"/>
          </a:xfrm>
          <a:prstGeom prst="rect">
            <a:avLst/>
          </a:prstGeom>
          <a:solidFill>
            <a:srgbClr val="FFC5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highlight>
                <a:srgbClr val="FFFF00"/>
              </a:highlight>
            </a:endParaRPr>
          </a:p>
        </p:txBody>
      </p:sp>
      <p:sp>
        <p:nvSpPr>
          <p:cNvPr id="91" name="Arrow: Right 90">
            <a:extLst>
              <a:ext uri="{FF2B5EF4-FFF2-40B4-BE49-F238E27FC236}">
                <a16:creationId xmlns:a16="http://schemas.microsoft.com/office/drawing/2014/main" id="{3F477389-387F-4769-4C7C-DCC557266B60}"/>
              </a:ext>
            </a:extLst>
          </p:cNvPr>
          <p:cNvSpPr/>
          <p:nvPr/>
        </p:nvSpPr>
        <p:spPr>
          <a:xfrm>
            <a:off x="6878439" y="5587567"/>
            <a:ext cx="298277" cy="2240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92" name="TextBox 91">
            <a:extLst>
              <a:ext uri="{FF2B5EF4-FFF2-40B4-BE49-F238E27FC236}">
                <a16:creationId xmlns:a16="http://schemas.microsoft.com/office/drawing/2014/main" id="{77E4D4B2-B3E0-6260-61F0-36A7E6BF8DE2}"/>
              </a:ext>
            </a:extLst>
          </p:cNvPr>
          <p:cNvSpPr txBox="1"/>
          <p:nvPr/>
        </p:nvSpPr>
        <p:spPr>
          <a:xfrm>
            <a:off x="7147220" y="5573280"/>
            <a:ext cx="2880000" cy="553998"/>
          </a:xfrm>
          <a:prstGeom prst="rect">
            <a:avLst/>
          </a:prstGeom>
          <a:noFill/>
          <a:ln>
            <a:noFill/>
          </a:ln>
        </p:spPr>
        <p:txBody>
          <a:bodyPr wrap="square" rtlCol="0">
            <a:spAutoFit/>
          </a:bodyPr>
          <a:lstStyle/>
          <a:p>
            <a:r>
              <a:rPr lang="de-DE" sz="1000" b="1" dirty="0">
                <a:solidFill>
                  <a:schemeClr val="accent1"/>
                </a:solidFill>
                <a:latin typeface="+mj-lt"/>
              </a:rPr>
              <a:t>Aktuell noch moderater Verschuldungsgrad (2021–2025); durch das anstehende Investitionsprogramm ist ein signifikanter Anstieg zu erwarten</a:t>
            </a:r>
            <a:endParaRPr lang="en-US" sz="1000" b="1" dirty="0">
              <a:solidFill>
                <a:schemeClr val="accent1"/>
              </a:solidFill>
              <a:latin typeface="+mj-lt"/>
            </a:endParaRPr>
          </a:p>
        </p:txBody>
      </p:sp>
      <p:pic>
        <p:nvPicPr>
          <p:cNvPr id="2054" name="Picture 6">
            <a:extLst>
              <a:ext uri="{FF2B5EF4-FFF2-40B4-BE49-F238E27FC236}">
                <a16:creationId xmlns:a16="http://schemas.microsoft.com/office/drawing/2014/main" id="{D8C082D9-63D3-BBFA-1F3C-846EC6D42634}"/>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588" t="22" r="27503" b="-22"/>
          <a:stretch/>
        </p:blipFill>
        <p:spPr bwMode="auto">
          <a:xfrm>
            <a:off x="11346266" y="3416781"/>
            <a:ext cx="477016" cy="477016"/>
          </a:xfrm>
          <a:prstGeom prst="ellipse">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D84E907-A099-150B-C1D0-9C5A541CFEBC}"/>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0451" t="509" r="2883" b="-509"/>
          <a:stretch/>
        </p:blipFill>
        <p:spPr bwMode="auto">
          <a:xfrm>
            <a:off x="12056167" y="3437091"/>
            <a:ext cx="477336" cy="477336"/>
          </a:xfrm>
          <a:prstGeom prst="ellipse">
            <a:avLst/>
          </a:prstGeom>
          <a:noFill/>
          <a:extLst>
            <a:ext uri="{909E8E84-426E-40DD-AFC4-6F175D3DCCD1}">
              <a14:hiddenFill xmlns:a14="http://schemas.microsoft.com/office/drawing/2010/main">
                <a:solidFill>
                  <a:srgbClr val="FFFFFF"/>
                </a:solidFill>
              </a14:hiddenFill>
            </a:ext>
          </a:extLst>
        </p:spPr>
      </p:pic>
      <p:pic>
        <p:nvPicPr>
          <p:cNvPr id="2119" name="Picture 2118">
            <a:extLst>
              <a:ext uri="{FF2B5EF4-FFF2-40B4-BE49-F238E27FC236}">
                <a16:creationId xmlns:a16="http://schemas.microsoft.com/office/drawing/2014/main" id="{DF8CB7E4-2855-89EA-A37D-3E351A1D6830}"/>
              </a:ext>
            </a:extLst>
          </p:cNvPr>
          <p:cNvPicPr>
            <a:picLocks noChangeAspect="1"/>
          </p:cNvPicPr>
          <p:nvPr/>
        </p:nvPicPr>
        <p:blipFill rotWithShape="1">
          <a:blip r:embed="rId16"/>
          <a:srcRect l="13617" t="1297" r="47469" b="-1297"/>
          <a:stretch/>
        </p:blipFill>
        <p:spPr>
          <a:xfrm>
            <a:off x="12402313" y="3146242"/>
            <a:ext cx="477016" cy="477016"/>
          </a:xfrm>
          <a:prstGeom prst="ellipse">
            <a:avLst/>
          </a:prstGeom>
        </p:spPr>
      </p:pic>
      <p:sp>
        <p:nvSpPr>
          <p:cNvPr id="8" name="Rectangle 7">
            <a:extLst>
              <a:ext uri="{FF2B5EF4-FFF2-40B4-BE49-F238E27FC236}">
                <a16:creationId xmlns:a16="http://schemas.microsoft.com/office/drawing/2014/main" id="{EC0DCF2D-E352-99E5-8F30-CED5F985FA9C}"/>
              </a:ext>
            </a:extLst>
          </p:cNvPr>
          <p:cNvSpPr/>
          <p:nvPr/>
        </p:nvSpPr>
        <p:spPr>
          <a:xfrm>
            <a:off x="1089040" y="3225777"/>
            <a:ext cx="9218443" cy="140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chemeClr val="accent1"/>
              </a:buClr>
              <a:buFont typeface="Wingdings" panose="05000000000000000000" pitchFamily="2" charset="2"/>
              <a:buChar char="n"/>
            </a:pPr>
            <a:endParaRPr lang="de-DE" sz="900" b="1" dirty="0">
              <a:solidFill>
                <a:schemeClr val="accent1"/>
              </a:solidFill>
              <a:latin typeface="+mj-lt"/>
            </a:endParaRPr>
          </a:p>
        </p:txBody>
      </p:sp>
      <p:pic>
        <p:nvPicPr>
          <p:cNvPr id="11" name="Picture 4">
            <a:extLst>
              <a:ext uri="{FF2B5EF4-FFF2-40B4-BE49-F238E27FC236}">
                <a16:creationId xmlns:a16="http://schemas.microsoft.com/office/drawing/2014/main" id="{E818573C-8E11-6CE8-B8AD-1F92E988772A}"/>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0451" t="509" r="2883" b="-509"/>
          <a:stretch/>
        </p:blipFill>
        <p:spPr bwMode="auto">
          <a:xfrm>
            <a:off x="1543973" y="1943575"/>
            <a:ext cx="477336" cy="47733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3182D85F-62B7-5C67-303B-BD78F8E9DB25}"/>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588" t="22" r="27503" b="-22"/>
          <a:stretch/>
        </p:blipFill>
        <p:spPr bwMode="auto">
          <a:xfrm>
            <a:off x="2849526" y="1943575"/>
            <a:ext cx="477016" cy="477016"/>
          </a:xfrm>
          <a:prstGeom prst="ellipse">
            <a:avLst/>
          </a:prstGeom>
          <a:noFill/>
          <a:extLst>
            <a:ext uri="{909E8E84-426E-40DD-AFC4-6F175D3DCCD1}">
              <a14:hiddenFill xmlns:a14="http://schemas.microsoft.com/office/drawing/2010/main">
                <a:solidFill>
                  <a:srgbClr val="FFFFFF"/>
                </a:solidFill>
              </a14:hiddenFill>
            </a:ext>
          </a:extLst>
        </p:spPr>
      </p:pic>
      <p:sp>
        <p:nvSpPr>
          <p:cNvPr id="17" name="Textfeld 51">
            <a:extLst>
              <a:ext uri="{FF2B5EF4-FFF2-40B4-BE49-F238E27FC236}">
                <a16:creationId xmlns:a16="http://schemas.microsoft.com/office/drawing/2014/main" id="{02F6E397-6188-C57A-53E5-2CB4DB73E78D}"/>
              </a:ext>
            </a:extLst>
          </p:cNvPr>
          <p:cNvSpPr txBox="1"/>
          <p:nvPr/>
        </p:nvSpPr>
        <p:spPr>
          <a:xfrm>
            <a:off x="3700946" y="3225777"/>
            <a:ext cx="1260000" cy="1377300"/>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Erweiterungs-investitionen in das Wassernetz (2025 größte Einzelposition)</a:t>
            </a:r>
          </a:p>
          <a:p>
            <a:pPr marL="144000" indent="-144000">
              <a:spcAft>
                <a:spcPts val="300"/>
              </a:spcAft>
              <a:buClr>
                <a:schemeClr val="accent1"/>
              </a:buClr>
              <a:buFont typeface="Wingdings" panose="05000000000000000000" pitchFamily="2" charset="2"/>
              <a:buChar char="n"/>
            </a:pPr>
            <a:r>
              <a:rPr lang="de-DE" sz="900" dirty="0">
                <a:latin typeface="+mj-lt"/>
              </a:rPr>
              <a:t>Betriebsführung und Verpachtung für den Eigenbetrieb WLW</a:t>
            </a:r>
          </a:p>
        </p:txBody>
      </p:sp>
      <p:sp>
        <p:nvSpPr>
          <p:cNvPr id="18" name="Textfeld 52">
            <a:extLst>
              <a:ext uri="{FF2B5EF4-FFF2-40B4-BE49-F238E27FC236}">
                <a16:creationId xmlns:a16="http://schemas.microsoft.com/office/drawing/2014/main" id="{6E1AC434-B95E-A163-7188-05E6E5D2F365}"/>
              </a:ext>
            </a:extLst>
          </p:cNvPr>
          <p:cNvSpPr txBox="1"/>
          <p:nvPr/>
        </p:nvSpPr>
        <p:spPr>
          <a:xfrm>
            <a:off x="5006339" y="3225777"/>
            <a:ext cx="1260000" cy="823302"/>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Fernwärmeausbau in der Innenstadt (Netz &gt; 120 km)</a:t>
            </a:r>
          </a:p>
          <a:p>
            <a:pPr marL="144000" indent="-144000">
              <a:spcAft>
                <a:spcPts val="300"/>
              </a:spcAft>
              <a:buClr>
                <a:schemeClr val="accent1"/>
              </a:buClr>
              <a:buFont typeface="Wingdings" panose="05000000000000000000" pitchFamily="2" charset="2"/>
              <a:buChar char="n"/>
            </a:pPr>
            <a:r>
              <a:rPr lang="de-DE" sz="900" dirty="0">
                <a:latin typeface="+mj-lt"/>
              </a:rPr>
              <a:t>Anbindung des MHKW (~39 MW / ~100.000 MWh p. a.)</a:t>
            </a:r>
          </a:p>
          <a:p>
            <a:pPr marL="144000" indent="-144000">
              <a:spcAft>
                <a:spcPts val="300"/>
              </a:spcAft>
              <a:buClr>
                <a:schemeClr val="accent1"/>
              </a:buClr>
              <a:buFont typeface="Wingdings" panose="05000000000000000000" pitchFamily="2" charset="2"/>
              <a:buChar char="n"/>
            </a:pPr>
            <a:r>
              <a:rPr lang="de-DE" sz="900" dirty="0">
                <a:latin typeface="+mj-lt"/>
              </a:rPr>
              <a:t>Geothermie, Groß-wärmepumpen und Flusswärme</a:t>
            </a:r>
          </a:p>
        </p:txBody>
      </p:sp>
      <p:sp>
        <p:nvSpPr>
          <p:cNvPr id="24" name="Textfeld 53">
            <a:extLst>
              <a:ext uri="{FF2B5EF4-FFF2-40B4-BE49-F238E27FC236}">
                <a16:creationId xmlns:a16="http://schemas.microsoft.com/office/drawing/2014/main" id="{9294D34D-83BD-B660-A4E3-1846382A7F3C}"/>
              </a:ext>
            </a:extLst>
          </p:cNvPr>
          <p:cNvSpPr txBox="1"/>
          <p:nvPr/>
        </p:nvSpPr>
        <p:spPr>
          <a:xfrm>
            <a:off x="7617125" y="3225777"/>
            <a:ext cx="1260000" cy="110030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IT und Digitalisierung, u. a. Thüga Abrech-nungsplattform (TAP) als SAP-Ablösung</a:t>
            </a:r>
          </a:p>
          <a:p>
            <a:pPr marL="144000" indent="-144000">
              <a:spcAft>
                <a:spcPts val="300"/>
              </a:spcAft>
              <a:buClr>
                <a:schemeClr val="accent1"/>
              </a:buClr>
              <a:buFont typeface="Wingdings" panose="05000000000000000000" pitchFamily="2" charset="2"/>
              <a:buChar char="n"/>
            </a:pPr>
            <a:r>
              <a:rPr lang="de-DE" sz="900" dirty="0">
                <a:latin typeface="+mj-lt"/>
              </a:rPr>
              <a:t>KI-gestützte Prozess-optimierung</a:t>
            </a:r>
          </a:p>
        </p:txBody>
      </p:sp>
      <p:sp>
        <p:nvSpPr>
          <p:cNvPr id="31" name="Textfeld 54">
            <a:extLst>
              <a:ext uri="{FF2B5EF4-FFF2-40B4-BE49-F238E27FC236}">
                <a16:creationId xmlns:a16="http://schemas.microsoft.com/office/drawing/2014/main" id="{C2E44EC9-A059-1AFA-A0AC-2DA6ADDF6CB5}"/>
              </a:ext>
            </a:extLst>
          </p:cNvPr>
          <p:cNvSpPr txBox="1"/>
          <p:nvPr/>
        </p:nvSpPr>
        <p:spPr>
          <a:xfrm>
            <a:off x="6311732" y="3225777"/>
            <a:ext cx="1260000" cy="64633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ESWE Charge Center und Ausbau der Lade-infrastruktur</a:t>
            </a:r>
          </a:p>
          <a:p>
            <a:pPr marL="144000" indent="-144000">
              <a:spcAft>
                <a:spcPts val="300"/>
              </a:spcAft>
              <a:buClr>
                <a:schemeClr val="accent1"/>
              </a:buClr>
              <a:buFont typeface="Wingdings" panose="05000000000000000000" pitchFamily="2" charset="2"/>
              <a:buChar char="n"/>
            </a:pPr>
            <a:r>
              <a:rPr lang="de-DE" sz="900" dirty="0">
                <a:latin typeface="+mj-lt"/>
              </a:rPr>
              <a:t>Contracting- und Quartierslösungen</a:t>
            </a:r>
          </a:p>
        </p:txBody>
      </p:sp>
      <p:sp>
        <p:nvSpPr>
          <p:cNvPr id="32" name="Textfeld 55">
            <a:extLst>
              <a:ext uri="{FF2B5EF4-FFF2-40B4-BE49-F238E27FC236}">
                <a16:creationId xmlns:a16="http://schemas.microsoft.com/office/drawing/2014/main" id="{5FD0FB2D-F5E9-74BA-6864-D8B79AC4F900}"/>
              </a:ext>
            </a:extLst>
          </p:cNvPr>
          <p:cNvSpPr txBox="1"/>
          <p:nvPr/>
        </p:nvSpPr>
        <p:spPr>
          <a:xfrm>
            <a:off x="1090161" y="3225777"/>
            <a:ext cx="1258712" cy="110030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Ausbau und Digitalisierung des Stromnetzes über sw netz</a:t>
            </a:r>
          </a:p>
          <a:p>
            <a:pPr marL="144000" indent="-144000">
              <a:spcAft>
                <a:spcPts val="300"/>
              </a:spcAft>
              <a:buClr>
                <a:schemeClr val="accent1"/>
              </a:buClr>
              <a:buFont typeface="Wingdings" panose="05000000000000000000" pitchFamily="2" charset="2"/>
              <a:buChar char="n"/>
            </a:pPr>
            <a:r>
              <a:rPr lang="de-DE" sz="900" dirty="0">
                <a:latin typeface="+mj-lt"/>
              </a:rPr>
              <a:t>Smart-Meter-Rollout und intelligente Netzsteuerung</a:t>
            </a:r>
          </a:p>
          <a:p>
            <a:pPr marL="144000" indent="-144000">
              <a:spcAft>
                <a:spcPts val="300"/>
              </a:spcAft>
              <a:buClr>
                <a:schemeClr val="accent1"/>
              </a:buClr>
              <a:buFont typeface="Wingdings" panose="05000000000000000000" pitchFamily="2" charset="2"/>
              <a:buChar char="n"/>
            </a:pPr>
            <a:r>
              <a:rPr lang="de-DE" sz="900" dirty="0">
                <a:latin typeface="+mj-lt"/>
              </a:rPr>
              <a:t>Netzanschlüsse für Wärmepumpen und E-Mobilität</a:t>
            </a:r>
          </a:p>
        </p:txBody>
      </p:sp>
      <p:sp>
        <p:nvSpPr>
          <p:cNvPr id="34" name="Rectangle 33">
            <a:extLst>
              <a:ext uri="{FF2B5EF4-FFF2-40B4-BE49-F238E27FC236}">
                <a16:creationId xmlns:a16="http://schemas.microsoft.com/office/drawing/2014/main" id="{4191342F-5252-86A9-CF96-6CA3844A635B}"/>
              </a:ext>
            </a:extLst>
          </p:cNvPr>
          <p:cNvSpPr/>
          <p:nvPr/>
        </p:nvSpPr>
        <p:spPr>
          <a:xfrm>
            <a:off x="1089040" y="2853159"/>
            <a:ext cx="9218443" cy="360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endParaRPr>
          </a:p>
        </p:txBody>
      </p:sp>
      <p:sp>
        <p:nvSpPr>
          <p:cNvPr id="36" name="Rectangle 35">
            <a:extLst>
              <a:ext uri="{FF2B5EF4-FFF2-40B4-BE49-F238E27FC236}">
                <a16:creationId xmlns:a16="http://schemas.microsoft.com/office/drawing/2014/main" id="{8E4EA4C8-6DCD-7642-8E75-7A976663F6DF}"/>
              </a:ext>
            </a:extLst>
          </p:cNvPr>
          <p:cNvSpPr/>
          <p:nvPr/>
        </p:nvSpPr>
        <p:spPr>
          <a:xfrm>
            <a:off x="1090160"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Strom-versorgung</a:t>
            </a:r>
          </a:p>
        </p:txBody>
      </p:sp>
      <p:sp>
        <p:nvSpPr>
          <p:cNvPr id="38" name="Rectangle 42">
            <a:extLst>
              <a:ext uri="{FF2B5EF4-FFF2-40B4-BE49-F238E27FC236}">
                <a16:creationId xmlns:a16="http://schemas.microsoft.com/office/drawing/2014/main" id="{F93F440D-4913-F919-9C61-7A80875D380B}"/>
              </a:ext>
            </a:extLst>
          </p:cNvPr>
          <p:cNvSpPr/>
          <p:nvPr/>
        </p:nvSpPr>
        <p:spPr>
          <a:xfrm>
            <a:off x="2395553"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Gas-versorgung</a:t>
            </a:r>
          </a:p>
        </p:txBody>
      </p:sp>
      <p:sp>
        <p:nvSpPr>
          <p:cNvPr id="40" name="Rectangle 42">
            <a:extLst>
              <a:ext uri="{FF2B5EF4-FFF2-40B4-BE49-F238E27FC236}">
                <a16:creationId xmlns:a16="http://schemas.microsoft.com/office/drawing/2014/main" id="{BE8FDF42-7C21-0789-79B1-F612E6B9470C}"/>
              </a:ext>
            </a:extLst>
          </p:cNvPr>
          <p:cNvSpPr/>
          <p:nvPr/>
        </p:nvSpPr>
        <p:spPr>
          <a:xfrm>
            <a:off x="3700946"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Wasser-versorgung</a:t>
            </a:r>
          </a:p>
        </p:txBody>
      </p:sp>
      <p:sp>
        <p:nvSpPr>
          <p:cNvPr id="42" name="Rectangle 42">
            <a:extLst>
              <a:ext uri="{FF2B5EF4-FFF2-40B4-BE49-F238E27FC236}">
                <a16:creationId xmlns:a16="http://schemas.microsoft.com/office/drawing/2014/main" id="{54DCDB95-F67D-93F1-B0D1-C4424616EFDE}"/>
              </a:ext>
            </a:extLst>
          </p:cNvPr>
          <p:cNvSpPr/>
          <p:nvPr/>
        </p:nvSpPr>
        <p:spPr>
          <a:xfrm>
            <a:off x="5006339"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Wärme-versorgung</a:t>
            </a:r>
          </a:p>
        </p:txBody>
      </p:sp>
      <p:sp>
        <p:nvSpPr>
          <p:cNvPr id="44" name="Rectangle 42">
            <a:extLst>
              <a:ext uri="{FF2B5EF4-FFF2-40B4-BE49-F238E27FC236}">
                <a16:creationId xmlns:a16="http://schemas.microsoft.com/office/drawing/2014/main" id="{9F86347C-C3E7-05C5-2BF2-C0AFD5089432}"/>
              </a:ext>
            </a:extLst>
          </p:cNvPr>
          <p:cNvSpPr/>
          <p:nvPr/>
        </p:nvSpPr>
        <p:spPr>
          <a:xfrm>
            <a:off x="6311732"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Sonstige Bereiche</a:t>
            </a:r>
          </a:p>
        </p:txBody>
      </p:sp>
      <p:sp>
        <p:nvSpPr>
          <p:cNvPr id="47" name="Rectangle 42">
            <a:extLst>
              <a:ext uri="{FF2B5EF4-FFF2-40B4-BE49-F238E27FC236}">
                <a16:creationId xmlns:a16="http://schemas.microsoft.com/office/drawing/2014/main" id="{2BC482DD-A5C5-14F5-6105-92851F31123B}"/>
              </a:ext>
            </a:extLst>
          </p:cNvPr>
          <p:cNvSpPr/>
          <p:nvPr/>
        </p:nvSpPr>
        <p:spPr>
          <a:xfrm>
            <a:off x="7617125"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Gemeinsame Bereiche</a:t>
            </a:r>
          </a:p>
        </p:txBody>
      </p:sp>
      <p:sp>
        <p:nvSpPr>
          <p:cNvPr id="48" name="Rectangle 42">
            <a:extLst>
              <a:ext uri="{FF2B5EF4-FFF2-40B4-BE49-F238E27FC236}">
                <a16:creationId xmlns:a16="http://schemas.microsoft.com/office/drawing/2014/main" id="{6B496559-2F7E-090B-59F0-F6EE824AF6D3}"/>
              </a:ext>
            </a:extLst>
          </p:cNvPr>
          <p:cNvSpPr/>
          <p:nvPr/>
        </p:nvSpPr>
        <p:spPr>
          <a:xfrm>
            <a:off x="8922521"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Beteiligungen</a:t>
            </a:r>
          </a:p>
        </p:txBody>
      </p:sp>
      <p:sp>
        <p:nvSpPr>
          <p:cNvPr id="51" name="Textfeld 54">
            <a:extLst>
              <a:ext uri="{FF2B5EF4-FFF2-40B4-BE49-F238E27FC236}">
                <a16:creationId xmlns:a16="http://schemas.microsoft.com/office/drawing/2014/main" id="{DB8205E2-C026-8860-8BCB-DD7576AFF83F}"/>
              </a:ext>
            </a:extLst>
          </p:cNvPr>
          <p:cNvSpPr txBox="1"/>
          <p:nvPr/>
        </p:nvSpPr>
        <p:spPr>
          <a:xfrm>
            <a:off x="8922521" y="3225777"/>
            <a:ext cx="1260000" cy="50783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Erhöhung der Aus-leihungen an die MHKW Wiesbaden GmbH</a:t>
            </a:r>
          </a:p>
          <a:p>
            <a:pPr marL="144000" indent="-144000">
              <a:spcAft>
                <a:spcPts val="300"/>
              </a:spcAft>
              <a:buClr>
                <a:schemeClr val="accent1"/>
              </a:buClr>
              <a:buFont typeface="Wingdings" panose="05000000000000000000" pitchFamily="2" charset="2"/>
              <a:buChar char="n"/>
            </a:pPr>
            <a:r>
              <a:rPr lang="de-DE" sz="900" dirty="0">
                <a:latin typeface="+mj-lt"/>
              </a:rPr>
              <a:t>Finanzbeteiligung an einem Batteriespeicher der KMW</a:t>
            </a:r>
          </a:p>
        </p:txBody>
      </p:sp>
      <p:sp>
        <p:nvSpPr>
          <p:cNvPr id="57" name="TextBox 56">
            <a:extLst>
              <a:ext uri="{FF2B5EF4-FFF2-40B4-BE49-F238E27FC236}">
                <a16:creationId xmlns:a16="http://schemas.microsoft.com/office/drawing/2014/main" id="{EFDC1B72-AD69-CFD5-246C-91529A66009E}"/>
              </a:ext>
            </a:extLst>
          </p:cNvPr>
          <p:cNvSpPr txBox="1"/>
          <p:nvPr/>
        </p:nvSpPr>
        <p:spPr>
          <a:xfrm>
            <a:off x="6334827" y="2917743"/>
            <a:ext cx="1338773" cy="230832"/>
          </a:xfrm>
          <a:prstGeom prst="rect">
            <a:avLst/>
          </a:prstGeom>
          <a:noFill/>
        </p:spPr>
        <p:txBody>
          <a:bodyPr wrap="square" rtlCol="0">
            <a:spAutoFit/>
          </a:bodyPr>
          <a:lstStyle/>
          <a:p>
            <a:pPr algn="ctr"/>
            <a:r>
              <a:rPr lang="de-DE" sz="900" b="1" dirty="0">
                <a:solidFill>
                  <a:schemeClr val="accent1"/>
                </a:solidFill>
              </a:rPr>
              <a:t>~3,4 Mio. EUR</a:t>
            </a:r>
            <a:endParaRPr lang="de-DE" sz="900" b="1" baseline="30000" dirty="0">
              <a:solidFill>
                <a:schemeClr val="accent1"/>
              </a:solidFill>
            </a:endParaRPr>
          </a:p>
        </p:txBody>
      </p:sp>
      <p:sp>
        <p:nvSpPr>
          <p:cNvPr id="61" name="TextBox 60">
            <a:extLst>
              <a:ext uri="{FF2B5EF4-FFF2-40B4-BE49-F238E27FC236}">
                <a16:creationId xmlns:a16="http://schemas.microsoft.com/office/drawing/2014/main" id="{BD3EB4C6-6B99-0744-32E9-53BB72E7FCDC}"/>
              </a:ext>
            </a:extLst>
          </p:cNvPr>
          <p:cNvSpPr txBox="1"/>
          <p:nvPr/>
        </p:nvSpPr>
        <p:spPr>
          <a:xfrm>
            <a:off x="9006469" y="2917743"/>
            <a:ext cx="1217066" cy="230832"/>
          </a:xfrm>
          <a:prstGeom prst="rect">
            <a:avLst/>
          </a:prstGeom>
          <a:noFill/>
        </p:spPr>
        <p:txBody>
          <a:bodyPr wrap="square" rtlCol="0">
            <a:spAutoFit/>
          </a:bodyPr>
          <a:lstStyle/>
          <a:p>
            <a:pPr algn="ctr"/>
            <a:r>
              <a:rPr lang="de-DE" sz="900" b="1" dirty="0">
                <a:solidFill>
                  <a:schemeClr val="accent1"/>
                </a:solidFill>
              </a:rPr>
              <a:t>~5,2 Mio. EUR</a:t>
            </a:r>
            <a:endParaRPr lang="de-DE" sz="900" b="1" baseline="30000" dirty="0">
              <a:solidFill>
                <a:schemeClr val="accent1"/>
              </a:solidFill>
            </a:endParaRPr>
          </a:p>
        </p:txBody>
      </p:sp>
      <p:sp>
        <p:nvSpPr>
          <p:cNvPr id="63" name="TextBox 62">
            <a:extLst>
              <a:ext uri="{FF2B5EF4-FFF2-40B4-BE49-F238E27FC236}">
                <a16:creationId xmlns:a16="http://schemas.microsoft.com/office/drawing/2014/main" id="{471E0B03-5F50-78BE-CD70-FBA31514D833}"/>
              </a:ext>
            </a:extLst>
          </p:cNvPr>
          <p:cNvSpPr txBox="1"/>
          <p:nvPr/>
        </p:nvSpPr>
        <p:spPr>
          <a:xfrm>
            <a:off x="7756394" y="2917743"/>
            <a:ext cx="1106424" cy="230832"/>
          </a:xfrm>
          <a:prstGeom prst="rect">
            <a:avLst/>
          </a:prstGeom>
          <a:noFill/>
        </p:spPr>
        <p:txBody>
          <a:bodyPr wrap="square" rtlCol="0">
            <a:spAutoFit/>
          </a:bodyPr>
          <a:lstStyle/>
          <a:p>
            <a:pPr algn="ctr"/>
            <a:r>
              <a:rPr lang="de-DE" sz="900" b="1" dirty="0">
                <a:solidFill>
                  <a:schemeClr val="accent1"/>
                </a:solidFill>
              </a:rPr>
              <a:t>~4,0 Mio. EUR</a:t>
            </a:r>
          </a:p>
        </p:txBody>
      </p:sp>
      <p:sp>
        <p:nvSpPr>
          <p:cNvPr id="2049" name="TextBox 2048">
            <a:extLst>
              <a:ext uri="{FF2B5EF4-FFF2-40B4-BE49-F238E27FC236}">
                <a16:creationId xmlns:a16="http://schemas.microsoft.com/office/drawing/2014/main" id="{062CFB4E-FFF7-44D5-79AF-5AF37DD862F2}"/>
              </a:ext>
            </a:extLst>
          </p:cNvPr>
          <p:cNvSpPr txBox="1"/>
          <p:nvPr/>
        </p:nvSpPr>
        <p:spPr>
          <a:xfrm>
            <a:off x="5090287" y="2917743"/>
            <a:ext cx="1217066" cy="230832"/>
          </a:xfrm>
          <a:prstGeom prst="rect">
            <a:avLst/>
          </a:prstGeom>
          <a:noFill/>
        </p:spPr>
        <p:txBody>
          <a:bodyPr wrap="square" rtlCol="0">
            <a:spAutoFit/>
          </a:bodyPr>
          <a:lstStyle/>
          <a:p>
            <a:pPr algn="ctr"/>
            <a:r>
              <a:rPr lang="de-DE" sz="900" b="1" dirty="0">
                <a:solidFill>
                  <a:schemeClr val="accent1"/>
                </a:solidFill>
              </a:rPr>
              <a:t>~6,5 Mio. EUR</a:t>
            </a:r>
            <a:endParaRPr lang="de-DE" sz="900" b="1" baseline="30000" dirty="0">
              <a:solidFill>
                <a:schemeClr val="accent1"/>
              </a:solidFill>
            </a:endParaRPr>
          </a:p>
        </p:txBody>
      </p:sp>
      <p:cxnSp>
        <p:nvCxnSpPr>
          <p:cNvPr id="2051" name="Straight Connector 2050">
            <a:extLst>
              <a:ext uri="{FF2B5EF4-FFF2-40B4-BE49-F238E27FC236}">
                <a16:creationId xmlns:a16="http://schemas.microsoft.com/office/drawing/2014/main" id="{A482CF50-95F5-13A7-CB73-78188C498013}"/>
              </a:ext>
            </a:extLst>
          </p:cNvPr>
          <p:cNvCxnSpPr>
            <a:cxnSpLocks/>
          </p:cNvCxnSpPr>
          <p:nvPr/>
        </p:nvCxnSpPr>
        <p:spPr>
          <a:xfrm>
            <a:off x="2435417" y="1904781"/>
            <a:ext cx="0" cy="9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5FB33FFF-D44C-CA01-C0BD-1C35B3894C9D}"/>
              </a:ext>
            </a:extLst>
          </p:cNvPr>
          <p:cNvCxnSpPr>
            <a:cxnSpLocks/>
          </p:cNvCxnSpPr>
          <p:nvPr/>
        </p:nvCxnSpPr>
        <p:spPr>
          <a:xfrm>
            <a:off x="5046123"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7FD4D10F-C4B0-5F90-0DCE-824CEEAE20B2}"/>
              </a:ext>
            </a:extLst>
          </p:cNvPr>
          <p:cNvCxnSpPr>
            <a:cxnSpLocks/>
          </p:cNvCxnSpPr>
          <p:nvPr/>
        </p:nvCxnSpPr>
        <p:spPr>
          <a:xfrm>
            <a:off x="6351516"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F00C023C-7DA5-A754-7D05-23832F538C89}"/>
              </a:ext>
            </a:extLst>
          </p:cNvPr>
          <p:cNvCxnSpPr>
            <a:cxnSpLocks/>
          </p:cNvCxnSpPr>
          <p:nvPr/>
        </p:nvCxnSpPr>
        <p:spPr>
          <a:xfrm>
            <a:off x="7656911"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AA8ED7E8-B1E3-8FA8-BA0C-BE6C510A0C24}"/>
              </a:ext>
            </a:extLst>
          </p:cNvPr>
          <p:cNvCxnSpPr>
            <a:cxnSpLocks/>
          </p:cNvCxnSpPr>
          <p:nvPr/>
        </p:nvCxnSpPr>
        <p:spPr>
          <a:xfrm>
            <a:off x="8961859"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061" name="TextBox 2060">
            <a:extLst>
              <a:ext uri="{FF2B5EF4-FFF2-40B4-BE49-F238E27FC236}">
                <a16:creationId xmlns:a16="http://schemas.microsoft.com/office/drawing/2014/main" id="{D3E7F244-FF5A-EF2A-7025-155865B8DA73}"/>
              </a:ext>
            </a:extLst>
          </p:cNvPr>
          <p:cNvSpPr txBox="1"/>
          <p:nvPr/>
        </p:nvSpPr>
        <p:spPr>
          <a:xfrm>
            <a:off x="2384758" y="2917743"/>
            <a:ext cx="1472650" cy="230832"/>
          </a:xfrm>
          <a:prstGeom prst="rect">
            <a:avLst/>
          </a:prstGeom>
          <a:noFill/>
        </p:spPr>
        <p:txBody>
          <a:bodyPr wrap="square" rtlCol="0">
            <a:spAutoFit/>
          </a:bodyPr>
          <a:lstStyle/>
          <a:p>
            <a:pPr algn="ctr"/>
            <a:r>
              <a:rPr lang="de-DE" sz="900" b="1" dirty="0">
                <a:solidFill>
                  <a:schemeClr val="accent1"/>
                </a:solidFill>
              </a:rPr>
              <a:t>~3,0 Mio. EUR</a:t>
            </a:r>
          </a:p>
        </p:txBody>
      </p:sp>
      <p:pic>
        <p:nvPicPr>
          <p:cNvPr id="2066" name="Picture 8" descr="Stadthalle Bielefeld Bielefeld, Architektur - baukunst-nrw">
            <a:extLst>
              <a:ext uri="{FF2B5EF4-FFF2-40B4-BE49-F238E27FC236}">
                <a16:creationId xmlns:a16="http://schemas.microsoft.com/office/drawing/2014/main" id="{4C2D2546-6AFC-E928-12C1-2A0F8D084D28}"/>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r="33328"/>
          <a:stretch/>
        </p:blipFill>
        <p:spPr bwMode="auto">
          <a:xfrm>
            <a:off x="9375602"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sp>
        <p:nvSpPr>
          <p:cNvPr id="2072" name="TextBox 2071">
            <a:extLst>
              <a:ext uri="{FF2B5EF4-FFF2-40B4-BE49-F238E27FC236}">
                <a16:creationId xmlns:a16="http://schemas.microsoft.com/office/drawing/2014/main" id="{D5499CAF-D713-BF37-8215-E87BE2FF48E1}"/>
              </a:ext>
            </a:extLst>
          </p:cNvPr>
          <p:cNvSpPr txBox="1"/>
          <p:nvPr/>
        </p:nvSpPr>
        <p:spPr>
          <a:xfrm>
            <a:off x="1199139" y="4709311"/>
            <a:ext cx="9006600" cy="230832"/>
          </a:xfrm>
          <a:prstGeom prst="rect">
            <a:avLst/>
          </a:prstGeom>
          <a:noFill/>
        </p:spPr>
        <p:txBody>
          <a:bodyPr wrap="square" lIns="0" rIns="0" rtlCol="0">
            <a:spAutoFit/>
          </a:bodyPr>
          <a:lstStyle/>
          <a:p>
            <a:pPr algn="ctr"/>
            <a:r>
              <a:rPr lang="de-DE" sz="900" b="1" dirty="0">
                <a:solidFill>
                  <a:schemeClr val="accent1"/>
                </a:solidFill>
              </a:rPr>
              <a:t>ESWE erwartet eine nochmals erhebliche Steigerung des Investitionsvolumens; der massive Ausbau von Strom- und Wärmenetz im Zuge der Wärmewende erfordert Fördermittel, langfristiges Fremdkapital und eine Stärkung der Eigenkapitalausstattung</a:t>
            </a:r>
          </a:p>
        </p:txBody>
      </p:sp>
      <p:sp>
        <p:nvSpPr>
          <p:cNvPr id="64" name="Textfeld 51">
            <a:extLst>
              <a:ext uri="{FF2B5EF4-FFF2-40B4-BE49-F238E27FC236}">
                <a16:creationId xmlns:a16="http://schemas.microsoft.com/office/drawing/2014/main" id="{F276AE41-AB05-DA9B-4D7E-81D0CFF9F996}"/>
              </a:ext>
            </a:extLst>
          </p:cNvPr>
          <p:cNvSpPr txBox="1"/>
          <p:nvPr/>
        </p:nvSpPr>
        <p:spPr>
          <a:xfrm>
            <a:off x="2395553" y="3225777"/>
            <a:ext cx="1260000" cy="1631216"/>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Erneuerung und Erweiterung des Gasnetzes</a:t>
            </a:r>
          </a:p>
          <a:p>
            <a:pPr marL="144000" indent="-144000">
              <a:spcAft>
                <a:spcPts val="300"/>
              </a:spcAft>
              <a:buClr>
                <a:schemeClr val="accent1"/>
              </a:buClr>
              <a:buFont typeface="Wingdings" panose="05000000000000000000" pitchFamily="2" charset="2"/>
              <a:buChar char="n"/>
            </a:pPr>
            <a:r>
              <a:rPr lang="de-DE" sz="900" dirty="0">
                <a:latin typeface="+mj-lt"/>
              </a:rPr>
              <a:t>Prüfung der Wasserstoff-tauglichkeit von Netzteilen</a:t>
            </a:r>
          </a:p>
          <a:p>
            <a:pPr marL="144000" indent="-144000">
              <a:spcAft>
                <a:spcPts val="300"/>
              </a:spcAft>
              <a:buClr>
                <a:schemeClr val="accent1"/>
              </a:buClr>
              <a:buFont typeface="Wingdings" panose="05000000000000000000" pitchFamily="2" charset="2"/>
              <a:buChar char="n"/>
            </a:pPr>
            <a:r>
              <a:rPr lang="de-DE" sz="900" dirty="0">
                <a:latin typeface="+mj-lt"/>
              </a:rPr>
              <a:t>Rückbauperspektiven aus der Wärmeplanung</a:t>
            </a:r>
          </a:p>
        </p:txBody>
      </p:sp>
      <p:pic>
        <p:nvPicPr>
          <p:cNvPr id="1030" name="Picture 6">
            <a:extLst>
              <a:ext uri="{FF2B5EF4-FFF2-40B4-BE49-F238E27FC236}">
                <a16:creationId xmlns:a16="http://schemas.microsoft.com/office/drawing/2014/main" id="{D0D62DEC-CFEB-908C-54C1-8248FD93CE06}"/>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23710" r="23710"/>
          <a:stretch/>
        </p:blipFill>
        <p:spPr bwMode="auto">
          <a:xfrm>
            <a:off x="4154919"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cxnSp>
        <p:nvCxnSpPr>
          <p:cNvPr id="94" name="Straight Connector 93">
            <a:extLst>
              <a:ext uri="{FF2B5EF4-FFF2-40B4-BE49-F238E27FC236}">
                <a16:creationId xmlns:a16="http://schemas.microsoft.com/office/drawing/2014/main" id="{849C6051-7975-5C48-D760-05B43E3BBC4D}"/>
              </a:ext>
            </a:extLst>
          </p:cNvPr>
          <p:cNvCxnSpPr>
            <a:cxnSpLocks/>
          </p:cNvCxnSpPr>
          <p:nvPr/>
        </p:nvCxnSpPr>
        <p:spPr>
          <a:xfrm>
            <a:off x="2435417" y="3236781"/>
            <a:ext cx="0" cy="1404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7996652-8834-9F0C-CD2B-361FA3CF7ECF}"/>
              </a:ext>
            </a:extLst>
          </p:cNvPr>
          <p:cNvCxnSpPr>
            <a:cxnSpLocks/>
          </p:cNvCxnSpPr>
          <p:nvPr/>
        </p:nvCxnSpPr>
        <p:spPr>
          <a:xfrm>
            <a:off x="3740770" y="1904781"/>
            <a:ext cx="0" cy="9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28608C2-B033-C1AB-6CA5-3E573176BADB}"/>
              </a:ext>
            </a:extLst>
          </p:cNvPr>
          <p:cNvCxnSpPr>
            <a:cxnSpLocks/>
          </p:cNvCxnSpPr>
          <p:nvPr/>
        </p:nvCxnSpPr>
        <p:spPr>
          <a:xfrm>
            <a:off x="3740770" y="3236781"/>
            <a:ext cx="0" cy="1404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10" name="Picture 2">
            <a:extLst>
              <a:ext uri="{FF2B5EF4-FFF2-40B4-BE49-F238E27FC236}">
                <a16:creationId xmlns:a16="http://schemas.microsoft.com/office/drawing/2014/main" id="{08BCE2FB-7641-B730-0AAD-8A143449484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69316"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pic>
        <p:nvPicPr>
          <p:cNvPr id="13" name="Picture 4" descr="News | DVG – Duisburger Verkehrsgesellschaft AG">
            <a:extLst>
              <a:ext uri="{FF2B5EF4-FFF2-40B4-BE49-F238E27FC236}">
                <a16:creationId xmlns:a16="http://schemas.microsoft.com/office/drawing/2014/main" id="{5C1A7605-C9DC-B2D9-2974-7F92DB6F3BD4}"/>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16727" r="16727"/>
          <a:stretch/>
        </p:blipFill>
        <p:spPr bwMode="auto">
          <a:xfrm>
            <a:off x="6765706"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6" descr="Leistungen - Duisburg CityCom">
            <a:extLst>
              <a:ext uri="{FF2B5EF4-FFF2-40B4-BE49-F238E27FC236}">
                <a16:creationId xmlns:a16="http://schemas.microsoft.com/office/drawing/2014/main" id="{45C21F3B-9E47-77FE-94E4-6C3061E66ACE}"/>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23009" t="592" r="6841" b="-592"/>
          <a:stretch/>
        </p:blipFill>
        <p:spPr bwMode="auto">
          <a:xfrm>
            <a:off x="5458528"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BCCF922-ED13-D4FC-841F-BDA51C6CA0D5}"/>
              </a:ext>
            </a:extLst>
          </p:cNvPr>
          <p:cNvPicPr>
            <a:picLocks noChangeAspect="1"/>
          </p:cNvPicPr>
          <p:nvPr/>
        </p:nvPicPr>
        <p:blipFill>
          <a:blip r:embed="rId22"/>
          <a:stretch>
            <a:fillRect/>
          </a:stretch>
        </p:blipFill>
        <p:spPr>
          <a:xfrm>
            <a:off x="7802735" y="1845675"/>
            <a:ext cx="253340" cy="111469"/>
          </a:xfrm>
          <a:prstGeom prst="rect">
            <a:avLst/>
          </a:prstGeom>
        </p:spPr>
      </p:pic>
      <p:pic>
        <p:nvPicPr>
          <p:cNvPr id="19" name="Picture 18">
            <a:extLst>
              <a:ext uri="{FF2B5EF4-FFF2-40B4-BE49-F238E27FC236}">
                <a16:creationId xmlns:a16="http://schemas.microsoft.com/office/drawing/2014/main" id="{DEC0C5EE-31F6-7EAF-B325-9FCEDE8E1345}"/>
              </a:ext>
            </a:extLst>
          </p:cNvPr>
          <p:cNvPicPr>
            <a:picLocks noChangeAspect="1"/>
          </p:cNvPicPr>
          <p:nvPr/>
        </p:nvPicPr>
        <p:blipFill>
          <a:blip r:embed="rId23"/>
          <a:stretch>
            <a:fillRect/>
          </a:stretch>
        </p:blipFill>
        <p:spPr>
          <a:xfrm>
            <a:off x="6426820" y="1839590"/>
            <a:ext cx="370914" cy="123638"/>
          </a:xfrm>
          <a:prstGeom prst="rect">
            <a:avLst/>
          </a:prstGeom>
        </p:spPr>
      </p:pic>
      <p:pic>
        <p:nvPicPr>
          <p:cNvPr id="21" name="Picture 20">
            <a:extLst>
              <a:ext uri="{FF2B5EF4-FFF2-40B4-BE49-F238E27FC236}">
                <a16:creationId xmlns:a16="http://schemas.microsoft.com/office/drawing/2014/main" id="{1664CD76-C182-D278-EFB9-41DF69A1D2AC}"/>
              </a:ext>
            </a:extLst>
          </p:cNvPr>
          <p:cNvPicPr>
            <a:picLocks noChangeAspect="1"/>
          </p:cNvPicPr>
          <p:nvPr/>
        </p:nvPicPr>
        <p:blipFill>
          <a:blip r:embed="rId24">
            <a:clrChange>
              <a:clrFrom>
                <a:srgbClr val="FFFFFF"/>
              </a:clrFrom>
              <a:clrTo>
                <a:srgbClr val="FFFFFF">
                  <a:alpha val="0"/>
                </a:srgbClr>
              </a:clrTo>
            </a:clrChange>
          </a:blip>
          <a:stretch>
            <a:fillRect/>
          </a:stretch>
        </p:blipFill>
        <p:spPr>
          <a:xfrm>
            <a:off x="5103327" y="1837910"/>
            <a:ext cx="370914" cy="126998"/>
          </a:xfrm>
          <a:prstGeom prst="rect">
            <a:avLst/>
          </a:prstGeom>
        </p:spPr>
      </p:pic>
      <p:pic>
        <p:nvPicPr>
          <p:cNvPr id="22" name="Picture 21">
            <a:extLst>
              <a:ext uri="{FF2B5EF4-FFF2-40B4-BE49-F238E27FC236}">
                <a16:creationId xmlns:a16="http://schemas.microsoft.com/office/drawing/2014/main" id="{497A7E70-65E1-A536-89F2-D6368F45A46F}"/>
              </a:ext>
            </a:extLst>
          </p:cNvPr>
          <p:cNvPicPr>
            <a:picLocks noChangeAspect="1"/>
          </p:cNvPicPr>
          <p:nvPr/>
        </p:nvPicPr>
        <p:blipFill>
          <a:blip r:embed="rId25"/>
          <a:stretch>
            <a:fillRect/>
          </a:stretch>
        </p:blipFill>
        <p:spPr>
          <a:xfrm>
            <a:off x="2559127" y="1842323"/>
            <a:ext cx="408005" cy="118172"/>
          </a:xfrm>
          <a:prstGeom prst="rect">
            <a:avLst/>
          </a:prstGeom>
        </p:spPr>
      </p:pic>
      <p:pic>
        <p:nvPicPr>
          <p:cNvPr id="27" name="Picture 26">
            <a:extLst>
              <a:ext uri="{FF2B5EF4-FFF2-40B4-BE49-F238E27FC236}">
                <a16:creationId xmlns:a16="http://schemas.microsoft.com/office/drawing/2014/main" id="{02D6843B-E3E9-337E-E958-3DFF03186691}"/>
              </a:ext>
            </a:extLst>
          </p:cNvPr>
          <p:cNvPicPr>
            <a:picLocks noChangeAspect="1"/>
          </p:cNvPicPr>
          <p:nvPr/>
        </p:nvPicPr>
        <p:blipFill>
          <a:blip r:embed="rId26"/>
          <a:stretch>
            <a:fillRect/>
          </a:stretch>
        </p:blipFill>
        <p:spPr>
          <a:xfrm>
            <a:off x="3821887" y="1852603"/>
            <a:ext cx="370914" cy="105711"/>
          </a:xfrm>
          <a:prstGeom prst="rect">
            <a:avLst/>
          </a:prstGeom>
        </p:spPr>
      </p:pic>
      <p:pic>
        <p:nvPicPr>
          <p:cNvPr id="33" name="Picture 32">
            <a:extLst>
              <a:ext uri="{FF2B5EF4-FFF2-40B4-BE49-F238E27FC236}">
                <a16:creationId xmlns:a16="http://schemas.microsoft.com/office/drawing/2014/main" id="{DF617AB0-0945-A304-29E0-F8B9152B0720}"/>
              </a:ext>
            </a:extLst>
          </p:cNvPr>
          <p:cNvPicPr>
            <a:picLocks noChangeAspect="1"/>
          </p:cNvPicPr>
          <p:nvPr/>
        </p:nvPicPr>
        <p:blipFill>
          <a:blip r:embed="rId27"/>
          <a:stretch>
            <a:fillRect/>
          </a:stretch>
        </p:blipFill>
        <p:spPr>
          <a:xfrm>
            <a:off x="3821887" y="1993830"/>
            <a:ext cx="337195" cy="116986"/>
          </a:xfrm>
          <a:prstGeom prst="rect">
            <a:avLst/>
          </a:prstGeom>
        </p:spPr>
      </p:pic>
      <p:pic>
        <p:nvPicPr>
          <p:cNvPr id="37" name="Picture 36">
            <a:extLst>
              <a:ext uri="{FF2B5EF4-FFF2-40B4-BE49-F238E27FC236}">
                <a16:creationId xmlns:a16="http://schemas.microsoft.com/office/drawing/2014/main" id="{7B8803B7-BC97-9FC1-B7EF-E0A0849BEC4E}"/>
              </a:ext>
            </a:extLst>
          </p:cNvPr>
          <p:cNvPicPr>
            <a:picLocks noChangeAspect="1"/>
          </p:cNvPicPr>
          <p:nvPr/>
        </p:nvPicPr>
        <p:blipFill>
          <a:blip r:embed="rId26"/>
          <a:stretch>
            <a:fillRect/>
          </a:stretch>
        </p:blipFill>
        <p:spPr>
          <a:xfrm>
            <a:off x="1133495" y="1867002"/>
            <a:ext cx="448805" cy="127910"/>
          </a:xfrm>
          <a:prstGeom prst="rect">
            <a:avLst/>
          </a:prstGeom>
        </p:spPr>
      </p:pic>
      <p:pic>
        <p:nvPicPr>
          <p:cNvPr id="41" name="Picture 40">
            <a:extLst>
              <a:ext uri="{FF2B5EF4-FFF2-40B4-BE49-F238E27FC236}">
                <a16:creationId xmlns:a16="http://schemas.microsoft.com/office/drawing/2014/main" id="{DA8C0E0B-567B-366E-33B1-D9196DAE2E16}"/>
              </a:ext>
            </a:extLst>
          </p:cNvPr>
          <p:cNvPicPr>
            <a:picLocks noChangeAspect="1"/>
          </p:cNvPicPr>
          <p:nvPr/>
        </p:nvPicPr>
        <p:blipFill>
          <a:blip r:embed="rId28"/>
          <a:stretch>
            <a:fillRect/>
          </a:stretch>
        </p:blipFill>
        <p:spPr>
          <a:xfrm>
            <a:off x="1167242" y="2009006"/>
            <a:ext cx="319229" cy="109865"/>
          </a:xfrm>
          <a:prstGeom prst="rect">
            <a:avLst/>
          </a:prstGeom>
        </p:spPr>
      </p:pic>
      <p:pic>
        <p:nvPicPr>
          <p:cNvPr id="7" name="Picture 6">
            <a:extLst>
              <a:ext uri="{FF2B5EF4-FFF2-40B4-BE49-F238E27FC236}">
                <a16:creationId xmlns:a16="http://schemas.microsoft.com/office/drawing/2014/main" id="{BC0A1E3F-E065-5CB0-E789-A4556EB5013E}"/>
              </a:ext>
            </a:extLst>
          </p:cNvPr>
          <p:cNvPicPr>
            <a:picLocks noChangeAspect="1"/>
          </p:cNvPicPr>
          <p:nvPr/>
        </p:nvPicPr>
        <p:blipFill>
          <a:blip r:embed="rId26"/>
          <a:stretch>
            <a:fillRect/>
          </a:stretch>
        </p:blipFill>
        <p:spPr>
          <a:xfrm>
            <a:off x="9000509" y="1848554"/>
            <a:ext cx="370914" cy="105711"/>
          </a:xfrm>
          <a:prstGeom prst="rect">
            <a:avLst/>
          </a:prstGeom>
        </p:spPr>
      </p:pic>
      <p:sp>
        <p:nvSpPr>
          <p:cNvPr id="3075" name="TextBox Capex 1">
            <a:extLst>
              <a:ext uri="{FF2B5EF4-FFF2-40B4-BE49-F238E27FC236}">
                <a16:creationId xmlns:a16="http://schemas.microsoft.com/office/drawing/2014/main" id="{D3E7F244-FF5A-EF2A-7025-155865B8DA73}"/>
              </a:ext>
            </a:extLst>
          </p:cNvPr>
          <p:cNvSpPr txBox="1"/>
          <p:nvPr/>
        </p:nvSpPr>
        <p:spPr>
          <a:xfrm>
            <a:off x="1098000" y="2917743"/>
            <a:ext cx="1260000" cy="230832"/>
          </a:xfrm>
          <a:prstGeom prst="rect">
            <a:avLst/>
          </a:prstGeom>
          <a:noFill/>
        </p:spPr>
        <p:txBody>
          <a:bodyPr wrap="square" rtlCol="0">
            <a:spAutoFit/>
          </a:bodyPr>
          <a:lstStyle/>
          <a:p>
            <a:pPr algn="ctr"/>
            <a:r>
              <a:rPr lang="de-DE" sz="900" b="1" dirty="0">
                <a:solidFill>
                  <a:schemeClr val="accent1"/>
                </a:solidFill>
              </a:rPr>
              <a:t>~1,0 Mio. EUR</a:t>
            </a:r>
          </a:p>
        </p:txBody>
      </p:sp>
      <p:sp>
        <p:nvSpPr>
          <p:cNvPr id="3076" name="TextBox Capex 2">
            <a:extLst>
              <a:ext uri="{FF2B5EF4-FFF2-40B4-BE49-F238E27FC236}">
                <a16:creationId xmlns:a16="http://schemas.microsoft.com/office/drawing/2014/main" id="{D3E7F244-FF5A-EF2A-7025-155865B8DA73}"/>
              </a:ext>
            </a:extLst>
          </p:cNvPr>
          <p:cNvSpPr txBox="1"/>
          <p:nvPr/>
        </p:nvSpPr>
        <p:spPr>
          <a:xfrm>
            <a:off x="3726000" y="2917743"/>
            <a:ext cx="1260000" cy="230832"/>
          </a:xfrm>
          <a:prstGeom prst="rect">
            <a:avLst/>
          </a:prstGeom>
          <a:noFill/>
        </p:spPr>
        <p:txBody>
          <a:bodyPr wrap="square" rtlCol="0">
            <a:spAutoFit/>
          </a:bodyPr>
          <a:lstStyle/>
          <a:p>
            <a:pPr algn="ctr"/>
            <a:r>
              <a:rPr lang="de-DE" sz="900" b="1" dirty="0">
                <a:solidFill>
                  <a:schemeClr val="accent1"/>
                </a:solidFill>
              </a:rPr>
              <a:t>~14,0 Mio. EUR</a:t>
            </a:r>
          </a:p>
        </p:txBody>
      </p:sp>
    </p:spTree>
    <p:extLst>
      <p:ext uri="{BB962C8B-B14F-4D97-AF65-F5344CB8AC3E}">
        <p14:creationId xmlns:p14="http://schemas.microsoft.com/office/powerpoint/2010/main" val="14220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6F04CFA-94B4-428B-B10B-A163D24F60DF}"/>
              </a:ext>
            </a:extLst>
          </p:cNvPr>
          <p:cNvGraphicFramePr>
            <a:graphicFrameLocks/>
          </p:cNvGraphicFramePr>
          <p:nvPr>
            <p:custDataLst>
              <p:tags r:id="rId1"/>
            </p:custDataLst>
            <p:extLst>
              <p:ext uri="{D42A27DB-BD31-4B8C-83A1-F6EECF244321}">
                <p14:modId xmlns:p14="http://schemas.microsoft.com/office/powerpoint/2010/main" val="25896051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16F04CFA-94B4-428B-B10B-A163D24F60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50" name="Table 49">
            <a:extLst>
              <a:ext uri="{FF2B5EF4-FFF2-40B4-BE49-F238E27FC236}">
                <a16:creationId xmlns:a16="http://schemas.microsoft.com/office/drawing/2014/main" id="{C7CBEA93-4098-5006-4F9E-06F524DF698C}"/>
              </a:ext>
            </a:extLst>
          </p:cNvPr>
          <p:cNvGraphicFramePr>
            <a:graphicFrameLocks noGrp="1"/>
          </p:cNvGraphicFramePr>
          <p:nvPr>
            <p:custDataLst>
              <p:tags r:id="rId2"/>
            </p:custDataLst>
            <p:extLst>
              <p:ext uri="{D42A27DB-BD31-4B8C-83A1-F6EECF244321}">
                <p14:modId xmlns:p14="http://schemas.microsoft.com/office/powerpoint/2010/main" val="3770479562"/>
              </p:ext>
            </p:extLst>
          </p:nvPr>
        </p:nvGraphicFramePr>
        <p:xfrm>
          <a:off x="378700" y="1620838"/>
          <a:ext cx="4895990" cy="5112120"/>
        </p:xfrm>
        <a:graphic>
          <a:graphicData uri="http://schemas.openxmlformats.org/drawingml/2006/table">
            <a:tbl>
              <a:tblPr>
                <a:tableStyleId>{5C22544A-7EE6-4342-B048-85BDC9FD1C3A}</a:tableStyleId>
              </a:tblPr>
              <a:tblGrid>
                <a:gridCol w="1761736">
                  <a:extLst>
                    <a:ext uri="{9D8B030D-6E8A-4147-A177-3AD203B41FA5}">
                      <a16:colId xmlns:a16="http://schemas.microsoft.com/office/drawing/2014/main" val="1692210773"/>
                    </a:ext>
                  </a:extLst>
                </a:gridCol>
                <a:gridCol w="112669">
                  <a:extLst>
                    <a:ext uri="{9D8B030D-6E8A-4147-A177-3AD203B41FA5}">
                      <a16:colId xmlns:a16="http://schemas.microsoft.com/office/drawing/2014/main" val="3586182408"/>
                    </a:ext>
                  </a:extLst>
                </a:gridCol>
                <a:gridCol w="604317">
                  <a:extLst>
                    <a:ext uri="{9D8B030D-6E8A-4147-A177-3AD203B41FA5}">
                      <a16:colId xmlns:a16="http://schemas.microsoft.com/office/drawing/2014/main" val="1662325581"/>
                    </a:ext>
                  </a:extLst>
                </a:gridCol>
                <a:gridCol w="604317">
                  <a:extLst>
                    <a:ext uri="{9D8B030D-6E8A-4147-A177-3AD203B41FA5}">
                      <a16:colId xmlns:a16="http://schemas.microsoft.com/office/drawing/2014/main" val="4023428113"/>
                    </a:ext>
                  </a:extLst>
                </a:gridCol>
                <a:gridCol w="604317">
                  <a:extLst>
                    <a:ext uri="{9D8B030D-6E8A-4147-A177-3AD203B41FA5}">
                      <a16:colId xmlns:a16="http://schemas.microsoft.com/office/drawing/2014/main" val="1323870449"/>
                    </a:ext>
                  </a:extLst>
                </a:gridCol>
                <a:gridCol w="604317">
                  <a:extLst>
                    <a:ext uri="{9D8B030D-6E8A-4147-A177-3AD203B41FA5}">
                      <a16:colId xmlns:a16="http://schemas.microsoft.com/office/drawing/2014/main" val="3573619224"/>
                    </a:ext>
                  </a:extLst>
                </a:gridCol>
                <a:gridCol w="604317">
                  <a:extLst>
                    <a:ext uri="{9D8B030D-6E8A-4147-A177-3AD203B41FA5}">
                      <a16:colId xmlns:a16="http://schemas.microsoft.com/office/drawing/2014/main" val="3216662308"/>
                    </a:ext>
                  </a:extLst>
                </a:gridCol>
              </a:tblGrid>
              <a:tr h="257282">
                <a:tc>
                  <a:txBody>
                    <a:bodyPr/>
                    <a:lstStyle/>
                    <a:p>
                      <a:pPr algn="l" fontAlgn="ctr"/>
                      <a:r>
                        <a:rPr lang="de-DE" sz="1000" b="1" u="none" strike="noStrike" dirty="0">
                          <a:solidFill>
                            <a:schemeClr val="bg1"/>
                          </a:solidFill>
                          <a:effectLst/>
                        </a:rPr>
                        <a:t>(in Mio. EUR)</a:t>
                      </a:r>
                      <a:endParaRPr lang="de-DE" sz="1000" b="1" i="0" u="none" strike="noStrike" dirty="0">
                        <a:solidFill>
                          <a:schemeClr val="bg1"/>
                        </a:solidFill>
                        <a:effectLst/>
                        <a:latin typeface="Univers for Metzler Light" panose="020B0403030202020203" pitchFamily="34" charset="0"/>
                      </a:endParaRPr>
                    </a:p>
                  </a:txBody>
                  <a:tcPr marL="3600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ctr"/>
                      <a:r>
                        <a:rPr lang="de-DE" sz="1000" b="1" u="none" strike="noStrike" dirty="0">
                          <a:solidFill>
                            <a:schemeClr val="bg1"/>
                          </a:solidFill>
                          <a:effectLst/>
                        </a:rPr>
                        <a:t> </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2021</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2022</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2023</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2024</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2025</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1588014"/>
                  </a:ext>
                </a:extLst>
              </a:tr>
              <a:tr h="73509">
                <a:tc>
                  <a:txBody>
                    <a:bodyPr/>
                    <a:lstStyle/>
                    <a:p>
                      <a:pPr algn="l" fontAlgn="b"/>
                      <a:endParaRPr lang="de-DE" sz="4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25967412"/>
                  </a:ext>
                </a:extLst>
              </a:tr>
              <a:tr h="155594">
                <a:tc>
                  <a:txBody>
                    <a:bodyPr/>
                    <a:lstStyle/>
                    <a:p>
                      <a:pPr algn="l" fontAlgn="b"/>
                      <a:r>
                        <a:rPr lang="de-DE" sz="1000" b="1" u="none" strike="noStrike" dirty="0">
                          <a:solidFill>
                            <a:schemeClr val="accent1"/>
                          </a:solidFill>
                          <a:effectLst/>
                        </a:rPr>
                        <a:t>GuV</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6350" cap="flat" cmpd="sng" algn="ctr">
                      <a:no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6350" cap="flat" cmpd="sng" algn="ctr">
                      <a:no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gridSpan="2">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9902017"/>
                  </a:ext>
                </a:extLst>
              </a:tr>
              <a:tr h="155594">
                <a:tc>
                  <a:txBody>
                    <a:bodyPr/>
                    <a:lstStyle/>
                    <a:p>
                      <a:pPr algn="l" fontAlgn="b"/>
                      <a:r>
                        <a:rPr lang="de-DE" sz="1000" u="none" strike="noStrike" dirty="0">
                          <a:effectLst/>
                        </a:rPr>
                        <a:t>Umsatzerlöse</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426,5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475,7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634,1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534,7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473,8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31623308"/>
                  </a:ext>
                </a:extLst>
              </a:tr>
              <a:tr h="155594">
                <a:tc>
                  <a:txBody>
                    <a:bodyPr/>
                    <a:lstStyle/>
                    <a:p>
                      <a:pPr algn="l" fontAlgn="b"/>
                      <a:r>
                        <a:rPr lang="de-DE" sz="1000" i="1" u="none" strike="noStrike" dirty="0">
                          <a:effectLst/>
                        </a:rPr>
                        <a:t>%-Wachstum</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9,2%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11,5%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33,3%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(15,7%)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(11,4%)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4271490"/>
                  </a:ext>
                </a:extLst>
              </a:tr>
              <a:tr h="132316">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4664739"/>
                  </a:ext>
                </a:extLst>
              </a:tr>
              <a:tr h="155594">
                <a:tc>
                  <a:txBody>
                    <a:bodyPr/>
                    <a:lstStyle/>
                    <a:p>
                      <a:pPr algn="l" fontAlgn="b"/>
                      <a:r>
                        <a:rPr lang="de-DE" sz="1000" u="none" strike="noStrike" dirty="0">
                          <a:effectLst/>
                        </a:rPr>
                        <a:t>Rohertrag</a:t>
                      </a:r>
                      <a:r>
                        <a:rPr lang="nl-NL" sz="1000" u="none" strike="noStrike" baseline="30000" dirty="0">
                          <a:effectLst/>
                        </a:rPr>
                        <a:t>1)</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115,1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119,4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150,1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147,5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132,0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9976311"/>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1545993"/>
                  </a:ext>
                </a:extLst>
              </a:tr>
              <a:tr h="155594">
                <a:tc>
                  <a:txBody>
                    <a:bodyPr/>
                    <a:lstStyle/>
                    <a:p>
                      <a:pPr algn="l" fontAlgn="b"/>
                      <a:r>
                        <a:rPr lang="de-DE" sz="1000" u="none" strike="noStrike" dirty="0">
                          <a:effectLst/>
                        </a:rPr>
                        <a:t>EBITDA</a:t>
                      </a:r>
                      <a:r>
                        <a:rPr lang="nl-NL" sz="1000" u="none" strike="noStrike" baseline="30000" dirty="0">
                          <a:effectLst/>
                        </a:rPr>
                        <a:t>2)</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59,0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68,4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88,0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106,7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70,2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5739750"/>
                  </a:ext>
                </a:extLst>
              </a:tr>
              <a:tr h="155594">
                <a:tc>
                  <a:txBody>
                    <a:bodyPr/>
                    <a:lstStyle/>
                    <a:p>
                      <a:pPr algn="l" fontAlgn="b"/>
                      <a:r>
                        <a:rPr lang="de-DE" sz="1000" i="1" u="none" strike="noStrike" dirty="0">
                          <a:effectLst/>
                        </a:rPr>
                        <a:t>EBITDA-Marge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13,8%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14,4%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13,9%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20,0%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14,8%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80177677"/>
                  </a:ext>
                </a:extLst>
              </a:tr>
              <a:tr h="133014">
                <a:tc>
                  <a:txBody>
                    <a:bodyPr/>
                    <a:lstStyle/>
                    <a:p>
                      <a:pPr algn="l" fontAlgn="b"/>
                      <a:endParaRPr lang="de-DE" sz="5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7657840"/>
                  </a:ext>
                </a:extLst>
              </a:tr>
              <a:tr h="155594">
                <a:tc>
                  <a:txBody>
                    <a:bodyPr/>
                    <a:lstStyle/>
                    <a:p>
                      <a:pPr algn="l" fontAlgn="b"/>
                      <a:r>
                        <a:rPr lang="de-DE" sz="1000" u="none" strike="noStrike" dirty="0">
                          <a:effectLst/>
                        </a:rPr>
                        <a:t>EBIT</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44,8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51,8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73,5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82,1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53,4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8780237"/>
                  </a:ext>
                </a:extLst>
              </a:tr>
              <a:tr h="155594">
                <a:tc>
                  <a:txBody>
                    <a:bodyPr/>
                    <a:lstStyle/>
                    <a:p>
                      <a:pPr algn="l" fontAlgn="b"/>
                      <a:r>
                        <a:rPr lang="de-DE" sz="1000" i="1" u="none" strike="noStrike" dirty="0">
                          <a:effectLst/>
                        </a:rPr>
                        <a:t>EBIT-Marge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10,5%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10,9%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11,6%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15,3%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11,3%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6940777"/>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691959"/>
                  </a:ext>
                </a:extLst>
              </a:tr>
              <a:tr h="155594">
                <a:tc>
                  <a:txBody>
                    <a:bodyPr/>
                    <a:lstStyle/>
                    <a:p>
                      <a:pPr algn="l" fontAlgn="b"/>
                      <a:r>
                        <a:rPr lang="de-DE" sz="1000" u="none" strike="noStrike" dirty="0">
                          <a:effectLst/>
                        </a:rPr>
                        <a:t>EBT</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44,1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51,8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74,7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84,3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52,7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2521014"/>
                  </a:ext>
                </a:extLst>
              </a:tr>
              <a:tr h="155594">
                <a:tc>
                  <a:txBody>
                    <a:bodyPr/>
                    <a:lstStyle/>
                    <a:p>
                      <a:pPr algn="l" fontAlgn="b"/>
                      <a:r>
                        <a:rPr lang="de-DE" sz="1000" i="1" u="none" strike="noStrike" dirty="0">
                          <a:effectLst/>
                        </a:rPr>
                        <a:t>EBT-Marge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10,3%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10,9%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11,8%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15,8%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11,1%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1408400"/>
                  </a:ext>
                </a:extLst>
              </a:tr>
              <a:tr h="11026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11521277"/>
                  </a:ext>
                </a:extLst>
              </a:tr>
              <a:tr h="155594">
                <a:tc>
                  <a:txBody>
                    <a:bodyPr/>
                    <a:lstStyle/>
                    <a:p>
                      <a:pPr algn="l" fontAlgn="b"/>
                      <a:r>
                        <a:rPr lang="de-DE" sz="1000" u="none" strike="noStrike" dirty="0">
                          <a:effectLst/>
                        </a:rPr>
                        <a:t>Ergebnis vor Ausgleich/Abführung</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40,7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48,2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70,6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78,3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48,9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21825720"/>
                  </a:ext>
                </a:extLst>
              </a:tr>
              <a:tr h="155594">
                <a:tc>
                  <a:txBody>
                    <a:bodyPr/>
                    <a:lstStyle/>
                    <a:p>
                      <a:pPr algn="l" fontAlgn="b"/>
                      <a:r>
                        <a:rPr lang="de-DE" sz="1000" i="1" u="none" strike="noStrike" dirty="0">
                          <a:effectLst/>
                        </a:rPr>
                        <a:t>in % der Umsatzerlöse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9,6%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10,1%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11,1%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14,6%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10,3%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20328416"/>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94493460"/>
                  </a:ext>
                </a:extLst>
              </a:tr>
              <a:tr h="155594">
                <a:tc>
                  <a:txBody>
                    <a:bodyPr/>
                    <a:lstStyle/>
                    <a:p>
                      <a:pPr algn="l" fontAlgn="b"/>
                      <a:r>
                        <a:rPr lang="de-DE" sz="1000" u="none" strike="noStrike" dirty="0">
                          <a:effectLst/>
                        </a:rPr>
                        <a:t>Ausgleichszahlung Thüga</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(16,3)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(17,3)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(21,1)</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(29,8)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(18,8)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19687245"/>
                  </a:ext>
                </a:extLst>
              </a:tr>
              <a:tr h="155594">
                <a:tc>
                  <a:txBody>
                    <a:bodyPr/>
                    <a:lstStyle/>
                    <a:p>
                      <a:pPr algn="l" fontAlgn="b"/>
                      <a:r>
                        <a:rPr lang="de-DE" sz="1000" i="0" u="none" strike="noStrike" dirty="0">
                          <a:effectLst/>
                        </a:rPr>
                        <a:t>Gewinnabführung WVV</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(24,4)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(30,9)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(39,5)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(48,5)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(30,1)</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89367826"/>
                  </a:ext>
                </a:extLst>
              </a:tr>
              <a:tr h="77185">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5634789"/>
                  </a:ext>
                </a:extLst>
              </a:tr>
              <a:tr h="155594">
                <a:tc>
                  <a:txBody>
                    <a:bodyPr/>
                    <a:lstStyle/>
                    <a:p>
                      <a:pPr algn="l" fontAlgn="b"/>
                      <a:r>
                        <a:rPr lang="de-DE" sz="1000" b="1" u="none" strike="noStrike" dirty="0">
                          <a:solidFill>
                            <a:schemeClr val="accent1"/>
                          </a:solidFill>
                          <a:effectLst/>
                        </a:rPr>
                        <a:t>Kapitalflussrechnung</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9931059"/>
                  </a:ext>
                </a:extLst>
              </a:tr>
              <a:tr h="155594">
                <a:tc>
                  <a:txBody>
                    <a:bodyPr/>
                    <a:lstStyle/>
                    <a:p>
                      <a:pPr algn="l" fontAlgn="b"/>
                      <a:r>
                        <a:rPr lang="de-DE" sz="1000" u="none" strike="noStrike" dirty="0">
                          <a:effectLst/>
                        </a:rPr>
                        <a:t>Operating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49,0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78,0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47,3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68,2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42,7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92093621"/>
                  </a:ext>
                </a:extLst>
              </a:tr>
              <a:tr h="155594">
                <a:tc>
                  <a:txBody>
                    <a:bodyPr/>
                    <a:lstStyle/>
                    <a:p>
                      <a:pPr algn="l" fontAlgn="b"/>
                      <a:r>
                        <a:rPr lang="de-DE" sz="1000" u="none" strike="noStrike" dirty="0">
                          <a:effectLst/>
                        </a:rPr>
                        <a:t>Investing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(19,5)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(34,0)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4485770"/>
                  </a:ext>
                </a:extLst>
              </a:tr>
              <a:tr h="155594">
                <a:tc>
                  <a:txBody>
                    <a:bodyPr/>
                    <a:lstStyle/>
                    <a:p>
                      <a:pPr algn="l" fontAlgn="b"/>
                      <a:r>
                        <a:rPr lang="de-DE" sz="1000" i="1" u="none" strike="noStrike" dirty="0">
                          <a:effectLst/>
                        </a:rPr>
                        <a:t>Investitionen / Umsatzerlöse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10,1%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11,3%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4,3%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5,1%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7,8%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2352406"/>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06322164"/>
                  </a:ext>
                </a:extLst>
              </a:tr>
              <a:tr h="155594">
                <a:tc>
                  <a:txBody>
                    <a:bodyPr/>
                    <a:lstStyle/>
                    <a:p>
                      <a:pPr algn="l" fontAlgn="b"/>
                      <a:r>
                        <a:rPr lang="de-DE" sz="1000" u="none" strike="noStrike" dirty="0">
                          <a:effectLst/>
                        </a:rPr>
                        <a:t>Free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29,5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44,0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56,2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63,2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34,4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1212670"/>
                  </a:ext>
                </a:extLst>
              </a:tr>
              <a:tr h="62238">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42237356"/>
                  </a:ext>
                </a:extLst>
              </a:tr>
              <a:tr h="155594">
                <a:tc>
                  <a:txBody>
                    <a:bodyPr/>
                    <a:lstStyle/>
                    <a:p>
                      <a:pPr algn="l" fontAlgn="b"/>
                      <a:r>
                        <a:rPr lang="de-DE" sz="1000" b="1" u="none" strike="noStrike" dirty="0">
                          <a:solidFill>
                            <a:schemeClr val="accent1"/>
                          </a:solidFill>
                          <a:effectLst/>
                        </a:rPr>
                        <a:t>Bilanzpositionen</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479583"/>
                  </a:ext>
                </a:extLst>
              </a:tr>
              <a:tr h="155594">
                <a:tc>
                  <a:txBody>
                    <a:bodyPr/>
                    <a:lstStyle/>
                    <a:p>
                      <a:pPr algn="l" fontAlgn="b"/>
                      <a:r>
                        <a:rPr lang="de-DE" sz="1000" u="none" strike="noStrike" dirty="0">
                          <a:effectLst/>
                        </a:rPr>
                        <a:t>Liquide Mittel</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3,6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30,6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45,0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21,5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2,5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9306063"/>
                  </a:ext>
                </a:extLst>
              </a:tr>
              <a:tr h="155594">
                <a:tc>
                  <a:txBody>
                    <a:bodyPr/>
                    <a:lstStyle/>
                    <a:p>
                      <a:pPr algn="l" fontAlgn="b"/>
                      <a:r>
                        <a:rPr lang="nl-NL" sz="1000" u="none" strike="noStrike" dirty="0">
                          <a:effectLst/>
                        </a:rPr>
                        <a:t>Net Debt</a:t>
                      </a:r>
                      <a:r>
                        <a:rPr lang="nl-NL" sz="1000" u="none" strike="noStrike" baseline="30000" dirty="0">
                          <a:effectLst/>
                        </a:rPr>
                        <a:t>3)</a:t>
                      </a:r>
                      <a:endParaRPr lang="nl-NL"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84,4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77,3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75,0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106,9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129,7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63316960"/>
                  </a:ext>
                </a:extLst>
              </a:tr>
              <a:tr h="155594">
                <a:tc>
                  <a:txBody>
                    <a:bodyPr/>
                    <a:lstStyle/>
                    <a:p>
                      <a:pPr algn="l" fontAlgn="b"/>
                      <a:r>
                        <a:rPr lang="de-DE" sz="1000" u="none" strike="noStrike" dirty="0">
                          <a:effectLst/>
                        </a:rPr>
                        <a:t>Net Debt / EBITDA</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1,4x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1,1x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0,9x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1,0x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1,8x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8033316"/>
                  </a:ext>
                </a:extLst>
              </a:tr>
              <a:tr h="155594">
                <a:tc>
                  <a:txBody>
                    <a:bodyPr/>
                    <a:lstStyle/>
                    <a:p>
                      <a:pPr algn="l" fontAlgn="b"/>
                      <a:r>
                        <a:rPr lang="de-DE" sz="1000" i="1" u="none" strike="noStrike" dirty="0">
                          <a:effectLst/>
                        </a:rPr>
                        <a:t>Eigenkapital-Quote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30,3%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27,8%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26,3%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27,6%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28,5%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14058324"/>
                  </a:ext>
                </a:extLst>
              </a:tr>
            </a:tbl>
          </a:graphicData>
        </a:graphic>
      </p:graphicFrame>
      <p:sp>
        <p:nvSpPr>
          <p:cNvPr id="15" name="Text Placeholder 14">
            <a:extLst>
              <a:ext uri="{FF2B5EF4-FFF2-40B4-BE49-F238E27FC236}">
                <a16:creationId xmlns:a16="http://schemas.microsoft.com/office/drawing/2014/main" id="{CB92D090-4A25-4B2F-A895-A4A6416044DC}"/>
              </a:ext>
            </a:extLst>
          </p:cNvPr>
          <p:cNvSpPr>
            <a:spLocks noGrp="1"/>
          </p:cNvSpPr>
          <p:nvPr>
            <p:ph type="body" sz="quarter" idx="14"/>
          </p:nvPr>
        </p:nvSpPr>
        <p:spPr/>
        <p:txBody>
          <a:bodyPr/>
          <a:lstStyle/>
          <a:p>
            <a:r>
              <a:rPr lang="de-DE" dirty="0"/>
              <a:t>Quelle: Geschäftsbericht 2025, Jahresabschlüsse 2021–2024, Unternehmensinformationen, Metzler Research</a:t>
            </a:r>
          </a:p>
        </p:txBody>
      </p:sp>
      <p:sp>
        <p:nvSpPr>
          <p:cNvPr id="18" name="Text Placeholder 17">
            <a:extLst>
              <a:ext uri="{FF2B5EF4-FFF2-40B4-BE49-F238E27FC236}">
                <a16:creationId xmlns:a16="http://schemas.microsoft.com/office/drawing/2014/main" id="{E173CC19-12B8-432D-9480-52A4AF9616FD}"/>
              </a:ext>
            </a:extLst>
          </p:cNvPr>
          <p:cNvSpPr>
            <a:spLocks noGrp="1"/>
          </p:cNvSpPr>
          <p:nvPr>
            <p:ph type="body" sz="quarter" idx="19"/>
          </p:nvPr>
        </p:nvSpPr>
        <p:spPr>
          <a:xfrm>
            <a:off x="5562724" y="1620838"/>
            <a:ext cx="4751976" cy="252000"/>
          </a:xfrm>
        </p:spPr>
        <p:txBody>
          <a:bodyPr/>
          <a:lstStyle/>
          <a:p>
            <a:r>
              <a:rPr lang="de-DE" dirty="0"/>
              <a:t>Kommentare</a:t>
            </a:r>
          </a:p>
        </p:txBody>
      </p:sp>
      <p:sp>
        <p:nvSpPr>
          <p:cNvPr id="2" name="Title 1">
            <a:extLst>
              <a:ext uri="{FF2B5EF4-FFF2-40B4-BE49-F238E27FC236}">
                <a16:creationId xmlns:a16="http://schemas.microsoft.com/office/drawing/2014/main" id="{0178CB94-2EA6-4A1F-B8FB-0BD7B0ABA7BE}"/>
              </a:ext>
            </a:extLst>
          </p:cNvPr>
          <p:cNvSpPr>
            <a:spLocks noGrp="1"/>
          </p:cNvSpPr>
          <p:nvPr>
            <p:ph type="title"/>
          </p:nvPr>
        </p:nvSpPr>
        <p:spPr>
          <a:xfrm>
            <a:off x="378700" y="450279"/>
            <a:ext cx="9936000" cy="720000"/>
          </a:xfrm>
        </p:spPr>
        <p:txBody>
          <a:bodyPr vert="horz"/>
          <a:lstStyle/>
          <a:p>
            <a:r>
              <a:rPr lang="de-DE" dirty="0"/>
              <a:t>Die Innenfinanzierungskraft der ESWE reicht für das anstehende Investitionsprogramm nicht aus – ergänzende Strukturen sollten frühzeitig geprüft werden</a:t>
            </a:r>
          </a:p>
        </p:txBody>
      </p:sp>
      <p:sp>
        <p:nvSpPr>
          <p:cNvPr id="13" name="Text Placeholder 12">
            <a:extLst>
              <a:ext uri="{FF2B5EF4-FFF2-40B4-BE49-F238E27FC236}">
                <a16:creationId xmlns:a16="http://schemas.microsoft.com/office/drawing/2014/main" id="{48103813-CD13-475B-AEE3-0D15CC8B6538}"/>
              </a:ext>
            </a:extLst>
          </p:cNvPr>
          <p:cNvSpPr>
            <a:spLocks noGrp="1"/>
          </p:cNvSpPr>
          <p:nvPr>
            <p:ph type="body" sz="quarter" idx="12"/>
          </p:nvPr>
        </p:nvSpPr>
        <p:spPr>
          <a:xfrm>
            <a:off x="378700" y="1243937"/>
            <a:ext cx="9936000" cy="271120"/>
          </a:xfrm>
        </p:spPr>
        <p:txBody>
          <a:bodyPr/>
          <a:lstStyle/>
          <a:p>
            <a:r>
              <a:rPr lang="de-DE" dirty="0"/>
              <a:t>ESWE Versorgungs AG (HGB-Einzelabschluss)</a:t>
            </a:r>
          </a:p>
        </p:txBody>
      </p:sp>
      <p:sp>
        <p:nvSpPr>
          <p:cNvPr id="14" name="Text Placeholder 13">
            <a:extLst>
              <a:ext uri="{FF2B5EF4-FFF2-40B4-BE49-F238E27FC236}">
                <a16:creationId xmlns:a16="http://schemas.microsoft.com/office/drawing/2014/main" id="{F4BC9112-9AF1-42DB-A456-67E9685DEEB2}"/>
              </a:ext>
            </a:extLst>
          </p:cNvPr>
          <p:cNvSpPr>
            <a:spLocks noGrp="1"/>
          </p:cNvSpPr>
          <p:nvPr>
            <p:ph type="body" sz="quarter" idx="13"/>
          </p:nvPr>
        </p:nvSpPr>
        <p:spPr/>
        <p:txBody>
          <a:bodyPr/>
          <a:lstStyle/>
          <a:p>
            <a:r>
              <a:rPr lang="de-DE" dirty="0"/>
              <a:t>2. Übersicht und Herausforderungen ESWE Versorgungs AG</a:t>
            </a:r>
          </a:p>
        </p:txBody>
      </p:sp>
      <p:sp>
        <p:nvSpPr>
          <p:cNvPr id="16" name="Text Placeholder 15">
            <a:extLst>
              <a:ext uri="{FF2B5EF4-FFF2-40B4-BE49-F238E27FC236}">
                <a16:creationId xmlns:a16="http://schemas.microsoft.com/office/drawing/2014/main" id="{4A8A73EB-3001-418D-A14B-94D954EBF98B}"/>
              </a:ext>
            </a:extLst>
          </p:cNvPr>
          <p:cNvSpPr>
            <a:spLocks noGrp="1"/>
          </p:cNvSpPr>
          <p:nvPr>
            <p:ph type="body" sz="quarter" idx="15"/>
          </p:nvPr>
        </p:nvSpPr>
        <p:spPr>
          <a:xfrm>
            <a:off x="378700" y="6916240"/>
            <a:ext cx="8371857" cy="168344"/>
          </a:xfrm>
        </p:spPr>
        <p:txBody>
          <a:bodyPr/>
          <a:lstStyle/>
          <a:p>
            <a:r>
              <a:rPr lang="de-DE" dirty="0"/>
              <a:t>1) Rohertrag = Umsatzerlöse ./. Materialaufwand; 2) EBITDA-Definition der Gesellschaft, inkl. Beteiligungsergebnis; 3) Net Debt = Verbindlichkeiten gegenüber Kreditinstituten + Pensionsrückstellungen ./. liquide Mittel</a:t>
            </a:r>
          </a:p>
        </p:txBody>
      </p:sp>
      <p:sp>
        <p:nvSpPr>
          <p:cNvPr id="29" name="Content Placeholder 18">
            <a:extLst>
              <a:ext uri="{FF2B5EF4-FFF2-40B4-BE49-F238E27FC236}">
                <a16:creationId xmlns:a16="http://schemas.microsoft.com/office/drawing/2014/main" id="{EF535660-1501-7475-309D-00DEC2DC3654}"/>
              </a:ext>
            </a:extLst>
          </p:cNvPr>
          <p:cNvSpPr txBox="1">
            <a:spLocks/>
          </p:cNvSpPr>
          <p:nvPr/>
        </p:nvSpPr>
        <p:spPr>
          <a:xfrm>
            <a:off x="5562724" y="1911841"/>
            <a:ext cx="4751976" cy="473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rtlCol="0" anchor="t" anchorCtr="0" compatLnSpc="1">
            <a:prstTxWarp prst="textNoShape">
              <a:avLst/>
            </a:prstTxWarp>
            <a:noAutofit/>
          </a:bodyPr>
          <a:lstStyle>
            <a:lvl1pPr marL="174625" indent="-174625" algn="l" defTabSz="1043056" rtl="0" eaLnBrk="1" latinLnBrk="0" hangingPunct="1">
              <a:spcBef>
                <a:spcPts val="0"/>
              </a:spcBef>
              <a:spcAft>
                <a:spcPts val="600"/>
              </a:spcAft>
              <a:buClr>
                <a:srgbClr val="003D7C"/>
              </a:buClr>
              <a:buFont typeface="Wingdings" pitchFamily="2" charset="2"/>
              <a:buChar char="n"/>
              <a:tabLst/>
              <a:defRPr lang="de-DE" sz="1000" b="0" kern="1200" smtClean="0">
                <a:solidFill>
                  <a:schemeClr val="tx1"/>
                </a:solidFill>
                <a:latin typeface="+mn-lt"/>
                <a:ea typeface="+mn-ea"/>
                <a:cs typeface="+mn-cs"/>
              </a:defRPr>
            </a:lvl1pPr>
            <a:lvl2pPr marL="723900" indent="-368300" algn="l" defTabSz="1043056" rtl="0" eaLnBrk="1" latinLnBrk="0" hangingPunct="1">
              <a:spcBef>
                <a:spcPts val="0"/>
              </a:spcBef>
              <a:spcAft>
                <a:spcPts val="600"/>
              </a:spcAft>
              <a:buClr>
                <a:srgbClr val="003D7C"/>
              </a:buClr>
              <a:buFont typeface="Arial" pitchFamily="34" charset="0"/>
              <a:buChar char="–"/>
              <a:defRPr lang="de-DE" sz="1000" kern="1200" smtClean="0">
                <a:solidFill>
                  <a:schemeClr val="tx1"/>
                </a:solidFill>
                <a:latin typeface="+mn-lt"/>
                <a:ea typeface="+mn-ea"/>
                <a:cs typeface="+mn-cs"/>
              </a:defRPr>
            </a:lvl2pPr>
            <a:lvl3pPr marL="990600" indent="-266700" algn="l" defTabSz="1043056" rtl="0" eaLnBrk="1" latinLnBrk="0" hangingPunct="1">
              <a:spcBef>
                <a:spcPts val="0"/>
              </a:spcBef>
              <a:spcAft>
                <a:spcPts val="600"/>
              </a:spcAft>
              <a:buClr>
                <a:srgbClr val="003D7C"/>
              </a:buClr>
              <a:buSzPct val="80000"/>
              <a:buFont typeface="Wingdings" pitchFamily="2" charset="2"/>
              <a:buChar char="n"/>
              <a:defRPr lang="de-DE" sz="1000" kern="1200" smtClean="0">
                <a:solidFill>
                  <a:schemeClr val="tx1"/>
                </a:solidFill>
                <a:latin typeface="+mn-lt"/>
                <a:ea typeface="+mn-ea"/>
                <a:cs typeface="+mn-cs"/>
              </a:defRPr>
            </a:lvl3pPr>
            <a:lvl4pPr marL="1825348" indent="-260764" algn="l" defTabSz="1043056" rtl="0" eaLnBrk="1" latinLnBrk="0" hangingPunct="1">
              <a:spcBef>
                <a:spcPts val="0"/>
              </a:spcBef>
              <a:spcAft>
                <a:spcPts val="600"/>
              </a:spcAft>
              <a:buClr>
                <a:srgbClr val="003D7C"/>
              </a:buClr>
              <a:buFont typeface="Arial" pitchFamily="34" charset="0"/>
              <a:buChar char="–"/>
              <a:defRPr lang="de-DE" sz="1000" kern="1200" smtClean="0">
                <a:solidFill>
                  <a:schemeClr val="tx1"/>
                </a:solidFill>
                <a:latin typeface="+mn-lt"/>
                <a:ea typeface="+mn-ea"/>
                <a:cs typeface="+mn-cs"/>
              </a:defRPr>
            </a:lvl4pPr>
            <a:lvl5pPr marL="2346876" indent="-260764" algn="l" defTabSz="1043056" rtl="0" eaLnBrk="1" latinLnBrk="0" hangingPunct="1">
              <a:spcBef>
                <a:spcPts val="0"/>
              </a:spcBef>
              <a:spcAft>
                <a:spcPts val="600"/>
              </a:spcAft>
              <a:buClr>
                <a:srgbClr val="003D7C"/>
              </a:buClr>
              <a:buFont typeface="Arial" pitchFamily="34" charset="0"/>
              <a:buChar char="»"/>
              <a:defRPr lang="de-DE" sz="1000" kern="1200" dirty="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Umsatzrückgang 2025 um 11,4 % nach dem Krisenhoch 2023 – Preissenkungen und leicht rückläufige Absatzmengen; der Rohertrag bleibt mit 132,0 Mio. EUR nahezu auf Vorjahresniveau</a:t>
            </a:r>
          </a:p>
          <a:p>
            <a:r>
              <a:rPr lang="de-DE" dirty="0"/>
              <a:t>2024 war mit einem EBT von 84,3 Mio. EUR das beste Jahr der Unternehmensgeschichte, jedoch sondereffektgetrieben (Rückstellungsauflösungen u. a. aus dem Wasserkartellverfahren)</a:t>
            </a:r>
          </a:p>
          <a:p>
            <a:r>
              <a:rPr lang="de-DE" dirty="0"/>
              <a:t>2025 Normalisierung auf robustem Niveau: EBT 52,7 Mio. EUR und damit deutlich über Plan (35,7 Mio. EUR); das Beteiligungsergebnis stützt mit 25,1 Mio. EUR (sw netz, WiTCOM, KMW-Ausschüttung 14,0 Mio. EUR)</a:t>
            </a:r>
          </a:p>
          <a:p>
            <a:r>
              <a:rPr lang="de-DE" dirty="0"/>
              <a:t>Ergebnisabführungsvertrag mit der WVV Wiesbaden Holding GmbH und Ausgleichszahlung an die Thüga – das Jahresergebnis steht der Innenfinanzierung nicht zur Verfügung</a:t>
            </a:r>
          </a:p>
          <a:p>
            <a:r>
              <a:rPr lang="de-DE" dirty="0"/>
              <a:t>Der operative Cashflow deckt die laufenden Investitionen, nicht aber Ergebnisabführung und Investitionssprung zugleich; die liquiden Mittel sind 2025 auf 2,5 Mio. EUR gesunken</a:t>
            </a:r>
          </a:p>
          <a:p>
            <a:r>
              <a:rPr lang="de-DE" dirty="0"/>
              <a:t>Verschuldungsgrad mit 1,8x Net Debt / EBITDA noch komfortabel; die EK-Quote von 28,5 % beruht auf der Kapitalerhöhung 2025 über 10 Mio. EUR – Zielgröße dauerhaft über 25 %</a:t>
            </a:r>
          </a:p>
        </p:txBody>
      </p:sp>
      <p:sp>
        <p:nvSpPr>
          <p:cNvPr id="35" name="Arrow: Right 34">
            <a:extLst>
              <a:ext uri="{FF2B5EF4-FFF2-40B4-BE49-F238E27FC236}">
                <a16:creationId xmlns:a16="http://schemas.microsoft.com/office/drawing/2014/main" id="{99F92C4F-11B0-3AF3-89BA-A49404CD4B44}"/>
              </a:ext>
            </a:extLst>
          </p:cNvPr>
          <p:cNvSpPr/>
          <p:nvPr/>
        </p:nvSpPr>
        <p:spPr>
          <a:xfrm>
            <a:off x="5582527" y="5523110"/>
            <a:ext cx="298277" cy="2240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CE7829CE-73F8-3046-2F5D-85F62722A848}"/>
              </a:ext>
            </a:extLst>
          </p:cNvPr>
          <p:cNvSpPr txBox="1"/>
          <p:nvPr/>
        </p:nvSpPr>
        <p:spPr>
          <a:xfrm>
            <a:off x="5851308" y="5508823"/>
            <a:ext cx="4319928" cy="553998"/>
          </a:xfrm>
          <a:prstGeom prst="rect">
            <a:avLst/>
          </a:prstGeom>
          <a:noFill/>
          <a:ln>
            <a:noFill/>
          </a:ln>
        </p:spPr>
        <p:txBody>
          <a:bodyPr wrap="square" rtlCol="0">
            <a:spAutoFit/>
          </a:bodyPr>
          <a:lstStyle/>
          <a:p>
            <a:r>
              <a:rPr lang="de-DE" sz="1000" b="1" dirty="0">
                <a:solidFill>
                  <a:schemeClr val="accent1"/>
                </a:solidFill>
                <a:latin typeface="+mj-lt"/>
              </a:rPr>
              <a:t>ESWE hält im Lagebericht 2025 selbst fest, dass klassische Bankdarlehen für die Dimension der Energiewende künftig nicht mehr ausreichen – ergänzende Eigenkapital- und Beteiligungslösungen rücken damit in den Fokus</a:t>
            </a:r>
            <a:endParaRPr lang="en-US" sz="1000" b="1" dirty="0">
              <a:solidFill>
                <a:schemeClr val="accent1"/>
              </a:solidFill>
              <a:latin typeface="+mj-lt"/>
            </a:endParaRPr>
          </a:p>
        </p:txBody>
      </p:sp>
      <p:grpSp>
        <p:nvGrpSpPr>
          <p:cNvPr id="4" name="Group 3">
            <a:extLst>
              <a:ext uri="{FF2B5EF4-FFF2-40B4-BE49-F238E27FC236}">
                <a16:creationId xmlns:a16="http://schemas.microsoft.com/office/drawing/2014/main" id="{316D0201-EE0A-F817-43CF-4D97E5E6F5F4}"/>
              </a:ext>
            </a:extLst>
          </p:cNvPr>
          <p:cNvGrpSpPr/>
          <p:nvPr/>
        </p:nvGrpSpPr>
        <p:grpSpPr>
          <a:xfrm>
            <a:off x="2178348" y="2104223"/>
            <a:ext cx="3098502" cy="147572"/>
            <a:chOff x="2178348" y="2120891"/>
            <a:chExt cx="3098502" cy="147572"/>
          </a:xfrm>
        </p:grpSpPr>
        <p:sp>
          <p:nvSpPr>
            <p:cNvPr id="51" name="Rectangle 50">
              <a:extLst>
                <a:ext uri="{FF2B5EF4-FFF2-40B4-BE49-F238E27FC236}">
                  <a16:creationId xmlns:a16="http://schemas.microsoft.com/office/drawing/2014/main" id="{D90636F2-E349-341A-0FFC-17EBFDAED843}"/>
                </a:ext>
              </a:extLst>
            </p:cNvPr>
            <p:cNvSpPr/>
            <p:nvPr/>
          </p:nvSpPr>
          <p:spPr>
            <a:xfrm>
              <a:off x="2245420" y="2120891"/>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6" name="Oval 35">
              <a:extLst>
                <a:ext uri="{FF2B5EF4-FFF2-40B4-BE49-F238E27FC236}">
                  <a16:creationId xmlns:a16="http://schemas.microsoft.com/office/drawing/2014/main" id="{87322EED-F344-43C9-A0F7-8D4EFA97FEF4}"/>
                </a:ext>
              </a:extLst>
            </p:cNvPr>
            <p:cNvSpPr/>
            <p:nvPr/>
          </p:nvSpPr>
          <p:spPr>
            <a:xfrm>
              <a:off x="2178348" y="212091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1</a:t>
              </a:r>
              <a:endParaRPr lang="de-DE" sz="2000" b="1" dirty="0"/>
            </a:p>
          </p:txBody>
        </p:sp>
      </p:grpSp>
      <p:grpSp>
        <p:nvGrpSpPr>
          <p:cNvPr id="12" name="Group 11">
            <a:extLst>
              <a:ext uri="{FF2B5EF4-FFF2-40B4-BE49-F238E27FC236}">
                <a16:creationId xmlns:a16="http://schemas.microsoft.com/office/drawing/2014/main" id="{6836F6BF-5D02-9C76-A3F2-F0CBEDA4CA00}"/>
              </a:ext>
            </a:extLst>
          </p:cNvPr>
          <p:cNvGrpSpPr/>
          <p:nvPr/>
        </p:nvGrpSpPr>
        <p:grpSpPr>
          <a:xfrm>
            <a:off x="2178348" y="3002830"/>
            <a:ext cx="3098502" cy="147547"/>
            <a:chOff x="2178348" y="3004633"/>
            <a:chExt cx="3098502" cy="147547"/>
          </a:xfrm>
        </p:grpSpPr>
        <p:sp>
          <p:nvSpPr>
            <p:cNvPr id="52" name="Rectangle 51">
              <a:extLst>
                <a:ext uri="{FF2B5EF4-FFF2-40B4-BE49-F238E27FC236}">
                  <a16:creationId xmlns:a16="http://schemas.microsoft.com/office/drawing/2014/main" id="{A60829C6-BF01-3687-1727-B27119F19CEE}"/>
                </a:ext>
              </a:extLst>
            </p:cNvPr>
            <p:cNvSpPr/>
            <p:nvPr/>
          </p:nvSpPr>
          <p:spPr>
            <a:xfrm>
              <a:off x="2245420" y="300818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Oval 36">
              <a:extLst>
                <a:ext uri="{FF2B5EF4-FFF2-40B4-BE49-F238E27FC236}">
                  <a16:creationId xmlns:a16="http://schemas.microsoft.com/office/drawing/2014/main" id="{96992721-D855-4765-A391-EBF6AC7CA491}"/>
                </a:ext>
              </a:extLst>
            </p:cNvPr>
            <p:cNvSpPr/>
            <p:nvPr/>
          </p:nvSpPr>
          <p:spPr>
            <a:xfrm>
              <a:off x="2178348" y="300463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2</a:t>
              </a:r>
              <a:endParaRPr lang="de-DE" sz="2000" b="1" dirty="0"/>
            </a:p>
          </p:txBody>
        </p:sp>
      </p:grpSp>
      <p:grpSp>
        <p:nvGrpSpPr>
          <p:cNvPr id="17" name="Group 16">
            <a:extLst>
              <a:ext uri="{FF2B5EF4-FFF2-40B4-BE49-F238E27FC236}">
                <a16:creationId xmlns:a16="http://schemas.microsoft.com/office/drawing/2014/main" id="{1212A469-8830-5C23-1A24-A12BB5CA1518}"/>
              </a:ext>
            </a:extLst>
          </p:cNvPr>
          <p:cNvGrpSpPr/>
          <p:nvPr/>
        </p:nvGrpSpPr>
        <p:grpSpPr>
          <a:xfrm>
            <a:off x="2178348" y="3451547"/>
            <a:ext cx="3098502" cy="147547"/>
            <a:chOff x="2178348" y="4586453"/>
            <a:chExt cx="3098502" cy="147547"/>
          </a:xfrm>
        </p:grpSpPr>
        <p:sp>
          <p:nvSpPr>
            <p:cNvPr id="53" name="Rectangle 52">
              <a:extLst>
                <a:ext uri="{FF2B5EF4-FFF2-40B4-BE49-F238E27FC236}">
                  <a16:creationId xmlns:a16="http://schemas.microsoft.com/office/drawing/2014/main" id="{2D521986-B62A-5C73-0E4F-185A79D3A348}"/>
                </a:ext>
              </a:extLst>
            </p:cNvPr>
            <p:cNvSpPr/>
            <p:nvPr/>
          </p:nvSpPr>
          <p:spPr>
            <a:xfrm>
              <a:off x="2245420" y="459000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8" name="Oval 37">
              <a:extLst>
                <a:ext uri="{FF2B5EF4-FFF2-40B4-BE49-F238E27FC236}">
                  <a16:creationId xmlns:a16="http://schemas.microsoft.com/office/drawing/2014/main" id="{AF297EA2-DF55-4841-87F6-E106DC0C0A3C}"/>
                </a:ext>
              </a:extLst>
            </p:cNvPr>
            <p:cNvSpPr/>
            <p:nvPr/>
          </p:nvSpPr>
          <p:spPr>
            <a:xfrm>
              <a:off x="2178348" y="458645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3</a:t>
              </a:r>
              <a:endParaRPr lang="de-DE" sz="2000" b="1" dirty="0"/>
            </a:p>
          </p:txBody>
        </p:sp>
      </p:grpSp>
      <p:grpSp>
        <p:nvGrpSpPr>
          <p:cNvPr id="19" name="Group 18">
            <a:extLst>
              <a:ext uri="{FF2B5EF4-FFF2-40B4-BE49-F238E27FC236}">
                <a16:creationId xmlns:a16="http://schemas.microsoft.com/office/drawing/2014/main" id="{C2A3F2D9-22F9-2639-3CA1-BAF17510F844}"/>
              </a:ext>
            </a:extLst>
          </p:cNvPr>
          <p:cNvGrpSpPr/>
          <p:nvPr/>
        </p:nvGrpSpPr>
        <p:grpSpPr>
          <a:xfrm>
            <a:off x="2178348" y="4601294"/>
            <a:ext cx="3098502" cy="147547"/>
            <a:chOff x="2178348" y="5292386"/>
            <a:chExt cx="3098502" cy="147547"/>
          </a:xfrm>
        </p:grpSpPr>
        <p:sp>
          <p:nvSpPr>
            <p:cNvPr id="54" name="Rectangle 53">
              <a:extLst>
                <a:ext uri="{FF2B5EF4-FFF2-40B4-BE49-F238E27FC236}">
                  <a16:creationId xmlns:a16="http://schemas.microsoft.com/office/drawing/2014/main" id="{6096200E-1C17-3346-749A-B141A16419CF}"/>
                </a:ext>
              </a:extLst>
            </p:cNvPr>
            <p:cNvSpPr/>
            <p:nvPr/>
          </p:nvSpPr>
          <p:spPr>
            <a:xfrm>
              <a:off x="2245420" y="5295933"/>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9" name="Oval 38">
              <a:extLst>
                <a:ext uri="{FF2B5EF4-FFF2-40B4-BE49-F238E27FC236}">
                  <a16:creationId xmlns:a16="http://schemas.microsoft.com/office/drawing/2014/main" id="{A98A0C14-BA74-43A2-BF3C-E764BA06F032}"/>
                </a:ext>
              </a:extLst>
            </p:cNvPr>
            <p:cNvSpPr/>
            <p:nvPr/>
          </p:nvSpPr>
          <p:spPr>
            <a:xfrm>
              <a:off x="2178348" y="529238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4</a:t>
              </a:r>
              <a:endParaRPr lang="de-DE" sz="2000" b="1" dirty="0"/>
            </a:p>
          </p:txBody>
        </p:sp>
      </p:grpSp>
      <p:grpSp>
        <p:nvGrpSpPr>
          <p:cNvPr id="20" name="Group 19">
            <a:extLst>
              <a:ext uri="{FF2B5EF4-FFF2-40B4-BE49-F238E27FC236}">
                <a16:creationId xmlns:a16="http://schemas.microsoft.com/office/drawing/2014/main" id="{F30FE6EB-02BD-6E3C-6C8C-817128CE99D0}"/>
              </a:ext>
            </a:extLst>
          </p:cNvPr>
          <p:cNvGrpSpPr/>
          <p:nvPr/>
        </p:nvGrpSpPr>
        <p:grpSpPr>
          <a:xfrm>
            <a:off x="2178348" y="6428696"/>
            <a:ext cx="3098502" cy="147547"/>
            <a:chOff x="2178348" y="6422453"/>
            <a:chExt cx="3098502" cy="147547"/>
          </a:xfrm>
        </p:grpSpPr>
        <p:sp>
          <p:nvSpPr>
            <p:cNvPr id="55" name="Rectangle 54">
              <a:extLst>
                <a:ext uri="{FF2B5EF4-FFF2-40B4-BE49-F238E27FC236}">
                  <a16:creationId xmlns:a16="http://schemas.microsoft.com/office/drawing/2014/main" id="{431B63A0-C1CA-C4EE-F63C-E8AFDD26715D}"/>
                </a:ext>
              </a:extLst>
            </p:cNvPr>
            <p:cNvSpPr/>
            <p:nvPr/>
          </p:nvSpPr>
          <p:spPr>
            <a:xfrm>
              <a:off x="2245420" y="642600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0" name="Oval 39">
              <a:extLst>
                <a:ext uri="{FF2B5EF4-FFF2-40B4-BE49-F238E27FC236}">
                  <a16:creationId xmlns:a16="http://schemas.microsoft.com/office/drawing/2014/main" id="{FCB2456E-D366-4112-8E3B-35D259F83A7A}"/>
                </a:ext>
              </a:extLst>
            </p:cNvPr>
            <p:cNvSpPr/>
            <p:nvPr/>
          </p:nvSpPr>
          <p:spPr>
            <a:xfrm>
              <a:off x="2178348" y="642245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6</a:t>
              </a:r>
              <a:endParaRPr lang="de-DE" sz="2000" b="1" dirty="0"/>
            </a:p>
          </p:txBody>
        </p:sp>
      </p:grpSp>
      <p:sp>
        <p:nvSpPr>
          <p:cNvPr id="5" name="Oval 4">
            <a:extLst>
              <a:ext uri="{FF2B5EF4-FFF2-40B4-BE49-F238E27FC236}">
                <a16:creationId xmlns:a16="http://schemas.microsoft.com/office/drawing/2014/main" id="{71E15FEE-5780-3D57-7CD1-8B21E3E07AF9}"/>
              </a:ext>
            </a:extLst>
          </p:cNvPr>
          <p:cNvSpPr/>
          <p:nvPr/>
        </p:nvSpPr>
        <p:spPr>
          <a:xfrm>
            <a:off x="5562724" y="1944898"/>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1</a:t>
            </a:r>
            <a:endParaRPr lang="de-DE" sz="2000" b="1" dirty="0"/>
          </a:p>
        </p:txBody>
      </p:sp>
      <p:sp>
        <p:nvSpPr>
          <p:cNvPr id="6" name="Oval 5">
            <a:extLst>
              <a:ext uri="{FF2B5EF4-FFF2-40B4-BE49-F238E27FC236}">
                <a16:creationId xmlns:a16="http://schemas.microsoft.com/office/drawing/2014/main" id="{4A469A1E-0279-81A1-5BD1-A24EDAC65903}"/>
              </a:ext>
            </a:extLst>
          </p:cNvPr>
          <p:cNvSpPr/>
          <p:nvPr/>
        </p:nvSpPr>
        <p:spPr>
          <a:xfrm>
            <a:off x="5562724" y="2321421"/>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2</a:t>
            </a:r>
            <a:endParaRPr lang="de-DE" sz="2000" b="1" dirty="0"/>
          </a:p>
        </p:txBody>
      </p:sp>
      <p:sp>
        <p:nvSpPr>
          <p:cNvPr id="8" name="Oval 7">
            <a:extLst>
              <a:ext uri="{FF2B5EF4-FFF2-40B4-BE49-F238E27FC236}">
                <a16:creationId xmlns:a16="http://schemas.microsoft.com/office/drawing/2014/main" id="{45132048-FDB8-BEDE-CF45-A44E4C50F701}"/>
              </a:ext>
            </a:extLst>
          </p:cNvPr>
          <p:cNvSpPr/>
          <p:nvPr/>
        </p:nvSpPr>
        <p:spPr>
          <a:xfrm>
            <a:off x="5562724" y="2699548"/>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3</a:t>
            </a:r>
            <a:endParaRPr lang="de-DE" sz="2000" b="1" dirty="0"/>
          </a:p>
        </p:txBody>
      </p:sp>
      <p:sp>
        <p:nvSpPr>
          <p:cNvPr id="9" name="Oval 8">
            <a:extLst>
              <a:ext uri="{FF2B5EF4-FFF2-40B4-BE49-F238E27FC236}">
                <a16:creationId xmlns:a16="http://schemas.microsoft.com/office/drawing/2014/main" id="{0AD5F650-B824-16D9-E841-4EE6BD558B82}"/>
              </a:ext>
            </a:extLst>
          </p:cNvPr>
          <p:cNvSpPr/>
          <p:nvPr/>
        </p:nvSpPr>
        <p:spPr>
          <a:xfrm>
            <a:off x="5551890" y="3240000"/>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4</a:t>
            </a:r>
            <a:endParaRPr lang="de-DE" sz="2000" b="1" dirty="0"/>
          </a:p>
        </p:txBody>
      </p:sp>
      <p:sp>
        <p:nvSpPr>
          <p:cNvPr id="10" name="Oval 9">
            <a:extLst>
              <a:ext uri="{FF2B5EF4-FFF2-40B4-BE49-F238E27FC236}">
                <a16:creationId xmlns:a16="http://schemas.microsoft.com/office/drawing/2014/main" id="{5200E261-9CAE-EC0D-C004-E8194FB25CBE}"/>
              </a:ext>
            </a:extLst>
          </p:cNvPr>
          <p:cNvSpPr/>
          <p:nvPr/>
        </p:nvSpPr>
        <p:spPr>
          <a:xfrm>
            <a:off x="5562724" y="3618329"/>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5</a:t>
            </a:r>
            <a:endParaRPr lang="de-DE" sz="2000" b="1" dirty="0"/>
          </a:p>
        </p:txBody>
      </p:sp>
      <p:grpSp>
        <p:nvGrpSpPr>
          <p:cNvPr id="21" name="Group 20">
            <a:extLst>
              <a:ext uri="{FF2B5EF4-FFF2-40B4-BE49-F238E27FC236}">
                <a16:creationId xmlns:a16="http://schemas.microsoft.com/office/drawing/2014/main" id="{99B065B0-9CA0-5A6F-DE12-2338B38E0583}"/>
              </a:ext>
            </a:extLst>
          </p:cNvPr>
          <p:cNvGrpSpPr/>
          <p:nvPr/>
        </p:nvGrpSpPr>
        <p:grpSpPr>
          <a:xfrm>
            <a:off x="2178348" y="5148783"/>
            <a:ext cx="3098502" cy="147547"/>
            <a:chOff x="2178348" y="5292386"/>
            <a:chExt cx="3098502" cy="147547"/>
          </a:xfrm>
        </p:grpSpPr>
        <p:sp>
          <p:nvSpPr>
            <p:cNvPr id="22" name="Rectangle 21">
              <a:extLst>
                <a:ext uri="{FF2B5EF4-FFF2-40B4-BE49-F238E27FC236}">
                  <a16:creationId xmlns:a16="http://schemas.microsoft.com/office/drawing/2014/main" id="{5669D629-A8FF-D2EE-A9D2-D516DE41EA65}"/>
                </a:ext>
              </a:extLst>
            </p:cNvPr>
            <p:cNvSpPr/>
            <p:nvPr/>
          </p:nvSpPr>
          <p:spPr>
            <a:xfrm>
              <a:off x="2245420" y="5295933"/>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3" name="Oval 22">
              <a:extLst>
                <a:ext uri="{FF2B5EF4-FFF2-40B4-BE49-F238E27FC236}">
                  <a16:creationId xmlns:a16="http://schemas.microsoft.com/office/drawing/2014/main" id="{1BB0BC9C-D76C-9CE5-BB76-BA58F080A9F5}"/>
                </a:ext>
              </a:extLst>
            </p:cNvPr>
            <p:cNvSpPr/>
            <p:nvPr/>
          </p:nvSpPr>
          <p:spPr>
            <a:xfrm>
              <a:off x="2178348" y="529238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5</a:t>
              </a:r>
              <a:endParaRPr lang="de-DE" sz="2000" b="1" dirty="0"/>
            </a:p>
          </p:txBody>
        </p:sp>
      </p:grpSp>
      <p:sp>
        <p:nvSpPr>
          <p:cNvPr id="24" name="Oval 23">
            <a:extLst>
              <a:ext uri="{FF2B5EF4-FFF2-40B4-BE49-F238E27FC236}">
                <a16:creationId xmlns:a16="http://schemas.microsoft.com/office/drawing/2014/main" id="{2270A176-68E6-A31A-EFA8-6DAE1E648100}"/>
              </a:ext>
            </a:extLst>
          </p:cNvPr>
          <p:cNvSpPr/>
          <p:nvPr/>
        </p:nvSpPr>
        <p:spPr>
          <a:xfrm>
            <a:off x="5562724" y="4002182"/>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6</a:t>
            </a:r>
            <a:endParaRPr lang="de-DE" sz="2000" b="1" dirty="0"/>
          </a:p>
        </p:txBody>
      </p:sp>
    </p:spTree>
    <p:extLst>
      <p:ext uri="{BB962C8B-B14F-4D97-AF65-F5344CB8AC3E}">
        <p14:creationId xmlns:p14="http://schemas.microsoft.com/office/powerpoint/2010/main" val="4273685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81618" y="3616322"/>
            <a:ext cx="9900000" cy="2525713"/>
          </a:xfrm>
        </p:spPr>
        <p:txBody>
          <a:bodyPr/>
          <a:lstStyle/>
          <a:p>
            <a:r>
              <a:rPr lang="de-DE" sz="2000" dirty="0"/>
              <a:t>Kapitalflexibilisierung als Option zur Umsetzung zentraler Investitionsthemen</a:t>
            </a:r>
          </a:p>
        </p:txBody>
      </p:sp>
      <p:sp>
        <p:nvSpPr>
          <p:cNvPr id="7" name="Text Placeholder 6"/>
          <p:cNvSpPr>
            <a:spLocks noGrp="1"/>
          </p:cNvSpPr>
          <p:nvPr>
            <p:ph type="body" sz="quarter" idx="10"/>
          </p:nvPr>
        </p:nvSpPr>
        <p:spPr/>
        <p:txBody>
          <a:bodyPr/>
          <a:lstStyle/>
          <a:p>
            <a:r>
              <a:rPr lang="de-DE" dirty="0"/>
              <a:t>3</a:t>
            </a:r>
            <a:endParaRPr lang="en-US" dirty="0"/>
          </a:p>
        </p:txBody>
      </p:sp>
    </p:spTree>
    <p:extLst>
      <p:ext uri="{BB962C8B-B14F-4D97-AF65-F5344CB8AC3E}">
        <p14:creationId xmlns:p14="http://schemas.microsoft.com/office/powerpoint/2010/main" val="2351469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410AD3F2-5A86-48DD-AB34-8ECB4D1EC6F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410AD3F2-5A86-48DD-AB34-8ECB4D1EC6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Freeform: Shape 13">
            <a:extLst>
              <a:ext uri="{FF2B5EF4-FFF2-40B4-BE49-F238E27FC236}">
                <a16:creationId xmlns:a16="http://schemas.microsoft.com/office/drawing/2014/main" id="{50E4037B-E205-94EC-BC2B-54D27E6B255F}"/>
              </a:ext>
            </a:extLst>
          </p:cNvPr>
          <p:cNvSpPr/>
          <p:nvPr/>
        </p:nvSpPr>
        <p:spPr>
          <a:xfrm>
            <a:off x="378700" y="1620837"/>
            <a:ext cx="9936000" cy="2384800"/>
          </a:xfrm>
          <a:custGeom>
            <a:avLst/>
            <a:gdLst>
              <a:gd name="connsiteX0" fmla="*/ 0 w 9936000"/>
              <a:gd name="connsiteY0" fmla="*/ 0 h 2230438"/>
              <a:gd name="connsiteX1" fmla="*/ 9936000 w 9936000"/>
              <a:gd name="connsiteY1" fmla="*/ 0 h 2230438"/>
              <a:gd name="connsiteX2" fmla="*/ 9936000 w 9936000"/>
              <a:gd name="connsiteY2" fmla="*/ 2230438 h 2230438"/>
              <a:gd name="connsiteX3" fmla="*/ 5995066 w 9936000"/>
              <a:gd name="connsiteY3" fmla="*/ 2230438 h 2230438"/>
              <a:gd name="connsiteX4" fmla="*/ 5007188 w 9936000"/>
              <a:gd name="connsiteY4" fmla="*/ 1516985 h 2230438"/>
              <a:gd name="connsiteX5" fmla="*/ 4019311 w 9936000"/>
              <a:gd name="connsiteY5" fmla="*/ 2230438 h 2230438"/>
              <a:gd name="connsiteX6" fmla="*/ 0 w 9936000"/>
              <a:gd name="connsiteY6" fmla="*/ 2230438 h 2230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36000" h="2230438">
                <a:moveTo>
                  <a:pt x="0" y="0"/>
                </a:moveTo>
                <a:lnTo>
                  <a:pt x="9936000" y="0"/>
                </a:lnTo>
                <a:lnTo>
                  <a:pt x="9936000" y="2230438"/>
                </a:lnTo>
                <a:lnTo>
                  <a:pt x="5995066" y="2230438"/>
                </a:lnTo>
                <a:lnTo>
                  <a:pt x="5007188" y="1516985"/>
                </a:lnTo>
                <a:lnTo>
                  <a:pt x="4019311" y="2230438"/>
                </a:lnTo>
                <a:lnTo>
                  <a:pt x="0" y="2230438"/>
                </a:lnTo>
                <a:close/>
              </a:path>
            </a:pathLst>
          </a:custGeom>
          <a:solidFill>
            <a:srgbClr val="ECF3FE"/>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sp>
        <p:nvSpPr>
          <p:cNvPr id="28" name="Rectangle 27">
            <a:extLst>
              <a:ext uri="{FF2B5EF4-FFF2-40B4-BE49-F238E27FC236}">
                <a16:creationId xmlns:a16="http://schemas.microsoft.com/office/drawing/2014/main" id="{C5F8B051-0394-90A5-60FD-C6DA36968DD2}"/>
              </a:ext>
            </a:extLst>
          </p:cNvPr>
          <p:cNvSpPr/>
          <p:nvPr/>
        </p:nvSpPr>
        <p:spPr>
          <a:xfrm>
            <a:off x="378700" y="1620838"/>
            <a:ext cx="9936000" cy="25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bg1"/>
                </a:solidFill>
              </a:rPr>
              <a:t>Grundsätzlich geeignete Segmente für die Beteiligung privater Investoren</a:t>
            </a:r>
          </a:p>
        </p:txBody>
      </p:sp>
      <p:sp>
        <p:nvSpPr>
          <p:cNvPr id="16" name="Freeform: Shape 15">
            <a:extLst>
              <a:ext uri="{FF2B5EF4-FFF2-40B4-BE49-F238E27FC236}">
                <a16:creationId xmlns:a16="http://schemas.microsoft.com/office/drawing/2014/main" id="{607F3E81-1841-CD5E-0725-51FBCF324BEE}"/>
              </a:ext>
            </a:extLst>
          </p:cNvPr>
          <p:cNvSpPr/>
          <p:nvPr/>
        </p:nvSpPr>
        <p:spPr>
          <a:xfrm>
            <a:off x="359098" y="2803436"/>
            <a:ext cx="5814714" cy="1206949"/>
          </a:xfrm>
          <a:custGeom>
            <a:avLst/>
            <a:gdLst>
              <a:gd name="connsiteX0" fmla="*/ 4203079 w 5814714"/>
              <a:gd name="connsiteY0" fmla="*/ 0 h 1206949"/>
              <a:gd name="connsiteX1" fmla="*/ 5814714 w 5814714"/>
              <a:gd name="connsiteY1" fmla="*/ 0 h 1206949"/>
              <a:gd name="connsiteX2" fmla="*/ 4130448 w 5814714"/>
              <a:gd name="connsiteY2" fmla="*/ 1200547 h 1206949"/>
              <a:gd name="connsiteX3" fmla="*/ 4153511 w 5814714"/>
              <a:gd name="connsiteY3" fmla="*/ 1206949 h 1206949"/>
              <a:gd name="connsiteX4" fmla="*/ 0 w 5814714"/>
              <a:gd name="connsiteY4" fmla="*/ 1206949 h 1206949"/>
              <a:gd name="connsiteX5" fmla="*/ 2069400 w 5814714"/>
              <a:gd name="connsiteY5" fmla="*/ 632560 h 1206949"/>
              <a:gd name="connsiteX6" fmla="*/ 2063731 w 5814714"/>
              <a:gd name="connsiteY6" fmla="*/ 630982 h 120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4714" h="1206949">
                <a:moveTo>
                  <a:pt x="4203079" y="0"/>
                </a:moveTo>
                <a:lnTo>
                  <a:pt x="5814714" y="0"/>
                </a:lnTo>
                <a:lnTo>
                  <a:pt x="4130448" y="1200547"/>
                </a:lnTo>
                <a:lnTo>
                  <a:pt x="4153511" y="1206949"/>
                </a:lnTo>
                <a:lnTo>
                  <a:pt x="0" y="1206949"/>
                </a:lnTo>
                <a:lnTo>
                  <a:pt x="2069400" y="632560"/>
                </a:lnTo>
                <a:lnTo>
                  <a:pt x="2063731" y="630982"/>
                </a:lnTo>
                <a:close/>
              </a:path>
            </a:pathLst>
          </a:custGeom>
          <a:gradFill flip="none" rotWithShape="1">
            <a:gsLst>
              <a:gs pos="25000">
                <a:srgbClr val="37689B"/>
              </a:gs>
              <a:gs pos="75000">
                <a:srgbClr val="A5BDD8"/>
              </a:gs>
              <a:gs pos="50000">
                <a:srgbClr val="6C91B8"/>
              </a:gs>
              <a:gs pos="0">
                <a:schemeClr val="accent1"/>
              </a:gs>
              <a:gs pos="100000">
                <a:srgbClr val="EBF4FF"/>
              </a:gs>
            </a:gsLst>
            <a:lin ang="16200000" scaled="1"/>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378700" y="450279"/>
            <a:ext cx="9936000" cy="720000"/>
          </a:xfrm>
        </p:spPr>
        <p:txBody>
          <a:bodyPr vert="horz"/>
          <a:lstStyle/>
          <a:p>
            <a:r>
              <a:rPr lang="de-DE" dirty="0"/>
              <a:t>Die Einbindung von privaten Investoren zur Kapitalflexibilisierung kann eine sinnvolle Struktur sein</a:t>
            </a:r>
            <a:endParaRPr lang="en-GB" dirty="0"/>
          </a:p>
        </p:txBody>
      </p:sp>
      <p:sp>
        <p:nvSpPr>
          <p:cNvPr id="5" name="Text Placeholder 4"/>
          <p:cNvSpPr>
            <a:spLocks noGrp="1"/>
          </p:cNvSpPr>
          <p:nvPr>
            <p:ph type="body" sz="quarter" idx="14"/>
          </p:nvPr>
        </p:nvSpPr>
        <p:spPr/>
        <p:txBody>
          <a:bodyPr/>
          <a:lstStyle/>
          <a:p>
            <a:endParaRPr lang="de-DE" dirty="0"/>
          </a:p>
        </p:txBody>
      </p:sp>
      <p:sp>
        <p:nvSpPr>
          <p:cNvPr id="6" name="Text Placeholder 5"/>
          <p:cNvSpPr>
            <a:spLocks noGrp="1"/>
          </p:cNvSpPr>
          <p:nvPr>
            <p:ph type="body" sz="quarter" idx="15"/>
          </p:nvPr>
        </p:nvSpPr>
        <p:spPr>
          <a:xfrm>
            <a:off x="378700" y="6906137"/>
            <a:ext cx="8371857" cy="168344"/>
          </a:xfrm>
        </p:spPr>
        <p:txBody>
          <a:bodyPr/>
          <a:lstStyle/>
          <a:p>
            <a:endParaRPr lang="de-DE" dirty="0"/>
          </a:p>
        </p:txBody>
      </p:sp>
      <p:sp>
        <p:nvSpPr>
          <p:cNvPr id="8" name="Textplatzhalter 7"/>
          <p:cNvSpPr>
            <a:spLocks noGrp="1"/>
          </p:cNvSpPr>
          <p:nvPr>
            <p:ph type="body" sz="quarter" idx="12"/>
          </p:nvPr>
        </p:nvSpPr>
        <p:spPr>
          <a:xfrm>
            <a:off x="378700" y="1243937"/>
            <a:ext cx="9936000" cy="271120"/>
          </a:xfrm>
        </p:spPr>
        <p:txBody>
          <a:bodyPr/>
          <a:lstStyle/>
          <a:p>
            <a:endParaRPr lang="de-DE" dirty="0"/>
          </a:p>
        </p:txBody>
      </p:sp>
      <p:sp>
        <p:nvSpPr>
          <p:cNvPr id="3" name="Textplatzhalter 2"/>
          <p:cNvSpPr>
            <a:spLocks noGrp="1"/>
          </p:cNvSpPr>
          <p:nvPr>
            <p:ph type="body" sz="quarter" idx="13"/>
          </p:nvPr>
        </p:nvSpPr>
        <p:spPr/>
        <p:txBody>
          <a:bodyPr/>
          <a:lstStyle/>
          <a:p>
            <a:r>
              <a:rPr lang="de-DE" dirty="0"/>
              <a:t>3. </a:t>
            </a:r>
            <a:r>
              <a:rPr lang="de-DE" sz="1000" dirty="0"/>
              <a:t>Kapitalflexibilisierung als Option zur Umsetzung zentraler Investitionsthemen</a:t>
            </a:r>
          </a:p>
          <a:p>
            <a:endParaRPr lang="de-DE" dirty="0"/>
          </a:p>
        </p:txBody>
      </p:sp>
      <p:sp>
        <p:nvSpPr>
          <p:cNvPr id="84" name="Rectangle 83">
            <a:extLst>
              <a:ext uri="{FF2B5EF4-FFF2-40B4-BE49-F238E27FC236}">
                <a16:creationId xmlns:a16="http://schemas.microsoft.com/office/drawing/2014/main" id="{7CFA606C-4FF8-4C8A-A8D1-C87CC0CEE7DB}"/>
              </a:ext>
            </a:extLst>
          </p:cNvPr>
          <p:cNvSpPr/>
          <p:nvPr/>
        </p:nvSpPr>
        <p:spPr>
          <a:xfrm>
            <a:off x="6213800" y="4044039"/>
            <a:ext cx="4104746" cy="2242467"/>
          </a:xfrm>
          <a:prstGeom prst="rect">
            <a:avLst/>
          </a:prstGeom>
          <a:solidFill>
            <a:srgbClr val="F7FBFF"/>
          </a:solidFill>
          <a:ln w="635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24000" rtlCol="0" anchor="t">
            <a:noAutofit/>
          </a:bodyPr>
          <a:lstStyle/>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Einbindung von Investoren führt zu Zufluss von Kaufpreis oder Finanzmittelzufuhr durch Kapitalerhöhung</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Die Beteiligung kann so gestaltet werden, dass das Stadtwerk die operative Kontrolle über den Geschäftsbereich behält</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Freigesetzte Finanzmittel können für strategisch wichtige Projekte innerhalb des Konzerns verwendet werden</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Dekonsolidierung von Schulden bei mehrheitlichen Strukturen möglich</a:t>
            </a:r>
          </a:p>
        </p:txBody>
      </p:sp>
      <p:sp>
        <p:nvSpPr>
          <p:cNvPr id="25" name="Rectangle 24">
            <a:extLst>
              <a:ext uri="{FF2B5EF4-FFF2-40B4-BE49-F238E27FC236}">
                <a16:creationId xmlns:a16="http://schemas.microsoft.com/office/drawing/2014/main" id="{EE99406D-41F8-48F3-929E-73FBAA88737A}"/>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Vorteile der Kapitalflexibilisierung werden genutzt, </a:t>
            </a:r>
            <a:r>
              <a:rPr lang="de-DE" sz="1050" b="1" kern="0" dirty="0">
                <a:solidFill>
                  <a:schemeClr val="accent1"/>
                </a:solidFill>
              </a:rPr>
              <a:t>die operative Leitung des Geschäfts kann beim kommunalen Unternehmen </a:t>
            </a:r>
            <a:r>
              <a:rPr lang="de-DE" sz="1050" b="1" kern="0" dirty="0">
                <a:solidFill>
                  <a:schemeClr val="accent1"/>
                </a:solidFill>
                <a:latin typeface="+mn-lt"/>
              </a:rPr>
              <a:t>verbleiben</a:t>
            </a:r>
          </a:p>
        </p:txBody>
      </p:sp>
      <p:sp>
        <p:nvSpPr>
          <p:cNvPr id="7" name="Isosceles Triangle 6">
            <a:extLst>
              <a:ext uri="{FF2B5EF4-FFF2-40B4-BE49-F238E27FC236}">
                <a16:creationId xmlns:a16="http://schemas.microsoft.com/office/drawing/2014/main" id="{E435DDD5-58B3-4F11-9A74-AE8549027967}"/>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2" name="Freeform: Shape 21">
            <a:extLst>
              <a:ext uri="{FF2B5EF4-FFF2-40B4-BE49-F238E27FC236}">
                <a16:creationId xmlns:a16="http://schemas.microsoft.com/office/drawing/2014/main" id="{48890907-67EC-867A-C20F-929833EB0CD3}"/>
              </a:ext>
            </a:extLst>
          </p:cNvPr>
          <p:cNvSpPr/>
          <p:nvPr/>
        </p:nvSpPr>
        <p:spPr>
          <a:xfrm flipH="1">
            <a:off x="4500538" y="2803436"/>
            <a:ext cx="5814714" cy="1206949"/>
          </a:xfrm>
          <a:custGeom>
            <a:avLst/>
            <a:gdLst>
              <a:gd name="connsiteX0" fmla="*/ 5814714 w 5814714"/>
              <a:gd name="connsiteY0" fmla="*/ 0 h 1206949"/>
              <a:gd name="connsiteX1" fmla="*/ 4203079 w 5814714"/>
              <a:gd name="connsiteY1" fmla="*/ 0 h 1206949"/>
              <a:gd name="connsiteX2" fmla="*/ 2063731 w 5814714"/>
              <a:gd name="connsiteY2" fmla="*/ 630982 h 1206949"/>
              <a:gd name="connsiteX3" fmla="*/ 2069400 w 5814714"/>
              <a:gd name="connsiteY3" fmla="*/ 632560 h 1206949"/>
              <a:gd name="connsiteX4" fmla="*/ 0 w 5814714"/>
              <a:gd name="connsiteY4" fmla="*/ 1206949 h 1206949"/>
              <a:gd name="connsiteX5" fmla="*/ 4153511 w 5814714"/>
              <a:gd name="connsiteY5" fmla="*/ 1206949 h 1206949"/>
              <a:gd name="connsiteX6" fmla="*/ 4130448 w 5814714"/>
              <a:gd name="connsiteY6" fmla="*/ 1200547 h 120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4714" h="1206949">
                <a:moveTo>
                  <a:pt x="5814714" y="0"/>
                </a:moveTo>
                <a:lnTo>
                  <a:pt x="4203079" y="0"/>
                </a:lnTo>
                <a:lnTo>
                  <a:pt x="2063731" y="630982"/>
                </a:lnTo>
                <a:lnTo>
                  <a:pt x="2069400" y="632560"/>
                </a:lnTo>
                <a:lnTo>
                  <a:pt x="0" y="1206949"/>
                </a:lnTo>
                <a:lnTo>
                  <a:pt x="4153511" y="1206949"/>
                </a:lnTo>
                <a:lnTo>
                  <a:pt x="4130448" y="1200547"/>
                </a:lnTo>
                <a:close/>
              </a:path>
            </a:pathLst>
          </a:custGeom>
          <a:gradFill flip="none" rotWithShape="1">
            <a:gsLst>
              <a:gs pos="25000">
                <a:srgbClr val="37689B"/>
              </a:gs>
              <a:gs pos="75000">
                <a:srgbClr val="A5BDD8"/>
              </a:gs>
              <a:gs pos="50000">
                <a:srgbClr val="6C91B8"/>
              </a:gs>
              <a:gs pos="0">
                <a:schemeClr val="accent1"/>
              </a:gs>
              <a:gs pos="100000">
                <a:srgbClr val="EBF4FF"/>
              </a:gs>
            </a:gsLst>
            <a:lin ang="16200000" scaled="1"/>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4" name="Oval 93">
            <a:extLst>
              <a:ext uri="{FF2B5EF4-FFF2-40B4-BE49-F238E27FC236}">
                <a16:creationId xmlns:a16="http://schemas.microsoft.com/office/drawing/2014/main" id="{96BB6642-5500-49AC-90EF-7FEADAF62150}"/>
              </a:ext>
            </a:extLst>
          </p:cNvPr>
          <p:cNvSpPr/>
          <p:nvPr/>
        </p:nvSpPr>
        <p:spPr>
          <a:xfrm>
            <a:off x="4126730" y="2702498"/>
            <a:ext cx="2439941" cy="919712"/>
          </a:xfrm>
          <a:prstGeom prst="ellipse">
            <a:avLst/>
          </a:prstGeom>
          <a:solidFill>
            <a:srgbClr val="EBF4FF"/>
          </a:solidFill>
          <a:ln>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algn="ctr"/>
            <a:endParaRPr lang="de-DE" sz="1100" b="1" dirty="0">
              <a:solidFill>
                <a:schemeClr val="accent1"/>
              </a:solidFill>
            </a:endParaRPr>
          </a:p>
        </p:txBody>
      </p:sp>
      <p:sp>
        <p:nvSpPr>
          <p:cNvPr id="118" name="Rechteck 140">
            <a:extLst>
              <a:ext uri="{FF2B5EF4-FFF2-40B4-BE49-F238E27FC236}">
                <a16:creationId xmlns:a16="http://schemas.microsoft.com/office/drawing/2014/main" id="{D248300A-1E21-4579-A703-A3C49F5F690C}"/>
              </a:ext>
            </a:extLst>
          </p:cNvPr>
          <p:cNvSpPr/>
          <p:nvPr/>
        </p:nvSpPr>
        <p:spPr>
          <a:xfrm>
            <a:off x="4730855" y="2836667"/>
            <a:ext cx="1231690" cy="327720"/>
          </a:xfrm>
          <a:prstGeom prst="rect">
            <a:avLst/>
          </a:prstGeom>
        </p:spPr>
        <p:txBody>
          <a:bodyPr wrap="none">
            <a:prstTxWarp prst="textArchUp">
              <a:avLst>
                <a:gd name="adj" fmla="val 11569010"/>
              </a:avLst>
            </a:prstTxWarp>
            <a:spAutoFit/>
          </a:bodyPr>
          <a:lstStyle/>
          <a:p>
            <a:pPr algn="ctr"/>
            <a:r>
              <a:rPr lang="de-DE" sz="1100" b="1" dirty="0">
                <a:solidFill>
                  <a:schemeClr val="accent1"/>
                </a:solidFill>
              </a:rPr>
              <a:t>Vorteile</a:t>
            </a:r>
            <a:endParaRPr lang="en-US" sz="1100" b="1" baseline="30000" dirty="0">
              <a:solidFill>
                <a:schemeClr val="accent1"/>
              </a:solidFill>
            </a:endParaRPr>
          </a:p>
        </p:txBody>
      </p:sp>
      <p:sp>
        <p:nvSpPr>
          <p:cNvPr id="119" name="Rechteck 140">
            <a:extLst>
              <a:ext uri="{FF2B5EF4-FFF2-40B4-BE49-F238E27FC236}">
                <a16:creationId xmlns:a16="http://schemas.microsoft.com/office/drawing/2014/main" id="{59480F89-97D6-41B9-BFFC-CFB3CD75485E}"/>
              </a:ext>
            </a:extLst>
          </p:cNvPr>
          <p:cNvSpPr/>
          <p:nvPr/>
        </p:nvSpPr>
        <p:spPr>
          <a:xfrm>
            <a:off x="4344957" y="2973440"/>
            <a:ext cx="2003487" cy="548686"/>
          </a:xfrm>
          <a:prstGeom prst="rect">
            <a:avLst/>
          </a:prstGeom>
        </p:spPr>
        <p:txBody>
          <a:bodyPr wrap="none">
            <a:prstTxWarp prst="textArchDown">
              <a:avLst>
                <a:gd name="adj" fmla="val 795433"/>
              </a:avLst>
            </a:prstTxWarp>
            <a:spAutoFit/>
          </a:bodyPr>
          <a:lstStyle/>
          <a:p>
            <a:pPr algn="ctr"/>
            <a:r>
              <a:rPr lang="de-DE" sz="1100" b="1" dirty="0">
                <a:solidFill>
                  <a:schemeClr val="accent1"/>
                </a:solidFill>
              </a:rPr>
              <a:t>bei der Aufnahme eines Investors</a:t>
            </a:r>
            <a:endParaRPr lang="en-US" sz="1100" b="1" baseline="30000" dirty="0">
              <a:solidFill>
                <a:schemeClr val="accent1"/>
              </a:solidFill>
            </a:endParaRPr>
          </a:p>
        </p:txBody>
      </p:sp>
      <p:sp>
        <p:nvSpPr>
          <p:cNvPr id="82" name="Rectangle 81">
            <a:extLst>
              <a:ext uri="{FF2B5EF4-FFF2-40B4-BE49-F238E27FC236}">
                <a16:creationId xmlns:a16="http://schemas.microsoft.com/office/drawing/2014/main" id="{62B6CA70-D8DB-4F62-BCD2-D2F3945D8434}"/>
              </a:ext>
            </a:extLst>
          </p:cNvPr>
          <p:cNvSpPr/>
          <p:nvPr/>
        </p:nvSpPr>
        <p:spPr>
          <a:xfrm>
            <a:off x="387982" y="4044039"/>
            <a:ext cx="4103904" cy="2242467"/>
          </a:xfrm>
          <a:prstGeom prst="rect">
            <a:avLst/>
          </a:prstGeom>
          <a:solidFill>
            <a:srgbClr val="F7FBFF"/>
          </a:solidFill>
          <a:ln w="635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24000" rtlCol="0" anchor="t">
            <a:noAutofit/>
          </a:bodyPr>
          <a:lstStyle/>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Signifikanter Capex-Aufwand im Rahmen des „Grünen </a:t>
            </a:r>
            <a:r>
              <a:rPr lang="de-DE" sz="1050" kern="0" dirty="0">
                <a:solidFill>
                  <a:schemeClr val="tx1"/>
                </a:solidFill>
              </a:rPr>
              <a:t>Transformationsprozesses"</a:t>
            </a:r>
            <a:endParaRPr lang="de-DE" sz="1050" kern="0" dirty="0">
              <a:solidFill>
                <a:schemeClr val="tx1"/>
              </a:solidFill>
              <a:latin typeface="+mn-lt"/>
            </a:endParaRP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Externe Investorenaufnahme</a:t>
            </a:r>
            <a:r>
              <a:rPr lang="de-DE" sz="1050" kern="0" dirty="0">
                <a:solidFill>
                  <a:schemeClr val="tx1"/>
                </a:solidFill>
                <a:latin typeface="+mn-lt"/>
              </a:rPr>
              <a:t> ermöglicht, den erforderlichen eigenen Finanzierungsbeitrag, </a:t>
            </a:r>
            <a:r>
              <a:rPr lang="de-DE" sz="1050" kern="0" dirty="0">
                <a:solidFill>
                  <a:schemeClr val="tx1"/>
                </a:solidFill>
              </a:rPr>
              <a:t>zu reduzieren</a:t>
            </a:r>
            <a:endParaRPr lang="de-DE" sz="1050" kern="0" dirty="0">
              <a:solidFill>
                <a:schemeClr val="tx1"/>
              </a:solidFill>
              <a:latin typeface="+mn-lt"/>
            </a:endParaRP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In der Capex-Planung f</a:t>
            </a:r>
            <a:r>
              <a:rPr lang="de-DE" sz="1050" kern="0" dirty="0">
                <a:solidFill>
                  <a:schemeClr val="tx1"/>
                </a:solidFill>
                <a:latin typeface="+mn-lt"/>
              </a:rPr>
              <a:t>reigesetztes Kapital kann für Alternativprojekte genutzt werden</a:t>
            </a:r>
          </a:p>
          <a:p>
            <a:pPr marL="182563" lvl="1" indent="-182563" defTabSz="447675">
              <a:spcAft>
                <a:spcPts val="1400"/>
              </a:spcAft>
              <a:buClr>
                <a:schemeClr val="accent1"/>
              </a:buClr>
              <a:buSzPct val="100000"/>
              <a:buFont typeface="Wingdings" pitchFamily="2" charset="2"/>
              <a:buChar char="n"/>
              <a:tabLst>
                <a:tab pos="1162050" algn="l"/>
              </a:tabLst>
              <a:defRPr/>
            </a:pPr>
            <a:endParaRPr lang="de-DE" sz="1050" kern="0" dirty="0">
              <a:solidFill>
                <a:schemeClr val="tx1"/>
              </a:solidFill>
              <a:latin typeface="+mn-lt"/>
            </a:endParaRPr>
          </a:p>
        </p:txBody>
      </p:sp>
      <p:sp>
        <p:nvSpPr>
          <p:cNvPr id="88" name="Rectangle 87">
            <a:extLst>
              <a:ext uri="{FF2B5EF4-FFF2-40B4-BE49-F238E27FC236}">
                <a16:creationId xmlns:a16="http://schemas.microsoft.com/office/drawing/2014/main" id="{8BE7C0DA-CF80-41AB-AEAF-D1195FC7C53E}"/>
              </a:ext>
            </a:extLst>
          </p:cNvPr>
          <p:cNvSpPr/>
          <p:nvPr/>
        </p:nvSpPr>
        <p:spPr>
          <a:xfrm>
            <a:off x="6213800" y="4044039"/>
            <a:ext cx="4104748" cy="252000"/>
          </a:xfrm>
          <a:prstGeom prst="rect">
            <a:avLst/>
          </a:prstGeom>
          <a:solidFill>
            <a:schemeClr val="accent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24000" rtlCol="0" anchor="ctr"/>
          <a:lstStyle/>
          <a:p>
            <a:pPr algn="ctr"/>
            <a:r>
              <a:rPr lang="de-DE" sz="1100" b="1" dirty="0">
                <a:solidFill>
                  <a:schemeClr val="lt1"/>
                </a:solidFill>
              </a:rPr>
              <a:t>Kaufpreiserlös/Kapitalerhöhung</a:t>
            </a:r>
            <a:endParaRPr lang="en-US" sz="1100" b="1" dirty="0">
              <a:solidFill>
                <a:schemeClr val="lt1"/>
              </a:solidFill>
            </a:endParaRPr>
          </a:p>
        </p:txBody>
      </p:sp>
      <p:sp>
        <p:nvSpPr>
          <p:cNvPr id="89" name="Rectangle 88">
            <a:extLst>
              <a:ext uri="{FF2B5EF4-FFF2-40B4-BE49-F238E27FC236}">
                <a16:creationId xmlns:a16="http://schemas.microsoft.com/office/drawing/2014/main" id="{5104147A-6523-4862-8D00-9058B4275BB4}"/>
              </a:ext>
            </a:extLst>
          </p:cNvPr>
          <p:cNvSpPr/>
          <p:nvPr/>
        </p:nvSpPr>
        <p:spPr>
          <a:xfrm>
            <a:off x="6213802" y="4044039"/>
            <a:ext cx="360000" cy="252000"/>
          </a:xfrm>
          <a:prstGeom prst="rect">
            <a:avLst/>
          </a:prstGeom>
          <a:solidFill>
            <a:schemeClr val="accent6"/>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2</a:t>
            </a:r>
          </a:p>
        </p:txBody>
      </p:sp>
      <p:sp>
        <p:nvSpPr>
          <p:cNvPr id="92" name="Rectangle 91">
            <a:extLst>
              <a:ext uri="{FF2B5EF4-FFF2-40B4-BE49-F238E27FC236}">
                <a16:creationId xmlns:a16="http://schemas.microsoft.com/office/drawing/2014/main" id="{FCD36E35-8061-402F-A838-83FA0FCB99DE}"/>
              </a:ext>
            </a:extLst>
          </p:cNvPr>
          <p:cNvSpPr/>
          <p:nvPr/>
        </p:nvSpPr>
        <p:spPr>
          <a:xfrm>
            <a:off x="387980" y="4044039"/>
            <a:ext cx="4103905" cy="252000"/>
          </a:xfrm>
          <a:prstGeom prst="rect">
            <a:avLst/>
          </a:prstGeom>
          <a:solidFill>
            <a:schemeClr val="accent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24000" rtlCol="0" anchor="ctr"/>
          <a:lstStyle/>
          <a:p>
            <a:pPr algn="ctr"/>
            <a:r>
              <a:rPr lang="de-DE" sz="1100" b="1" dirty="0">
                <a:solidFill>
                  <a:schemeClr val="lt1"/>
                </a:solidFill>
              </a:rPr>
              <a:t>Reduktion Capex-Bedarf</a:t>
            </a:r>
            <a:endParaRPr lang="en-US" sz="1100" b="1" dirty="0"/>
          </a:p>
        </p:txBody>
      </p:sp>
      <p:sp>
        <p:nvSpPr>
          <p:cNvPr id="93" name="Rectangle 92">
            <a:extLst>
              <a:ext uri="{FF2B5EF4-FFF2-40B4-BE49-F238E27FC236}">
                <a16:creationId xmlns:a16="http://schemas.microsoft.com/office/drawing/2014/main" id="{347E5129-4A18-4112-943C-424714B960F9}"/>
              </a:ext>
            </a:extLst>
          </p:cNvPr>
          <p:cNvSpPr/>
          <p:nvPr/>
        </p:nvSpPr>
        <p:spPr>
          <a:xfrm>
            <a:off x="387982" y="4044039"/>
            <a:ext cx="360000" cy="252000"/>
          </a:xfrm>
          <a:prstGeom prst="rect">
            <a:avLst/>
          </a:prstGeom>
          <a:solidFill>
            <a:schemeClr val="accent6"/>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1</a:t>
            </a:r>
          </a:p>
        </p:txBody>
      </p:sp>
      <p:grpSp>
        <p:nvGrpSpPr>
          <p:cNvPr id="18" name="Group 17">
            <a:extLst>
              <a:ext uri="{FF2B5EF4-FFF2-40B4-BE49-F238E27FC236}">
                <a16:creationId xmlns:a16="http://schemas.microsoft.com/office/drawing/2014/main" id="{A3C1A538-A030-73E1-51A6-E44880FA2497}"/>
              </a:ext>
            </a:extLst>
          </p:cNvPr>
          <p:cNvGrpSpPr>
            <a:grpSpLocks noChangeAspect="1"/>
          </p:cNvGrpSpPr>
          <p:nvPr/>
        </p:nvGrpSpPr>
        <p:grpSpPr>
          <a:xfrm>
            <a:off x="1060083" y="2600893"/>
            <a:ext cx="476658" cy="476658"/>
            <a:chOff x="5225245" y="4195346"/>
            <a:chExt cx="634432" cy="634432"/>
          </a:xfrm>
        </p:grpSpPr>
        <p:pic>
          <p:nvPicPr>
            <p:cNvPr id="13" name="Graphic 12">
              <a:extLst>
                <a:ext uri="{FF2B5EF4-FFF2-40B4-BE49-F238E27FC236}">
                  <a16:creationId xmlns:a16="http://schemas.microsoft.com/office/drawing/2014/main" id="{34A42624-C33F-F31F-9FF1-5A5D4E3CAE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5245" y="4195346"/>
              <a:ext cx="634432" cy="634432"/>
            </a:xfrm>
            <a:prstGeom prst="rect">
              <a:avLst/>
            </a:prstGeom>
          </p:spPr>
        </p:pic>
        <p:pic>
          <p:nvPicPr>
            <p:cNvPr id="17" name="Graphic 16">
              <a:extLst>
                <a:ext uri="{FF2B5EF4-FFF2-40B4-BE49-F238E27FC236}">
                  <a16:creationId xmlns:a16="http://schemas.microsoft.com/office/drawing/2014/main" id="{D7613412-9A81-09E2-4059-19A1C8EA61C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41492" y="4297897"/>
              <a:ext cx="175587" cy="175587"/>
            </a:xfrm>
            <a:prstGeom prst="rect">
              <a:avLst/>
            </a:prstGeom>
          </p:spPr>
        </p:pic>
      </p:grpSp>
      <p:sp>
        <p:nvSpPr>
          <p:cNvPr id="19" name="TextBox 18">
            <a:extLst>
              <a:ext uri="{FF2B5EF4-FFF2-40B4-BE49-F238E27FC236}">
                <a16:creationId xmlns:a16="http://schemas.microsoft.com/office/drawing/2014/main" id="{E5962B9F-1D31-28F4-AB00-6D3F0FD58294}"/>
              </a:ext>
            </a:extLst>
          </p:cNvPr>
          <p:cNvSpPr txBox="1"/>
          <p:nvPr/>
        </p:nvSpPr>
        <p:spPr>
          <a:xfrm>
            <a:off x="629026" y="3081539"/>
            <a:ext cx="1338773" cy="246221"/>
          </a:xfrm>
          <a:prstGeom prst="rect">
            <a:avLst/>
          </a:prstGeom>
          <a:noFill/>
        </p:spPr>
        <p:txBody>
          <a:bodyPr wrap="square" rtlCol="0">
            <a:spAutoFit/>
          </a:bodyPr>
          <a:lstStyle/>
          <a:p>
            <a:pPr algn="ctr"/>
            <a:r>
              <a:rPr lang="de-DE" sz="1000" b="1" dirty="0">
                <a:solidFill>
                  <a:schemeClr val="accent1"/>
                </a:solidFill>
              </a:rPr>
              <a:t>Stadtwerk</a:t>
            </a:r>
          </a:p>
        </p:txBody>
      </p:sp>
      <p:pic>
        <p:nvPicPr>
          <p:cNvPr id="21" name="Graphic 20">
            <a:extLst>
              <a:ext uri="{FF2B5EF4-FFF2-40B4-BE49-F238E27FC236}">
                <a16:creationId xmlns:a16="http://schemas.microsoft.com/office/drawing/2014/main" id="{91B76C7F-AE42-5038-1E11-B7E9F81C85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79802" y="2530951"/>
            <a:ext cx="634431" cy="634431"/>
          </a:xfrm>
          <a:prstGeom prst="rect">
            <a:avLst/>
          </a:prstGeom>
        </p:spPr>
      </p:pic>
      <p:pic>
        <p:nvPicPr>
          <p:cNvPr id="24" name="Graphic 23">
            <a:extLst>
              <a:ext uri="{FF2B5EF4-FFF2-40B4-BE49-F238E27FC236}">
                <a16:creationId xmlns:a16="http://schemas.microsoft.com/office/drawing/2014/main" id="{5813F666-75BF-C3BA-BB98-F3AD35F06E7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62870" y="1792014"/>
            <a:ext cx="767661" cy="767661"/>
          </a:xfrm>
          <a:prstGeom prst="rect">
            <a:avLst/>
          </a:prstGeom>
        </p:spPr>
      </p:pic>
      <p:sp>
        <p:nvSpPr>
          <p:cNvPr id="31" name="Graphic 28">
            <a:extLst>
              <a:ext uri="{FF2B5EF4-FFF2-40B4-BE49-F238E27FC236}">
                <a16:creationId xmlns:a16="http://schemas.microsoft.com/office/drawing/2014/main" id="{43403EB1-46E9-46B8-CF3B-5B4374FF8C46}"/>
              </a:ext>
            </a:extLst>
          </p:cNvPr>
          <p:cNvSpPr>
            <a:spLocks noChangeAspect="1"/>
          </p:cNvSpPr>
          <p:nvPr/>
        </p:nvSpPr>
        <p:spPr>
          <a:xfrm>
            <a:off x="7362775" y="2141702"/>
            <a:ext cx="540622" cy="539608"/>
          </a:xfrm>
          <a:custGeom>
            <a:avLst/>
            <a:gdLst>
              <a:gd name="connsiteX0" fmla="*/ 345197 w 654152"/>
              <a:gd name="connsiteY0" fmla="*/ 306868 h 652926"/>
              <a:gd name="connsiteX1" fmla="*/ 618560 w 654152"/>
              <a:gd name="connsiteY1" fmla="*/ 306868 h 652926"/>
              <a:gd name="connsiteX2" fmla="*/ 625225 w 654152"/>
              <a:gd name="connsiteY2" fmla="*/ 313331 h 652926"/>
              <a:gd name="connsiteX3" fmla="*/ 654117 w 654152"/>
              <a:gd name="connsiteY3" fmla="*/ 591397 h 652926"/>
              <a:gd name="connsiteX4" fmla="*/ 647493 w 654152"/>
              <a:gd name="connsiteY4" fmla="*/ 598737 h 652926"/>
              <a:gd name="connsiteX5" fmla="*/ 647493 w 654152"/>
              <a:gd name="connsiteY5" fmla="*/ 598748 h 652926"/>
              <a:gd name="connsiteX6" fmla="*/ 533152 w 654152"/>
              <a:gd name="connsiteY6" fmla="*/ 598748 h 652926"/>
              <a:gd name="connsiteX7" fmla="*/ 533152 w 654152"/>
              <a:gd name="connsiteY7" fmla="*/ 613793 h 652926"/>
              <a:gd name="connsiteX8" fmla="*/ 551471 w 654152"/>
              <a:gd name="connsiteY8" fmla="*/ 617916 h 652926"/>
              <a:gd name="connsiteX9" fmla="*/ 551485 w 654152"/>
              <a:gd name="connsiteY9" fmla="*/ 617905 h 652926"/>
              <a:gd name="connsiteX10" fmla="*/ 555592 w 654152"/>
              <a:gd name="connsiteY10" fmla="*/ 627797 h 652926"/>
              <a:gd name="connsiteX11" fmla="*/ 555592 w 654152"/>
              <a:gd name="connsiteY11" fmla="*/ 646250 h 652926"/>
              <a:gd name="connsiteX12" fmla="*/ 548911 w 654152"/>
              <a:gd name="connsiteY12" fmla="*/ 652921 h 652926"/>
              <a:gd name="connsiteX13" fmla="*/ 419944 w 654152"/>
              <a:gd name="connsiteY13" fmla="*/ 652921 h 652926"/>
              <a:gd name="connsiteX14" fmla="*/ 413269 w 654152"/>
              <a:gd name="connsiteY14" fmla="*/ 646244 h 652926"/>
              <a:gd name="connsiteX15" fmla="*/ 413269 w 654152"/>
              <a:gd name="connsiteY15" fmla="*/ 627797 h 652926"/>
              <a:gd name="connsiteX16" fmla="*/ 427270 w 654152"/>
              <a:gd name="connsiteY16" fmla="*/ 613793 h 652926"/>
              <a:gd name="connsiteX17" fmla="*/ 435703 w 654152"/>
              <a:gd name="connsiteY17" fmla="*/ 613793 h 652926"/>
              <a:gd name="connsiteX18" fmla="*/ 435703 w 654152"/>
              <a:gd name="connsiteY18" fmla="*/ 598748 h 652926"/>
              <a:gd name="connsiteX19" fmla="*/ 316262 w 654152"/>
              <a:gd name="connsiteY19" fmla="*/ 598748 h 652926"/>
              <a:gd name="connsiteX20" fmla="*/ 309689 w 654152"/>
              <a:gd name="connsiteY20" fmla="*/ 590886 h 652926"/>
              <a:gd name="connsiteX21" fmla="*/ 338572 w 654152"/>
              <a:gd name="connsiteY21" fmla="*/ 312861 h 652926"/>
              <a:gd name="connsiteX22" fmla="*/ 345194 w 654152"/>
              <a:gd name="connsiteY22" fmla="*/ 306877 h 652926"/>
              <a:gd name="connsiteX23" fmla="*/ 102604 w 654152"/>
              <a:gd name="connsiteY23" fmla="*/ 613799 h 652926"/>
              <a:gd name="connsiteX24" fmla="*/ 88604 w 654152"/>
              <a:gd name="connsiteY24" fmla="*/ 627797 h 652926"/>
              <a:gd name="connsiteX25" fmla="*/ 88604 w 654152"/>
              <a:gd name="connsiteY25" fmla="*/ 646250 h 652926"/>
              <a:gd name="connsiteX26" fmla="*/ 95279 w 654152"/>
              <a:gd name="connsiteY26" fmla="*/ 652926 h 652926"/>
              <a:gd name="connsiteX27" fmla="*/ 186491 w 654152"/>
              <a:gd name="connsiteY27" fmla="*/ 652926 h 652926"/>
              <a:gd name="connsiteX28" fmla="*/ 193165 w 654152"/>
              <a:gd name="connsiteY28" fmla="*/ 646250 h 652926"/>
              <a:gd name="connsiteX29" fmla="*/ 193165 w 654152"/>
              <a:gd name="connsiteY29" fmla="*/ 627797 h 652926"/>
              <a:gd name="connsiteX30" fmla="*/ 189058 w 654152"/>
              <a:gd name="connsiteY30" fmla="*/ 617905 h 652926"/>
              <a:gd name="connsiteX31" fmla="*/ 189044 w 654152"/>
              <a:gd name="connsiteY31" fmla="*/ 617922 h 652926"/>
              <a:gd name="connsiteX32" fmla="*/ 172711 w 654152"/>
              <a:gd name="connsiteY32" fmla="*/ 613799 h 652926"/>
              <a:gd name="connsiteX33" fmla="*/ 162926 w 654152"/>
              <a:gd name="connsiteY33" fmla="*/ 239675 h 652926"/>
              <a:gd name="connsiteX34" fmla="*/ 164308 w 654152"/>
              <a:gd name="connsiteY34" fmla="*/ 238359 h 652926"/>
              <a:gd name="connsiteX35" fmla="*/ 219926 w 654152"/>
              <a:gd name="connsiteY35" fmla="*/ 256628 h 652926"/>
              <a:gd name="connsiteX36" fmla="*/ 222712 w 654152"/>
              <a:gd name="connsiteY36" fmla="*/ 257021 h 652926"/>
              <a:gd name="connsiteX37" fmla="*/ 366055 w 654152"/>
              <a:gd name="connsiteY37" fmla="*/ 246669 h 652926"/>
              <a:gd name="connsiteX38" fmla="*/ 367959 w 654152"/>
              <a:gd name="connsiteY38" fmla="*/ 226380 h 652926"/>
              <a:gd name="connsiteX39" fmla="*/ 229070 w 654152"/>
              <a:gd name="connsiteY39" fmla="*/ 189474 h 652926"/>
              <a:gd name="connsiteX40" fmla="*/ 229070 w 654152"/>
              <a:gd name="connsiteY40" fmla="*/ 189480 h 652926"/>
              <a:gd name="connsiteX41" fmla="*/ 226519 w 654152"/>
              <a:gd name="connsiteY41" fmla="*/ 189321 h 652926"/>
              <a:gd name="connsiteX42" fmla="*/ 168223 w 654152"/>
              <a:gd name="connsiteY42" fmla="*/ 196925 h 652926"/>
              <a:gd name="connsiteX43" fmla="*/ 149213 w 654152"/>
              <a:gd name="connsiteY43" fmla="*/ 183417 h 652926"/>
              <a:gd name="connsiteX44" fmla="*/ 137175 w 654152"/>
              <a:gd name="connsiteY44" fmla="*/ 125885 h 652926"/>
              <a:gd name="connsiteX45" fmla="*/ 137168 w 654152"/>
              <a:gd name="connsiteY45" fmla="*/ 125885 h 652926"/>
              <a:gd name="connsiteX46" fmla="*/ 136165 w 654152"/>
              <a:gd name="connsiteY46" fmla="*/ 123509 h 652926"/>
              <a:gd name="connsiteX47" fmla="*/ 55502 w 654152"/>
              <a:gd name="connsiteY47" fmla="*/ 4550 h 652926"/>
              <a:gd name="connsiteX48" fmla="*/ 36987 w 654152"/>
              <a:gd name="connsiteY48" fmla="*/ 13013 h 652926"/>
              <a:gd name="connsiteX49" fmla="*/ 74469 w 654152"/>
              <a:gd name="connsiteY49" fmla="*/ 151750 h 652926"/>
              <a:gd name="connsiteX50" fmla="*/ 74475 w 654152"/>
              <a:gd name="connsiteY50" fmla="*/ 151750 h 652926"/>
              <a:gd name="connsiteX51" fmla="*/ 75615 w 654152"/>
              <a:gd name="connsiteY51" fmla="*/ 154069 h 652926"/>
              <a:gd name="connsiteX52" fmla="*/ 111345 w 654152"/>
              <a:gd name="connsiteY52" fmla="*/ 200753 h 652926"/>
              <a:gd name="connsiteX53" fmla="*/ 110909 w 654152"/>
              <a:gd name="connsiteY53" fmla="*/ 201692 h 652926"/>
              <a:gd name="connsiteX54" fmla="*/ 109178 w 654152"/>
              <a:gd name="connsiteY54" fmla="*/ 223972 h 652926"/>
              <a:gd name="connsiteX55" fmla="*/ 65664 w 654152"/>
              <a:gd name="connsiteY55" fmla="*/ 262901 h 652926"/>
              <a:gd name="connsiteX56" fmla="*/ 63796 w 654152"/>
              <a:gd name="connsiteY56" fmla="*/ 265234 h 652926"/>
              <a:gd name="connsiteX57" fmla="*/ 1092 w 654152"/>
              <a:gd name="connsiteY57" fmla="*/ 394550 h 652926"/>
              <a:gd name="connsiteX58" fmla="*/ 17710 w 654152"/>
              <a:gd name="connsiteY58" fmla="*/ 406326 h 652926"/>
              <a:gd name="connsiteX59" fmla="*/ 117000 w 654152"/>
              <a:gd name="connsiteY59" fmla="*/ 306618 h 652926"/>
              <a:gd name="connsiteX60" fmla="*/ 109069 w 654152"/>
              <a:gd name="connsiteY60" fmla="*/ 613799 h 652926"/>
              <a:gd name="connsiteX61" fmla="*/ 122364 w 654152"/>
              <a:gd name="connsiteY61" fmla="*/ 613799 h 652926"/>
              <a:gd name="connsiteX62" fmla="*/ 131028 w 654152"/>
              <a:gd name="connsiteY62" fmla="*/ 277127 h 652926"/>
              <a:gd name="connsiteX63" fmla="*/ 143103 w 654152"/>
              <a:gd name="connsiteY63" fmla="*/ 248072 h 652926"/>
              <a:gd name="connsiteX64" fmla="*/ 149798 w 654152"/>
              <a:gd name="connsiteY64" fmla="*/ 246909 h 652926"/>
              <a:gd name="connsiteX65" fmla="*/ 159393 w 654152"/>
              <a:gd name="connsiteY65" fmla="*/ 613811 h 652926"/>
              <a:gd name="connsiteX66" fmla="*/ 122364 w 654152"/>
              <a:gd name="connsiteY66" fmla="*/ 613811 h 652926"/>
              <a:gd name="connsiteX67" fmla="*/ 179162 w 654152"/>
              <a:gd name="connsiteY67" fmla="*/ 627158 h 652926"/>
              <a:gd name="connsiteX68" fmla="*/ 179628 w 654152"/>
              <a:gd name="connsiteY68" fmla="*/ 627338 h 652926"/>
              <a:gd name="connsiteX69" fmla="*/ 179614 w 654152"/>
              <a:gd name="connsiteY69" fmla="*/ 627349 h 652926"/>
              <a:gd name="connsiteX70" fmla="*/ 179809 w 654152"/>
              <a:gd name="connsiteY70" fmla="*/ 639585 h 652926"/>
              <a:gd name="connsiteX71" fmla="*/ 101950 w 654152"/>
              <a:gd name="connsiteY71" fmla="*/ 639585 h 652926"/>
              <a:gd name="connsiteX72" fmla="*/ 102145 w 654152"/>
              <a:gd name="connsiteY72" fmla="*/ 627349 h 652926"/>
              <a:gd name="connsiteX73" fmla="*/ 115528 w 654152"/>
              <a:gd name="connsiteY73" fmla="*/ 627158 h 652926"/>
              <a:gd name="connsiteX74" fmla="*/ 138925 w 654152"/>
              <a:gd name="connsiteY74" fmla="*/ 234734 h 652926"/>
              <a:gd name="connsiteX75" fmla="*/ 122446 w 654152"/>
              <a:gd name="connsiteY75" fmla="*/ 221860 h 652926"/>
              <a:gd name="connsiteX76" fmla="*/ 142685 w 654152"/>
              <a:gd name="connsiteY76" fmla="*/ 195733 h 652926"/>
              <a:gd name="connsiteX77" fmla="*/ 152433 w 654152"/>
              <a:gd name="connsiteY77" fmla="*/ 231070 h 652926"/>
              <a:gd name="connsiteX78" fmla="*/ 138925 w 654152"/>
              <a:gd name="connsiteY78" fmla="*/ 234734 h 652926"/>
              <a:gd name="connsiteX79" fmla="*/ 115487 w 654152"/>
              <a:gd name="connsiteY79" fmla="*/ 236161 h 652926"/>
              <a:gd name="connsiteX80" fmla="*/ 129488 w 654152"/>
              <a:gd name="connsiteY80" fmla="*/ 246113 h 652926"/>
              <a:gd name="connsiteX81" fmla="*/ 108733 w 654152"/>
              <a:gd name="connsiteY81" fmla="*/ 296048 h 652926"/>
              <a:gd name="connsiteX82" fmla="*/ 20865 w 654152"/>
              <a:gd name="connsiteY82" fmla="*/ 384276 h 652926"/>
              <a:gd name="connsiteX83" fmla="*/ 75218 w 654152"/>
              <a:gd name="connsiteY83" fmla="*/ 272186 h 652926"/>
              <a:gd name="connsiteX84" fmla="*/ 171701 w 654152"/>
              <a:gd name="connsiteY84" fmla="*/ 226767 h 652926"/>
              <a:gd name="connsiteX85" fmla="*/ 173300 w 654152"/>
              <a:gd name="connsiteY85" fmla="*/ 209671 h 652926"/>
              <a:gd name="connsiteX86" fmla="*/ 226899 w 654152"/>
              <a:gd name="connsiteY86" fmla="*/ 202679 h 652926"/>
              <a:gd name="connsiteX87" fmla="*/ 347254 w 654152"/>
              <a:gd name="connsiteY87" fmla="*/ 234664 h 652926"/>
              <a:gd name="connsiteX88" fmla="*/ 223055 w 654152"/>
              <a:gd name="connsiteY88" fmla="*/ 243636 h 652926"/>
              <a:gd name="connsiteX89" fmla="*/ 135456 w 654152"/>
              <a:gd name="connsiteY89" fmla="*/ 182802 h 652926"/>
              <a:gd name="connsiteX90" fmla="*/ 119849 w 654152"/>
              <a:gd name="connsiteY90" fmla="*/ 189949 h 652926"/>
              <a:gd name="connsiteX91" fmla="*/ 87004 w 654152"/>
              <a:gd name="connsiteY91" fmla="*/ 147036 h 652926"/>
              <a:gd name="connsiteX92" fmla="*/ 54509 w 654152"/>
              <a:gd name="connsiteY92" fmla="*/ 26775 h 652926"/>
              <a:gd name="connsiteX93" fmla="*/ 124378 w 654152"/>
              <a:gd name="connsiteY93" fmla="*/ 129851 h 652926"/>
              <a:gd name="connsiteX94" fmla="*/ 473221 w 654152"/>
              <a:gd name="connsiteY94" fmla="*/ 63937 h 652926"/>
              <a:gd name="connsiteX95" fmla="*/ 461699 w 654152"/>
              <a:gd name="connsiteY95" fmla="*/ 70559 h 652926"/>
              <a:gd name="connsiteX96" fmla="*/ 450752 w 654152"/>
              <a:gd name="connsiteY96" fmla="*/ 51599 h 652926"/>
              <a:gd name="connsiteX97" fmla="*/ 453201 w 654152"/>
              <a:gd name="connsiteY97" fmla="*/ 42526 h 652926"/>
              <a:gd name="connsiteX98" fmla="*/ 462274 w 654152"/>
              <a:gd name="connsiteY98" fmla="*/ 44975 h 652926"/>
              <a:gd name="connsiteX99" fmla="*/ 442993 w 654152"/>
              <a:gd name="connsiteY99" fmla="*/ 89294 h 652926"/>
              <a:gd name="connsiteX100" fmla="*/ 424033 w 654152"/>
              <a:gd name="connsiteY100" fmla="*/ 78347 h 652926"/>
              <a:gd name="connsiteX101" fmla="*/ 417358 w 654152"/>
              <a:gd name="connsiteY101" fmla="*/ 89869 h 652926"/>
              <a:gd name="connsiteX102" fmla="*/ 436319 w 654152"/>
              <a:gd name="connsiteY102" fmla="*/ 100816 h 652926"/>
              <a:gd name="connsiteX103" fmla="*/ 442993 w 654152"/>
              <a:gd name="connsiteY103" fmla="*/ 89294 h 652926"/>
              <a:gd name="connsiteX104" fmla="*/ 429479 w 654152"/>
              <a:gd name="connsiteY104" fmla="*/ 126356 h 652926"/>
              <a:gd name="connsiteX105" fmla="*/ 429479 w 654152"/>
              <a:gd name="connsiteY105" fmla="*/ 139702 h 652926"/>
              <a:gd name="connsiteX106" fmla="*/ 407591 w 654152"/>
              <a:gd name="connsiteY106" fmla="*/ 139702 h 652926"/>
              <a:gd name="connsiteX107" fmla="*/ 407591 w 654152"/>
              <a:gd name="connsiteY107" fmla="*/ 126356 h 652926"/>
              <a:gd name="connsiteX108" fmla="*/ 436342 w 654152"/>
              <a:gd name="connsiteY108" fmla="*/ 165247 h 652926"/>
              <a:gd name="connsiteX109" fmla="*/ 442964 w 654152"/>
              <a:gd name="connsiteY109" fmla="*/ 176769 h 652926"/>
              <a:gd name="connsiteX110" fmla="*/ 424004 w 654152"/>
              <a:gd name="connsiteY110" fmla="*/ 187717 h 652926"/>
              <a:gd name="connsiteX111" fmla="*/ 414930 w 654152"/>
              <a:gd name="connsiteY111" fmla="*/ 185268 h 652926"/>
              <a:gd name="connsiteX112" fmla="*/ 417379 w 654152"/>
              <a:gd name="connsiteY112" fmla="*/ 176194 h 652926"/>
              <a:gd name="connsiteX113" fmla="*/ 461699 w 654152"/>
              <a:gd name="connsiteY113" fmla="*/ 195502 h 652926"/>
              <a:gd name="connsiteX114" fmla="*/ 470773 w 654152"/>
              <a:gd name="connsiteY114" fmla="*/ 193053 h 652926"/>
              <a:gd name="connsiteX115" fmla="*/ 473222 w 654152"/>
              <a:gd name="connsiteY115" fmla="*/ 202127 h 652926"/>
              <a:gd name="connsiteX116" fmla="*/ 462274 w 654152"/>
              <a:gd name="connsiteY116" fmla="*/ 221087 h 652926"/>
              <a:gd name="connsiteX117" fmla="*/ 453201 w 654152"/>
              <a:gd name="connsiteY117" fmla="*/ 223536 h 652926"/>
              <a:gd name="connsiteX118" fmla="*/ 450752 w 654152"/>
              <a:gd name="connsiteY118" fmla="*/ 214462 h 652926"/>
              <a:gd name="connsiteX119" fmla="*/ 498767 w 654152"/>
              <a:gd name="connsiteY119" fmla="*/ 208987 h 652926"/>
              <a:gd name="connsiteX120" fmla="*/ 512113 w 654152"/>
              <a:gd name="connsiteY120" fmla="*/ 208987 h 652926"/>
              <a:gd name="connsiteX121" fmla="*/ 512113 w 654152"/>
              <a:gd name="connsiteY121" fmla="*/ 230876 h 652926"/>
              <a:gd name="connsiteX122" fmla="*/ 498767 w 654152"/>
              <a:gd name="connsiteY122" fmla="*/ 230876 h 652926"/>
              <a:gd name="connsiteX123" fmla="*/ 537649 w 654152"/>
              <a:gd name="connsiteY123" fmla="*/ 202154 h 652926"/>
              <a:gd name="connsiteX124" fmla="*/ 549171 w 654152"/>
              <a:gd name="connsiteY124" fmla="*/ 195479 h 652926"/>
              <a:gd name="connsiteX125" fmla="*/ 560119 w 654152"/>
              <a:gd name="connsiteY125" fmla="*/ 214439 h 652926"/>
              <a:gd name="connsiteX126" fmla="*/ 548597 w 654152"/>
              <a:gd name="connsiteY126" fmla="*/ 221114 h 652926"/>
              <a:gd name="connsiteX127" fmla="*/ 567906 w 654152"/>
              <a:gd name="connsiteY127" fmla="*/ 176770 h 652926"/>
              <a:gd name="connsiteX128" fmla="*/ 586865 w 654152"/>
              <a:gd name="connsiteY128" fmla="*/ 187717 h 652926"/>
              <a:gd name="connsiteX129" fmla="*/ 595937 w 654152"/>
              <a:gd name="connsiteY129" fmla="*/ 185268 h 652926"/>
              <a:gd name="connsiteX130" fmla="*/ 593489 w 654152"/>
              <a:gd name="connsiteY130" fmla="*/ 176195 h 652926"/>
              <a:gd name="connsiteX131" fmla="*/ 574530 w 654152"/>
              <a:gd name="connsiteY131" fmla="*/ 165247 h 652926"/>
              <a:gd name="connsiteX132" fmla="*/ 565458 w 654152"/>
              <a:gd name="connsiteY132" fmla="*/ 167696 h 652926"/>
              <a:gd name="connsiteX133" fmla="*/ 567906 w 654152"/>
              <a:gd name="connsiteY133" fmla="*/ 176770 h 652926"/>
              <a:gd name="connsiteX134" fmla="*/ 581393 w 654152"/>
              <a:gd name="connsiteY134" fmla="*/ 139709 h 652926"/>
              <a:gd name="connsiteX135" fmla="*/ 581393 w 654152"/>
              <a:gd name="connsiteY135" fmla="*/ 126363 h 652926"/>
              <a:gd name="connsiteX136" fmla="*/ 603283 w 654152"/>
              <a:gd name="connsiteY136" fmla="*/ 126363 h 652926"/>
              <a:gd name="connsiteX137" fmla="*/ 603283 w 654152"/>
              <a:gd name="connsiteY137" fmla="*/ 139709 h 652926"/>
              <a:gd name="connsiteX138" fmla="*/ 574559 w 654152"/>
              <a:gd name="connsiteY138" fmla="*/ 100817 h 652926"/>
              <a:gd name="connsiteX139" fmla="*/ 567883 w 654152"/>
              <a:gd name="connsiteY139" fmla="*/ 89295 h 652926"/>
              <a:gd name="connsiteX140" fmla="*/ 586842 w 654152"/>
              <a:gd name="connsiteY140" fmla="*/ 78348 h 652926"/>
              <a:gd name="connsiteX141" fmla="*/ 593518 w 654152"/>
              <a:gd name="connsiteY141" fmla="*/ 89870 h 652926"/>
              <a:gd name="connsiteX142" fmla="*/ 549180 w 654152"/>
              <a:gd name="connsiteY142" fmla="*/ 70589 h 652926"/>
              <a:gd name="connsiteX143" fmla="*/ 560125 w 654152"/>
              <a:gd name="connsiteY143" fmla="*/ 51629 h 652926"/>
              <a:gd name="connsiteX144" fmla="*/ 548606 w 654152"/>
              <a:gd name="connsiteY144" fmla="*/ 44954 h 652926"/>
              <a:gd name="connsiteX145" fmla="*/ 537659 w 654152"/>
              <a:gd name="connsiteY145" fmla="*/ 63914 h 652926"/>
              <a:gd name="connsiteX146" fmla="*/ 549180 w 654152"/>
              <a:gd name="connsiteY146" fmla="*/ 70589 h 652926"/>
              <a:gd name="connsiteX147" fmla="*/ 512113 w 654152"/>
              <a:gd name="connsiteY147" fmla="*/ 57077 h 652926"/>
              <a:gd name="connsiteX148" fmla="*/ 498767 w 654152"/>
              <a:gd name="connsiteY148" fmla="*/ 57077 h 652926"/>
              <a:gd name="connsiteX149" fmla="*/ 498767 w 654152"/>
              <a:gd name="connsiteY149" fmla="*/ 35186 h 652926"/>
              <a:gd name="connsiteX150" fmla="*/ 512113 w 654152"/>
              <a:gd name="connsiteY150" fmla="*/ 35186 h 652926"/>
              <a:gd name="connsiteX151" fmla="*/ 505438 w 654152"/>
              <a:gd name="connsiteY151" fmla="*/ 75119 h 652926"/>
              <a:gd name="connsiteX152" fmla="*/ 447530 w 654152"/>
              <a:gd name="connsiteY152" fmla="*/ 133027 h 652926"/>
              <a:gd name="connsiteX153" fmla="*/ 505438 w 654152"/>
              <a:gd name="connsiteY153" fmla="*/ 190936 h 652926"/>
              <a:gd name="connsiteX154" fmla="*/ 563347 w 654152"/>
              <a:gd name="connsiteY154" fmla="*/ 133027 h 652926"/>
              <a:gd name="connsiteX155" fmla="*/ 505438 w 654152"/>
              <a:gd name="connsiteY155" fmla="*/ 75119 h 652926"/>
              <a:gd name="connsiteX156" fmla="*/ 536945 w 654152"/>
              <a:gd name="connsiteY156" fmla="*/ 101521 h 652926"/>
              <a:gd name="connsiteX157" fmla="*/ 536945 w 654152"/>
              <a:gd name="connsiteY157" fmla="*/ 164539 h 652926"/>
              <a:gd name="connsiteX158" fmla="*/ 473927 w 654152"/>
              <a:gd name="connsiteY158" fmla="*/ 164539 h 652926"/>
              <a:gd name="connsiteX159" fmla="*/ 473927 w 654152"/>
              <a:gd name="connsiteY159" fmla="*/ 101521 h 652926"/>
              <a:gd name="connsiteX160" fmla="*/ 536945 w 654152"/>
              <a:gd name="connsiteY160" fmla="*/ 101521 h 652926"/>
              <a:gd name="connsiteX161" fmla="*/ 526477 w 654152"/>
              <a:gd name="connsiteY161" fmla="*/ 627152 h 652926"/>
              <a:gd name="connsiteX162" fmla="*/ 426914 w 654152"/>
              <a:gd name="connsiteY162" fmla="*/ 627239 h 652926"/>
              <a:gd name="connsiteX163" fmla="*/ 426616 w 654152"/>
              <a:gd name="connsiteY163" fmla="*/ 627797 h 652926"/>
              <a:gd name="connsiteX164" fmla="*/ 426616 w 654152"/>
              <a:gd name="connsiteY164" fmla="*/ 639574 h 652926"/>
              <a:gd name="connsiteX165" fmla="*/ 542236 w 654152"/>
              <a:gd name="connsiteY165" fmla="*/ 639574 h 652926"/>
              <a:gd name="connsiteX166" fmla="*/ 542041 w 654152"/>
              <a:gd name="connsiteY166" fmla="*/ 627338 h 652926"/>
              <a:gd name="connsiteX167" fmla="*/ 542055 w 654152"/>
              <a:gd name="connsiteY167" fmla="*/ 627326 h 652926"/>
              <a:gd name="connsiteX168" fmla="*/ 526475 w 654152"/>
              <a:gd name="connsiteY168" fmla="*/ 627152 h 652926"/>
              <a:gd name="connsiteX169" fmla="*/ 519802 w 654152"/>
              <a:gd name="connsiteY169" fmla="*/ 598760 h 652926"/>
              <a:gd name="connsiteX170" fmla="*/ 449055 w 654152"/>
              <a:gd name="connsiteY170" fmla="*/ 598760 h 652926"/>
              <a:gd name="connsiteX171" fmla="*/ 449055 w 654152"/>
              <a:gd name="connsiteY171" fmla="*/ 613805 h 652926"/>
              <a:gd name="connsiteX172" fmla="*/ 519802 w 654152"/>
              <a:gd name="connsiteY172" fmla="*/ 613805 h 652926"/>
              <a:gd name="connsiteX173" fmla="*/ 341170 w 654152"/>
              <a:gd name="connsiteY173" fmla="*/ 510732 h 652926"/>
              <a:gd name="connsiteX174" fmla="*/ 335238 w 654152"/>
              <a:gd name="connsiteY174" fmla="*/ 567879 h 652926"/>
              <a:gd name="connsiteX175" fmla="*/ 341811 w 654152"/>
              <a:gd name="connsiteY175" fmla="*/ 575736 h 652926"/>
              <a:gd name="connsiteX176" fmla="*/ 621968 w 654152"/>
              <a:gd name="connsiteY176" fmla="*/ 575736 h 652926"/>
              <a:gd name="connsiteX177" fmla="*/ 621968 w 654152"/>
              <a:gd name="connsiteY177" fmla="*/ 575713 h 652926"/>
              <a:gd name="connsiteX178" fmla="*/ 628586 w 654152"/>
              <a:gd name="connsiteY178" fmla="*/ 568379 h 652926"/>
              <a:gd name="connsiteX179" fmla="*/ 616565 w 654152"/>
              <a:gd name="connsiteY179" fmla="*/ 452606 h 652926"/>
              <a:gd name="connsiteX180" fmla="*/ 616461 w 654152"/>
              <a:gd name="connsiteY180" fmla="*/ 451625 h 652926"/>
              <a:gd name="connsiteX181" fmla="*/ 604481 w 654152"/>
              <a:gd name="connsiteY181" fmla="*/ 336353 h 652926"/>
              <a:gd name="connsiteX182" fmla="*/ 597804 w 654152"/>
              <a:gd name="connsiteY182" fmla="*/ 329891 h 652926"/>
              <a:gd name="connsiteX183" fmla="*/ 365949 w 654152"/>
              <a:gd name="connsiteY183" fmla="*/ 329891 h 652926"/>
              <a:gd name="connsiteX184" fmla="*/ 365949 w 654152"/>
              <a:gd name="connsiteY184" fmla="*/ 329904 h 652926"/>
              <a:gd name="connsiteX185" fmla="*/ 359327 w 654152"/>
              <a:gd name="connsiteY185" fmla="*/ 335888 h 652926"/>
              <a:gd name="connsiteX186" fmla="*/ 353336 w 654152"/>
              <a:gd name="connsiteY186" fmla="*/ 393512 h 652926"/>
              <a:gd name="connsiteX187" fmla="*/ 353234 w 654152"/>
              <a:gd name="connsiteY187" fmla="*/ 394464 h 652926"/>
              <a:gd name="connsiteX188" fmla="*/ 347295 w 654152"/>
              <a:gd name="connsiteY188" fmla="*/ 451632 h 652926"/>
              <a:gd name="connsiteX189" fmla="*/ 347194 w 654152"/>
              <a:gd name="connsiteY189" fmla="*/ 452600 h 652926"/>
              <a:gd name="connsiteX190" fmla="*/ 341255 w 654152"/>
              <a:gd name="connsiteY190" fmla="*/ 509752 h 652926"/>
              <a:gd name="connsiteX191" fmla="*/ 341169 w 654152"/>
              <a:gd name="connsiteY191" fmla="*/ 510735 h 652926"/>
              <a:gd name="connsiteX192" fmla="*/ 355230 w 654152"/>
              <a:gd name="connsiteY192" fmla="*/ 504262 h 652926"/>
              <a:gd name="connsiteX193" fmla="*/ 408545 w 654152"/>
              <a:gd name="connsiteY193" fmla="*/ 504262 h 652926"/>
              <a:gd name="connsiteX194" fmla="*/ 410871 w 654152"/>
              <a:gd name="connsiteY194" fmla="*/ 459489 h 652926"/>
              <a:gd name="connsiteX195" fmla="*/ 359882 w 654152"/>
              <a:gd name="connsiteY195" fmla="*/ 459489 h 652926"/>
              <a:gd name="connsiteX196" fmla="*/ 421877 w 654152"/>
              <a:gd name="connsiteY196" fmla="*/ 504262 h 652926"/>
              <a:gd name="connsiteX197" fmla="*/ 475205 w 654152"/>
              <a:gd name="connsiteY197" fmla="*/ 504262 h 652926"/>
              <a:gd name="connsiteX198" fmla="*/ 475205 w 654152"/>
              <a:gd name="connsiteY198" fmla="*/ 459489 h 652926"/>
              <a:gd name="connsiteX199" fmla="*/ 424196 w 654152"/>
              <a:gd name="connsiteY199" fmla="*/ 459489 h 652926"/>
              <a:gd name="connsiteX200" fmla="*/ 488553 w 654152"/>
              <a:gd name="connsiteY200" fmla="*/ 504262 h 652926"/>
              <a:gd name="connsiteX201" fmla="*/ 541881 w 654152"/>
              <a:gd name="connsiteY201" fmla="*/ 504262 h 652926"/>
              <a:gd name="connsiteX202" fmla="*/ 539555 w 654152"/>
              <a:gd name="connsiteY202" fmla="*/ 459489 h 652926"/>
              <a:gd name="connsiteX203" fmla="*/ 488546 w 654152"/>
              <a:gd name="connsiteY203" fmla="*/ 459489 h 652926"/>
              <a:gd name="connsiteX204" fmla="*/ 488543 w 654152"/>
              <a:gd name="connsiteY204" fmla="*/ 504262 h 652926"/>
              <a:gd name="connsiteX205" fmla="*/ 555223 w 654152"/>
              <a:gd name="connsiteY205" fmla="*/ 504262 h 652926"/>
              <a:gd name="connsiteX206" fmla="*/ 608540 w 654152"/>
              <a:gd name="connsiteY206" fmla="*/ 504262 h 652926"/>
              <a:gd name="connsiteX207" fmla="*/ 603887 w 654152"/>
              <a:gd name="connsiteY207" fmla="*/ 459489 h 652926"/>
              <a:gd name="connsiteX208" fmla="*/ 552897 w 654152"/>
              <a:gd name="connsiteY208" fmla="*/ 459489 h 652926"/>
              <a:gd name="connsiteX209" fmla="*/ 609924 w 654152"/>
              <a:gd name="connsiteY209" fmla="*/ 517608 h 652926"/>
              <a:gd name="connsiteX210" fmla="*/ 555920 w 654152"/>
              <a:gd name="connsiteY210" fmla="*/ 517608 h 652926"/>
              <a:gd name="connsiteX211" fmla="*/ 558246 w 654152"/>
              <a:gd name="connsiteY211" fmla="*/ 562383 h 652926"/>
              <a:gd name="connsiteX212" fmla="*/ 614576 w 654152"/>
              <a:gd name="connsiteY212" fmla="*/ 562383 h 652926"/>
              <a:gd name="connsiteX213" fmla="*/ 542581 w 654152"/>
              <a:gd name="connsiteY213" fmla="*/ 517608 h 652926"/>
              <a:gd name="connsiteX214" fmla="*/ 488555 w 654152"/>
              <a:gd name="connsiteY214" fmla="*/ 517608 h 652926"/>
              <a:gd name="connsiteX215" fmla="*/ 488555 w 654152"/>
              <a:gd name="connsiteY215" fmla="*/ 562383 h 652926"/>
              <a:gd name="connsiteX216" fmla="*/ 544907 w 654152"/>
              <a:gd name="connsiteY216" fmla="*/ 562383 h 652926"/>
              <a:gd name="connsiteX217" fmla="*/ 475207 w 654152"/>
              <a:gd name="connsiteY217" fmla="*/ 517608 h 652926"/>
              <a:gd name="connsiteX218" fmla="*/ 421181 w 654152"/>
              <a:gd name="connsiteY218" fmla="*/ 517608 h 652926"/>
              <a:gd name="connsiteX219" fmla="*/ 418855 w 654152"/>
              <a:gd name="connsiteY219" fmla="*/ 562383 h 652926"/>
              <a:gd name="connsiteX220" fmla="*/ 475207 w 654152"/>
              <a:gd name="connsiteY220" fmla="*/ 562383 h 652926"/>
              <a:gd name="connsiteX221" fmla="*/ 407851 w 654152"/>
              <a:gd name="connsiteY221" fmla="*/ 517608 h 652926"/>
              <a:gd name="connsiteX222" fmla="*/ 353845 w 654152"/>
              <a:gd name="connsiteY222" fmla="*/ 517608 h 652926"/>
              <a:gd name="connsiteX223" fmla="*/ 349192 w 654152"/>
              <a:gd name="connsiteY223" fmla="*/ 562383 h 652926"/>
              <a:gd name="connsiteX224" fmla="*/ 405524 w 654152"/>
              <a:gd name="connsiteY224" fmla="*/ 562383 h 652926"/>
              <a:gd name="connsiteX225" fmla="*/ 367309 w 654152"/>
              <a:gd name="connsiteY225" fmla="*/ 388013 h 652926"/>
              <a:gd name="connsiteX226" fmla="*/ 414591 w 654152"/>
              <a:gd name="connsiteY226" fmla="*/ 388013 h 652926"/>
              <a:gd name="connsiteX227" fmla="*/ 416917 w 654152"/>
              <a:gd name="connsiteY227" fmla="*/ 343240 h 652926"/>
              <a:gd name="connsiteX228" fmla="*/ 371969 w 654152"/>
              <a:gd name="connsiteY228" fmla="*/ 343240 h 652926"/>
              <a:gd name="connsiteX229" fmla="*/ 427914 w 654152"/>
              <a:gd name="connsiteY229" fmla="*/ 388013 h 652926"/>
              <a:gd name="connsiteX230" fmla="*/ 475209 w 654152"/>
              <a:gd name="connsiteY230" fmla="*/ 388013 h 652926"/>
              <a:gd name="connsiteX231" fmla="*/ 475209 w 654152"/>
              <a:gd name="connsiteY231" fmla="*/ 343240 h 652926"/>
              <a:gd name="connsiteX232" fmla="*/ 430240 w 654152"/>
              <a:gd name="connsiteY232" fmla="*/ 343240 h 652926"/>
              <a:gd name="connsiteX233" fmla="*/ 488559 w 654152"/>
              <a:gd name="connsiteY233" fmla="*/ 388013 h 652926"/>
              <a:gd name="connsiteX234" fmla="*/ 535854 w 654152"/>
              <a:gd name="connsiteY234" fmla="*/ 388013 h 652926"/>
              <a:gd name="connsiteX235" fmla="*/ 533528 w 654152"/>
              <a:gd name="connsiteY235" fmla="*/ 343240 h 652926"/>
              <a:gd name="connsiteX236" fmla="*/ 488559 w 654152"/>
              <a:gd name="connsiteY236" fmla="*/ 343240 h 652926"/>
              <a:gd name="connsiteX237" fmla="*/ 549187 w 654152"/>
              <a:gd name="connsiteY237" fmla="*/ 388013 h 652926"/>
              <a:gd name="connsiteX238" fmla="*/ 596461 w 654152"/>
              <a:gd name="connsiteY238" fmla="*/ 388013 h 652926"/>
              <a:gd name="connsiteX239" fmla="*/ 591808 w 654152"/>
              <a:gd name="connsiteY239" fmla="*/ 343240 h 652926"/>
              <a:gd name="connsiteX240" fmla="*/ 546854 w 654152"/>
              <a:gd name="connsiteY240" fmla="*/ 343240 h 652926"/>
              <a:gd name="connsiteX241" fmla="*/ 597845 w 654152"/>
              <a:gd name="connsiteY241" fmla="*/ 401362 h 652926"/>
              <a:gd name="connsiteX242" fmla="*/ 549875 w 654152"/>
              <a:gd name="connsiteY242" fmla="*/ 401362 h 652926"/>
              <a:gd name="connsiteX243" fmla="*/ 552202 w 654152"/>
              <a:gd name="connsiteY243" fmla="*/ 446135 h 652926"/>
              <a:gd name="connsiteX244" fmla="*/ 602497 w 654152"/>
              <a:gd name="connsiteY244" fmla="*/ 446135 h 652926"/>
              <a:gd name="connsiteX245" fmla="*/ 536551 w 654152"/>
              <a:gd name="connsiteY245" fmla="*/ 401362 h 652926"/>
              <a:gd name="connsiteX246" fmla="*/ 488565 w 654152"/>
              <a:gd name="connsiteY246" fmla="*/ 401362 h 652926"/>
              <a:gd name="connsiteX247" fmla="*/ 488565 w 654152"/>
              <a:gd name="connsiteY247" fmla="*/ 446135 h 652926"/>
              <a:gd name="connsiteX248" fmla="*/ 538877 w 654152"/>
              <a:gd name="connsiteY248" fmla="*/ 446135 h 652926"/>
              <a:gd name="connsiteX249" fmla="*/ 475208 w 654152"/>
              <a:gd name="connsiteY249" fmla="*/ 401362 h 652926"/>
              <a:gd name="connsiteX250" fmla="*/ 427222 w 654152"/>
              <a:gd name="connsiteY250" fmla="*/ 401362 h 652926"/>
              <a:gd name="connsiteX251" fmla="*/ 424896 w 654152"/>
              <a:gd name="connsiteY251" fmla="*/ 446135 h 652926"/>
              <a:gd name="connsiteX252" fmla="*/ 475208 w 654152"/>
              <a:gd name="connsiteY252" fmla="*/ 446135 h 652926"/>
              <a:gd name="connsiteX253" fmla="*/ 413888 w 654152"/>
              <a:gd name="connsiteY253" fmla="*/ 401362 h 652926"/>
              <a:gd name="connsiteX254" fmla="*/ 365922 w 654152"/>
              <a:gd name="connsiteY254" fmla="*/ 401362 h 652926"/>
              <a:gd name="connsiteX255" fmla="*/ 361270 w 654152"/>
              <a:gd name="connsiteY255" fmla="*/ 446135 h 652926"/>
              <a:gd name="connsiteX256" fmla="*/ 411568 w 654152"/>
              <a:gd name="connsiteY256" fmla="*/ 446135 h 652926"/>
              <a:gd name="connsiteX257" fmla="*/ 612558 w 654152"/>
              <a:gd name="connsiteY257" fmla="*/ 320216 h 652926"/>
              <a:gd name="connsiteX258" fmla="*/ 351201 w 654152"/>
              <a:gd name="connsiteY258" fmla="*/ 320216 h 652926"/>
              <a:gd name="connsiteX259" fmla="*/ 323650 w 654152"/>
              <a:gd name="connsiteY259" fmla="*/ 585407 h 652926"/>
              <a:gd name="connsiteX260" fmla="*/ 640107 w 654152"/>
              <a:gd name="connsiteY260" fmla="*/ 585407 h 65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654152" h="652926">
                <a:moveTo>
                  <a:pt x="345197" y="306868"/>
                </a:moveTo>
                <a:lnTo>
                  <a:pt x="618560" y="306868"/>
                </a:lnTo>
                <a:cubicBezTo>
                  <a:pt x="622172" y="306868"/>
                  <a:pt x="625114" y="309746"/>
                  <a:pt x="625225" y="313331"/>
                </a:cubicBezTo>
                <a:lnTo>
                  <a:pt x="654117" y="591397"/>
                </a:lnTo>
                <a:cubicBezTo>
                  <a:pt x="654524" y="595311"/>
                  <a:pt x="651413" y="598731"/>
                  <a:pt x="647493" y="598737"/>
                </a:cubicBezTo>
                <a:lnTo>
                  <a:pt x="647493" y="598748"/>
                </a:lnTo>
                <a:lnTo>
                  <a:pt x="533152" y="598748"/>
                </a:lnTo>
                <a:lnTo>
                  <a:pt x="533152" y="613793"/>
                </a:lnTo>
                <a:cubicBezTo>
                  <a:pt x="540253" y="613793"/>
                  <a:pt x="546498" y="612799"/>
                  <a:pt x="551471" y="617916"/>
                </a:cubicBezTo>
                <a:lnTo>
                  <a:pt x="551485" y="617905"/>
                </a:lnTo>
                <a:cubicBezTo>
                  <a:pt x="554023" y="620440"/>
                  <a:pt x="555592" y="623941"/>
                  <a:pt x="555592" y="627797"/>
                </a:cubicBezTo>
                <a:lnTo>
                  <a:pt x="555592" y="646250"/>
                </a:lnTo>
                <a:cubicBezTo>
                  <a:pt x="555592" y="649931"/>
                  <a:pt x="552605" y="652921"/>
                  <a:pt x="548911" y="652921"/>
                </a:cubicBezTo>
                <a:lnTo>
                  <a:pt x="419944" y="652921"/>
                </a:lnTo>
                <a:cubicBezTo>
                  <a:pt x="416259" y="652921"/>
                  <a:pt x="413269" y="649931"/>
                  <a:pt x="413269" y="646244"/>
                </a:cubicBezTo>
                <a:lnTo>
                  <a:pt x="413269" y="627797"/>
                </a:lnTo>
                <a:cubicBezTo>
                  <a:pt x="413269" y="620080"/>
                  <a:pt x="419587" y="613793"/>
                  <a:pt x="427270" y="613793"/>
                </a:cubicBezTo>
                <a:lnTo>
                  <a:pt x="435703" y="613793"/>
                </a:lnTo>
                <a:lnTo>
                  <a:pt x="435703" y="598748"/>
                </a:lnTo>
                <a:lnTo>
                  <a:pt x="316262" y="598748"/>
                </a:lnTo>
                <a:cubicBezTo>
                  <a:pt x="312234" y="598748"/>
                  <a:pt x="309065" y="595305"/>
                  <a:pt x="309689" y="590886"/>
                </a:cubicBezTo>
                <a:lnTo>
                  <a:pt x="338572" y="312861"/>
                </a:lnTo>
                <a:cubicBezTo>
                  <a:pt x="338922" y="309431"/>
                  <a:pt x="341821" y="306877"/>
                  <a:pt x="345194" y="306877"/>
                </a:cubicBezTo>
                <a:close/>
                <a:moveTo>
                  <a:pt x="102604" y="613799"/>
                </a:moveTo>
                <a:cubicBezTo>
                  <a:pt x="94921" y="613799"/>
                  <a:pt x="88604" y="620092"/>
                  <a:pt x="88604" y="627797"/>
                </a:cubicBezTo>
                <a:lnTo>
                  <a:pt x="88604" y="646250"/>
                </a:lnTo>
                <a:cubicBezTo>
                  <a:pt x="88604" y="649937"/>
                  <a:pt x="91591" y="652926"/>
                  <a:pt x="95279" y="652926"/>
                </a:cubicBezTo>
                <a:lnTo>
                  <a:pt x="186491" y="652926"/>
                </a:lnTo>
                <a:cubicBezTo>
                  <a:pt x="190175" y="652926"/>
                  <a:pt x="193165" y="649937"/>
                  <a:pt x="193165" y="646250"/>
                </a:cubicBezTo>
                <a:lnTo>
                  <a:pt x="193165" y="627797"/>
                </a:lnTo>
                <a:cubicBezTo>
                  <a:pt x="193165" y="623941"/>
                  <a:pt x="191589" y="620435"/>
                  <a:pt x="189058" y="617905"/>
                </a:cubicBezTo>
                <a:lnTo>
                  <a:pt x="189044" y="617922"/>
                </a:lnTo>
                <a:cubicBezTo>
                  <a:pt x="184319" y="613055"/>
                  <a:pt x="178880" y="613799"/>
                  <a:pt x="172711" y="613799"/>
                </a:cubicBezTo>
                <a:lnTo>
                  <a:pt x="162926" y="239675"/>
                </a:lnTo>
                <a:cubicBezTo>
                  <a:pt x="163399" y="239252"/>
                  <a:pt x="163858" y="238816"/>
                  <a:pt x="164308" y="238359"/>
                </a:cubicBezTo>
                <a:lnTo>
                  <a:pt x="219926" y="256628"/>
                </a:lnTo>
                <a:cubicBezTo>
                  <a:pt x="220792" y="256949"/>
                  <a:pt x="221730" y="257094"/>
                  <a:pt x="222712" y="257021"/>
                </a:cubicBezTo>
                <a:lnTo>
                  <a:pt x="366055" y="246669"/>
                </a:lnTo>
                <a:cubicBezTo>
                  <a:pt x="377577" y="245840"/>
                  <a:pt x="379183" y="229361"/>
                  <a:pt x="367959" y="226380"/>
                </a:cubicBezTo>
                <a:lnTo>
                  <a:pt x="229070" y="189474"/>
                </a:lnTo>
                <a:lnTo>
                  <a:pt x="229070" y="189480"/>
                </a:lnTo>
                <a:cubicBezTo>
                  <a:pt x="228264" y="189269"/>
                  <a:pt x="227398" y="189203"/>
                  <a:pt x="226519" y="189321"/>
                </a:cubicBezTo>
                <a:lnTo>
                  <a:pt x="168223" y="196925"/>
                </a:lnTo>
                <a:cubicBezTo>
                  <a:pt x="163766" y="190259"/>
                  <a:pt x="157051" y="185468"/>
                  <a:pt x="149213" y="183417"/>
                </a:cubicBezTo>
                <a:lnTo>
                  <a:pt x="137175" y="125885"/>
                </a:lnTo>
                <a:lnTo>
                  <a:pt x="137168" y="125885"/>
                </a:lnTo>
                <a:cubicBezTo>
                  <a:pt x="136993" y="125056"/>
                  <a:pt x="136667" y="124256"/>
                  <a:pt x="136165" y="123509"/>
                </a:cubicBezTo>
                <a:lnTo>
                  <a:pt x="55502" y="4550"/>
                </a:lnTo>
                <a:cubicBezTo>
                  <a:pt x="48975" y="-5088"/>
                  <a:pt x="34000" y="1942"/>
                  <a:pt x="36987" y="13013"/>
                </a:cubicBezTo>
                <a:lnTo>
                  <a:pt x="74469" y="151750"/>
                </a:lnTo>
                <a:lnTo>
                  <a:pt x="74475" y="151750"/>
                </a:lnTo>
                <a:cubicBezTo>
                  <a:pt x="74693" y="152572"/>
                  <a:pt x="75070" y="153356"/>
                  <a:pt x="75615" y="154069"/>
                </a:cubicBezTo>
                <a:lnTo>
                  <a:pt x="111345" y="200753"/>
                </a:lnTo>
                <a:cubicBezTo>
                  <a:pt x="111177" y="201051"/>
                  <a:pt x="111025" y="201364"/>
                  <a:pt x="110909" y="201692"/>
                </a:cubicBezTo>
                <a:cubicBezTo>
                  <a:pt x="107625" y="208954"/>
                  <a:pt x="107202" y="216812"/>
                  <a:pt x="109178" y="223972"/>
                </a:cubicBezTo>
                <a:lnTo>
                  <a:pt x="65664" y="262901"/>
                </a:lnTo>
                <a:cubicBezTo>
                  <a:pt x="64893" y="263512"/>
                  <a:pt x="64246" y="264296"/>
                  <a:pt x="63796" y="265234"/>
                </a:cubicBezTo>
                <a:lnTo>
                  <a:pt x="1092" y="394550"/>
                </a:lnTo>
                <a:cubicBezTo>
                  <a:pt x="-3917" y="404872"/>
                  <a:pt x="9465" y="414591"/>
                  <a:pt x="17710" y="406326"/>
                </a:cubicBezTo>
                <a:lnTo>
                  <a:pt x="117000" y="306618"/>
                </a:lnTo>
                <a:lnTo>
                  <a:pt x="109069" y="613799"/>
                </a:lnTo>
                <a:close/>
                <a:moveTo>
                  <a:pt x="122364" y="613799"/>
                </a:moveTo>
                <a:lnTo>
                  <a:pt x="131028" y="277127"/>
                </a:lnTo>
                <a:lnTo>
                  <a:pt x="143103" y="248072"/>
                </a:lnTo>
                <a:cubicBezTo>
                  <a:pt x="145379" y="247913"/>
                  <a:pt x="147617" y="247520"/>
                  <a:pt x="149798" y="246909"/>
                </a:cubicBezTo>
                <a:lnTo>
                  <a:pt x="159393" y="613811"/>
                </a:lnTo>
                <a:lnTo>
                  <a:pt x="122364" y="613811"/>
                </a:lnTo>
                <a:close/>
                <a:moveTo>
                  <a:pt x="179162" y="627158"/>
                </a:moveTo>
                <a:cubicBezTo>
                  <a:pt x="179344" y="627158"/>
                  <a:pt x="179512" y="627227"/>
                  <a:pt x="179628" y="627338"/>
                </a:cubicBezTo>
                <a:lnTo>
                  <a:pt x="179614" y="627349"/>
                </a:lnTo>
                <a:cubicBezTo>
                  <a:pt x="180043" y="627780"/>
                  <a:pt x="179809" y="638172"/>
                  <a:pt x="179809" y="639585"/>
                </a:cubicBezTo>
                <a:lnTo>
                  <a:pt x="101950" y="639585"/>
                </a:lnTo>
                <a:cubicBezTo>
                  <a:pt x="101950" y="638166"/>
                  <a:pt x="101718" y="627797"/>
                  <a:pt x="102145" y="627349"/>
                </a:cubicBezTo>
                <a:cubicBezTo>
                  <a:pt x="102595" y="626890"/>
                  <a:pt x="113994" y="627158"/>
                  <a:pt x="115528" y="627158"/>
                </a:cubicBezTo>
                <a:close/>
                <a:moveTo>
                  <a:pt x="138925" y="234734"/>
                </a:moveTo>
                <a:cubicBezTo>
                  <a:pt x="131351" y="233964"/>
                  <a:pt x="124967" y="228896"/>
                  <a:pt x="122446" y="221860"/>
                </a:cubicBezTo>
                <a:cubicBezTo>
                  <a:pt x="117443" y="207925"/>
                  <a:pt x="129193" y="194186"/>
                  <a:pt x="142685" y="195733"/>
                </a:cubicBezTo>
                <a:cubicBezTo>
                  <a:pt x="161919" y="197936"/>
                  <a:pt x="166049" y="221401"/>
                  <a:pt x="152433" y="231070"/>
                </a:cubicBezTo>
                <a:cubicBezTo>
                  <a:pt x="147976" y="234241"/>
                  <a:pt x="144252" y="234945"/>
                  <a:pt x="138925" y="234734"/>
                </a:cubicBezTo>
                <a:close/>
                <a:moveTo>
                  <a:pt x="115487" y="236161"/>
                </a:moveTo>
                <a:cubicBezTo>
                  <a:pt x="119122" y="240588"/>
                  <a:pt x="123906" y="244048"/>
                  <a:pt x="129488" y="246113"/>
                </a:cubicBezTo>
                <a:lnTo>
                  <a:pt x="108733" y="296048"/>
                </a:lnTo>
                <a:lnTo>
                  <a:pt x="20865" y="384276"/>
                </a:lnTo>
                <a:lnTo>
                  <a:pt x="75218" y="272186"/>
                </a:lnTo>
                <a:close/>
                <a:moveTo>
                  <a:pt x="171701" y="226767"/>
                </a:moveTo>
                <a:cubicBezTo>
                  <a:pt x="173802" y="221156"/>
                  <a:pt x="174268" y="215268"/>
                  <a:pt x="173300" y="209671"/>
                </a:cubicBezTo>
                <a:lnTo>
                  <a:pt x="226899" y="202679"/>
                </a:lnTo>
                <a:lnTo>
                  <a:pt x="347254" y="234664"/>
                </a:lnTo>
                <a:lnTo>
                  <a:pt x="223055" y="243636"/>
                </a:lnTo>
                <a:close/>
                <a:moveTo>
                  <a:pt x="135456" y="182802"/>
                </a:moveTo>
                <a:cubicBezTo>
                  <a:pt x="129735" y="183761"/>
                  <a:pt x="124333" y="186226"/>
                  <a:pt x="119849" y="189949"/>
                </a:cubicBezTo>
                <a:lnTo>
                  <a:pt x="87004" y="147036"/>
                </a:lnTo>
                <a:lnTo>
                  <a:pt x="54509" y="26775"/>
                </a:lnTo>
                <a:lnTo>
                  <a:pt x="124378" y="129851"/>
                </a:lnTo>
                <a:close/>
                <a:moveTo>
                  <a:pt x="473221" y="63937"/>
                </a:moveTo>
                <a:cubicBezTo>
                  <a:pt x="477576" y="71520"/>
                  <a:pt x="466067" y="78149"/>
                  <a:pt x="461699" y="70559"/>
                </a:cubicBezTo>
                <a:lnTo>
                  <a:pt x="450752" y="51599"/>
                </a:lnTo>
                <a:cubicBezTo>
                  <a:pt x="448921" y="48414"/>
                  <a:pt x="450018" y="44359"/>
                  <a:pt x="453201" y="42526"/>
                </a:cubicBezTo>
                <a:cubicBezTo>
                  <a:pt x="456385" y="40701"/>
                  <a:pt x="460448" y="41792"/>
                  <a:pt x="462274" y="44975"/>
                </a:cubicBezTo>
                <a:close/>
                <a:moveTo>
                  <a:pt x="442993" y="89294"/>
                </a:moveTo>
                <a:lnTo>
                  <a:pt x="424033" y="78347"/>
                </a:lnTo>
                <a:cubicBezTo>
                  <a:pt x="416437" y="73956"/>
                  <a:pt x="409778" y="85485"/>
                  <a:pt x="417358" y="89869"/>
                </a:cubicBezTo>
                <a:lnTo>
                  <a:pt x="436319" y="100816"/>
                </a:lnTo>
                <a:cubicBezTo>
                  <a:pt x="443908" y="105208"/>
                  <a:pt x="450576" y="93685"/>
                  <a:pt x="442993" y="89294"/>
                </a:cubicBezTo>
                <a:close/>
                <a:moveTo>
                  <a:pt x="429479" y="126356"/>
                </a:moveTo>
                <a:cubicBezTo>
                  <a:pt x="438268" y="126356"/>
                  <a:pt x="438268" y="139702"/>
                  <a:pt x="429479" y="139702"/>
                </a:cubicBezTo>
                <a:lnTo>
                  <a:pt x="407591" y="139702"/>
                </a:lnTo>
                <a:cubicBezTo>
                  <a:pt x="398801" y="139702"/>
                  <a:pt x="398801" y="126356"/>
                  <a:pt x="407591" y="126356"/>
                </a:cubicBezTo>
                <a:close/>
                <a:moveTo>
                  <a:pt x="436342" y="165247"/>
                </a:moveTo>
                <a:cubicBezTo>
                  <a:pt x="443925" y="160893"/>
                  <a:pt x="450554" y="172401"/>
                  <a:pt x="442964" y="176769"/>
                </a:cubicBezTo>
                <a:lnTo>
                  <a:pt x="424004" y="187717"/>
                </a:lnTo>
                <a:cubicBezTo>
                  <a:pt x="420819" y="189541"/>
                  <a:pt x="416764" y="188451"/>
                  <a:pt x="414930" y="185268"/>
                </a:cubicBezTo>
                <a:cubicBezTo>
                  <a:pt x="413106" y="182083"/>
                  <a:pt x="414203" y="178021"/>
                  <a:pt x="417379" y="176194"/>
                </a:cubicBezTo>
                <a:close/>
                <a:moveTo>
                  <a:pt x="461699" y="195502"/>
                </a:moveTo>
                <a:cubicBezTo>
                  <a:pt x="463523" y="192317"/>
                  <a:pt x="467587" y="191220"/>
                  <a:pt x="470773" y="193053"/>
                </a:cubicBezTo>
                <a:cubicBezTo>
                  <a:pt x="473958" y="194877"/>
                  <a:pt x="475055" y="198941"/>
                  <a:pt x="473222" y="202127"/>
                </a:cubicBezTo>
                <a:lnTo>
                  <a:pt x="462274" y="221087"/>
                </a:lnTo>
                <a:cubicBezTo>
                  <a:pt x="460450" y="224272"/>
                  <a:pt x="456386" y="225369"/>
                  <a:pt x="453201" y="223536"/>
                </a:cubicBezTo>
                <a:cubicBezTo>
                  <a:pt x="450015" y="221711"/>
                  <a:pt x="448919" y="217647"/>
                  <a:pt x="450752" y="214462"/>
                </a:cubicBezTo>
                <a:close/>
                <a:moveTo>
                  <a:pt x="498767" y="208987"/>
                </a:moveTo>
                <a:cubicBezTo>
                  <a:pt x="498767" y="200198"/>
                  <a:pt x="512113" y="200198"/>
                  <a:pt x="512113" y="208987"/>
                </a:cubicBezTo>
                <a:lnTo>
                  <a:pt x="512113" y="230876"/>
                </a:lnTo>
                <a:cubicBezTo>
                  <a:pt x="512113" y="239665"/>
                  <a:pt x="498767" y="239665"/>
                  <a:pt x="498767" y="230876"/>
                </a:cubicBezTo>
                <a:close/>
                <a:moveTo>
                  <a:pt x="537649" y="202154"/>
                </a:moveTo>
                <a:cubicBezTo>
                  <a:pt x="533251" y="194564"/>
                  <a:pt x="544787" y="187892"/>
                  <a:pt x="549171" y="195479"/>
                </a:cubicBezTo>
                <a:lnTo>
                  <a:pt x="560119" y="214439"/>
                </a:lnTo>
                <a:cubicBezTo>
                  <a:pt x="564510" y="222036"/>
                  <a:pt x="552981" y="228695"/>
                  <a:pt x="548597" y="221114"/>
                </a:cubicBezTo>
                <a:close/>
                <a:moveTo>
                  <a:pt x="567906" y="176770"/>
                </a:moveTo>
                <a:lnTo>
                  <a:pt x="586865" y="187717"/>
                </a:lnTo>
                <a:cubicBezTo>
                  <a:pt x="590052" y="189542"/>
                  <a:pt x="594111" y="188451"/>
                  <a:pt x="595937" y="185268"/>
                </a:cubicBezTo>
                <a:cubicBezTo>
                  <a:pt x="597769" y="182084"/>
                  <a:pt x="596676" y="178021"/>
                  <a:pt x="593489" y="176195"/>
                </a:cubicBezTo>
                <a:lnTo>
                  <a:pt x="574530" y="165247"/>
                </a:lnTo>
                <a:cubicBezTo>
                  <a:pt x="571343" y="163417"/>
                  <a:pt x="567284" y="164514"/>
                  <a:pt x="565458" y="167696"/>
                </a:cubicBezTo>
                <a:cubicBezTo>
                  <a:pt x="563632" y="170882"/>
                  <a:pt x="564719" y="174943"/>
                  <a:pt x="567906" y="176770"/>
                </a:cubicBezTo>
                <a:close/>
                <a:moveTo>
                  <a:pt x="581393" y="139709"/>
                </a:moveTo>
                <a:cubicBezTo>
                  <a:pt x="572599" y="139709"/>
                  <a:pt x="572599" y="126363"/>
                  <a:pt x="581393" y="126363"/>
                </a:cubicBezTo>
                <a:lnTo>
                  <a:pt x="603283" y="126363"/>
                </a:lnTo>
                <a:cubicBezTo>
                  <a:pt x="612070" y="126363"/>
                  <a:pt x="612070" y="139709"/>
                  <a:pt x="603283" y="139709"/>
                </a:cubicBezTo>
                <a:close/>
                <a:moveTo>
                  <a:pt x="574559" y="100817"/>
                </a:moveTo>
                <a:cubicBezTo>
                  <a:pt x="566970" y="105215"/>
                  <a:pt x="560299" y="93679"/>
                  <a:pt x="567883" y="89295"/>
                </a:cubicBezTo>
                <a:lnTo>
                  <a:pt x="586842" y="78348"/>
                </a:lnTo>
                <a:cubicBezTo>
                  <a:pt x="594437" y="73956"/>
                  <a:pt x="601102" y="85485"/>
                  <a:pt x="593518" y="89870"/>
                </a:cubicBezTo>
                <a:close/>
                <a:moveTo>
                  <a:pt x="549180" y="70589"/>
                </a:moveTo>
                <a:lnTo>
                  <a:pt x="560125" y="51629"/>
                </a:lnTo>
                <a:cubicBezTo>
                  <a:pt x="564521" y="44033"/>
                  <a:pt x="552990" y="37374"/>
                  <a:pt x="548606" y="44954"/>
                </a:cubicBezTo>
                <a:lnTo>
                  <a:pt x="537659" y="63914"/>
                </a:lnTo>
                <a:cubicBezTo>
                  <a:pt x="533260" y="71507"/>
                  <a:pt x="544790" y="78172"/>
                  <a:pt x="549180" y="70589"/>
                </a:cubicBezTo>
                <a:close/>
                <a:moveTo>
                  <a:pt x="512113" y="57077"/>
                </a:moveTo>
                <a:cubicBezTo>
                  <a:pt x="512113" y="65866"/>
                  <a:pt x="498767" y="65866"/>
                  <a:pt x="498767" y="57077"/>
                </a:cubicBezTo>
                <a:lnTo>
                  <a:pt x="498767" y="35186"/>
                </a:lnTo>
                <a:cubicBezTo>
                  <a:pt x="498767" y="26397"/>
                  <a:pt x="512113" y="26397"/>
                  <a:pt x="512113" y="35186"/>
                </a:cubicBezTo>
                <a:close/>
                <a:moveTo>
                  <a:pt x="505438" y="75119"/>
                </a:moveTo>
                <a:cubicBezTo>
                  <a:pt x="473459" y="75119"/>
                  <a:pt x="447530" y="101048"/>
                  <a:pt x="447530" y="133027"/>
                </a:cubicBezTo>
                <a:cubicBezTo>
                  <a:pt x="447530" y="165006"/>
                  <a:pt x="473459" y="190936"/>
                  <a:pt x="505438" y="190936"/>
                </a:cubicBezTo>
                <a:cubicBezTo>
                  <a:pt x="537417" y="190936"/>
                  <a:pt x="563347" y="165006"/>
                  <a:pt x="563347" y="133027"/>
                </a:cubicBezTo>
                <a:cubicBezTo>
                  <a:pt x="563347" y="101048"/>
                  <a:pt x="537417" y="75119"/>
                  <a:pt x="505438" y="75119"/>
                </a:cubicBezTo>
                <a:close/>
                <a:moveTo>
                  <a:pt x="536945" y="101521"/>
                </a:moveTo>
                <a:cubicBezTo>
                  <a:pt x="554342" y="118924"/>
                  <a:pt x="554342" y="147137"/>
                  <a:pt x="536945" y="164539"/>
                </a:cubicBezTo>
                <a:cubicBezTo>
                  <a:pt x="519541" y="181942"/>
                  <a:pt x="491328" y="181942"/>
                  <a:pt x="473927" y="164539"/>
                </a:cubicBezTo>
                <a:cubicBezTo>
                  <a:pt x="456530" y="147135"/>
                  <a:pt x="456530" y="118922"/>
                  <a:pt x="473927" y="101521"/>
                </a:cubicBezTo>
                <a:cubicBezTo>
                  <a:pt x="491331" y="84126"/>
                  <a:pt x="519550" y="84126"/>
                  <a:pt x="536945" y="101521"/>
                </a:cubicBezTo>
                <a:close/>
                <a:moveTo>
                  <a:pt x="526477" y="627152"/>
                </a:moveTo>
                <a:lnTo>
                  <a:pt x="426914" y="627239"/>
                </a:lnTo>
                <a:lnTo>
                  <a:pt x="426616" y="627797"/>
                </a:lnTo>
                <a:lnTo>
                  <a:pt x="426616" y="639574"/>
                </a:lnTo>
                <a:lnTo>
                  <a:pt x="542236" y="639574"/>
                </a:lnTo>
                <a:cubicBezTo>
                  <a:pt x="542236" y="638166"/>
                  <a:pt x="542468" y="627768"/>
                  <a:pt x="542041" y="627338"/>
                </a:cubicBezTo>
                <a:lnTo>
                  <a:pt x="542055" y="627326"/>
                </a:lnTo>
                <a:cubicBezTo>
                  <a:pt x="541589" y="626902"/>
                  <a:pt x="528183" y="627152"/>
                  <a:pt x="526475" y="627152"/>
                </a:cubicBezTo>
                <a:close/>
                <a:moveTo>
                  <a:pt x="519802" y="598760"/>
                </a:moveTo>
                <a:lnTo>
                  <a:pt x="449055" y="598760"/>
                </a:lnTo>
                <a:lnTo>
                  <a:pt x="449055" y="613805"/>
                </a:lnTo>
                <a:lnTo>
                  <a:pt x="519802" y="613805"/>
                </a:lnTo>
                <a:close/>
                <a:moveTo>
                  <a:pt x="341170" y="510732"/>
                </a:moveTo>
                <a:lnTo>
                  <a:pt x="335238" y="567879"/>
                </a:lnTo>
                <a:cubicBezTo>
                  <a:pt x="334614" y="572299"/>
                  <a:pt x="337783" y="575736"/>
                  <a:pt x="341811" y="575736"/>
                </a:cubicBezTo>
                <a:lnTo>
                  <a:pt x="621968" y="575736"/>
                </a:lnTo>
                <a:lnTo>
                  <a:pt x="621968" y="575713"/>
                </a:lnTo>
                <a:cubicBezTo>
                  <a:pt x="625888" y="575707"/>
                  <a:pt x="628993" y="572287"/>
                  <a:pt x="628586" y="568379"/>
                </a:cubicBezTo>
                <a:lnTo>
                  <a:pt x="616565" y="452606"/>
                </a:lnTo>
                <a:cubicBezTo>
                  <a:pt x="616548" y="452272"/>
                  <a:pt x="616519" y="451945"/>
                  <a:pt x="616461" y="451625"/>
                </a:cubicBezTo>
                <a:lnTo>
                  <a:pt x="604481" y="336353"/>
                </a:lnTo>
                <a:cubicBezTo>
                  <a:pt x="604370" y="332768"/>
                  <a:pt x="601427" y="329891"/>
                  <a:pt x="597804" y="329891"/>
                </a:cubicBezTo>
                <a:lnTo>
                  <a:pt x="365949" y="329891"/>
                </a:lnTo>
                <a:lnTo>
                  <a:pt x="365949" y="329904"/>
                </a:lnTo>
                <a:cubicBezTo>
                  <a:pt x="362575" y="329897"/>
                  <a:pt x="359675" y="332455"/>
                  <a:pt x="359327" y="335888"/>
                </a:cubicBezTo>
                <a:lnTo>
                  <a:pt x="353336" y="393512"/>
                </a:lnTo>
                <a:cubicBezTo>
                  <a:pt x="353277" y="393826"/>
                  <a:pt x="353250" y="394144"/>
                  <a:pt x="353234" y="394464"/>
                </a:cubicBezTo>
                <a:lnTo>
                  <a:pt x="347295" y="451632"/>
                </a:lnTo>
                <a:cubicBezTo>
                  <a:pt x="347237" y="451946"/>
                  <a:pt x="347209" y="452273"/>
                  <a:pt x="347194" y="452600"/>
                </a:cubicBezTo>
                <a:lnTo>
                  <a:pt x="341255" y="509752"/>
                </a:lnTo>
                <a:cubicBezTo>
                  <a:pt x="341212" y="510072"/>
                  <a:pt x="341176" y="510399"/>
                  <a:pt x="341169" y="510735"/>
                </a:cubicBezTo>
                <a:close/>
                <a:moveTo>
                  <a:pt x="355230" y="504262"/>
                </a:moveTo>
                <a:lnTo>
                  <a:pt x="408545" y="504262"/>
                </a:lnTo>
                <a:lnTo>
                  <a:pt x="410871" y="459489"/>
                </a:lnTo>
                <a:lnTo>
                  <a:pt x="359882" y="459489"/>
                </a:lnTo>
                <a:close/>
                <a:moveTo>
                  <a:pt x="421877" y="504262"/>
                </a:moveTo>
                <a:lnTo>
                  <a:pt x="475205" y="504262"/>
                </a:lnTo>
                <a:lnTo>
                  <a:pt x="475205" y="459489"/>
                </a:lnTo>
                <a:lnTo>
                  <a:pt x="424196" y="459489"/>
                </a:lnTo>
                <a:close/>
                <a:moveTo>
                  <a:pt x="488553" y="504262"/>
                </a:moveTo>
                <a:lnTo>
                  <a:pt x="541881" y="504262"/>
                </a:lnTo>
                <a:lnTo>
                  <a:pt x="539555" y="459489"/>
                </a:lnTo>
                <a:lnTo>
                  <a:pt x="488546" y="459489"/>
                </a:lnTo>
                <a:lnTo>
                  <a:pt x="488543" y="504262"/>
                </a:lnTo>
                <a:close/>
                <a:moveTo>
                  <a:pt x="555223" y="504262"/>
                </a:moveTo>
                <a:lnTo>
                  <a:pt x="608540" y="504262"/>
                </a:lnTo>
                <a:lnTo>
                  <a:pt x="603887" y="459489"/>
                </a:lnTo>
                <a:lnTo>
                  <a:pt x="552897" y="459489"/>
                </a:lnTo>
                <a:close/>
                <a:moveTo>
                  <a:pt x="609924" y="517608"/>
                </a:moveTo>
                <a:lnTo>
                  <a:pt x="555920" y="517608"/>
                </a:lnTo>
                <a:lnTo>
                  <a:pt x="558246" y="562383"/>
                </a:lnTo>
                <a:lnTo>
                  <a:pt x="614576" y="562383"/>
                </a:lnTo>
                <a:close/>
                <a:moveTo>
                  <a:pt x="542581" y="517608"/>
                </a:moveTo>
                <a:lnTo>
                  <a:pt x="488555" y="517608"/>
                </a:lnTo>
                <a:lnTo>
                  <a:pt x="488555" y="562383"/>
                </a:lnTo>
                <a:lnTo>
                  <a:pt x="544907" y="562383"/>
                </a:lnTo>
                <a:close/>
                <a:moveTo>
                  <a:pt x="475207" y="517608"/>
                </a:moveTo>
                <a:lnTo>
                  <a:pt x="421181" y="517608"/>
                </a:lnTo>
                <a:lnTo>
                  <a:pt x="418855" y="562383"/>
                </a:lnTo>
                <a:lnTo>
                  <a:pt x="475207" y="562383"/>
                </a:lnTo>
                <a:close/>
                <a:moveTo>
                  <a:pt x="407851" y="517608"/>
                </a:moveTo>
                <a:lnTo>
                  <a:pt x="353845" y="517608"/>
                </a:lnTo>
                <a:lnTo>
                  <a:pt x="349192" y="562383"/>
                </a:lnTo>
                <a:lnTo>
                  <a:pt x="405524" y="562383"/>
                </a:lnTo>
                <a:close/>
                <a:moveTo>
                  <a:pt x="367309" y="388013"/>
                </a:moveTo>
                <a:lnTo>
                  <a:pt x="414591" y="388013"/>
                </a:lnTo>
                <a:lnTo>
                  <a:pt x="416917" y="343240"/>
                </a:lnTo>
                <a:lnTo>
                  <a:pt x="371969" y="343240"/>
                </a:lnTo>
                <a:close/>
                <a:moveTo>
                  <a:pt x="427914" y="388013"/>
                </a:moveTo>
                <a:lnTo>
                  <a:pt x="475209" y="388013"/>
                </a:lnTo>
                <a:lnTo>
                  <a:pt x="475209" y="343240"/>
                </a:lnTo>
                <a:lnTo>
                  <a:pt x="430240" y="343240"/>
                </a:lnTo>
                <a:close/>
                <a:moveTo>
                  <a:pt x="488559" y="388013"/>
                </a:moveTo>
                <a:lnTo>
                  <a:pt x="535854" y="388013"/>
                </a:lnTo>
                <a:lnTo>
                  <a:pt x="533528" y="343240"/>
                </a:lnTo>
                <a:lnTo>
                  <a:pt x="488559" y="343240"/>
                </a:lnTo>
                <a:close/>
                <a:moveTo>
                  <a:pt x="549187" y="388013"/>
                </a:moveTo>
                <a:lnTo>
                  <a:pt x="596461" y="388013"/>
                </a:lnTo>
                <a:lnTo>
                  <a:pt x="591808" y="343240"/>
                </a:lnTo>
                <a:lnTo>
                  <a:pt x="546854" y="343240"/>
                </a:lnTo>
                <a:close/>
                <a:moveTo>
                  <a:pt x="597845" y="401362"/>
                </a:moveTo>
                <a:lnTo>
                  <a:pt x="549875" y="401362"/>
                </a:lnTo>
                <a:lnTo>
                  <a:pt x="552202" y="446135"/>
                </a:lnTo>
                <a:lnTo>
                  <a:pt x="602497" y="446135"/>
                </a:lnTo>
                <a:close/>
                <a:moveTo>
                  <a:pt x="536551" y="401362"/>
                </a:moveTo>
                <a:lnTo>
                  <a:pt x="488565" y="401362"/>
                </a:lnTo>
                <a:lnTo>
                  <a:pt x="488565" y="446135"/>
                </a:lnTo>
                <a:lnTo>
                  <a:pt x="538877" y="446135"/>
                </a:lnTo>
                <a:close/>
                <a:moveTo>
                  <a:pt x="475208" y="401362"/>
                </a:moveTo>
                <a:lnTo>
                  <a:pt x="427222" y="401362"/>
                </a:lnTo>
                <a:lnTo>
                  <a:pt x="424896" y="446135"/>
                </a:lnTo>
                <a:lnTo>
                  <a:pt x="475208" y="446135"/>
                </a:lnTo>
                <a:close/>
                <a:moveTo>
                  <a:pt x="413888" y="401362"/>
                </a:moveTo>
                <a:lnTo>
                  <a:pt x="365922" y="401362"/>
                </a:lnTo>
                <a:lnTo>
                  <a:pt x="361270" y="446135"/>
                </a:lnTo>
                <a:lnTo>
                  <a:pt x="411568" y="446135"/>
                </a:lnTo>
                <a:close/>
                <a:moveTo>
                  <a:pt x="612558" y="320216"/>
                </a:moveTo>
                <a:lnTo>
                  <a:pt x="351201" y="320216"/>
                </a:lnTo>
                <a:lnTo>
                  <a:pt x="323650" y="585407"/>
                </a:lnTo>
                <a:lnTo>
                  <a:pt x="640107" y="585407"/>
                </a:lnTo>
                <a:close/>
              </a:path>
            </a:pathLst>
          </a:custGeom>
          <a:solidFill>
            <a:srgbClr val="003D7C"/>
          </a:solidFill>
          <a:ln w="579" cap="flat">
            <a:solidFill>
              <a:schemeClr val="accent1"/>
            </a:solidFill>
            <a:prstDash val="solid"/>
            <a:miter/>
          </a:ln>
        </p:spPr>
        <p:txBody>
          <a:bodyPr rtlCol="0" anchor="ctr"/>
          <a:lstStyle/>
          <a:p>
            <a:endParaRPr lang="de-DE" dirty="0"/>
          </a:p>
        </p:txBody>
      </p:sp>
      <p:pic>
        <p:nvPicPr>
          <p:cNvPr id="33" name="Graphic 32">
            <a:extLst>
              <a:ext uri="{FF2B5EF4-FFF2-40B4-BE49-F238E27FC236}">
                <a16:creationId xmlns:a16="http://schemas.microsoft.com/office/drawing/2014/main" id="{8127FDE9-CF25-198E-B0FE-23DE68E6E5A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82734" y="2124447"/>
            <a:ext cx="576756" cy="576756"/>
          </a:xfrm>
          <a:prstGeom prst="rect">
            <a:avLst/>
          </a:prstGeom>
        </p:spPr>
      </p:pic>
      <p:sp>
        <p:nvSpPr>
          <p:cNvPr id="34" name="TextBox 33">
            <a:extLst>
              <a:ext uri="{FF2B5EF4-FFF2-40B4-BE49-F238E27FC236}">
                <a16:creationId xmlns:a16="http://schemas.microsoft.com/office/drawing/2014/main" id="{F6005B67-0202-31AE-76CF-29F87740539F}"/>
              </a:ext>
            </a:extLst>
          </p:cNvPr>
          <p:cNvSpPr txBox="1"/>
          <p:nvPr/>
        </p:nvSpPr>
        <p:spPr>
          <a:xfrm>
            <a:off x="2501726" y="2655950"/>
            <a:ext cx="1338773" cy="400110"/>
          </a:xfrm>
          <a:prstGeom prst="rect">
            <a:avLst/>
          </a:prstGeom>
          <a:noFill/>
        </p:spPr>
        <p:txBody>
          <a:bodyPr wrap="square" rtlCol="0">
            <a:spAutoFit/>
          </a:bodyPr>
          <a:lstStyle/>
          <a:p>
            <a:pPr algn="ctr"/>
            <a:r>
              <a:rPr lang="de-DE" sz="1000" b="1" dirty="0">
                <a:solidFill>
                  <a:schemeClr val="accent1"/>
                </a:solidFill>
              </a:rPr>
              <a:t>Wärme-/ Fernwärmenetze</a:t>
            </a:r>
          </a:p>
        </p:txBody>
      </p:sp>
      <p:sp>
        <p:nvSpPr>
          <p:cNvPr id="26" name="TextBox 25">
            <a:extLst>
              <a:ext uri="{FF2B5EF4-FFF2-40B4-BE49-F238E27FC236}">
                <a16:creationId xmlns:a16="http://schemas.microsoft.com/office/drawing/2014/main" id="{DD316516-BE28-7544-35B0-23C82B4B61DD}"/>
              </a:ext>
            </a:extLst>
          </p:cNvPr>
          <p:cNvSpPr txBox="1"/>
          <p:nvPr/>
        </p:nvSpPr>
        <p:spPr>
          <a:xfrm>
            <a:off x="4366651" y="2412479"/>
            <a:ext cx="1960098" cy="246221"/>
          </a:xfrm>
          <a:prstGeom prst="rect">
            <a:avLst/>
          </a:prstGeom>
          <a:noFill/>
        </p:spPr>
        <p:txBody>
          <a:bodyPr wrap="square" rtlCol="0">
            <a:spAutoFit/>
          </a:bodyPr>
          <a:lstStyle/>
          <a:p>
            <a:pPr algn="ctr"/>
            <a:r>
              <a:rPr lang="de-DE" sz="1000" b="1" dirty="0">
                <a:solidFill>
                  <a:schemeClr val="accent1"/>
                </a:solidFill>
              </a:rPr>
              <a:t>Netze (e.g. Gas, Wasser)</a:t>
            </a:r>
          </a:p>
        </p:txBody>
      </p:sp>
      <p:sp>
        <p:nvSpPr>
          <p:cNvPr id="35" name="TextBox 34">
            <a:extLst>
              <a:ext uri="{FF2B5EF4-FFF2-40B4-BE49-F238E27FC236}">
                <a16:creationId xmlns:a16="http://schemas.microsoft.com/office/drawing/2014/main" id="{28EBBD59-A77B-F593-CCEE-89BEE61A5406}"/>
              </a:ext>
            </a:extLst>
          </p:cNvPr>
          <p:cNvSpPr txBox="1"/>
          <p:nvPr/>
        </p:nvSpPr>
        <p:spPr>
          <a:xfrm>
            <a:off x="6823129" y="2700511"/>
            <a:ext cx="1619915" cy="396541"/>
          </a:xfrm>
          <a:prstGeom prst="rect">
            <a:avLst/>
          </a:prstGeom>
          <a:noFill/>
        </p:spPr>
        <p:txBody>
          <a:bodyPr wrap="square" rtlCol="0">
            <a:spAutoFit/>
          </a:bodyPr>
          <a:lstStyle/>
          <a:p>
            <a:pPr algn="ctr"/>
            <a:r>
              <a:rPr lang="de-DE" sz="1000" b="1" dirty="0">
                <a:solidFill>
                  <a:schemeClr val="accent1"/>
                </a:solidFill>
              </a:rPr>
              <a:t>Erneuerbare Aktivitäten</a:t>
            </a:r>
          </a:p>
        </p:txBody>
      </p:sp>
      <p:sp>
        <p:nvSpPr>
          <p:cNvPr id="36" name="TextBox 35">
            <a:extLst>
              <a:ext uri="{FF2B5EF4-FFF2-40B4-BE49-F238E27FC236}">
                <a16:creationId xmlns:a16="http://schemas.microsoft.com/office/drawing/2014/main" id="{4A3E9705-6EB3-0834-27AE-4CC3BE951053}"/>
              </a:ext>
            </a:extLst>
          </p:cNvPr>
          <p:cNvSpPr txBox="1"/>
          <p:nvPr/>
        </p:nvSpPr>
        <p:spPr>
          <a:xfrm>
            <a:off x="8587060" y="3164497"/>
            <a:ext cx="1619915" cy="246221"/>
          </a:xfrm>
          <a:prstGeom prst="rect">
            <a:avLst/>
          </a:prstGeom>
          <a:noFill/>
        </p:spPr>
        <p:txBody>
          <a:bodyPr wrap="square" rtlCol="0">
            <a:spAutoFit/>
          </a:bodyPr>
          <a:lstStyle/>
          <a:p>
            <a:pPr algn="ctr"/>
            <a:r>
              <a:rPr lang="de-DE" sz="1000" b="1" dirty="0">
                <a:solidFill>
                  <a:schemeClr val="accent1"/>
                </a:solidFill>
              </a:rPr>
              <a:t>Beteiligungen</a:t>
            </a:r>
          </a:p>
        </p:txBody>
      </p:sp>
      <p:sp>
        <p:nvSpPr>
          <p:cNvPr id="9" name="TextBox 8">
            <a:extLst>
              <a:ext uri="{FF2B5EF4-FFF2-40B4-BE49-F238E27FC236}">
                <a16:creationId xmlns:a16="http://schemas.microsoft.com/office/drawing/2014/main" id="{3401B903-C64E-B1B5-5C51-6E1C5D0318F7}"/>
              </a:ext>
            </a:extLst>
          </p:cNvPr>
          <p:cNvSpPr txBox="1"/>
          <p:nvPr/>
        </p:nvSpPr>
        <p:spPr>
          <a:xfrm>
            <a:off x="4610375" y="2993077"/>
            <a:ext cx="1472650" cy="338554"/>
          </a:xfrm>
          <a:prstGeom prst="rect">
            <a:avLst/>
          </a:prstGeom>
          <a:noFill/>
        </p:spPr>
        <p:txBody>
          <a:bodyPr wrap="square" rtlCol="0" anchor="ctr">
            <a:spAutoFit/>
          </a:bodyPr>
          <a:lstStyle/>
          <a:p>
            <a:pPr algn="ctr"/>
            <a:r>
              <a:rPr lang="de-DE" sz="1600" b="1" dirty="0">
                <a:solidFill>
                  <a:schemeClr val="accent1"/>
                </a:solidFill>
              </a:rPr>
              <a:t>Stadtwerk</a:t>
            </a:r>
          </a:p>
        </p:txBody>
      </p:sp>
    </p:spTree>
    <p:extLst>
      <p:ext uri="{BB962C8B-B14F-4D97-AF65-F5344CB8AC3E}">
        <p14:creationId xmlns:p14="http://schemas.microsoft.com/office/powerpoint/2010/main" val="2375536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28732795-706D-44E7-AA4A-66D7FBDFDF5C}"/>
              </a:ext>
            </a:extLst>
          </p:cNvPr>
          <p:cNvGraphicFramePr>
            <a:graphicFrameLocks/>
          </p:cNvGraphicFramePr>
          <p:nvPr>
            <p:custDataLst>
              <p:tags r:id="rId1"/>
            </p:custDataLst>
            <p:extLst>
              <p:ext uri="{D42A27DB-BD31-4B8C-83A1-F6EECF244321}">
                <p14:modId xmlns:p14="http://schemas.microsoft.com/office/powerpoint/2010/main" val="2431806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8" name="Object 17" hidden="1">
                        <a:extLst>
                          <a:ext uri="{FF2B5EF4-FFF2-40B4-BE49-F238E27FC236}">
                            <a16:creationId xmlns:a16="http://schemas.microsoft.com/office/drawing/2014/main" id="{28732795-706D-44E7-AA4A-66D7FBDFDF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5C5FC088-833A-5515-E812-695111334F18}"/>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Strukturierung ähnlicher Beteiligungsoptionen auch für andere Assets vorstellbar, z.B. Netze, Erneuerbare Energien</a:t>
            </a:r>
          </a:p>
        </p:txBody>
      </p:sp>
      <p:sp>
        <p:nvSpPr>
          <p:cNvPr id="20" name="Isosceles Triangle 19">
            <a:extLst>
              <a:ext uri="{FF2B5EF4-FFF2-40B4-BE49-F238E27FC236}">
                <a16:creationId xmlns:a16="http://schemas.microsoft.com/office/drawing/2014/main" id="{C9454AE9-F396-1613-77C2-8AF2A27DFE4C}"/>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tangle 7">
            <a:extLst>
              <a:ext uri="{FF2B5EF4-FFF2-40B4-BE49-F238E27FC236}">
                <a16:creationId xmlns:a16="http://schemas.microsoft.com/office/drawing/2014/main" id="{DBA33902-8229-4F69-B2CD-D5E74E17FCFE}"/>
              </a:ext>
            </a:extLst>
          </p:cNvPr>
          <p:cNvSpPr/>
          <p:nvPr/>
        </p:nvSpPr>
        <p:spPr>
          <a:xfrm>
            <a:off x="6758690" y="1395480"/>
            <a:ext cx="3543201"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a:extLst>
              <a:ext uri="{FF2B5EF4-FFF2-40B4-BE49-F238E27FC236}">
                <a16:creationId xmlns:a16="http://schemas.microsoft.com/office/drawing/2014/main" id="{6AB71520-4CBC-42B7-B669-5D28B6C33E73}"/>
              </a:ext>
            </a:extLst>
          </p:cNvPr>
          <p:cNvSpPr>
            <a:spLocks noGrp="1"/>
          </p:cNvSpPr>
          <p:nvPr>
            <p:ph type="title"/>
          </p:nvPr>
        </p:nvSpPr>
        <p:spPr>
          <a:xfrm>
            <a:off x="378699" y="450279"/>
            <a:ext cx="9989189" cy="720000"/>
          </a:xfrm>
        </p:spPr>
        <p:txBody>
          <a:bodyPr vert="horz"/>
          <a:lstStyle/>
          <a:p>
            <a:r>
              <a:rPr lang="de-DE" dirty="0"/>
              <a:t>Beteiligungskonzept zur Kapitalflexibilisierung kann individuell an die Strategie und Investitionsbedürfnisse des Stadtwerks angepasst werden</a:t>
            </a:r>
          </a:p>
        </p:txBody>
      </p:sp>
      <p:sp>
        <p:nvSpPr>
          <p:cNvPr id="4" name="Text Placeholder 3">
            <a:extLst>
              <a:ext uri="{FF2B5EF4-FFF2-40B4-BE49-F238E27FC236}">
                <a16:creationId xmlns:a16="http://schemas.microsoft.com/office/drawing/2014/main" id="{7C94B0A9-9F8C-4EE5-A562-100FE8219EA0}"/>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endParaRPr lang="de-DE" dirty="0"/>
          </a:p>
        </p:txBody>
      </p:sp>
      <p:sp>
        <p:nvSpPr>
          <p:cNvPr id="5" name="Text Placeholder 4">
            <a:extLst>
              <a:ext uri="{FF2B5EF4-FFF2-40B4-BE49-F238E27FC236}">
                <a16:creationId xmlns:a16="http://schemas.microsoft.com/office/drawing/2014/main" id="{3D7DDBBA-4B7E-4F68-A4C4-909090AE40E5}"/>
              </a:ext>
            </a:extLst>
          </p:cNvPr>
          <p:cNvSpPr>
            <a:spLocks noGrp="1"/>
          </p:cNvSpPr>
          <p:nvPr>
            <p:ph type="body" sz="quarter" idx="14"/>
          </p:nvPr>
        </p:nvSpPr>
        <p:spPr/>
        <p:txBody>
          <a:bodyPr/>
          <a:lstStyle/>
          <a:p>
            <a:endParaRPr lang="de-DE" dirty="0"/>
          </a:p>
        </p:txBody>
      </p:sp>
      <p:sp>
        <p:nvSpPr>
          <p:cNvPr id="6" name="Text Placeholder 5">
            <a:extLst>
              <a:ext uri="{FF2B5EF4-FFF2-40B4-BE49-F238E27FC236}">
                <a16:creationId xmlns:a16="http://schemas.microsoft.com/office/drawing/2014/main" id="{2C9F7AAA-D0F7-4B42-9B0C-C414E43592A4}"/>
              </a:ext>
            </a:extLst>
          </p:cNvPr>
          <p:cNvSpPr>
            <a:spLocks noGrp="1"/>
          </p:cNvSpPr>
          <p:nvPr>
            <p:ph type="body" sz="quarter" idx="15"/>
          </p:nvPr>
        </p:nvSpPr>
        <p:spPr/>
        <p:txBody>
          <a:bodyPr/>
          <a:lstStyle/>
          <a:p>
            <a:endParaRPr lang="de-DE" dirty="0"/>
          </a:p>
        </p:txBody>
      </p:sp>
      <p:sp>
        <p:nvSpPr>
          <p:cNvPr id="9" name="Rectangle 8">
            <a:extLst>
              <a:ext uri="{FF2B5EF4-FFF2-40B4-BE49-F238E27FC236}">
                <a16:creationId xmlns:a16="http://schemas.microsoft.com/office/drawing/2014/main" id="{A99A00D8-2071-4360-9D88-4992B5A45A04}"/>
              </a:ext>
            </a:extLst>
          </p:cNvPr>
          <p:cNvSpPr/>
          <p:nvPr/>
        </p:nvSpPr>
        <p:spPr>
          <a:xfrm>
            <a:off x="6758690" y="1374871"/>
            <a:ext cx="3543201"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Option 2</a:t>
            </a:r>
          </a:p>
        </p:txBody>
      </p:sp>
      <p:sp>
        <p:nvSpPr>
          <p:cNvPr id="63" name="Rectangle 62">
            <a:extLst>
              <a:ext uri="{FF2B5EF4-FFF2-40B4-BE49-F238E27FC236}">
                <a16:creationId xmlns:a16="http://schemas.microsoft.com/office/drawing/2014/main" id="{A88A1B31-17E7-42B6-BA23-8C667F2FC126}"/>
              </a:ext>
            </a:extLst>
          </p:cNvPr>
          <p:cNvSpPr/>
          <p:nvPr/>
        </p:nvSpPr>
        <p:spPr>
          <a:xfrm>
            <a:off x="378148" y="1395480"/>
            <a:ext cx="2420054"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4" name="Rectangle 63">
            <a:extLst>
              <a:ext uri="{FF2B5EF4-FFF2-40B4-BE49-F238E27FC236}">
                <a16:creationId xmlns:a16="http://schemas.microsoft.com/office/drawing/2014/main" id="{EBB92E42-6CE6-4E1E-9C23-3B9D8A2E4C79}"/>
              </a:ext>
            </a:extLst>
          </p:cNvPr>
          <p:cNvSpPr/>
          <p:nvPr/>
        </p:nvSpPr>
        <p:spPr>
          <a:xfrm>
            <a:off x="378148" y="1374871"/>
            <a:ext cx="2420054" cy="252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48000" rtlCol="0" anchor="ctr"/>
          <a:lstStyle/>
          <a:p>
            <a:pPr algn="ctr"/>
            <a:r>
              <a:rPr lang="de-DE" sz="1000" b="1" dirty="0">
                <a:solidFill>
                  <a:schemeClr val="bg1"/>
                </a:solidFill>
              </a:rPr>
              <a:t>Status Quo</a:t>
            </a:r>
          </a:p>
        </p:txBody>
      </p:sp>
      <p:sp>
        <p:nvSpPr>
          <p:cNvPr id="102" name="Rectangle 101">
            <a:extLst>
              <a:ext uri="{FF2B5EF4-FFF2-40B4-BE49-F238E27FC236}">
                <a16:creationId xmlns:a16="http://schemas.microsoft.com/office/drawing/2014/main" id="{CACAD18F-BBD3-47DF-B52C-CBCA8DBB9BF1}"/>
              </a:ext>
            </a:extLst>
          </p:cNvPr>
          <p:cNvSpPr/>
          <p:nvPr/>
        </p:nvSpPr>
        <p:spPr>
          <a:xfrm>
            <a:off x="378149" y="4500711"/>
            <a:ext cx="2420054" cy="1800000"/>
          </a:xfrm>
          <a:prstGeom prst="rect">
            <a:avLst/>
          </a:prstGeom>
          <a:solidFill>
            <a:schemeClr val="bg1"/>
          </a:solidFill>
          <a:ln w="9525">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marL="174625" indent="-174625">
              <a:spcAft>
                <a:spcPts val="600"/>
              </a:spcAft>
              <a:buClr>
                <a:srgbClr val="003D7C"/>
              </a:buClr>
              <a:buFont typeface="Wingdings" pitchFamily="2" charset="2"/>
              <a:buChar char="n"/>
              <a:defRPr/>
            </a:pPr>
            <a:r>
              <a:rPr lang="de-DE" sz="1000" dirty="0">
                <a:solidFill>
                  <a:schemeClr val="tx1"/>
                </a:solidFill>
              </a:rPr>
              <a:t>Aktuelle Wärmeerzeugungsanlagen sowie zukünftige Wärmeprojekte und das Fernwärmenetz werden direkt vom Stadtwerk gehalten</a:t>
            </a:r>
          </a:p>
          <a:p>
            <a:pPr marL="174625" indent="-174625">
              <a:spcAft>
                <a:spcPts val="600"/>
              </a:spcAft>
              <a:buClr>
                <a:srgbClr val="003D7C"/>
              </a:buClr>
              <a:buFont typeface="Wingdings" pitchFamily="2" charset="2"/>
              <a:buChar char="n"/>
              <a:defRPr/>
            </a:pPr>
            <a:r>
              <a:rPr lang="de-DE" sz="1000" dirty="0">
                <a:solidFill>
                  <a:schemeClr val="tx1"/>
                </a:solidFill>
              </a:rPr>
              <a:t>Erhaltungs- und Erweiterungs-investitionen werden komplett vom Stadtwerk getragen</a:t>
            </a:r>
          </a:p>
        </p:txBody>
      </p:sp>
      <p:sp>
        <p:nvSpPr>
          <p:cNvPr id="103" name="Rectangle 102">
            <a:extLst>
              <a:ext uri="{FF2B5EF4-FFF2-40B4-BE49-F238E27FC236}">
                <a16:creationId xmlns:a16="http://schemas.microsoft.com/office/drawing/2014/main" id="{FBF2875F-368A-4E38-B28F-129CAA659A05}"/>
              </a:ext>
            </a:extLst>
          </p:cNvPr>
          <p:cNvSpPr/>
          <p:nvPr/>
        </p:nvSpPr>
        <p:spPr>
          <a:xfrm>
            <a:off x="378149" y="4500711"/>
            <a:ext cx="2420054" cy="2520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Kommentar</a:t>
            </a:r>
          </a:p>
        </p:txBody>
      </p:sp>
      <p:sp>
        <p:nvSpPr>
          <p:cNvPr id="67" name="Rectangle 66">
            <a:extLst>
              <a:ext uri="{FF2B5EF4-FFF2-40B4-BE49-F238E27FC236}">
                <a16:creationId xmlns:a16="http://schemas.microsoft.com/office/drawing/2014/main" id="{6E7E1708-CF60-46C1-B670-926AA5607BBC}"/>
              </a:ext>
            </a:extLst>
          </p:cNvPr>
          <p:cNvSpPr/>
          <p:nvPr/>
        </p:nvSpPr>
        <p:spPr>
          <a:xfrm>
            <a:off x="525474" y="1732349"/>
            <a:ext cx="2104854" cy="2623140"/>
          </a:xfrm>
          <a:prstGeom prst="rect">
            <a:avLst/>
          </a:prstGeom>
          <a:solidFill>
            <a:schemeClr val="bg1"/>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40" name="Graphic 39">
            <a:extLst>
              <a:ext uri="{FF2B5EF4-FFF2-40B4-BE49-F238E27FC236}">
                <a16:creationId xmlns:a16="http://schemas.microsoft.com/office/drawing/2014/main" id="{68C8E024-C046-470A-979D-B418DC9357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39572" y="3476101"/>
            <a:ext cx="476658" cy="476658"/>
          </a:xfrm>
          <a:prstGeom prst="rect">
            <a:avLst/>
          </a:prstGeom>
        </p:spPr>
      </p:pic>
      <p:sp>
        <p:nvSpPr>
          <p:cNvPr id="136" name="TextBox 135">
            <a:extLst>
              <a:ext uri="{FF2B5EF4-FFF2-40B4-BE49-F238E27FC236}">
                <a16:creationId xmlns:a16="http://schemas.microsoft.com/office/drawing/2014/main" id="{62EC684D-B0A9-4773-83F4-414E2AAEDE0C}"/>
              </a:ext>
            </a:extLst>
          </p:cNvPr>
          <p:cNvSpPr txBox="1"/>
          <p:nvPr/>
        </p:nvSpPr>
        <p:spPr>
          <a:xfrm>
            <a:off x="908515" y="4014486"/>
            <a:ext cx="1338773" cy="246221"/>
          </a:xfrm>
          <a:prstGeom prst="rect">
            <a:avLst/>
          </a:prstGeom>
          <a:noFill/>
        </p:spPr>
        <p:txBody>
          <a:bodyPr wrap="square" rtlCol="0">
            <a:spAutoFit/>
          </a:bodyPr>
          <a:lstStyle/>
          <a:p>
            <a:pPr algn="ctr"/>
            <a:r>
              <a:rPr lang="de-DE" sz="1000" dirty="0"/>
              <a:t>(Fern-) Wärmenetz</a:t>
            </a:r>
          </a:p>
        </p:txBody>
      </p:sp>
      <p:pic>
        <p:nvPicPr>
          <p:cNvPr id="160" name="Graphic 159">
            <a:extLst>
              <a:ext uri="{FF2B5EF4-FFF2-40B4-BE49-F238E27FC236}">
                <a16:creationId xmlns:a16="http://schemas.microsoft.com/office/drawing/2014/main" id="{9A139981-3EAF-45DF-B4C2-589FBEB30B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5739" y="2266026"/>
            <a:ext cx="524324" cy="524324"/>
          </a:xfrm>
          <a:prstGeom prst="rect">
            <a:avLst/>
          </a:prstGeom>
        </p:spPr>
      </p:pic>
      <p:sp>
        <p:nvSpPr>
          <p:cNvPr id="161" name="TextBox 160">
            <a:extLst>
              <a:ext uri="{FF2B5EF4-FFF2-40B4-BE49-F238E27FC236}">
                <a16:creationId xmlns:a16="http://schemas.microsoft.com/office/drawing/2014/main" id="{49DE0D50-66D3-4F70-8E40-82DC9E05B96C}"/>
              </a:ext>
            </a:extLst>
          </p:cNvPr>
          <p:cNvSpPr txBox="1"/>
          <p:nvPr/>
        </p:nvSpPr>
        <p:spPr>
          <a:xfrm>
            <a:off x="908515" y="2862358"/>
            <a:ext cx="1338773" cy="246221"/>
          </a:xfrm>
          <a:prstGeom prst="rect">
            <a:avLst/>
          </a:prstGeom>
          <a:noFill/>
        </p:spPr>
        <p:txBody>
          <a:bodyPr wrap="square" rtlCol="0">
            <a:spAutoFit/>
          </a:bodyPr>
          <a:lstStyle/>
          <a:p>
            <a:pPr algn="ctr"/>
            <a:r>
              <a:rPr lang="de-DE" sz="1000" dirty="0"/>
              <a:t>Wärmeerzeugung</a:t>
            </a:r>
          </a:p>
        </p:txBody>
      </p:sp>
      <p:sp>
        <p:nvSpPr>
          <p:cNvPr id="17" name="TextBox 16">
            <a:extLst>
              <a:ext uri="{FF2B5EF4-FFF2-40B4-BE49-F238E27FC236}">
                <a16:creationId xmlns:a16="http://schemas.microsoft.com/office/drawing/2014/main" id="{FA592B82-EF4B-CB8C-E022-99B2AAC0BF18}"/>
              </a:ext>
            </a:extLst>
          </p:cNvPr>
          <p:cNvSpPr txBox="1"/>
          <p:nvPr/>
        </p:nvSpPr>
        <p:spPr>
          <a:xfrm>
            <a:off x="1024689"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grpSp>
        <p:nvGrpSpPr>
          <p:cNvPr id="32" name="Group 31">
            <a:extLst>
              <a:ext uri="{FF2B5EF4-FFF2-40B4-BE49-F238E27FC236}">
                <a16:creationId xmlns:a16="http://schemas.microsoft.com/office/drawing/2014/main" id="{143B1BC3-67C7-BDEA-95AE-0B25DE91B47A}"/>
              </a:ext>
            </a:extLst>
          </p:cNvPr>
          <p:cNvGrpSpPr/>
          <p:nvPr/>
        </p:nvGrpSpPr>
        <p:grpSpPr>
          <a:xfrm rot="19578074">
            <a:off x="83312" y="1383666"/>
            <a:ext cx="1370711" cy="607596"/>
            <a:chOff x="442824" y="1227963"/>
            <a:chExt cx="1850400" cy="607596"/>
          </a:xfrm>
          <a:effectLst>
            <a:outerShdw blurRad="50800" dist="38100" dir="2700000" algn="tl" rotWithShape="0">
              <a:prstClr val="black">
                <a:alpha val="40000"/>
              </a:prstClr>
            </a:outerShdw>
          </a:effectLst>
        </p:grpSpPr>
        <p:sp>
          <p:nvSpPr>
            <p:cNvPr id="22" name="Rectangle 21">
              <a:extLst>
                <a:ext uri="{FF2B5EF4-FFF2-40B4-BE49-F238E27FC236}">
                  <a16:creationId xmlns:a16="http://schemas.microsoft.com/office/drawing/2014/main" id="{20D8A8C2-AFB8-522C-9317-7689843B2CF2}"/>
                </a:ext>
              </a:extLst>
            </p:cNvPr>
            <p:cNvSpPr/>
            <p:nvPr/>
          </p:nvSpPr>
          <p:spPr>
            <a:xfrm>
              <a:off x="442825" y="1227964"/>
              <a:ext cx="1848715" cy="607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solidFill>
                    <a:srgbClr val="00B050"/>
                  </a:solidFill>
                </a:rPr>
                <a:t>Beispiel Stadtwerk </a:t>
              </a:r>
              <a:r>
                <a:rPr lang="de-DE" sz="1000" b="1" dirty="0">
                  <a:solidFill>
                    <a:srgbClr val="00B050"/>
                  </a:solidFill>
                  <a:latin typeface="Univers for Metzler Light" panose="020B0403030202020203" pitchFamily="34" charset="0"/>
                </a:rPr>
                <a:t>−</a:t>
              </a:r>
            </a:p>
            <a:p>
              <a:pPr algn="ctr"/>
              <a:r>
                <a:rPr lang="de-DE" sz="1000" b="1" dirty="0">
                  <a:solidFill>
                    <a:srgbClr val="00B050"/>
                  </a:solidFill>
                  <a:latin typeface="Univers for Metzler Light" panose="020B0403030202020203" pitchFamily="34" charset="0"/>
                </a:rPr>
                <a:t>Beteiligung am Wärmebereich</a:t>
              </a:r>
              <a:endParaRPr lang="de-DE" sz="1000" b="1" dirty="0">
                <a:solidFill>
                  <a:srgbClr val="00B050"/>
                </a:solidFill>
              </a:endParaRPr>
            </a:p>
          </p:txBody>
        </p:sp>
        <p:cxnSp>
          <p:nvCxnSpPr>
            <p:cNvPr id="28" name="Straight Connector 27">
              <a:extLst>
                <a:ext uri="{FF2B5EF4-FFF2-40B4-BE49-F238E27FC236}">
                  <a16:creationId xmlns:a16="http://schemas.microsoft.com/office/drawing/2014/main" id="{65D1B749-A527-62B8-A948-D322D325D157}"/>
                </a:ext>
              </a:extLst>
            </p:cNvPr>
            <p:cNvCxnSpPr>
              <a:cxnSpLocks/>
            </p:cNvCxnSpPr>
            <p:nvPr/>
          </p:nvCxnSpPr>
          <p:spPr>
            <a:xfrm>
              <a:off x="442824" y="1227963"/>
              <a:ext cx="18504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0A71246-94ED-0AA7-8DA8-AC59CDFC7385}"/>
                </a:ext>
              </a:extLst>
            </p:cNvPr>
            <p:cNvCxnSpPr>
              <a:cxnSpLocks/>
            </p:cNvCxnSpPr>
            <p:nvPr/>
          </p:nvCxnSpPr>
          <p:spPr>
            <a:xfrm>
              <a:off x="442824" y="1835558"/>
              <a:ext cx="18504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BEFF592B-BF91-45F1-B323-4A82F75A8D7F}"/>
              </a:ext>
            </a:extLst>
          </p:cNvPr>
          <p:cNvSpPr/>
          <p:nvPr/>
        </p:nvSpPr>
        <p:spPr>
          <a:xfrm>
            <a:off x="3006845" y="4500711"/>
            <a:ext cx="7295046" cy="1800000"/>
          </a:xfrm>
          <a:prstGeom prst="rect">
            <a:avLst/>
          </a:prstGeom>
          <a:solidFill>
            <a:schemeClr val="bg1"/>
          </a:solidFill>
          <a:ln w="9525">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marL="174625" indent="-174625">
              <a:spcAft>
                <a:spcPts val="600"/>
              </a:spcAft>
              <a:buClr>
                <a:srgbClr val="003D7C"/>
              </a:buClr>
              <a:buFont typeface="Wingdings" pitchFamily="2" charset="2"/>
              <a:buChar char="n"/>
              <a:defRPr/>
            </a:pPr>
            <a:r>
              <a:rPr lang="de-DE" sz="1000" dirty="0">
                <a:solidFill>
                  <a:schemeClr val="tx1"/>
                </a:solidFill>
              </a:rPr>
              <a:t>Strukturierung: (Fern-)Wärmegeschäft wird in "</a:t>
            </a:r>
            <a:r>
              <a:rPr lang="de-DE" sz="1000" dirty="0" err="1">
                <a:solidFill>
                  <a:schemeClr val="tx1"/>
                </a:solidFill>
              </a:rPr>
              <a:t>HoldCos</a:t>
            </a:r>
            <a:r>
              <a:rPr lang="de-DE" sz="1000" dirty="0">
                <a:solidFill>
                  <a:schemeClr val="tx1"/>
                </a:solidFill>
              </a:rPr>
              <a:t>" ausgegliedert, an denen Investoren beteiligt werden können</a:t>
            </a:r>
          </a:p>
          <a:p>
            <a:pPr marL="174625" indent="-174625">
              <a:spcAft>
                <a:spcPts val="200"/>
              </a:spcAft>
              <a:buClr>
                <a:srgbClr val="003D7C"/>
              </a:buClr>
              <a:buFont typeface="Wingdings" pitchFamily="2" charset="2"/>
              <a:buChar char="n"/>
              <a:defRPr/>
            </a:pPr>
            <a:r>
              <a:rPr lang="de-DE" sz="1000" dirty="0">
                <a:solidFill>
                  <a:schemeClr val="tx1"/>
                </a:solidFill>
              </a:rPr>
              <a:t>Ausgewählte Themen und Herausforderungen: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Erarbeitung eines stand-</a:t>
            </a:r>
            <a:r>
              <a:rPr lang="de-DE" sz="1000" dirty="0" err="1">
                <a:solidFill>
                  <a:schemeClr val="tx1"/>
                </a:solidFill>
              </a:rPr>
              <a:t>alone</a:t>
            </a:r>
            <a:r>
              <a:rPr lang="de-DE" sz="1000" dirty="0">
                <a:solidFill>
                  <a:schemeClr val="tx1"/>
                </a:solidFill>
              </a:rPr>
              <a:t> Business Plans für jeweilige </a:t>
            </a:r>
            <a:r>
              <a:rPr lang="de-DE" sz="1000" dirty="0" err="1">
                <a:solidFill>
                  <a:schemeClr val="tx1"/>
                </a:solidFill>
              </a:rPr>
              <a:t>HoldCo</a:t>
            </a:r>
            <a:r>
              <a:rPr lang="de-DE" sz="1000" dirty="0">
                <a:solidFill>
                  <a:schemeClr val="tx1"/>
                </a:solidFill>
              </a:rPr>
              <a:t> inklusive Bilanz, GuV, Investitions- und CF-Planung</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Mittelfristig muss aus Sicht der Investoren ein attraktives Rendite-Risiko-Profil darstellbar sein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Dienstleistungen in </a:t>
            </a:r>
            <a:r>
              <a:rPr lang="de-DE" sz="1000" dirty="0" err="1">
                <a:solidFill>
                  <a:schemeClr val="tx1"/>
                </a:solidFill>
              </a:rPr>
              <a:t>HoldCo</a:t>
            </a:r>
            <a:r>
              <a:rPr lang="de-DE" sz="1000" dirty="0">
                <a:solidFill>
                  <a:schemeClr val="tx1"/>
                </a:solidFill>
              </a:rPr>
              <a:t> über eigenes Personal und/oder Dienstleistungsverträgen mit dem Stadtwerk</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Gemeinsame Nutzung der Infrastruktur und andere Stadtwerksaktivitäten müssen abgegrenzt und geregelt werden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Zusammenarbeit zwischen Investor und Stadtwerk ist in einer Gesellschaftsvereinbarung festzulegen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Rechtliche, steuerliche und regulatorische Aspekte sind zu prüfen</a:t>
            </a:r>
          </a:p>
          <a:p>
            <a:pPr marL="174625" indent="-174625">
              <a:spcAft>
                <a:spcPts val="600"/>
              </a:spcAft>
              <a:buClr>
                <a:srgbClr val="003D7C"/>
              </a:buClr>
              <a:buFont typeface="Wingdings" pitchFamily="2" charset="2"/>
              <a:buChar char="n"/>
              <a:defRPr/>
            </a:pPr>
            <a:endParaRPr lang="de-DE" sz="1000" dirty="0">
              <a:solidFill>
                <a:schemeClr val="tx1"/>
              </a:solidFill>
            </a:endParaRPr>
          </a:p>
        </p:txBody>
      </p:sp>
      <p:sp>
        <p:nvSpPr>
          <p:cNvPr id="14" name="Rectangle 13">
            <a:extLst>
              <a:ext uri="{FF2B5EF4-FFF2-40B4-BE49-F238E27FC236}">
                <a16:creationId xmlns:a16="http://schemas.microsoft.com/office/drawing/2014/main" id="{8BDF241B-2AA4-443E-B149-7FBD56434E29}"/>
              </a:ext>
            </a:extLst>
          </p:cNvPr>
          <p:cNvSpPr/>
          <p:nvPr/>
        </p:nvSpPr>
        <p:spPr>
          <a:xfrm>
            <a:off x="3006845" y="4500711"/>
            <a:ext cx="7295046" cy="2520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Kommentar</a:t>
            </a:r>
          </a:p>
        </p:txBody>
      </p:sp>
      <p:sp>
        <p:nvSpPr>
          <p:cNvPr id="15" name="Rectangle 14">
            <a:extLst>
              <a:ext uri="{FF2B5EF4-FFF2-40B4-BE49-F238E27FC236}">
                <a16:creationId xmlns:a16="http://schemas.microsoft.com/office/drawing/2014/main" id="{DE7E5B78-6D19-4BAB-8814-9F9474C28168}"/>
              </a:ext>
            </a:extLst>
          </p:cNvPr>
          <p:cNvSpPr/>
          <p:nvPr/>
        </p:nvSpPr>
        <p:spPr>
          <a:xfrm>
            <a:off x="3006846" y="1395480"/>
            <a:ext cx="3543201"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tangle 15">
            <a:extLst>
              <a:ext uri="{FF2B5EF4-FFF2-40B4-BE49-F238E27FC236}">
                <a16:creationId xmlns:a16="http://schemas.microsoft.com/office/drawing/2014/main" id="{FD96F39D-0D9C-4FA4-A015-708EFDF5C16F}"/>
              </a:ext>
            </a:extLst>
          </p:cNvPr>
          <p:cNvSpPr/>
          <p:nvPr/>
        </p:nvSpPr>
        <p:spPr>
          <a:xfrm>
            <a:off x="3006846" y="1374871"/>
            <a:ext cx="3543201"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Option 1</a:t>
            </a:r>
          </a:p>
        </p:txBody>
      </p:sp>
      <p:sp>
        <p:nvSpPr>
          <p:cNvPr id="3" name="Freeform: Shape 2">
            <a:extLst>
              <a:ext uri="{FF2B5EF4-FFF2-40B4-BE49-F238E27FC236}">
                <a16:creationId xmlns:a16="http://schemas.microsoft.com/office/drawing/2014/main" id="{F6F10023-7EDA-0F5D-7B09-D60C9D106032}"/>
              </a:ext>
            </a:extLst>
          </p:cNvPr>
          <p:cNvSpPr/>
          <p:nvPr/>
        </p:nvSpPr>
        <p:spPr>
          <a:xfrm>
            <a:off x="3111919" y="1719957"/>
            <a:ext cx="2104854" cy="2635532"/>
          </a:xfrm>
          <a:custGeom>
            <a:avLst/>
            <a:gdLst>
              <a:gd name="connsiteX0" fmla="*/ 0 w 2104854"/>
              <a:gd name="connsiteY0" fmla="*/ 0 h 2702722"/>
              <a:gd name="connsiteX1" fmla="*/ 2104854 w 2104854"/>
              <a:gd name="connsiteY1" fmla="*/ 0 h 2702722"/>
              <a:gd name="connsiteX2" fmla="*/ 2104854 w 2104854"/>
              <a:gd name="connsiteY2" fmla="*/ 893047 h 2702722"/>
              <a:gd name="connsiteX3" fmla="*/ 550222 w 2104854"/>
              <a:gd name="connsiteY3" fmla="*/ 893047 h 2702722"/>
              <a:gd name="connsiteX4" fmla="*/ 550222 w 2104854"/>
              <a:gd name="connsiteY4" fmla="*/ 2702722 h 2702722"/>
              <a:gd name="connsiteX5" fmla="*/ 0 w 2104854"/>
              <a:gd name="connsiteY5" fmla="*/ 2702722 h 2702722"/>
              <a:gd name="connsiteX0" fmla="*/ 0 w 2104854"/>
              <a:gd name="connsiteY0" fmla="*/ 0 h 2702722"/>
              <a:gd name="connsiteX1" fmla="*/ 2104854 w 2104854"/>
              <a:gd name="connsiteY1" fmla="*/ 0 h 2702722"/>
              <a:gd name="connsiteX2" fmla="*/ 2104854 w 2104854"/>
              <a:gd name="connsiteY2" fmla="*/ 893047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 name="connsiteX0" fmla="*/ 0 w 2104854"/>
              <a:gd name="connsiteY0" fmla="*/ 0 h 2702722"/>
              <a:gd name="connsiteX1" fmla="*/ 2104854 w 2104854"/>
              <a:gd name="connsiteY1" fmla="*/ 0 h 2702722"/>
              <a:gd name="connsiteX2" fmla="*/ 2104854 w 2104854"/>
              <a:gd name="connsiteY2" fmla="*/ 764108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 name="connsiteX0" fmla="*/ 0 w 2104854"/>
              <a:gd name="connsiteY0" fmla="*/ 0 h 2702722"/>
              <a:gd name="connsiteX1" fmla="*/ 2104854 w 2104854"/>
              <a:gd name="connsiteY1" fmla="*/ 0 h 2702722"/>
              <a:gd name="connsiteX2" fmla="*/ 2104854 w 2104854"/>
              <a:gd name="connsiteY2" fmla="*/ 769068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4854" h="2702722">
                <a:moveTo>
                  <a:pt x="0" y="0"/>
                </a:moveTo>
                <a:lnTo>
                  <a:pt x="2104854" y="0"/>
                </a:lnTo>
                <a:lnTo>
                  <a:pt x="2104854" y="769068"/>
                </a:lnTo>
                <a:lnTo>
                  <a:pt x="550222" y="778986"/>
                </a:lnTo>
                <a:lnTo>
                  <a:pt x="550222" y="2702722"/>
                </a:lnTo>
                <a:lnTo>
                  <a:pt x="0" y="2702722"/>
                </a:lnTo>
                <a:lnTo>
                  <a:pt x="0" y="0"/>
                </a:lnTo>
                <a:close/>
              </a:path>
            </a:pathLst>
          </a:custGeom>
          <a:solidFill>
            <a:schemeClr val="bg1"/>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000" tIns="18000" rIns="18000" bIns="18000" rtlCol="0" anchor="ctr">
            <a:noAutofit/>
          </a:bodyPr>
          <a:lstStyle/>
          <a:p>
            <a:pPr algn="ctr"/>
            <a:endParaRPr lang="de-DE" sz="800" b="1" dirty="0">
              <a:solidFill>
                <a:schemeClr val="bg1"/>
              </a:solidFill>
            </a:endParaRPr>
          </a:p>
        </p:txBody>
      </p:sp>
      <p:sp>
        <p:nvSpPr>
          <p:cNvPr id="10" name="Rectangle 9">
            <a:extLst>
              <a:ext uri="{FF2B5EF4-FFF2-40B4-BE49-F238E27FC236}">
                <a16:creationId xmlns:a16="http://schemas.microsoft.com/office/drawing/2014/main" id="{6B5EC293-11F1-B263-2D2C-D197AF92A15A}"/>
              </a:ext>
            </a:extLst>
          </p:cNvPr>
          <p:cNvSpPr/>
          <p:nvPr/>
        </p:nvSpPr>
        <p:spPr>
          <a:xfrm>
            <a:off x="5272159" y="2975145"/>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dirty="0">
                <a:solidFill>
                  <a:schemeClr val="accent6"/>
                </a:solidFill>
              </a:rPr>
              <a:t>Minderheit</a:t>
            </a:r>
          </a:p>
        </p:txBody>
      </p:sp>
      <p:cxnSp>
        <p:nvCxnSpPr>
          <p:cNvPr id="19" name="Connector: Elbow 18">
            <a:extLst>
              <a:ext uri="{FF2B5EF4-FFF2-40B4-BE49-F238E27FC236}">
                <a16:creationId xmlns:a16="http://schemas.microsoft.com/office/drawing/2014/main" id="{B4559778-7202-EE4E-0B4D-99B78491525E}"/>
              </a:ext>
            </a:extLst>
          </p:cNvPr>
          <p:cNvCxnSpPr>
            <a:cxnSpLocks/>
            <a:stCxn id="37" idx="2"/>
            <a:endCxn id="39" idx="3"/>
          </p:cNvCxnSpPr>
          <p:nvPr/>
        </p:nvCxnSpPr>
        <p:spPr>
          <a:xfrm rot="5400000">
            <a:off x="5361952" y="2379507"/>
            <a:ext cx="396071" cy="710674"/>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1D9B09E-CF64-5C88-F17D-CF7F57CF22EF}"/>
              </a:ext>
            </a:extLst>
          </p:cNvPr>
          <p:cNvSpPr txBox="1"/>
          <p:nvPr/>
        </p:nvSpPr>
        <p:spPr>
          <a:xfrm>
            <a:off x="4454460" y="2490069"/>
            <a:ext cx="567771" cy="246221"/>
          </a:xfrm>
          <a:prstGeom prst="rect">
            <a:avLst/>
          </a:prstGeom>
          <a:noFill/>
        </p:spPr>
        <p:txBody>
          <a:bodyPr wrap="square" rtlCol="0">
            <a:spAutoFit/>
          </a:bodyPr>
          <a:lstStyle/>
          <a:p>
            <a:pPr algn="ctr"/>
            <a:r>
              <a:rPr lang="de-DE" sz="1000" i="1" dirty="0"/>
              <a:t>&gt;50%</a:t>
            </a:r>
          </a:p>
        </p:txBody>
      </p:sp>
      <p:sp>
        <p:nvSpPr>
          <p:cNvPr id="29" name="Rectangle 28">
            <a:extLst>
              <a:ext uri="{FF2B5EF4-FFF2-40B4-BE49-F238E27FC236}">
                <a16:creationId xmlns:a16="http://schemas.microsoft.com/office/drawing/2014/main" id="{71F2BBF9-7A1E-68DE-79B7-8C9780009836}"/>
              </a:ext>
            </a:extLst>
          </p:cNvPr>
          <p:cNvSpPr/>
          <p:nvPr/>
        </p:nvSpPr>
        <p:spPr>
          <a:xfrm>
            <a:off x="3767006" y="2752860"/>
            <a:ext cx="1437644" cy="1602629"/>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30" name="Graphic 29">
            <a:extLst>
              <a:ext uri="{FF2B5EF4-FFF2-40B4-BE49-F238E27FC236}">
                <a16:creationId xmlns:a16="http://schemas.microsoft.com/office/drawing/2014/main" id="{9A39981D-143E-13D2-9010-2C2ACE70FF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60271" y="3875439"/>
            <a:ext cx="295967" cy="295967"/>
          </a:xfrm>
          <a:prstGeom prst="rect">
            <a:avLst/>
          </a:prstGeom>
        </p:spPr>
      </p:pic>
      <p:sp>
        <p:nvSpPr>
          <p:cNvPr id="33" name="TextBox 32">
            <a:extLst>
              <a:ext uri="{FF2B5EF4-FFF2-40B4-BE49-F238E27FC236}">
                <a16:creationId xmlns:a16="http://schemas.microsoft.com/office/drawing/2014/main" id="{F95B6D52-691D-C87E-7142-8A898415CB7C}"/>
              </a:ext>
            </a:extLst>
          </p:cNvPr>
          <p:cNvSpPr txBox="1"/>
          <p:nvPr/>
        </p:nvSpPr>
        <p:spPr>
          <a:xfrm>
            <a:off x="4164443" y="3852639"/>
            <a:ext cx="1005840" cy="369332"/>
          </a:xfrm>
          <a:prstGeom prst="rect">
            <a:avLst/>
          </a:prstGeom>
          <a:noFill/>
        </p:spPr>
        <p:txBody>
          <a:bodyPr wrap="square" rtlCol="0">
            <a:spAutoFit/>
          </a:bodyPr>
          <a:lstStyle/>
          <a:p>
            <a:pPr algn="ctr"/>
            <a:r>
              <a:rPr lang="de-DE" sz="900" dirty="0"/>
              <a:t>(Fern-) Wärmenetze</a:t>
            </a:r>
          </a:p>
        </p:txBody>
      </p:sp>
      <p:pic>
        <p:nvPicPr>
          <p:cNvPr id="34" name="Graphic 33">
            <a:extLst>
              <a:ext uri="{FF2B5EF4-FFF2-40B4-BE49-F238E27FC236}">
                <a16:creationId xmlns:a16="http://schemas.microsoft.com/office/drawing/2014/main" id="{31D47D86-EDC1-A763-262B-9D9255F20E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5472" y="3350710"/>
            <a:ext cx="325564" cy="325564"/>
          </a:xfrm>
          <a:prstGeom prst="rect">
            <a:avLst/>
          </a:prstGeom>
        </p:spPr>
      </p:pic>
      <p:sp>
        <p:nvSpPr>
          <p:cNvPr id="36" name="TextBox 35">
            <a:extLst>
              <a:ext uri="{FF2B5EF4-FFF2-40B4-BE49-F238E27FC236}">
                <a16:creationId xmlns:a16="http://schemas.microsoft.com/office/drawing/2014/main" id="{E637DC5E-CFA5-CB78-732F-91DF97EB0CC7}"/>
              </a:ext>
            </a:extLst>
          </p:cNvPr>
          <p:cNvSpPr txBox="1"/>
          <p:nvPr/>
        </p:nvSpPr>
        <p:spPr>
          <a:xfrm>
            <a:off x="4110349" y="3405216"/>
            <a:ext cx="1106424" cy="230832"/>
          </a:xfrm>
          <a:prstGeom prst="rect">
            <a:avLst/>
          </a:prstGeom>
          <a:noFill/>
        </p:spPr>
        <p:txBody>
          <a:bodyPr wrap="square" rtlCol="0">
            <a:spAutoFit/>
          </a:bodyPr>
          <a:lstStyle/>
          <a:p>
            <a:pPr algn="ctr"/>
            <a:r>
              <a:rPr lang="de-DE" sz="900" dirty="0"/>
              <a:t>Wärmeerzeugung</a:t>
            </a:r>
          </a:p>
        </p:txBody>
      </p:sp>
      <p:sp>
        <p:nvSpPr>
          <p:cNvPr id="37" name="Rectangle 36">
            <a:extLst>
              <a:ext uri="{FF2B5EF4-FFF2-40B4-BE49-F238E27FC236}">
                <a16:creationId xmlns:a16="http://schemas.microsoft.com/office/drawing/2014/main" id="{AEE47D94-D1E0-F641-1928-B9E375179B9B}"/>
              </a:ext>
            </a:extLst>
          </p:cNvPr>
          <p:cNvSpPr/>
          <p:nvPr/>
        </p:nvSpPr>
        <p:spPr>
          <a:xfrm>
            <a:off x="5546454" y="2290896"/>
            <a:ext cx="737740"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a:t>
            </a:r>
          </a:p>
        </p:txBody>
      </p:sp>
      <p:cxnSp>
        <p:nvCxnSpPr>
          <p:cNvPr id="43" name="Straight Connector 42">
            <a:extLst>
              <a:ext uri="{FF2B5EF4-FFF2-40B4-BE49-F238E27FC236}">
                <a16:creationId xmlns:a16="http://schemas.microsoft.com/office/drawing/2014/main" id="{987327EF-2B80-8DCE-E5DE-F3158B19EC74}"/>
              </a:ext>
            </a:extLst>
          </p:cNvPr>
          <p:cNvCxnSpPr>
            <a:cxnSpLocks/>
          </p:cNvCxnSpPr>
          <p:nvPr/>
        </p:nvCxnSpPr>
        <p:spPr>
          <a:xfrm>
            <a:off x="4485828" y="2451939"/>
            <a:ext cx="0" cy="29972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BB0672D-1A47-140C-26D1-B57F932BDA11}"/>
              </a:ext>
            </a:extLst>
          </p:cNvPr>
          <p:cNvSpPr txBox="1"/>
          <p:nvPr/>
        </p:nvSpPr>
        <p:spPr>
          <a:xfrm>
            <a:off x="3603026"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sp>
        <p:nvSpPr>
          <p:cNvPr id="45" name="Rectangle 44">
            <a:extLst>
              <a:ext uri="{FF2B5EF4-FFF2-40B4-BE49-F238E27FC236}">
                <a16:creationId xmlns:a16="http://schemas.microsoft.com/office/drawing/2014/main" id="{A02A6E4C-1723-98C5-8101-3ECC3DF38792}"/>
              </a:ext>
            </a:extLst>
          </p:cNvPr>
          <p:cNvSpPr/>
          <p:nvPr/>
        </p:nvSpPr>
        <p:spPr>
          <a:xfrm>
            <a:off x="9462047" y="2994059"/>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spc="-10" dirty="0">
                <a:solidFill>
                  <a:schemeClr val="accent6"/>
                </a:solidFill>
              </a:rPr>
              <a:t>Minderheit</a:t>
            </a:r>
          </a:p>
        </p:txBody>
      </p:sp>
      <p:cxnSp>
        <p:nvCxnSpPr>
          <p:cNvPr id="46" name="Connector: Elbow 45">
            <a:extLst>
              <a:ext uri="{FF2B5EF4-FFF2-40B4-BE49-F238E27FC236}">
                <a16:creationId xmlns:a16="http://schemas.microsoft.com/office/drawing/2014/main" id="{1EF9491C-E360-0885-B4D1-A38A1C9E576B}"/>
              </a:ext>
            </a:extLst>
          </p:cNvPr>
          <p:cNvCxnSpPr>
            <a:cxnSpLocks/>
            <a:stCxn id="52" idx="2"/>
            <a:endCxn id="59" idx="3"/>
          </p:cNvCxnSpPr>
          <p:nvPr/>
        </p:nvCxnSpPr>
        <p:spPr>
          <a:xfrm rot="5400000">
            <a:off x="9552695" y="2591975"/>
            <a:ext cx="403783" cy="293451"/>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E8FF176-32C8-22CC-D900-C735983CE532}"/>
              </a:ext>
            </a:extLst>
          </p:cNvPr>
          <p:cNvSpPr txBox="1"/>
          <p:nvPr/>
        </p:nvSpPr>
        <p:spPr>
          <a:xfrm>
            <a:off x="7871746" y="2439424"/>
            <a:ext cx="567771" cy="246221"/>
          </a:xfrm>
          <a:prstGeom prst="rect">
            <a:avLst/>
          </a:prstGeom>
          <a:noFill/>
        </p:spPr>
        <p:txBody>
          <a:bodyPr wrap="square" rtlCol="0">
            <a:spAutoFit/>
          </a:bodyPr>
          <a:lstStyle/>
          <a:p>
            <a:pPr algn="ctr"/>
            <a:r>
              <a:rPr lang="de-DE" sz="1000" i="1" dirty="0"/>
              <a:t>100%</a:t>
            </a:r>
          </a:p>
        </p:txBody>
      </p:sp>
      <p:sp>
        <p:nvSpPr>
          <p:cNvPr id="49" name="Rectangle 48">
            <a:extLst>
              <a:ext uri="{FF2B5EF4-FFF2-40B4-BE49-F238E27FC236}">
                <a16:creationId xmlns:a16="http://schemas.microsoft.com/office/drawing/2014/main" id="{DC95D9C9-06CB-8037-5A14-E0FA5B32697D}"/>
              </a:ext>
            </a:extLst>
          </p:cNvPr>
          <p:cNvSpPr/>
          <p:nvPr/>
        </p:nvSpPr>
        <p:spPr>
          <a:xfrm>
            <a:off x="7455635" y="2706027"/>
            <a:ext cx="988580" cy="1649462"/>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50" name="Graphic 49">
            <a:extLst>
              <a:ext uri="{FF2B5EF4-FFF2-40B4-BE49-F238E27FC236}">
                <a16:creationId xmlns:a16="http://schemas.microsoft.com/office/drawing/2014/main" id="{A94DFE7A-5256-2018-D40E-FD9C844F58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87143" y="3250324"/>
            <a:ext cx="325564" cy="325564"/>
          </a:xfrm>
          <a:prstGeom prst="rect">
            <a:avLst/>
          </a:prstGeom>
        </p:spPr>
      </p:pic>
      <p:sp>
        <p:nvSpPr>
          <p:cNvPr id="51" name="TextBox 50">
            <a:extLst>
              <a:ext uri="{FF2B5EF4-FFF2-40B4-BE49-F238E27FC236}">
                <a16:creationId xmlns:a16="http://schemas.microsoft.com/office/drawing/2014/main" id="{33B72D39-B52C-2BE3-7EDF-4A78AF77C65C}"/>
              </a:ext>
            </a:extLst>
          </p:cNvPr>
          <p:cNvSpPr txBox="1"/>
          <p:nvPr/>
        </p:nvSpPr>
        <p:spPr>
          <a:xfrm>
            <a:off x="7369020" y="3987363"/>
            <a:ext cx="1161810" cy="369332"/>
          </a:xfrm>
          <a:prstGeom prst="rect">
            <a:avLst/>
          </a:prstGeom>
          <a:noFill/>
        </p:spPr>
        <p:txBody>
          <a:bodyPr wrap="square" rtlCol="0">
            <a:spAutoFit/>
          </a:bodyPr>
          <a:lstStyle/>
          <a:p>
            <a:pPr algn="ctr"/>
            <a:r>
              <a:rPr lang="de-DE" sz="900" dirty="0"/>
              <a:t>Nahwärmenetze und Contracting</a:t>
            </a:r>
          </a:p>
        </p:txBody>
      </p:sp>
      <p:sp>
        <p:nvSpPr>
          <p:cNvPr id="52" name="Rectangle 51">
            <a:extLst>
              <a:ext uri="{FF2B5EF4-FFF2-40B4-BE49-F238E27FC236}">
                <a16:creationId xmlns:a16="http://schemas.microsoft.com/office/drawing/2014/main" id="{66221C8C-EFD2-75C0-FB36-0946F2312FFB}"/>
              </a:ext>
            </a:extLst>
          </p:cNvPr>
          <p:cNvSpPr/>
          <p:nvPr/>
        </p:nvSpPr>
        <p:spPr>
          <a:xfrm>
            <a:off x="9553818" y="2290896"/>
            <a:ext cx="694985"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 2</a:t>
            </a:r>
            <a:endParaRPr lang="de-DE" sz="800" b="1" dirty="0">
              <a:solidFill>
                <a:schemeClr val="bg1"/>
              </a:solidFill>
            </a:endParaRPr>
          </a:p>
        </p:txBody>
      </p:sp>
      <p:cxnSp>
        <p:nvCxnSpPr>
          <p:cNvPr id="54" name="Straight Connector 53">
            <a:extLst>
              <a:ext uri="{FF2B5EF4-FFF2-40B4-BE49-F238E27FC236}">
                <a16:creationId xmlns:a16="http://schemas.microsoft.com/office/drawing/2014/main" id="{808A8FB9-CD7B-756F-FDD2-51A54C3A4E44}"/>
              </a:ext>
            </a:extLst>
          </p:cNvPr>
          <p:cNvCxnSpPr>
            <a:cxnSpLocks/>
          </p:cNvCxnSpPr>
          <p:nvPr/>
        </p:nvCxnSpPr>
        <p:spPr>
          <a:xfrm>
            <a:off x="7864199" y="2047870"/>
            <a:ext cx="0" cy="855157"/>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811AB3D8-AD66-3EDB-7EB0-AC5D84CE6724}"/>
              </a:ext>
            </a:extLst>
          </p:cNvPr>
          <p:cNvSpPr/>
          <p:nvPr/>
        </p:nvSpPr>
        <p:spPr>
          <a:xfrm>
            <a:off x="8619279" y="2706027"/>
            <a:ext cx="988580" cy="1649462"/>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61" name="Graphic 60">
            <a:extLst>
              <a:ext uri="{FF2B5EF4-FFF2-40B4-BE49-F238E27FC236}">
                <a16:creationId xmlns:a16="http://schemas.microsoft.com/office/drawing/2014/main" id="{258AE563-DCE2-8F57-930F-CC097A479F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65586" y="3650191"/>
            <a:ext cx="295967" cy="295967"/>
          </a:xfrm>
          <a:prstGeom prst="rect">
            <a:avLst/>
          </a:prstGeom>
        </p:spPr>
      </p:pic>
      <p:sp>
        <p:nvSpPr>
          <p:cNvPr id="62" name="TextBox 61">
            <a:extLst>
              <a:ext uri="{FF2B5EF4-FFF2-40B4-BE49-F238E27FC236}">
                <a16:creationId xmlns:a16="http://schemas.microsoft.com/office/drawing/2014/main" id="{9B40765A-71A7-8A4E-9D5A-35A44373EC0C}"/>
              </a:ext>
            </a:extLst>
          </p:cNvPr>
          <p:cNvSpPr txBox="1"/>
          <p:nvPr/>
        </p:nvSpPr>
        <p:spPr>
          <a:xfrm>
            <a:off x="8505036" y="3987363"/>
            <a:ext cx="1217066" cy="507831"/>
          </a:xfrm>
          <a:prstGeom prst="rect">
            <a:avLst/>
          </a:prstGeom>
          <a:noFill/>
        </p:spPr>
        <p:txBody>
          <a:bodyPr wrap="square" rtlCol="0">
            <a:spAutoFit/>
          </a:bodyPr>
          <a:lstStyle/>
          <a:p>
            <a:pPr algn="ctr"/>
            <a:r>
              <a:rPr lang="de-DE" sz="900" dirty="0"/>
              <a:t>(Fern-) Wärmenetz und -erzeugung</a:t>
            </a:r>
          </a:p>
        </p:txBody>
      </p:sp>
      <p:cxnSp>
        <p:nvCxnSpPr>
          <p:cNvPr id="68" name="Straight Connector 67">
            <a:extLst>
              <a:ext uri="{FF2B5EF4-FFF2-40B4-BE49-F238E27FC236}">
                <a16:creationId xmlns:a16="http://schemas.microsoft.com/office/drawing/2014/main" id="{3CCA1695-050A-2723-054D-73BA3D3CD1A4}"/>
              </a:ext>
            </a:extLst>
          </p:cNvPr>
          <p:cNvCxnSpPr>
            <a:cxnSpLocks/>
          </p:cNvCxnSpPr>
          <p:nvPr/>
        </p:nvCxnSpPr>
        <p:spPr>
          <a:xfrm>
            <a:off x="9221521" y="2047870"/>
            <a:ext cx="0" cy="940673"/>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AD46CCE8-79AC-8F35-D4B0-3824737C644B}"/>
              </a:ext>
            </a:extLst>
          </p:cNvPr>
          <p:cNvCxnSpPr>
            <a:cxnSpLocks/>
            <a:endCxn id="53" idx="1"/>
          </p:cNvCxnSpPr>
          <p:nvPr/>
        </p:nvCxnSpPr>
        <p:spPr>
          <a:xfrm rot="16200000" flipH="1">
            <a:off x="6997605" y="2482562"/>
            <a:ext cx="562782" cy="353277"/>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CFD9B61F-9034-BD43-9E6E-87759632D2BC}"/>
              </a:ext>
            </a:extLst>
          </p:cNvPr>
          <p:cNvSpPr/>
          <p:nvPr/>
        </p:nvSpPr>
        <p:spPr>
          <a:xfrm>
            <a:off x="6618170" y="2972629"/>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spc="-10" dirty="0">
                <a:solidFill>
                  <a:schemeClr val="accent6"/>
                </a:solidFill>
              </a:rPr>
              <a:t>Minderheit</a:t>
            </a:r>
          </a:p>
        </p:txBody>
      </p:sp>
      <p:sp>
        <p:nvSpPr>
          <p:cNvPr id="71" name="TextBox 70">
            <a:extLst>
              <a:ext uri="{FF2B5EF4-FFF2-40B4-BE49-F238E27FC236}">
                <a16:creationId xmlns:a16="http://schemas.microsoft.com/office/drawing/2014/main" id="{844C44BA-4B48-2A61-EAC9-6BFFB45E06F7}"/>
              </a:ext>
            </a:extLst>
          </p:cNvPr>
          <p:cNvSpPr txBox="1"/>
          <p:nvPr/>
        </p:nvSpPr>
        <p:spPr>
          <a:xfrm>
            <a:off x="8632877" y="2439424"/>
            <a:ext cx="567771" cy="246221"/>
          </a:xfrm>
          <a:prstGeom prst="rect">
            <a:avLst/>
          </a:prstGeom>
          <a:noFill/>
        </p:spPr>
        <p:txBody>
          <a:bodyPr wrap="square" rtlCol="0">
            <a:spAutoFit/>
          </a:bodyPr>
          <a:lstStyle/>
          <a:p>
            <a:pPr algn="ctr"/>
            <a:r>
              <a:rPr lang="de-DE" sz="1000" i="1" dirty="0"/>
              <a:t>100%</a:t>
            </a:r>
          </a:p>
        </p:txBody>
      </p:sp>
      <p:sp>
        <p:nvSpPr>
          <p:cNvPr id="72" name="Rectangle 71">
            <a:extLst>
              <a:ext uri="{FF2B5EF4-FFF2-40B4-BE49-F238E27FC236}">
                <a16:creationId xmlns:a16="http://schemas.microsoft.com/office/drawing/2014/main" id="{DC94F09E-0BA2-F499-C5CB-EBF7B8D1D819}"/>
              </a:ext>
            </a:extLst>
          </p:cNvPr>
          <p:cNvSpPr/>
          <p:nvPr/>
        </p:nvSpPr>
        <p:spPr>
          <a:xfrm>
            <a:off x="8285911" y="3411351"/>
            <a:ext cx="513899" cy="325564"/>
          </a:xfrm>
          <a:prstGeom prst="rect">
            <a:avLst/>
          </a:prstGeom>
          <a:solidFill>
            <a:schemeClr val="accent4">
              <a:lumMod val="20000"/>
              <a:lumOff val="80000"/>
            </a:schemeClr>
          </a:solid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accent1"/>
                </a:solidFill>
              </a:rPr>
              <a:t>und/</a:t>
            </a:r>
          </a:p>
          <a:p>
            <a:pPr algn="ctr"/>
            <a:r>
              <a:rPr lang="de-DE" sz="900" b="1" dirty="0">
                <a:solidFill>
                  <a:schemeClr val="accent1"/>
                </a:solidFill>
              </a:rPr>
              <a:t>oder</a:t>
            </a:r>
            <a:endParaRPr lang="de-DE" sz="900" i="1" dirty="0">
              <a:solidFill>
                <a:schemeClr val="accent1"/>
              </a:solidFill>
            </a:endParaRPr>
          </a:p>
        </p:txBody>
      </p:sp>
      <p:sp>
        <p:nvSpPr>
          <p:cNvPr id="73" name="Rectangle 72">
            <a:extLst>
              <a:ext uri="{FF2B5EF4-FFF2-40B4-BE49-F238E27FC236}">
                <a16:creationId xmlns:a16="http://schemas.microsoft.com/office/drawing/2014/main" id="{7CA0CCE4-BDE3-ED86-34CA-6DFF37B3A1F1}"/>
              </a:ext>
            </a:extLst>
          </p:cNvPr>
          <p:cNvSpPr/>
          <p:nvPr/>
        </p:nvSpPr>
        <p:spPr>
          <a:xfrm>
            <a:off x="6806462" y="2290896"/>
            <a:ext cx="694985"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 1</a:t>
            </a:r>
            <a:endParaRPr lang="de-DE" sz="800" b="1" dirty="0">
              <a:solidFill>
                <a:schemeClr val="bg1"/>
              </a:solidFill>
            </a:endParaRPr>
          </a:p>
        </p:txBody>
      </p:sp>
      <p:pic>
        <p:nvPicPr>
          <p:cNvPr id="113" name="Graphic 112">
            <a:extLst>
              <a:ext uri="{FF2B5EF4-FFF2-40B4-BE49-F238E27FC236}">
                <a16:creationId xmlns:a16="http://schemas.microsoft.com/office/drawing/2014/main" id="{81A5ACBA-77BF-16E7-5D98-5DB8679CC3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1942" y="3650191"/>
            <a:ext cx="295967" cy="295967"/>
          </a:xfrm>
          <a:prstGeom prst="rect">
            <a:avLst/>
          </a:prstGeom>
        </p:spPr>
      </p:pic>
      <p:pic>
        <p:nvPicPr>
          <p:cNvPr id="114" name="Graphic 113">
            <a:extLst>
              <a:ext uri="{FF2B5EF4-FFF2-40B4-BE49-F238E27FC236}">
                <a16:creationId xmlns:a16="http://schemas.microsoft.com/office/drawing/2014/main" id="{A6BE20E5-06D1-010D-894C-572228937B2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5586" y="3239367"/>
            <a:ext cx="295967" cy="295967"/>
          </a:xfrm>
          <a:prstGeom prst="rect">
            <a:avLst/>
          </a:prstGeom>
        </p:spPr>
      </p:pic>
      <p:sp>
        <p:nvSpPr>
          <p:cNvPr id="55" name="Rectangle 54">
            <a:extLst>
              <a:ext uri="{FF2B5EF4-FFF2-40B4-BE49-F238E27FC236}">
                <a16:creationId xmlns:a16="http://schemas.microsoft.com/office/drawing/2014/main" id="{577C9A3D-0396-B48B-2063-6D0F7E69EEFE}"/>
              </a:ext>
            </a:extLst>
          </p:cNvPr>
          <p:cNvSpPr/>
          <p:nvPr/>
        </p:nvSpPr>
        <p:spPr>
          <a:xfrm>
            <a:off x="7567703" y="1719957"/>
            <a:ext cx="1928089" cy="422256"/>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8" name="TextBox 107">
            <a:extLst>
              <a:ext uri="{FF2B5EF4-FFF2-40B4-BE49-F238E27FC236}">
                <a16:creationId xmlns:a16="http://schemas.microsoft.com/office/drawing/2014/main" id="{14DF14AC-DDAA-1239-D35E-DFEAE3434DD0}"/>
              </a:ext>
            </a:extLst>
          </p:cNvPr>
          <p:cNvSpPr txBox="1"/>
          <p:nvPr/>
        </p:nvSpPr>
        <p:spPr>
          <a:xfrm>
            <a:off x="7978535"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sp>
        <p:nvSpPr>
          <p:cNvPr id="39" name="Rectangle 38">
            <a:extLst>
              <a:ext uri="{FF2B5EF4-FFF2-40B4-BE49-F238E27FC236}">
                <a16:creationId xmlns:a16="http://schemas.microsoft.com/office/drawing/2014/main" id="{EA5F0CAC-3439-427E-25BC-253A5B1B2629}"/>
              </a:ext>
            </a:extLst>
          </p:cNvPr>
          <p:cNvSpPr/>
          <p:nvPr/>
        </p:nvSpPr>
        <p:spPr>
          <a:xfrm>
            <a:off x="3767006" y="2752860"/>
            <a:ext cx="1437644" cy="36004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"Wärme Gesellschaft"</a:t>
            </a:r>
          </a:p>
          <a:p>
            <a:pPr algn="ctr"/>
            <a:r>
              <a:rPr lang="de-DE" sz="900" i="1" dirty="0">
                <a:solidFill>
                  <a:schemeClr val="bg1"/>
                </a:solidFill>
              </a:rPr>
              <a:t>post Carve-Out</a:t>
            </a:r>
          </a:p>
        </p:txBody>
      </p:sp>
      <p:sp>
        <p:nvSpPr>
          <p:cNvPr id="53" name="Rectangle 52">
            <a:extLst>
              <a:ext uri="{FF2B5EF4-FFF2-40B4-BE49-F238E27FC236}">
                <a16:creationId xmlns:a16="http://schemas.microsoft.com/office/drawing/2014/main" id="{57AB5C57-1B51-6839-3BDB-723B4BCF5BC3}"/>
              </a:ext>
            </a:extLst>
          </p:cNvPr>
          <p:cNvSpPr/>
          <p:nvPr/>
        </p:nvSpPr>
        <p:spPr>
          <a:xfrm>
            <a:off x="7455635" y="2706027"/>
            <a:ext cx="988578" cy="46913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"Nahwärme Gesellschaft"</a:t>
            </a:r>
          </a:p>
          <a:p>
            <a:pPr algn="ctr"/>
            <a:r>
              <a:rPr lang="de-DE" sz="900" i="1" dirty="0">
                <a:solidFill>
                  <a:schemeClr val="bg1"/>
                </a:solidFill>
              </a:rPr>
              <a:t>post Carve-Out</a:t>
            </a:r>
          </a:p>
        </p:txBody>
      </p:sp>
      <p:sp>
        <p:nvSpPr>
          <p:cNvPr id="59" name="Rectangle 58">
            <a:extLst>
              <a:ext uri="{FF2B5EF4-FFF2-40B4-BE49-F238E27FC236}">
                <a16:creationId xmlns:a16="http://schemas.microsoft.com/office/drawing/2014/main" id="{AD82BE1C-2C7A-9CE8-DF75-0C8A42CBA944}"/>
              </a:ext>
            </a:extLst>
          </p:cNvPr>
          <p:cNvSpPr/>
          <p:nvPr/>
        </p:nvSpPr>
        <p:spPr>
          <a:xfrm>
            <a:off x="8619282" y="2706027"/>
            <a:ext cx="988578" cy="46913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"Fernwärme Gesellschaft"</a:t>
            </a:r>
          </a:p>
          <a:p>
            <a:pPr algn="ctr"/>
            <a:r>
              <a:rPr lang="de-DE" sz="900" i="1" dirty="0">
                <a:solidFill>
                  <a:schemeClr val="bg1"/>
                </a:solidFill>
              </a:rPr>
              <a:t>post Carve-Out</a:t>
            </a:r>
          </a:p>
        </p:txBody>
      </p:sp>
    </p:spTree>
    <p:extLst>
      <p:ext uri="{BB962C8B-B14F-4D97-AF65-F5344CB8AC3E}">
        <p14:creationId xmlns:p14="http://schemas.microsoft.com/office/powerpoint/2010/main" val="77590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DCB278-539F-C7C7-FB14-4238CF700474}"/>
              </a:ext>
            </a:extLst>
          </p:cNvPr>
          <p:cNvSpPr/>
          <p:nvPr/>
        </p:nvSpPr>
        <p:spPr>
          <a:xfrm>
            <a:off x="1421386"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Gemeinsame zukünftige Weiterentwicklung des Geschäftsbereichs, e.g., Investitionen und Strategie (sofern gewünscht)</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Minderheitsgesellschafter partizipiert über laufende Erträge an Entwicklung des Geschäftsbereichs</a:t>
            </a:r>
          </a:p>
        </p:txBody>
      </p:sp>
      <p:sp>
        <p:nvSpPr>
          <p:cNvPr id="15" name="Rectangle 14">
            <a:extLst>
              <a:ext uri="{FF2B5EF4-FFF2-40B4-BE49-F238E27FC236}">
                <a16:creationId xmlns:a16="http://schemas.microsoft.com/office/drawing/2014/main" id="{D15DC040-30AD-33ED-A431-E439CE5EE2F8}"/>
              </a:ext>
            </a:extLst>
          </p:cNvPr>
          <p:cNvSpPr/>
          <p:nvPr/>
        </p:nvSpPr>
        <p:spPr>
          <a:xfrm>
            <a:off x="1421386" y="1424796"/>
            <a:ext cx="2160000" cy="540000"/>
          </a:xfrm>
          <a:prstGeom prst="rect">
            <a:avLst/>
          </a:prstGeom>
          <a:solidFill>
            <a:srgbClr val="3157E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Minderheit</a:t>
            </a:r>
            <a:r>
              <a:rPr lang="de-DE" sz="1050" b="1" dirty="0">
                <a:solidFill>
                  <a:schemeClr val="bg1"/>
                </a:solidFill>
              </a:rPr>
              <a:t> an einem Geschäftsbereich</a:t>
            </a:r>
            <a:endParaRPr lang="de-DE" sz="1050" dirty="0"/>
          </a:p>
        </p:txBody>
      </p:sp>
      <p:sp>
        <p:nvSpPr>
          <p:cNvPr id="28" name="Rectangle 27">
            <a:extLst>
              <a:ext uri="{FF2B5EF4-FFF2-40B4-BE49-F238E27FC236}">
                <a16:creationId xmlns:a16="http://schemas.microsoft.com/office/drawing/2014/main" id="{03083DE1-A7F0-FE72-C5FD-63A0DCB424A6}"/>
              </a:ext>
            </a:extLst>
          </p:cNvPr>
          <p:cNvSpPr/>
          <p:nvPr/>
        </p:nvSpPr>
        <p:spPr>
          <a:xfrm>
            <a:off x="1421386"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Kontrolle über Geschäftsbereich verbleibt beim Stadtwerk</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Liquiditätszufluss/Kapital für weitere Investitionsthemen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Minderheitsrechte und Zusammenarbeit in Gesellschaftervertrag zu regeln</a:t>
            </a:r>
          </a:p>
          <a:p>
            <a:pPr>
              <a:spcBef>
                <a:spcPts val="300"/>
              </a:spcBef>
              <a:spcAft>
                <a:spcPts val="300"/>
              </a:spcAft>
              <a:buClr>
                <a:srgbClr val="00B050"/>
              </a:buClr>
              <a:buSzPct val="150000"/>
            </a:pPr>
            <a:endParaRPr lang="de-DE" sz="1000" dirty="0">
              <a:solidFill>
                <a:srgbClr val="000000"/>
              </a:solidFill>
            </a:endParaRPr>
          </a:p>
        </p:txBody>
      </p:sp>
      <p:sp>
        <p:nvSpPr>
          <p:cNvPr id="24" name="Rectangle 23">
            <a:extLst>
              <a:ext uri="{FF2B5EF4-FFF2-40B4-BE49-F238E27FC236}">
                <a16:creationId xmlns:a16="http://schemas.microsoft.com/office/drawing/2014/main" id="{FAFB96B2-630C-2DDB-FC81-3A96E84ED139}"/>
              </a:ext>
            </a:extLst>
          </p:cNvPr>
          <p:cNvSpPr/>
          <p:nvPr/>
        </p:nvSpPr>
        <p:spPr>
          <a:xfrm>
            <a:off x="3666008" y="1424796"/>
            <a:ext cx="2160000" cy="540000"/>
          </a:xfrm>
          <a:prstGeom prst="rect">
            <a:avLst/>
          </a:prstGeom>
          <a:solidFill>
            <a:srgbClr val="718BE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Mehrheit</a:t>
            </a:r>
            <a:r>
              <a:rPr lang="de-DE" sz="1050" b="1" dirty="0">
                <a:solidFill>
                  <a:schemeClr val="bg1"/>
                </a:solidFill>
              </a:rPr>
              <a:t> </a:t>
            </a:r>
            <a:br>
              <a:rPr lang="de-DE" sz="1050" b="1" dirty="0">
                <a:solidFill>
                  <a:schemeClr val="bg1"/>
                </a:solidFill>
              </a:rPr>
            </a:br>
            <a:r>
              <a:rPr lang="de-DE" sz="1050" b="1" dirty="0">
                <a:solidFill>
                  <a:schemeClr val="bg1"/>
                </a:solidFill>
              </a:rPr>
              <a:t>an einem Geschäftsbereich </a:t>
            </a:r>
            <a:endParaRPr lang="de-DE" sz="1050" dirty="0"/>
          </a:p>
        </p:txBody>
      </p:sp>
      <p:sp>
        <p:nvSpPr>
          <p:cNvPr id="22" name="Rectangle 21">
            <a:extLst>
              <a:ext uri="{FF2B5EF4-FFF2-40B4-BE49-F238E27FC236}">
                <a16:creationId xmlns:a16="http://schemas.microsoft.com/office/drawing/2014/main" id="{150B29FB-D6D5-140C-9435-14FA81811744}"/>
              </a:ext>
            </a:extLst>
          </p:cNvPr>
          <p:cNvSpPr/>
          <p:nvPr/>
        </p:nvSpPr>
        <p:spPr>
          <a:xfrm>
            <a:off x="8155252" y="1424796"/>
            <a:ext cx="2160000" cy="540000"/>
          </a:xfrm>
          <a:prstGeom prst="rect">
            <a:avLst/>
          </a:prstGeom>
          <a:solidFill>
            <a:srgbClr val="90BDF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Minderheit</a:t>
            </a:r>
            <a:br>
              <a:rPr lang="de-DE" sz="1050" b="1" dirty="0">
                <a:solidFill>
                  <a:schemeClr val="bg1"/>
                </a:solidFill>
              </a:rPr>
            </a:br>
            <a:r>
              <a:rPr lang="de-DE" sz="1050" b="1" dirty="0">
                <a:solidFill>
                  <a:schemeClr val="bg1"/>
                </a:solidFill>
              </a:rPr>
              <a:t>am Stadtwerk</a:t>
            </a:r>
            <a:endParaRPr lang="de-DE" sz="1050" dirty="0"/>
          </a:p>
        </p:txBody>
      </p:sp>
      <p:sp>
        <p:nvSpPr>
          <p:cNvPr id="23" name="Rectangle 22">
            <a:extLst>
              <a:ext uri="{FF2B5EF4-FFF2-40B4-BE49-F238E27FC236}">
                <a16:creationId xmlns:a16="http://schemas.microsoft.com/office/drawing/2014/main" id="{4F98D8C4-28D7-909C-4700-E591D7A9343B}"/>
              </a:ext>
            </a:extLst>
          </p:cNvPr>
          <p:cNvSpPr/>
          <p:nvPr/>
        </p:nvSpPr>
        <p:spPr>
          <a:xfrm>
            <a:off x="3666008"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36000"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dirty="0">
                <a:solidFill>
                  <a:srgbClr val="000000"/>
                </a:solidFill>
              </a:rPr>
              <a:t>Dekonsolidierung und Abgabe der Kontrolle</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rgbClr val="000000"/>
                </a:solidFill>
              </a:rPr>
              <a:t>Attraktive Ausgestaltung der Minderheitsbeteiligung möglich</a:t>
            </a:r>
            <a:endParaRPr lang="de-DE" sz="1000" kern="0" dirty="0">
              <a:solidFill>
                <a:schemeClr val="tx1"/>
              </a:solidFill>
            </a:endParaRP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Über langfristige (Abnahme-) Verträge können Versorgungsleistungen abgedeckt werden (e.g., Erneuerbare Energie, Wärme-Energie)</a:t>
            </a:r>
          </a:p>
        </p:txBody>
      </p:sp>
      <p:sp>
        <p:nvSpPr>
          <p:cNvPr id="31" name="Rectangle 30">
            <a:extLst>
              <a:ext uri="{FF2B5EF4-FFF2-40B4-BE49-F238E27FC236}">
                <a16:creationId xmlns:a16="http://schemas.microsoft.com/office/drawing/2014/main" id="{3E909AC4-34FA-9B02-BD75-9D8E1BC05C76}"/>
              </a:ext>
            </a:extLst>
          </p:cNvPr>
          <p:cNvSpPr/>
          <p:nvPr/>
        </p:nvSpPr>
        <p:spPr>
          <a:xfrm>
            <a:off x="3666008"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Signifikante Reduzierung des eigenen Investitionsvolumens</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Entkonsolidierung mit potenziell positivem Effekt auf die Nettoverschuldung</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Politisch hoher Überzeugungsbedarf</a:t>
            </a:r>
          </a:p>
        </p:txBody>
      </p:sp>
      <p:graphicFrame>
        <p:nvGraphicFramePr>
          <p:cNvPr id="13" name="think-cell data - do not delete" hidden="1">
            <a:extLst>
              <a:ext uri="{FF2B5EF4-FFF2-40B4-BE49-F238E27FC236}">
                <a16:creationId xmlns:a16="http://schemas.microsoft.com/office/drawing/2014/main" id="{B9B96D12-2894-ED21-1051-6A0B477DAA8E}"/>
              </a:ext>
            </a:extLst>
          </p:cNvPr>
          <p:cNvGraphicFramePr>
            <a:graphicFrameLocks noChangeAspect="1"/>
          </p:cNvGraphicFramePr>
          <p:nvPr>
            <p:custDataLst>
              <p:tags r:id="rId1"/>
            </p:custDataLst>
            <p:extLst>
              <p:ext uri="{D42A27DB-BD31-4B8C-83A1-F6EECF244321}">
                <p14:modId xmlns:p14="http://schemas.microsoft.com/office/powerpoint/2010/main" val="319258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13" name="think-cell data - do not delete" hidden="1">
                        <a:extLst>
                          <a:ext uri="{FF2B5EF4-FFF2-40B4-BE49-F238E27FC236}">
                            <a16:creationId xmlns:a16="http://schemas.microsoft.com/office/drawing/2014/main" id="{B9B96D12-2894-ED21-1051-6A0B477DAA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06A583D-72B4-FBC3-745E-FC8E5A9D1BCD}"/>
              </a:ext>
            </a:extLst>
          </p:cNvPr>
          <p:cNvSpPr>
            <a:spLocks noGrp="1"/>
          </p:cNvSpPr>
          <p:nvPr>
            <p:ph type="title"/>
          </p:nvPr>
        </p:nvSpPr>
        <p:spPr>
          <a:xfrm>
            <a:off x="378700" y="450279"/>
            <a:ext cx="9936000" cy="720000"/>
          </a:xfrm>
        </p:spPr>
        <p:txBody>
          <a:bodyPr vert="horz"/>
          <a:lstStyle/>
          <a:p>
            <a:r>
              <a:rPr lang="de-DE" dirty="0"/>
              <a:t>Abhängig von den Zielen des Stadtwerks gibt es kombinierbare Handlungsoptionen zur Kapitalflexibilisierung</a:t>
            </a:r>
          </a:p>
        </p:txBody>
      </p:sp>
      <p:sp>
        <p:nvSpPr>
          <p:cNvPr id="4" name="Text Placeholder 3">
            <a:extLst>
              <a:ext uri="{FF2B5EF4-FFF2-40B4-BE49-F238E27FC236}">
                <a16:creationId xmlns:a16="http://schemas.microsoft.com/office/drawing/2014/main" id="{CD69C56D-137B-75DB-812A-CBFC165865D5}"/>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p>
          <a:p>
            <a:endParaRPr lang="de-DE" dirty="0"/>
          </a:p>
        </p:txBody>
      </p:sp>
      <p:sp>
        <p:nvSpPr>
          <p:cNvPr id="5" name="Text Placeholder 4">
            <a:extLst>
              <a:ext uri="{FF2B5EF4-FFF2-40B4-BE49-F238E27FC236}">
                <a16:creationId xmlns:a16="http://schemas.microsoft.com/office/drawing/2014/main" id="{311F406D-6F89-9904-0862-95C807C5E31F}"/>
              </a:ext>
            </a:extLst>
          </p:cNvPr>
          <p:cNvSpPr>
            <a:spLocks noGrp="1"/>
          </p:cNvSpPr>
          <p:nvPr>
            <p:ph type="body" sz="quarter" idx="14"/>
          </p:nvPr>
        </p:nvSpPr>
        <p:spPr/>
        <p:txBody>
          <a:bodyPr/>
          <a:lstStyle/>
          <a:p>
            <a:endParaRPr lang="en-US" dirty="0"/>
          </a:p>
        </p:txBody>
      </p:sp>
      <p:sp>
        <p:nvSpPr>
          <p:cNvPr id="6" name="Text Placeholder 5">
            <a:extLst>
              <a:ext uri="{FF2B5EF4-FFF2-40B4-BE49-F238E27FC236}">
                <a16:creationId xmlns:a16="http://schemas.microsoft.com/office/drawing/2014/main" id="{49F1E92C-9087-2587-C463-8A30C3F0C23E}"/>
              </a:ext>
            </a:extLst>
          </p:cNvPr>
          <p:cNvSpPr>
            <a:spLocks noGrp="1"/>
          </p:cNvSpPr>
          <p:nvPr>
            <p:ph type="body" sz="quarter" idx="15"/>
          </p:nvPr>
        </p:nvSpPr>
        <p:spPr/>
        <p:txBody>
          <a:bodyPr/>
          <a:lstStyle/>
          <a:p>
            <a:endParaRPr lang="en-US" dirty="0"/>
          </a:p>
        </p:txBody>
      </p:sp>
      <p:sp>
        <p:nvSpPr>
          <p:cNvPr id="11" name="Rectangle 10">
            <a:extLst>
              <a:ext uri="{FF2B5EF4-FFF2-40B4-BE49-F238E27FC236}">
                <a16:creationId xmlns:a16="http://schemas.microsoft.com/office/drawing/2014/main" id="{528A995E-361C-D796-41BB-DC0B8549A583}"/>
              </a:ext>
            </a:extLst>
          </p:cNvPr>
          <p:cNvSpPr/>
          <p:nvPr/>
        </p:nvSpPr>
        <p:spPr>
          <a:xfrm>
            <a:off x="387673" y="1424796"/>
            <a:ext cx="949091" cy="540000"/>
          </a:xfrm>
          <a:prstGeom prst="rect">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Handlungs-optionen</a:t>
            </a:r>
            <a:endParaRPr lang="de-DE" sz="1000" baseline="30000" dirty="0"/>
          </a:p>
        </p:txBody>
      </p:sp>
      <p:sp>
        <p:nvSpPr>
          <p:cNvPr id="21" name="Rectangle 20">
            <a:extLst>
              <a:ext uri="{FF2B5EF4-FFF2-40B4-BE49-F238E27FC236}">
                <a16:creationId xmlns:a16="http://schemas.microsoft.com/office/drawing/2014/main" id="{E3C2FDC6-FC85-2253-B453-5759B5C279F5}"/>
              </a:ext>
            </a:extLst>
          </p:cNvPr>
          <p:cNvSpPr/>
          <p:nvPr/>
        </p:nvSpPr>
        <p:spPr>
          <a:xfrm>
            <a:off x="8155252"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dirty="0">
                <a:solidFill>
                  <a:srgbClr val="000000"/>
                </a:solidFill>
              </a:rPr>
              <a:t>Veräußerung einer Minderheit an der </a:t>
            </a:r>
            <a:r>
              <a:rPr lang="de-DE" sz="1000" kern="0" dirty="0">
                <a:solidFill>
                  <a:schemeClr val="tx1"/>
                </a:solidFill>
              </a:rPr>
              <a:t>Stadtwerke Gruppe</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Gemeinsame Weiter-entwicklung der zentralen Investitionsthemen im Rahmen der Klimaneutralität</a:t>
            </a:r>
            <a:endParaRPr lang="de-DE" sz="1000" dirty="0">
              <a:solidFill>
                <a:srgbClr val="000000"/>
              </a:solidFill>
            </a:endParaRPr>
          </a:p>
        </p:txBody>
      </p:sp>
      <p:sp>
        <p:nvSpPr>
          <p:cNvPr id="27" name="Rectangle 26">
            <a:extLst>
              <a:ext uri="{FF2B5EF4-FFF2-40B4-BE49-F238E27FC236}">
                <a16:creationId xmlns:a16="http://schemas.microsoft.com/office/drawing/2014/main" id="{83DD2AC2-B0D4-AFD3-08F4-0C3E48B02E86}"/>
              </a:ext>
            </a:extLst>
          </p:cNvPr>
          <p:cNvSpPr/>
          <p:nvPr/>
        </p:nvSpPr>
        <p:spPr>
          <a:xfrm>
            <a:off x="387673" y="4233108"/>
            <a:ext cx="949091" cy="20551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Einschätzung</a:t>
            </a:r>
            <a:endParaRPr lang="de-DE" sz="1000" baseline="30000" dirty="0"/>
          </a:p>
        </p:txBody>
      </p:sp>
      <p:sp>
        <p:nvSpPr>
          <p:cNvPr id="32" name="Rectangle 31">
            <a:extLst>
              <a:ext uri="{FF2B5EF4-FFF2-40B4-BE49-F238E27FC236}">
                <a16:creationId xmlns:a16="http://schemas.microsoft.com/office/drawing/2014/main" id="{86BC0695-AB93-FF82-5713-7D79DABB14A0}"/>
              </a:ext>
            </a:extLst>
          </p:cNvPr>
          <p:cNvSpPr/>
          <p:nvPr/>
        </p:nvSpPr>
        <p:spPr>
          <a:xfrm>
            <a:off x="387673" y="2072868"/>
            <a:ext cx="949091" cy="20638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Beschreibung</a:t>
            </a:r>
            <a:endParaRPr lang="de-DE" sz="1000" baseline="30000" dirty="0"/>
          </a:p>
        </p:txBody>
      </p:sp>
      <p:sp>
        <p:nvSpPr>
          <p:cNvPr id="7" name="Rectangle 6">
            <a:extLst>
              <a:ext uri="{FF2B5EF4-FFF2-40B4-BE49-F238E27FC236}">
                <a16:creationId xmlns:a16="http://schemas.microsoft.com/office/drawing/2014/main" id="{9F28F2DC-87A6-4EA8-A5B5-022F5716207E}"/>
              </a:ext>
            </a:extLst>
          </p:cNvPr>
          <p:cNvSpPr/>
          <p:nvPr/>
        </p:nvSpPr>
        <p:spPr>
          <a:xfrm>
            <a:off x="8155252"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Kontrolle verbleibt bei Gesellschaftern des Stadtwerks</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Teilung der Capex für Investitionen in den „Grünen Transformationsprozess"</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 unter den Gesellschaftern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Komplexerer Prozess der Investorensuche</a:t>
            </a:r>
          </a:p>
        </p:txBody>
      </p:sp>
      <p:sp>
        <p:nvSpPr>
          <p:cNvPr id="16" name="Rectangle 15">
            <a:extLst>
              <a:ext uri="{FF2B5EF4-FFF2-40B4-BE49-F238E27FC236}">
                <a16:creationId xmlns:a16="http://schemas.microsoft.com/office/drawing/2014/main" id="{66E3A358-CE42-B3B4-7830-5D944D5E0C3F}"/>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Eine breite politische Unterstützung für die Einbindung von privatem Kapital ist Voraussetzung für den Erfolg</a:t>
            </a:r>
          </a:p>
        </p:txBody>
      </p:sp>
      <p:sp>
        <p:nvSpPr>
          <p:cNvPr id="17" name="Isosceles Triangle 16">
            <a:extLst>
              <a:ext uri="{FF2B5EF4-FFF2-40B4-BE49-F238E27FC236}">
                <a16:creationId xmlns:a16="http://schemas.microsoft.com/office/drawing/2014/main" id="{64EEE900-34C1-845C-EB0F-1DC02ED08072}"/>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Rectangle 2">
            <a:extLst>
              <a:ext uri="{FF2B5EF4-FFF2-40B4-BE49-F238E27FC236}">
                <a16:creationId xmlns:a16="http://schemas.microsoft.com/office/drawing/2014/main" id="{515628A9-DEA7-D8F5-34A5-837CF70E3D96}"/>
              </a:ext>
            </a:extLst>
          </p:cNvPr>
          <p:cNvSpPr/>
          <p:nvPr/>
        </p:nvSpPr>
        <p:spPr>
          <a:xfrm>
            <a:off x="5910630" y="1424796"/>
            <a:ext cx="2160000" cy="540000"/>
          </a:xfrm>
          <a:prstGeom prst="rect">
            <a:avLst/>
          </a:prstGeom>
          <a:solidFill>
            <a:srgbClr val="67A6F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u="sng" dirty="0">
                <a:solidFill>
                  <a:schemeClr val="bg1"/>
                </a:solidFill>
              </a:rPr>
              <a:t>Komplettverkauf</a:t>
            </a:r>
            <a:r>
              <a:rPr lang="de-DE" sz="1050" b="1" dirty="0">
                <a:solidFill>
                  <a:schemeClr val="bg1"/>
                </a:solidFill>
              </a:rPr>
              <a:t> einer Geschäftseinheit/Beteiligung</a:t>
            </a:r>
            <a:endParaRPr lang="de-DE" sz="1050" dirty="0"/>
          </a:p>
        </p:txBody>
      </p:sp>
      <p:sp>
        <p:nvSpPr>
          <p:cNvPr id="8" name="Rectangle 7">
            <a:extLst>
              <a:ext uri="{FF2B5EF4-FFF2-40B4-BE49-F238E27FC236}">
                <a16:creationId xmlns:a16="http://schemas.microsoft.com/office/drawing/2014/main" id="{0EA2916E-E412-94B7-11CF-76CAC7794FA7}"/>
              </a:ext>
            </a:extLst>
          </p:cNvPr>
          <p:cNvSpPr/>
          <p:nvPr/>
        </p:nvSpPr>
        <p:spPr>
          <a:xfrm>
            <a:off x="5910630"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Veräußerung eines nicht-strategischen Geschäftsbereichs/Assets</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Sicherung relevanter Leistungen über Verträge möglich (siehe links)</a:t>
            </a:r>
          </a:p>
        </p:txBody>
      </p:sp>
      <p:sp>
        <p:nvSpPr>
          <p:cNvPr id="9" name="Rectangle 8">
            <a:extLst>
              <a:ext uri="{FF2B5EF4-FFF2-40B4-BE49-F238E27FC236}">
                <a16:creationId xmlns:a16="http://schemas.microsoft.com/office/drawing/2014/main" id="{7A63C54D-2246-C757-78BC-FD9BDC928227}"/>
              </a:ext>
            </a:extLst>
          </p:cNvPr>
          <p:cNvSpPr/>
          <p:nvPr/>
        </p:nvSpPr>
        <p:spPr>
          <a:xfrm>
            <a:off x="5910630"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Eigener Capex-Bedarf kann auf strategisch relevante Themen fokussiert werden</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Liquiditätszufluss für weitere Investitionsthemen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Politisch potenziell schwierig</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kumimoji="0" lang="de-DE" sz="1000" b="0" i="0" u="none" strike="noStrike" kern="1200" cap="none" spc="0" normalizeH="0" baseline="0" noProof="0" dirty="0">
                <a:ln>
                  <a:noFill/>
                </a:ln>
                <a:solidFill>
                  <a:srgbClr val="000000"/>
                </a:solidFill>
                <a:effectLst/>
                <a:uLnTx/>
                <a:uFillTx/>
                <a:latin typeface="Univers for Metzler Light"/>
                <a:ea typeface="+mn-ea"/>
                <a:cs typeface="+mn-cs"/>
              </a:rPr>
              <a:t>Reduzierung des Tätigkeits-profils des Stadtwerks</a:t>
            </a:r>
          </a:p>
        </p:txBody>
      </p:sp>
    </p:spTree>
    <p:extLst>
      <p:ext uri="{BB962C8B-B14F-4D97-AF65-F5344CB8AC3E}">
        <p14:creationId xmlns:p14="http://schemas.microsoft.com/office/powerpoint/2010/main" val="2111393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FFCED668-DB42-17CC-FAC4-C4FD707AE148}"/>
              </a:ext>
            </a:extLst>
          </p:cNvPr>
          <p:cNvGraphicFramePr>
            <a:graphicFrameLocks noChangeAspect="1"/>
          </p:cNvGraphicFramePr>
          <p:nvPr>
            <p:custDataLst>
              <p:tags r:id="rId1"/>
            </p:custDataLst>
            <p:extLst>
              <p:ext uri="{D42A27DB-BD31-4B8C-83A1-F6EECF244321}">
                <p14:modId xmlns:p14="http://schemas.microsoft.com/office/powerpoint/2010/main" val="3508631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9" name="think-cell data - do not delete" hidden="1">
                        <a:extLst>
                          <a:ext uri="{FF2B5EF4-FFF2-40B4-BE49-F238E27FC236}">
                            <a16:creationId xmlns:a16="http://schemas.microsoft.com/office/drawing/2014/main" id="{FFCED668-DB42-17CC-FAC4-C4FD707AE14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C13E3F4-7A82-665A-FC3C-48CF9DF734FA}"/>
              </a:ext>
            </a:extLst>
          </p:cNvPr>
          <p:cNvSpPr>
            <a:spLocks noGrp="1"/>
          </p:cNvSpPr>
          <p:nvPr>
            <p:ph type="title"/>
          </p:nvPr>
        </p:nvSpPr>
        <p:spPr/>
        <p:txBody>
          <a:bodyPr vert="horz"/>
          <a:lstStyle/>
          <a:p>
            <a:r>
              <a:rPr lang="de-DE" dirty="0"/>
              <a:t>Finanzinvestoren und Strategen sind an stabilen "grünen" Cash Flows interessiert, haben aber unterschiedliche Anforderungs- und Investitionsprofile</a:t>
            </a:r>
          </a:p>
        </p:txBody>
      </p:sp>
      <p:sp>
        <p:nvSpPr>
          <p:cNvPr id="4" name="Text Placeholder 3">
            <a:extLst>
              <a:ext uri="{FF2B5EF4-FFF2-40B4-BE49-F238E27FC236}">
                <a16:creationId xmlns:a16="http://schemas.microsoft.com/office/drawing/2014/main" id="{45E1D8D7-290F-346D-9546-84CBDCAF7BB7}"/>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p>
        </p:txBody>
      </p:sp>
      <p:sp>
        <p:nvSpPr>
          <p:cNvPr id="5" name="Text Placeholder 4">
            <a:extLst>
              <a:ext uri="{FF2B5EF4-FFF2-40B4-BE49-F238E27FC236}">
                <a16:creationId xmlns:a16="http://schemas.microsoft.com/office/drawing/2014/main" id="{63CAA569-6D4B-82BE-DE94-DB0490EE9738}"/>
              </a:ext>
            </a:extLst>
          </p:cNvPr>
          <p:cNvSpPr>
            <a:spLocks noGrp="1"/>
          </p:cNvSpPr>
          <p:nvPr>
            <p:ph type="body" sz="quarter" idx="14"/>
          </p:nvPr>
        </p:nvSpPr>
        <p:spPr/>
        <p:txBody>
          <a:bodyPr/>
          <a:lstStyle/>
          <a:p>
            <a:endParaRPr lang="de-DE" dirty="0"/>
          </a:p>
        </p:txBody>
      </p:sp>
      <p:sp>
        <p:nvSpPr>
          <p:cNvPr id="6" name="Text Placeholder 5">
            <a:extLst>
              <a:ext uri="{FF2B5EF4-FFF2-40B4-BE49-F238E27FC236}">
                <a16:creationId xmlns:a16="http://schemas.microsoft.com/office/drawing/2014/main" id="{C69C4C7F-8BC6-7A36-6207-3BFFD0E52FBE}"/>
              </a:ext>
            </a:extLst>
          </p:cNvPr>
          <p:cNvSpPr>
            <a:spLocks noGrp="1"/>
          </p:cNvSpPr>
          <p:nvPr>
            <p:ph type="body" sz="quarter" idx="15"/>
          </p:nvPr>
        </p:nvSpPr>
        <p:spPr/>
        <p:txBody>
          <a:bodyPr/>
          <a:lstStyle/>
          <a:p>
            <a:r>
              <a:rPr lang="de-DE" dirty="0"/>
              <a:t>1) Langfristig orientierte Investoren, z.B. Asset Manager, Versicherungs-/Pensionskassen, Infrastrukturfonds</a:t>
            </a:r>
          </a:p>
        </p:txBody>
      </p:sp>
      <p:sp>
        <p:nvSpPr>
          <p:cNvPr id="14" name="Rectangle 8">
            <a:extLst>
              <a:ext uri="{FF2B5EF4-FFF2-40B4-BE49-F238E27FC236}">
                <a16:creationId xmlns:a16="http://schemas.microsoft.com/office/drawing/2014/main" id="{B8C9D2AF-6CD2-1575-EBE4-73EC0AEAE449}"/>
              </a:ext>
            </a:extLst>
          </p:cNvPr>
          <p:cNvSpPr/>
          <p:nvPr/>
        </p:nvSpPr>
        <p:spPr>
          <a:xfrm>
            <a:off x="4843032" y="3022868"/>
            <a:ext cx="1007336" cy="1256704"/>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Strategie</a:t>
            </a:r>
          </a:p>
        </p:txBody>
      </p:sp>
      <p:sp>
        <p:nvSpPr>
          <p:cNvPr id="15" name="Rechteck 63">
            <a:extLst>
              <a:ext uri="{FF2B5EF4-FFF2-40B4-BE49-F238E27FC236}">
                <a16:creationId xmlns:a16="http://schemas.microsoft.com/office/drawing/2014/main" id="{01943B43-432C-74FB-9DB3-82E0B426FAB6}"/>
              </a:ext>
            </a:extLst>
          </p:cNvPr>
          <p:cNvSpPr/>
          <p:nvPr/>
        </p:nvSpPr>
        <p:spPr>
          <a:xfrm>
            <a:off x="5930628" y="3023007"/>
            <a:ext cx="4384072" cy="1256565"/>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Plattform für die Mitgestaltung der Energiewende in Duisburg</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Stärkung der Marktposition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Zugang zu kommunalen Versorgungsgebieten/-netzen</a:t>
            </a:r>
          </a:p>
        </p:txBody>
      </p:sp>
      <p:sp>
        <p:nvSpPr>
          <p:cNvPr id="16" name="Rechteck 63">
            <a:extLst>
              <a:ext uri="{FF2B5EF4-FFF2-40B4-BE49-F238E27FC236}">
                <a16:creationId xmlns:a16="http://schemas.microsoft.com/office/drawing/2014/main" id="{D25E44F5-66B9-4D7F-ED73-AB1C3EC97A62}"/>
              </a:ext>
            </a:extLst>
          </p:cNvPr>
          <p:cNvSpPr/>
          <p:nvPr/>
        </p:nvSpPr>
        <p:spPr>
          <a:xfrm>
            <a:off x="378700" y="3023007"/>
            <a:ext cx="4384072" cy="1256565"/>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171450" indent="-171450" defTabSz="914400">
              <a:spcAft>
                <a:spcPts val="1400"/>
              </a:spcAft>
              <a:buClr>
                <a:schemeClr val="accent1"/>
              </a:buClr>
              <a:buFont typeface="Wingdings" pitchFamily="2" charset="2"/>
              <a:buChar char="n"/>
              <a:defRPr/>
            </a:pPr>
            <a:r>
              <a:rPr lang="de-DE" sz="1000" kern="0" dirty="0">
                <a:solidFill>
                  <a:srgbClr val="000000"/>
                </a:solidFill>
              </a:rPr>
              <a:t>Sicherung von konstanten Zahlungsflüssen und Dividenden</a:t>
            </a:r>
          </a:p>
          <a:p>
            <a:pPr marL="171450" indent="-171450" defTabSz="914400">
              <a:spcAft>
                <a:spcPts val="1400"/>
              </a:spcAft>
              <a:buClr>
                <a:schemeClr val="accent1"/>
              </a:buClr>
              <a:buFont typeface="Wingdings" pitchFamily="2" charset="2"/>
              <a:buChar char="n"/>
              <a:defRPr/>
            </a:pPr>
            <a:r>
              <a:rPr lang="de-DE" sz="1000" kern="0" dirty="0">
                <a:solidFill>
                  <a:srgbClr val="000000"/>
                </a:solidFill>
              </a:rPr>
              <a:t>Interesse an signifikanten Investitionen in die "Klimawende"</a:t>
            </a:r>
          </a:p>
          <a:p>
            <a:pPr marL="171450" indent="-171450" defTabSz="914400">
              <a:spcAft>
                <a:spcPts val="1400"/>
              </a:spcAft>
              <a:buClr>
                <a:schemeClr val="accent1"/>
              </a:buClr>
              <a:buFont typeface="Wingdings" pitchFamily="2" charset="2"/>
              <a:buChar char="n"/>
              <a:defRPr/>
            </a:pPr>
            <a:r>
              <a:rPr lang="de-DE" sz="1000" kern="0" dirty="0">
                <a:solidFill>
                  <a:srgbClr val="000000"/>
                </a:solidFill>
              </a:rPr>
              <a:t>Diversifizierung des Anlageportfolios/ESG-konforme Investitionen</a:t>
            </a:r>
          </a:p>
        </p:txBody>
      </p:sp>
      <p:sp>
        <p:nvSpPr>
          <p:cNvPr id="32" name="Rechteck 63">
            <a:extLst>
              <a:ext uri="{FF2B5EF4-FFF2-40B4-BE49-F238E27FC236}">
                <a16:creationId xmlns:a16="http://schemas.microsoft.com/office/drawing/2014/main" id="{A52F6567-A965-9702-D7A4-CA182B861B47}"/>
              </a:ext>
            </a:extLst>
          </p:cNvPr>
          <p:cNvSpPr/>
          <p:nvPr/>
        </p:nvSpPr>
        <p:spPr>
          <a:xfrm>
            <a:off x="5930628" y="4452567"/>
            <a:ext cx="4384072" cy="1245133"/>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Akquisition von Umsatzvolumen und Wachstum, Synergiepotenziale</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Beteiligung und Unterstützung bei Finanzierungsvorhaben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Gegebenenfalls Finanzierung durch eigene Mittel</a:t>
            </a:r>
          </a:p>
        </p:txBody>
      </p:sp>
      <p:sp>
        <p:nvSpPr>
          <p:cNvPr id="33" name="Rechteck 63">
            <a:extLst>
              <a:ext uri="{FF2B5EF4-FFF2-40B4-BE49-F238E27FC236}">
                <a16:creationId xmlns:a16="http://schemas.microsoft.com/office/drawing/2014/main" id="{561D29D7-2BFF-6254-644E-179EFE7A89AB}"/>
              </a:ext>
            </a:extLst>
          </p:cNvPr>
          <p:cNvSpPr/>
          <p:nvPr/>
        </p:nvSpPr>
        <p:spPr>
          <a:xfrm>
            <a:off x="378700" y="4452567"/>
            <a:ext cx="4384072" cy="1245133"/>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Aft>
                <a:spcPts val="1200"/>
              </a:spcAft>
              <a:buClr>
                <a:schemeClr val="accent1"/>
              </a:buClr>
              <a:buFont typeface="Wingdings" pitchFamily="2" charset="2"/>
              <a:buChar char="n"/>
            </a:pPr>
            <a:r>
              <a:rPr lang="de-DE" sz="1000" kern="0" dirty="0">
                <a:solidFill>
                  <a:srgbClr val="000000"/>
                </a:solidFill>
              </a:rPr>
              <a:t>Finanzprofil mit Wachstumspotenzialen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Typischerweise Teilfinanzierung durch Fremdkapital</a:t>
            </a:r>
          </a:p>
        </p:txBody>
      </p:sp>
      <p:sp>
        <p:nvSpPr>
          <p:cNvPr id="34" name="Rectangle 8">
            <a:extLst>
              <a:ext uri="{FF2B5EF4-FFF2-40B4-BE49-F238E27FC236}">
                <a16:creationId xmlns:a16="http://schemas.microsoft.com/office/drawing/2014/main" id="{E708BF3F-8218-B9DA-DC4E-F7246AE3334C}"/>
              </a:ext>
            </a:extLst>
          </p:cNvPr>
          <p:cNvSpPr/>
          <p:nvPr/>
        </p:nvSpPr>
        <p:spPr>
          <a:xfrm>
            <a:off x="4843032" y="4452430"/>
            <a:ext cx="1007336" cy="1245270"/>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Finanziell</a:t>
            </a:r>
          </a:p>
        </p:txBody>
      </p:sp>
      <p:sp>
        <p:nvSpPr>
          <p:cNvPr id="77" name="Rechteck 63">
            <a:extLst>
              <a:ext uri="{FF2B5EF4-FFF2-40B4-BE49-F238E27FC236}">
                <a16:creationId xmlns:a16="http://schemas.microsoft.com/office/drawing/2014/main" id="{33F16E80-53D6-FCD6-8D41-C9EB2A7439AE}"/>
              </a:ext>
            </a:extLst>
          </p:cNvPr>
          <p:cNvSpPr/>
          <p:nvPr/>
        </p:nvSpPr>
        <p:spPr>
          <a:xfrm>
            <a:off x="5930628" y="1938218"/>
            <a:ext cx="4384072" cy="912661"/>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Mehrheitsbeteiligungen präferiert, ggf. stufenweise</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Minderheiten bei strategischer Relevanz möglich</a:t>
            </a:r>
          </a:p>
        </p:txBody>
      </p:sp>
      <p:sp>
        <p:nvSpPr>
          <p:cNvPr id="78" name="Rechteck 63">
            <a:extLst>
              <a:ext uri="{FF2B5EF4-FFF2-40B4-BE49-F238E27FC236}">
                <a16:creationId xmlns:a16="http://schemas.microsoft.com/office/drawing/2014/main" id="{D755DCD9-487B-67C5-4A07-025EAA64B66B}"/>
              </a:ext>
            </a:extLst>
          </p:cNvPr>
          <p:cNvSpPr/>
          <p:nvPr/>
        </p:nvSpPr>
        <p:spPr>
          <a:xfrm>
            <a:off x="378700" y="1938218"/>
            <a:ext cx="4384072" cy="912661"/>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Aft>
                <a:spcPts val="1200"/>
              </a:spcAft>
              <a:buClr>
                <a:schemeClr val="accent1"/>
              </a:buClr>
              <a:buFont typeface="Wingdings" pitchFamily="2" charset="2"/>
              <a:buChar char="n"/>
            </a:pPr>
            <a:r>
              <a:rPr lang="de-DE" sz="1000" kern="0" dirty="0">
                <a:solidFill>
                  <a:srgbClr val="000000"/>
                </a:solidFill>
              </a:rPr>
              <a:t>Abhängig von individueller Investitionsstrategie</a:t>
            </a:r>
          </a:p>
          <a:p>
            <a:pPr marL="171450" indent="-171450" defTabSz="914400">
              <a:spcAft>
                <a:spcPts val="1200"/>
              </a:spcAft>
              <a:buClr>
                <a:schemeClr val="accent1"/>
              </a:buClr>
              <a:buFont typeface="Wingdings" pitchFamily="2" charset="2"/>
              <a:buChar char="n"/>
            </a:pPr>
            <a:r>
              <a:rPr lang="de-DE" sz="1000" kern="0" dirty="0">
                <a:solidFill>
                  <a:srgbClr val="000000"/>
                </a:solidFill>
              </a:rPr>
              <a:t>Minderheiten mit entsprechenden Governance-Strukturen möglich</a:t>
            </a:r>
          </a:p>
        </p:txBody>
      </p:sp>
      <p:sp>
        <p:nvSpPr>
          <p:cNvPr id="79" name="Rectangle 8">
            <a:extLst>
              <a:ext uri="{FF2B5EF4-FFF2-40B4-BE49-F238E27FC236}">
                <a16:creationId xmlns:a16="http://schemas.microsoft.com/office/drawing/2014/main" id="{9A836778-6053-7CBA-D63E-DA08AD1B3791}"/>
              </a:ext>
            </a:extLst>
          </p:cNvPr>
          <p:cNvSpPr/>
          <p:nvPr/>
        </p:nvSpPr>
        <p:spPr>
          <a:xfrm>
            <a:off x="4843032" y="1938174"/>
            <a:ext cx="1007336" cy="912762"/>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Beteiligungs-höhe</a:t>
            </a:r>
          </a:p>
        </p:txBody>
      </p:sp>
      <p:sp>
        <p:nvSpPr>
          <p:cNvPr id="20" name="Rechteck 63">
            <a:extLst>
              <a:ext uri="{FF2B5EF4-FFF2-40B4-BE49-F238E27FC236}">
                <a16:creationId xmlns:a16="http://schemas.microsoft.com/office/drawing/2014/main" id="{5059F622-9EFF-C865-449E-77D9C60F1DEF}"/>
              </a:ext>
            </a:extLst>
          </p:cNvPr>
          <p:cNvSpPr/>
          <p:nvPr/>
        </p:nvSpPr>
        <p:spPr>
          <a:xfrm>
            <a:off x="5930628" y="5868960"/>
            <a:ext cx="4384072" cy="912661"/>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Langfristiger Horizont</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Tendenziell Eingliederung gewünscht</a:t>
            </a:r>
          </a:p>
        </p:txBody>
      </p:sp>
      <p:sp>
        <p:nvSpPr>
          <p:cNvPr id="21" name="Rechteck 63">
            <a:extLst>
              <a:ext uri="{FF2B5EF4-FFF2-40B4-BE49-F238E27FC236}">
                <a16:creationId xmlns:a16="http://schemas.microsoft.com/office/drawing/2014/main" id="{824EDB83-71F5-A1F4-A5A6-043700F54863}"/>
              </a:ext>
            </a:extLst>
          </p:cNvPr>
          <p:cNvSpPr/>
          <p:nvPr/>
        </p:nvSpPr>
        <p:spPr>
          <a:xfrm>
            <a:off x="378700" y="5868960"/>
            <a:ext cx="4384072" cy="912661"/>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Exit muss mittel-/langfristig möglich sein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Weiterentwicklung stand-alone als Plattform</a:t>
            </a:r>
          </a:p>
        </p:txBody>
      </p:sp>
      <p:sp>
        <p:nvSpPr>
          <p:cNvPr id="22" name="Rectangle 8">
            <a:extLst>
              <a:ext uri="{FF2B5EF4-FFF2-40B4-BE49-F238E27FC236}">
                <a16:creationId xmlns:a16="http://schemas.microsoft.com/office/drawing/2014/main" id="{788D1B86-E0D7-6980-B806-7B6602447CDC}"/>
              </a:ext>
            </a:extLst>
          </p:cNvPr>
          <p:cNvSpPr/>
          <p:nvPr/>
        </p:nvSpPr>
        <p:spPr>
          <a:xfrm>
            <a:off x="4843032" y="5868863"/>
            <a:ext cx="1007336" cy="912762"/>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Exit</a:t>
            </a:r>
          </a:p>
        </p:txBody>
      </p:sp>
      <p:sp>
        <p:nvSpPr>
          <p:cNvPr id="11" name="Rectangle 8">
            <a:extLst>
              <a:ext uri="{FF2B5EF4-FFF2-40B4-BE49-F238E27FC236}">
                <a16:creationId xmlns:a16="http://schemas.microsoft.com/office/drawing/2014/main" id="{50CBFB69-9674-3208-BF7D-EC10BC8DF8C4}"/>
              </a:ext>
            </a:extLst>
          </p:cNvPr>
          <p:cNvSpPr/>
          <p:nvPr/>
        </p:nvSpPr>
        <p:spPr>
          <a:xfrm>
            <a:off x="378700" y="1451202"/>
            <a:ext cx="3960000" cy="361811"/>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Institutionelle Investoren</a:t>
            </a:r>
            <a:r>
              <a:rPr lang="en-US" sz="1000" b="1" baseline="30000" dirty="0"/>
              <a:t>1)</a:t>
            </a:r>
            <a:endParaRPr lang="de-DE" sz="1000" b="1" baseline="30000" dirty="0"/>
          </a:p>
        </p:txBody>
      </p:sp>
      <p:sp>
        <p:nvSpPr>
          <p:cNvPr id="13" name="Rectangle 8">
            <a:extLst>
              <a:ext uri="{FF2B5EF4-FFF2-40B4-BE49-F238E27FC236}">
                <a16:creationId xmlns:a16="http://schemas.microsoft.com/office/drawing/2014/main" id="{8C36E7C3-EE40-C183-4EFF-FBDB59449987}"/>
              </a:ext>
            </a:extLst>
          </p:cNvPr>
          <p:cNvSpPr/>
          <p:nvPr/>
        </p:nvSpPr>
        <p:spPr>
          <a:xfrm>
            <a:off x="6354700" y="1451202"/>
            <a:ext cx="3960000" cy="361811"/>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Strategen</a:t>
            </a:r>
            <a:endParaRPr lang="de-DE" sz="1000" b="1" dirty="0"/>
          </a:p>
        </p:txBody>
      </p:sp>
      <p:sp>
        <p:nvSpPr>
          <p:cNvPr id="17" name="Rectangle 8">
            <a:extLst>
              <a:ext uri="{FF2B5EF4-FFF2-40B4-BE49-F238E27FC236}">
                <a16:creationId xmlns:a16="http://schemas.microsoft.com/office/drawing/2014/main" id="{8899B861-7E30-F9E5-663B-31EFAE185B95}"/>
              </a:ext>
            </a:extLst>
          </p:cNvPr>
          <p:cNvSpPr/>
          <p:nvPr/>
        </p:nvSpPr>
        <p:spPr>
          <a:xfrm>
            <a:off x="3870887" y="1451202"/>
            <a:ext cx="2951626" cy="361811"/>
          </a:xfrm>
          <a:prstGeom prst="rect">
            <a:avLst/>
          </a:prstGeom>
          <a:gradFill flip="none" rotWithShape="1">
            <a:gsLst>
              <a:gs pos="50000">
                <a:schemeClr val="bg1"/>
              </a:gs>
              <a:gs pos="0">
                <a:schemeClr val="accent1"/>
              </a:gs>
              <a:gs pos="100000">
                <a:schemeClr val="tx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00" b="1" dirty="0"/>
          </a:p>
        </p:txBody>
      </p:sp>
      <p:sp>
        <p:nvSpPr>
          <p:cNvPr id="18" name="Ellipse 101">
            <a:extLst>
              <a:ext uri="{FF2B5EF4-FFF2-40B4-BE49-F238E27FC236}">
                <a16:creationId xmlns:a16="http://schemas.microsoft.com/office/drawing/2014/main" id="{6CFF3488-40E0-C494-26B4-746341EAB48C}"/>
              </a:ext>
            </a:extLst>
          </p:cNvPr>
          <p:cNvSpPr/>
          <p:nvPr/>
        </p:nvSpPr>
        <p:spPr>
          <a:xfrm>
            <a:off x="4494838" y="1404367"/>
            <a:ext cx="1703723" cy="455484"/>
          </a:xfrm>
          <a:prstGeom prst="ellipse">
            <a:avLst/>
          </a:prstGeom>
          <a:solidFill>
            <a:schemeClr val="bg1"/>
          </a:solidFill>
          <a:ln w="12700">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Box 2">
            <a:extLst>
              <a:ext uri="{FF2B5EF4-FFF2-40B4-BE49-F238E27FC236}">
                <a16:creationId xmlns:a16="http://schemas.microsoft.com/office/drawing/2014/main" id="{65AA812D-C1E9-CB0A-4660-225BC7CC36B7}"/>
              </a:ext>
            </a:extLst>
          </p:cNvPr>
          <p:cNvSpPr txBox="1"/>
          <p:nvPr/>
        </p:nvSpPr>
        <p:spPr>
          <a:xfrm>
            <a:off x="4610374" y="1462832"/>
            <a:ext cx="1472650" cy="338554"/>
          </a:xfrm>
          <a:prstGeom prst="rect">
            <a:avLst/>
          </a:prstGeom>
          <a:noFill/>
        </p:spPr>
        <p:txBody>
          <a:bodyPr wrap="square" rtlCol="0" anchor="ctr">
            <a:spAutoFit/>
          </a:bodyPr>
          <a:lstStyle/>
          <a:p>
            <a:pPr algn="ctr"/>
            <a:r>
              <a:rPr lang="de-DE" sz="1600" b="1" dirty="0">
                <a:solidFill>
                  <a:schemeClr val="accent1"/>
                </a:solidFill>
              </a:rPr>
              <a:t>Stadtwerk</a:t>
            </a:r>
          </a:p>
        </p:txBody>
      </p:sp>
    </p:spTree>
    <p:extLst>
      <p:ext uri="{BB962C8B-B14F-4D97-AF65-F5344CB8AC3E}">
        <p14:creationId xmlns:p14="http://schemas.microsoft.com/office/powerpoint/2010/main" val="873635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4A3E28E1-A30E-F448-C662-507F43399771}"/>
              </a:ext>
            </a:extLst>
          </p:cNvPr>
          <p:cNvGraphicFramePr>
            <a:graphicFrameLocks noChangeAspect="1"/>
          </p:cNvGraphicFramePr>
          <p:nvPr>
            <p:custDataLst>
              <p:tags r:id="rId1"/>
            </p:custDataLst>
            <p:extLst>
              <p:ext uri="{D42A27DB-BD31-4B8C-83A1-F6EECF244321}">
                <p14:modId xmlns:p14="http://schemas.microsoft.com/office/powerpoint/2010/main" val="1125239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6" name="think-cell data - do not delete" hidden="1">
                        <a:extLst>
                          <a:ext uri="{FF2B5EF4-FFF2-40B4-BE49-F238E27FC236}">
                            <a16:creationId xmlns:a16="http://schemas.microsoft.com/office/drawing/2014/main" id="{4A3E28E1-A30E-F448-C662-507F433997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de-DE" dirty="0"/>
              <a:t>Metzler ist ideal positioniert, die Stadtwerke Duisburg bei strategischen Überlegungen zu beraten</a:t>
            </a:r>
          </a:p>
        </p:txBody>
      </p:sp>
      <p:sp>
        <p:nvSpPr>
          <p:cNvPr id="3" name="Text Placeholder 2"/>
          <p:cNvSpPr>
            <a:spLocks noGrp="1"/>
          </p:cNvSpPr>
          <p:nvPr>
            <p:ph type="body" sz="quarter" idx="12"/>
          </p:nvPr>
        </p:nvSpPr>
        <p:spPr/>
        <p:txBody>
          <a:bodyPr/>
          <a:lstStyle/>
          <a:p>
            <a:r>
              <a:rPr lang="de-DE" dirty="0"/>
              <a:t>Mehrwert Metzler</a:t>
            </a:r>
          </a:p>
        </p:txBody>
      </p:sp>
      <p:sp>
        <p:nvSpPr>
          <p:cNvPr id="5" name="Text Placeholder 4"/>
          <p:cNvSpPr>
            <a:spLocks noGrp="1"/>
          </p:cNvSpPr>
          <p:nvPr>
            <p:ph type="body" sz="quarter" idx="14"/>
          </p:nvPr>
        </p:nvSpPr>
        <p:spPr/>
        <p:txBody>
          <a:bodyPr/>
          <a:lstStyle/>
          <a:p>
            <a:endParaRPr lang="en-GB" dirty="0"/>
          </a:p>
        </p:txBody>
      </p:sp>
      <p:sp>
        <p:nvSpPr>
          <p:cNvPr id="6" name="Text Placeholder 5"/>
          <p:cNvSpPr>
            <a:spLocks noGrp="1"/>
          </p:cNvSpPr>
          <p:nvPr>
            <p:ph type="body" sz="quarter" idx="15"/>
          </p:nvPr>
        </p:nvSpPr>
        <p:spPr/>
        <p:txBody>
          <a:bodyPr/>
          <a:lstStyle/>
          <a:p>
            <a:endParaRPr lang="en-GB" dirty="0"/>
          </a:p>
        </p:txBody>
      </p:sp>
      <p:cxnSp>
        <p:nvCxnSpPr>
          <p:cNvPr id="7" name="Gerader Verbinder 68"/>
          <p:cNvCxnSpPr/>
          <p:nvPr/>
        </p:nvCxnSpPr>
        <p:spPr>
          <a:xfrm flipV="1">
            <a:off x="387554" y="602876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8" name="Gerader Verbinder 68"/>
          <p:cNvCxnSpPr/>
          <p:nvPr/>
        </p:nvCxnSpPr>
        <p:spPr>
          <a:xfrm flipV="1">
            <a:off x="387554" y="512197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0" name="Gerader Verbinder 68"/>
          <p:cNvCxnSpPr/>
          <p:nvPr/>
        </p:nvCxnSpPr>
        <p:spPr>
          <a:xfrm flipV="1">
            <a:off x="387554" y="4233595"/>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 name="Gerader Verbinder 68"/>
          <p:cNvCxnSpPr/>
          <p:nvPr/>
        </p:nvCxnSpPr>
        <p:spPr>
          <a:xfrm flipV="1">
            <a:off x="387554" y="2430897"/>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8" name="Gerader Verbinder 68"/>
          <p:cNvCxnSpPr/>
          <p:nvPr/>
        </p:nvCxnSpPr>
        <p:spPr>
          <a:xfrm flipV="1">
            <a:off x="387554" y="3320744"/>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738040" y="1715133"/>
            <a:ext cx="9509753" cy="513946"/>
            <a:chOff x="738040" y="1627306"/>
            <a:chExt cx="9509753" cy="513946"/>
          </a:xfrm>
        </p:grpSpPr>
        <p:sp>
          <p:nvSpPr>
            <p:cNvPr id="24" name="Textfeld 30"/>
            <p:cNvSpPr txBox="1"/>
            <p:nvPr/>
          </p:nvSpPr>
          <p:spPr>
            <a:xfrm>
              <a:off x="1506052" y="1654237"/>
              <a:ext cx="8741741" cy="468000"/>
            </a:xfrm>
            <a:prstGeom prst="rect">
              <a:avLst/>
            </a:prstGeom>
            <a:noFill/>
          </p:spPr>
          <p:txBody>
            <a:bodyPr wrap="square" rtlCol="0" anchor="ctr">
              <a:noAutofit/>
            </a:bodyPr>
            <a:lstStyle/>
            <a:p>
              <a:pPr>
                <a:spcBef>
                  <a:spcPct val="90000"/>
                </a:spcBef>
                <a:buClr>
                  <a:srgbClr val="FF9900"/>
                </a:buClr>
                <a:buSzPct val="135000"/>
              </a:pPr>
              <a:r>
                <a:rPr lang="de-DE" altLang="de-DE" sz="1100" b="1" dirty="0">
                  <a:solidFill>
                    <a:schemeClr val="accent1"/>
                  </a:solidFill>
                </a:rPr>
                <a:t>Umfangreiches Know-how im Energiesektor sowie bei Transaktionen mit öffentlich-rechtlichem Hintergrund</a:t>
              </a:r>
            </a:p>
          </p:txBody>
        </p:sp>
        <p:pic>
          <p:nvPicPr>
            <p:cNvPr id="25" name="Picture 24"/>
            <p:cNvPicPr>
              <a:picLocks noChangeAspect="1"/>
            </p:cNvPicPr>
            <p:nvPr/>
          </p:nvPicPr>
          <p:blipFill>
            <a:blip r:embed="rId5"/>
            <a:stretch>
              <a:fillRect/>
            </a:stretch>
          </p:blipFill>
          <p:spPr>
            <a:xfrm>
              <a:off x="738040" y="1627306"/>
              <a:ext cx="519086" cy="513946"/>
            </a:xfrm>
            <a:prstGeom prst="rect">
              <a:avLst/>
            </a:prstGeom>
          </p:spPr>
        </p:pic>
      </p:grpSp>
      <p:grpSp>
        <p:nvGrpSpPr>
          <p:cNvPr id="37" name="Group 36"/>
          <p:cNvGrpSpPr/>
          <p:nvPr/>
        </p:nvGrpSpPr>
        <p:grpSpPr>
          <a:xfrm>
            <a:off x="744105" y="2632715"/>
            <a:ext cx="9072194" cy="486211"/>
            <a:chOff x="744105" y="2297872"/>
            <a:chExt cx="9072194" cy="486211"/>
          </a:xfrm>
        </p:grpSpPr>
        <p:sp>
          <p:nvSpPr>
            <p:cNvPr id="27" name="Textfeld 30"/>
            <p:cNvSpPr txBox="1"/>
            <p:nvPr/>
          </p:nvSpPr>
          <p:spPr>
            <a:xfrm>
              <a:off x="1506053" y="2316083"/>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Hervorragende Reputation und exzellenter Zugang zu relevanten nationalen und internationalen Investoren</a:t>
              </a:r>
            </a:p>
          </p:txBody>
        </p:sp>
        <p:pic>
          <p:nvPicPr>
            <p:cNvPr id="36" name="Picture 35"/>
            <p:cNvPicPr>
              <a:picLocks noChangeAspect="1"/>
            </p:cNvPicPr>
            <p:nvPr/>
          </p:nvPicPr>
          <p:blipFill>
            <a:blip r:embed="rId6"/>
            <a:stretch>
              <a:fillRect/>
            </a:stretch>
          </p:blipFill>
          <p:spPr>
            <a:xfrm>
              <a:off x="744105" y="2297872"/>
              <a:ext cx="446977" cy="465666"/>
            </a:xfrm>
            <a:prstGeom prst="rect">
              <a:avLst/>
            </a:prstGeom>
          </p:spPr>
        </p:pic>
      </p:grpSp>
      <p:grpSp>
        <p:nvGrpSpPr>
          <p:cNvPr id="40" name="Group 39"/>
          <p:cNvGrpSpPr/>
          <p:nvPr/>
        </p:nvGrpSpPr>
        <p:grpSpPr>
          <a:xfrm>
            <a:off x="797636" y="4435413"/>
            <a:ext cx="9525918" cy="484740"/>
            <a:chOff x="797636" y="3639775"/>
            <a:chExt cx="9525918" cy="484740"/>
          </a:xfrm>
        </p:grpSpPr>
        <p:sp>
          <p:nvSpPr>
            <p:cNvPr id="33" name="Textfeld 30"/>
            <p:cNvSpPr txBox="1"/>
            <p:nvPr/>
          </p:nvSpPr>
          <p:spPr>
            <a:xfrm>
              <a:off x="1503465" y="3639775"/>
              <a:ext cx="8820089" cy="468000"/>
            </a:xfrm>
            <a:prstGeom prst="rect">
              <a:avLst/>
            </a:prstGeom>
            <a:noFill/>
          </p:spPr>
          <p:txBody>
            <a:bodyPr wrap="square" rtlCol="0" anchor="ctr">
              <a:noAutofit/>
            </a:bodyPr>
            <a:lstStyle/>
            <a:p>
              <a:pPr>
                <a:spcAft>
                  <a:spcPts val="600"/>
                </a:spcAft>
              </a:pPr>
              <a:r>
                <a:rPr lang="de-DE" sz="1100" b="1" dirty="0">
                  <a:solidFill>
                    <a:schemeClr val="accent1"/>
                  </a:solidFill>
                </a:rPr>
                <a:t>Erfahrener Sparringspartner bzgl. Transaktionsprozess, -taktik und -struktur und Erfahrung mit Entscheidungsprozessen der öffentlichen Hand</a:t>
              </a:r>
            </a:p>
          </p:txBody>
        </p:sp>
        <p:pic>
          <p:nvPicPr>
            <p:cNvPr id="39" name="Picture 38"/>
            <p:cNvPicPr>
              <a:picLocks noChangeAspect="1"/>
            </p:cNvPicPr>
            <p:nvPr/>
          </p:nvPicPr>
          <p:blipFill>
            <a:blip r:embed="rId7"/>
            <a:stretch>
              <a:fillRect/>
            </a:stretch>
          </p:blipFill>
          <p:spPr>
            <a:xfrm>
              <a:off x="797636" y="3645671"/>
              <a:ext cx="379344" cy="478844"/>
            </a:xfrm>
            <a:prstGeom prst="rect">
              <a:avLst/>
            </a:prstGeom>
          </p:spPr>
        </p:pic>
      </p:grpSp>
      <p:grpSp>
        <p:nvGrpSpPr>
          <p:cNvPr id="43" name="Group 42"/>
          <p:cNvGrpSpPr/>
          <p:nvPr/>
        </p:nvGrpSpPr>
        <p:grpSpPr>
          <a:xfrm>
            <a:off x="651284" y="6230576"/>
            <a:ext cx="9165015" cy="502383"/>
            <a:chOff x="651284" y="5612915"/>
            <a:chExt cx="9165015" cy="502383"/>
          </a:xfrm>
        </p:grpSpPr>
        <p:sp>
          <p:nvSpPr>
            <p:cNvPr id="17" name="Textfeld 30"/>
            <p:cNvSpPr txBox="1"/>
            <p:nvPr/>
          </p:nvSpPr>
          <p:spPr>
            <a:xfrm>
              <a:off x="1506053" y="5612915"/>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Unternehmerisches Denken und Handeln</a:t>
              </a:r>
            </a:p>
          </p:txBody>
        </p:sp>
        <p:pic>
          <p:nvPicPr>
            <p:cNvPr id="42" name="Picture 41"/>
            <p:cNvPicPr>
              <a:picLocks noChangeAspect="1"/>
            </p:cNvPicPr>
            <p:nvPr/>
          </p:nvPicPr>
          <p:blipFill>
            <a:blip r:embed="rId8"/>
            <a:stretch>
              <a:fillRect/>
            </a:stretch>
          </p:blipFill>
          <p:spPr>
            <a:xfrm>
              <a:off x="651284" y="5631893"/>
              <a:ext cx="627058" cy="483405"/>
            </a:xfrm>
            <a:prstGeom prst="rect">
              <a:avLst/>
            </a:prstGeom>
          </p:spPr>
        </p:pic>
      </p:grpSp>
      <p:grpSp>
        <p:nvGrpSpPr>
          <p:cNvPr id="47" name="Group 46"/>
          <p:cNvGrpSpPr/>
          <p:nvPr/>
        </p:nvGrpSpPr>
        <p:grpSpPr>
          <a:xfrm>
            <a:off x="738040" y="3522562"/>
            <a:ext cx="9291694" cy="509215"/>
            <a:chOff x="738040" y="2992058"/>
            <a:chExt cx="9291694" cy="509215"/>
          </a:xfrm>
        </p:grpSpPr>
        <p:sp>
          <p:nvSpPr>
            <p:cNvPr id="14" name="Textfeld 30"/>
            <p:cNvSpPr txBox="1"/>
            <p:nvPr/>
          </p:nvSpPr>
          <p:spPr>
            <a:xfrm>
              <a:off x="1503465" y="3033273"/>
              <a:ext cx="8526269" cy="468000"/>
            </a:xfrm>
            <a:prstGeom prst="rect">
              <a:avLst/>
            </a:prstGeom>
            <a:noFill/>
          </p:spPr>
          <p:txBody>
            <a:bodyPr wrap="square" rtlCol="0" anchor="ctr">
              <a:noAutofit/>
            </a:bodyPr>
            <a:lstStyle/>
            <a:p>
              <a:pPr>
                <a:spcAft>
                  <a:spcPts val="600"/>
                </a:spcAft>
              </a:pPr>
              <a:r>
                <a:rPr lang="de-DE" sz="1100" b="1" dirty="0">
                  <a:solidFill>
                    <a:schemeClr val="accent1"/>
                  </a:solidFill>
                </a:rPr>
                <a:t>Qualifiziertes und erfahrenes Team mit hohem Senior-Commitment</a:t>
              </a:r>
            </a:p>
          </p:txBody>
        </p:sp>
        <p:pic>
          <p:nvPicPr>
            <p:cNvPr id="46" name="Picture 45"/>
            <p:cNvPicPr>
              <a:picLocks noChangeAspect="1"/>
            </p:cNvPicPr>
            <p:nvPr/>
          </p:nvPicPr>
          <p:blipFill>
            <a:blip r:embed="rId9"/>
            <a:stretch>
              <a:fillRect/>
            </a:stretch>
          </p:blipFill>
          <p:spPr>
            <a:xfrm>
              <a:off x="738040" y="2992058"/>
              <a:ext cx="464109" cy="462552"/>
            </a:xfrm>
            <a:prstGeom prst="rect">
              <a:avLst/>
            </a:prstGeom>
          </p:spPr>
        </p:pic>
      </p:grpSp>
      <p:grpSp>
        <p:nvGrpSpPr>
          <p:cNvPr id="49" name="Group 48"/>
          <p:cNvGrpSpPr/>
          <p:nvPr/>
        </p:nvGrpSpPr>
        <p:grpSpPr>
          <a:xfrm>
            <a:off x="711835" y="5323789"/>
            <a:ext cx="9680526" cy="503154"/>
            <a:chOff x="711835" y="4955477"/>
            <a:chExt cx="9680526" cy="503154"/>
          </a:xfrm>
        </p:grpSpPr>
        <p:sp>
          <p:nvSpPr>
            <p:cNvPr id="21" name="Textfeld 30"/>
            <p:cNvSpPr txBox="1"/>
            <p:nvPr/>
          </p:nvSpPr>
          <p:spPr>
            <a:xfrm>
              <a:off x="1506052" y="4962705"/>
              <a:ext cx="8886309" cy="468000"/>
            </a:xfrm>
            <a:prstGeom prst="rect">
              <a:avLst/>
            </a:prstGeom>
            <a:noFill/>
          </p:spPr>
          <p:txBody>
            <a:bodyPr wrap="square" rtlCol="0" anchor="ctr">
              <a:noAutofit/>
            </a:bodyPr>
            <a:lstStyle/>
            <a:p>
              <a:pPr>
                <a:spcAft>
                  <a:spcPts val="600"/>
                </a:spcAft>
              </a:pPr>
              <a:r>
                <a:rPr lang="de-DE" sz="1100" b="1" dirty="0">
                  <a:solidFill>
                    <a:schemeClr val="accent1"/>
                  </a:solidFill>
                </a:rPr>
                <a:t>Unabhängige Beratung ohne eigene Finanzierungs- oder Beteiligungsinteressen </a:t>
              </a:r>
              <a:r>
                <a:rPr lang="de-DE" sz="1100" b="1" dirty="0">
                  <a:solidFill>
                    <a:schemeClr val="accent1"/>
                  </a:solidFill>
                  <a:sym typeface="Wingdings 3" panose="05040102010807070707" pitchFamily="18" charset="2"/>
                </a:rPr>
                <a:t></a:t>
              </a:r>
              <a:r>
                <a:rPr lang="de-DE" sz="1100" b="1" dirty="0">
                  <a:solidFill>
                    <a:schemeClr val="accent1"/>
                  </a:solidFill>
                </a:rPr>
                <a:t> keine Interessenkonflikte</a:t>
              </a:r>
            </a:p>
          </p:txBody>
        </p:sp>
        <p:pic>
          <p:nvPicPr>
            <p:cNvPr id="48" name="Picture 47"/>
            <p:cNvPicPr>
              <a:picLocks noChangeAspect="1"/>
            </p:cNvPicPr>
            <p:nvPr/>
          </p:nvPicPr>
          <p:blipFill>
            <a:blip r:embed="rId10"/>
            <a:stretch>
              <a:fillRect/>
            </a:stretch>
          </p:blipFill>
          <p:spPr>
            <a:xfrm>
              <a:off x="711835" y="4955477"/>
              <a:ext cx="531421" cy="503154"/>
            </a:xfrm>
            <a:prstGeom prst="rect">
              <a:avLst/>
            </a:prstGeom>
          </p:spPr>
        </p:pic>
      </p:grpSp>
      <p:sp>
        <p:nvSpPr>
          <p:cNvPr id="15" name="Textplatzhalter 14">
            <a:extLst>
              <a:ext uri="{FF2B5EF4-FFF2-40B4-BE49-F238E27FC236}">
                <a16:creationId xmlns:a16="http://schemas.microsoft.com/office/drawing/2014/main" id="{434D403F-2565-E81D-861A-C063CDF9C374}"/>
              </a:ext>
            </a:extLst>
          </p:cNvPr>
          <p:cNvSpPr>
            <a:spLocks noGrp="1"/>
          </p:cNvSpPr>
          <p:nvPr>
            <p:ph type="body" sz="quarter" idx="13"/>
          </p:nvPr>
        </p:nvSpPr>
        <p:spPr/>
        <p:txBody>
          <a:bodyPr/>
          <a:lstStyle/>
          <a:p>
            <a:endParaRPr lang="de-DE" dirty="0"/>
          </a:p>
        </p:txBody>
      </p:sp>
    </p:spTree>
    <p:extLst>
      <p:ext uri="{BB962C8B-B14F-4D97-AF65-F5344CB8AC3E}">
        <p14:creationId xmlns:p14="http://schemas.microsoft.com/office/powerpoint/2010/main" val="150001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0EFEB9-7931-4543-ACD3-1A16560A66CC}"/>
              </a:ext>
            </a:extLst>
          </p:cNvPr>
          <p:cNvSpPr>
            <a:spLocks noGrp="1"/>
          </p:cNvSpPr>
          <p:nvPr>
            <p:ph type="body" sz="quarter" idx="12"/>
          </p:nvPr>
        </p:nvSpPr>
        <p:spPr/>
        <p:txBody>
          <a:bodyPr/>
          <a:lstStyle/>
          <a:p>
            <a:endParaRPr lang="de-DE" dirty="0"/>
          </a:p>
        </p:txBody>
      </p:sp>
      <p:sp>
        <p:nvSpPr>
          <p:cNvPr id="3" name="Text Placeholder 2">
            <a:extLst>
              <a:ext uri="{FF2B5EF4-FFF2-40B4-BE49-F238E27FC236}">
                <a16:creationId xmlns:a16="http://schemas.microsoft.com/office/drawing/2014/main" id="{7C8E8390-E61D-4A2C-B39F-6B89B4C5D3A1}"/>
              </a:ext>
            </a:extLst>
          </p:cNvPr>
          <p:cNvSpPr>
            <a:spLocks noGrp="1"/>
          </p:cNvSpPr>
          <p:nvPr>
            <p:ph type="body" sz="quarter" idx="13"/>
          </p:nvPr>
        </p:nvSpPr>
        <p:spPr/>
        <p:txBody>
          <a:bodyPr/>
          <a:lstStyle/>
          <a:p>
            <a:endParaRPr lang="de-DE" dirty="0"/>
          </a:p>
        </p:txBody>
      </p:sp>
    </p:spTree>
    <p:extLst>
      <p:ext uri="{BB962C8B-B14F-4D97-AF65-F5344CB8AC3E}">
        <p14:creationId xmlns:p14="http://schemas.microsoft.com/office/powerpoint/2010/main" val="928743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493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89999999999999991118E+00&quot;&gt;&lt;m_msothmcolidx val=&quot;0&quot;/&gt;&lt;m_rgb r=&quot;EB&quot; g=&quot;F4&quot; b=&quot;FF&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yhPB0JyE7IMlWzYTiOJPr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jSlHK1A_XlTGTBeOrs7pL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qLglxBie40PUy2.Vsbe.a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XZ0fVuvwdc5JxG2lColhN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ZFX99IGexVpOX3MxmafXU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NMCNpkSOLeqoszOeLo4VL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Wsmu4XXbCYlp9d64zeLt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dx7YbC0mspBn9eHjU3hV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AFSPANMODE" val="span"/>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rlage_BMSSC">
  <a:themeElements>
    <a:clrScheme name="MCF new">
      <a:dk1>
        <a:srgbClr val="000000"/>
      </a:dk1>
      <a:lt1>
        <a:srgbClr val="FFFFFF"/>
      </a:lt1>
      <a:dk2>
        <a:srgbClr val="808080"/>
      </a:dk2>
      <a:lt2>
        <a:srgbClr val="D1E4FD"/>
      </a:lt2>
      <a:accent1>
        <a:srgbClr val="003D7C"/>
      </a:accent1>
      <a:accent2>
        <a:srgbClr val="3157E3"/>
      </a:accent2>
      <a:accent3>
        <a:srgbClr val="718BEB"/>
      </a:accent3>
      <a:accent4>
        <a:srgbClr val="67A6F9"/>
      </a:accent4>
      <a:accent5>
        <a:srgbClr val="A5CAFB"/>
      </a:accent5>
      <a:accent6>
        <a:srgbClr val="FF9900"/>
      </a:accent6>
      <a:hlink>
        <a:srgbClr val="FF9900"/>
      </a:hlink>
      <a:folHlink>
        <a:srgbClr val="67A6F9"/>
      </a:folHlink>
    </a:clrScheme>
    <a:fontScheme name="Metzler">
      <a:majorFont>
        <a:latin typeface="Univers for Metzler Light"/>
        <a:ea typeface=""/>
        <a:cs typeface=""/>
      </a:majorFont>
      <a:minorFont>
        <a:latin typeface="Univers for Metzler Ligh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a:defPPr>
      </a:lstStyle>
    </a:txDef>
  </a:objectDefaults>
  <a:extraClrSchemeLst/>
  <a:custClrLst>
    <a:custClr name="Custom Color 1">
      <a:srgbClr val="5171E7"/>
    </a:custClr>
    <a:custClr name="Custom Color 2">
      <a:srgbClr val="80B4FA"/>
    </a:custClr>
    <a:custClr name="Custom Color 3">
      <a:srgbClr val="EBF4FF"/>
    </a:custClr>
    <a:custClr name="Custom Color 4">
      <a:srgbClr val="FFA827"/>
    </a:custClr>
    <a:custClr name="Custom Color 5">
      <a:srgbClr val="FFB64B"/>
    </a:custClr>
    <a:custClr name="Custom Color 6">
      <a:srgbClr val="FFC56F"/>
    </a:custClr>
    <a:custClr name="Custom Color 7">
      <a:srgbClr val="B02307"/>
    </a:custClr>
    <a:custClr name="Custom Color 8">
      <a:srgbClr val="D33313"/>
    </a:custClr>
    <a:custClr name="Custom Color 9">
      <a:srgbClr val="EC4C2C"/>
    </a:custClr>
    <a:custClr name="Custom Color 10">
      <a:srgbClr val="EF664B"/>
    </a:custClr>
    <a:custClr name="Custom Color 11">
      <a:srgbClr val="939408"/>
    </a:custClr>
    <a:custClr name="Custom Color 12">
      <a:srgbClr val="B4C814"/>
    </a:custClr>
  </a:custClr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3102</Words>
  <Application>Microsoft Office PowerPoint</Application>
  <PresentationFormat>Custom</PresentationFormat>
  <Paragraphs>624</Paragraphs>
  <Slides>21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0" baseType="lpstr">
      <vt:lpstr>Arial</vt:lpstr>
      <vt:lpstr>Calibri</vt:lpstr>
      <vt:lpstr>Symbol</vt:lpstr>
      <vt:lpstr>Univers for Metzler</vt:lpstr>
      <vt:lpstr>Univers for Metzler Light</vt:lpstr>
      <vt:lpstr>Wingdings</vt:lpstr>
      <vt:lpstr>Wingdings 3</vt:lpstr>
      <vt:lpstr>Vorlage_BMSSC</vt:lpstr>
      <vt:lpstr>think-cell Slide</vt:lpstr>
      <vt:lpstr>Überlegungen zur Kapitalflexibilisierung   Unterlage für Herrn Thomas Brauers Herrn Dennis Schulte im Walde </vt:lpstr>
      <vt:lpstr>Vorstellung – Ihre Kontaktpersonen</vt:lpstr>
      <vt:lpstr>Agenda</vt:lpstr>
      <vt:lpstr>PowerPoint Presentation</vt:lpstr>
      <vt:lpstr>Bankhaus Metzler – Innovative Privatbank, erfolgreich seit 1674</vt:lpstr>
      <vt:lpstr>Metzler konzentriert sich auf seine Stärken in vier Geschäftsfeldern</vt:lpstr>
      <vt:lpstr>Umfassende Industriekenntnis in ausgewählten Kernsektoren</vt:lpstr>
      <vt:lpstr>Metzler verfügt über umfassendes Know-how aus Transaktionen und langjährige Erfahrung im Bereich Erneuerbare Energien und öffentliche Hand</vt:lpstr>
      <vt:lpstr>PowerPoint Presentation</vt:lpstr>
      <vt:lpstr>Gleichzeitiges Vorantreiben der Klima- und Wärmewende im Rahmen der Klimaneutralität wird erhebliche Investitionsmittel erfordern</vt:lpstr>
      <vt:lpstr>Die DVV bündelt die Aktivitäten in den Bereichen Versorgung, Mobilität und Infrastruktur – Stadtwerke Duisburg als wesentlicher Leistungsträger</vt:lpstr>
      <vt:lpstr>Die Stadtwerke Duisburg sind der kommunale Versorger und wesentlicher Leistungsträger in der DVV-Gruppe</vt:lpstr>
      <vt:lpstr>Ein massiver Investitionsbedarf zur Erreichung der Klimaziele ist in den nächsten Jahren innerhalb der DVV-Gruppe zu erwarten</vt:lpstr>
      <vt:lpstr>Finanzierungsspielraum der SWDU für Investitionen in die Klima- und Wärme-wende des DVV ist eng – innovative Strukturen sollten angedacht werden</vt:lpstr>
      <vt:lpstr>PowerPoint Presentation</vt:lpstr>
      <vt:lpstr>Die Einbindung von privaten Investoren zur Kapitalflexibilisierung kann eine sinnvolle Struktur sein</vt:lpstr>
      <vt:lpstr>Beteiligungskonzept zur Kapitalflexibilisierung kann individuell an die Strategie und Investitionsbedürfnisse des Stadtwerks angepasst werden</vt:lpstr>
      <vt:lpstr>Abhängig von den Zielen des Stadtwerks gibt es kombinierbare Handlungsoptionen zur Kapitalflexibilisierung</vt:lpstr>
      <vt:lpstr>Finanzinvestoren und Strategen sind an stabilen "grünen" Cash Flows interessiert, haben aber unterschiedliche Anforderungs- und Investitionsprofile</vt:lpstr>
      <vt:lpstr>Metzler ist ideal positioniert, die Stadtwerke Duisburg bei strategischen Überlegungen zu beraten</vt:lpstr>
      <vt:lpstr>PowerPoint Presentation</vt:lpstr>
    </vt:vector>
  </TitlesOfParts>
  <Company>metzler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NRI</dc:creator>
  <cp:lastModifiedBy>Nicolas Pfennig</cp:lastModifiedBy>
  <cp:revision>5342</cp:revision>
  <cp:lastPrinted>2024-02-19T13:05:57Z</cp:lastPrinted>
  <dcterms:created xsi:type="dcterms:W3CDTF">2013-01-15T12:08:49Z</dcterms:created>
  <dcterms:modified xsi:type="dcterms:W3CDTF">2026-08-25T18:21:04Z</dcterms:modified>
</cp:coreProperties>
</file>