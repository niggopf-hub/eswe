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t" wrap="square" lIns="25400" tIns="1849120" rIns="25400" bIns="25400">
            <a:noAutofit/>
          </a:bodyPr>
          <a:lstStyle/>
          <a:p>
            <a:pPr algn="ctr">
              <a:spcBef>
                <a:spcPts val="0"/>
              </a:spcBef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146050" tIns="152400" rIns="190500" bIns="152400">
            <a:noAutofit/>
          </a:bodyPr>
          <a:lstStyle/>
          <a:p>
            <a:pPr algn="l" marL="360680" indent="-360680">
              <a:lnSpc>
                <a:spcPts val="12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 200.000 Kunden mit Strom, Erdgas, Wärme sowie energienahen Dienstleistungen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 Tochter Stadtwerke Wiesbaden Netz GmbH (sw netz) gebündelt, Gas-, Wasser- und Wärmenetz betreibt die AG selbst; hinzu kommen Telekommunikation (WiTCOM) und ein regionales Erzeugungsportfolio (Biomasse, Wind, 50 % KMW)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 Mio. EUR) deutlich – nach zwei sondereffektgetriebenen Rekordjahren 2023/2024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 als strategischer Partner; Gewinnabführung an die WVV, vertragliche Ausgleichszahlung an die Thüga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 Klimaneutralität Wiesbadens bis 2045; für das Fernwärmenetz läuft ein Transformationsplan zur Klimaneutralität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 p. a. in den letzten 20 Jahren auf bis zu 80 Mio. EUR p. a. für Strom- und Wärmenetze, MHKW-Anbindung, Windpark Hohe Wurzel und Ladeinfrastruktur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 (2025: 10 Mio. EUR in die Kapitalrücklage; weitere Zuführung für 2026 beschlossen)</a:t>
            </a:r>
          </a:p>
        </p:txBody>
      </p:sp>
      <p:pic>
        <p:nvPicPr>
          <p:cNvPr id="15" name="Picture 14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429259" tIns="38100" rIns="152400" bIns="381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 strategischer Flexibilität ist die zentrale Herausforderung der ESWE Versorgungs AG</a:t>
            </a:r>
          </a:p>
        </p:txBody>
      </p:sp>
      <p:sp>
        <p:nvSpPr>
          <p:cNvPr id="17" name="Pentagon 16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 Geschäftskunden in Wiesbaden und überregional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 Vermarktung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 überregionalen Vertriebs (+11,3 %)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 Unternehmen (u. a. sw netz, WiTCOM)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 Erlösquellen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 mit 132,9 km und 1.979 Anschlüssen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 Netzausbau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 Wassernetzes für den Eigenbetrieb WLW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 WLW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58" name="Picture 5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60" name="Picture 59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62" name="Picture 6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65" name="Picture 6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67" name="Picture 66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Netz, Telekommunikation und Erzeugung sind in zwölf Beteiligungen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gebündelt − die Ergebnisbeiträge kommen aus sw netz, WiTCOM und der KMW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553200"/>
            <a:ext cx="9931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Angaben zum Anteilsbesitz nach § 285 Nr. 11 HGB zum 31.12.2025; Ergebnisabführungsvertrag mit der Stadtwerke Wiesbaden Netz GmbH und der WiTCOM GmbH, freiwillige Ergebnisübernahme bei ESWE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Taunuswind und ESWE Windpark. Nicht dargestellt: THEE ESWE Windparkbeteiligungs Verwaltungs GmbH (33,33 %) sowie die nicht angabepflichtigen Beteiligungen unter 20 % (Hessenwasser 18,18 %, easierLife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10 %, ASEW 7,14 %, Thüga Erneuerbare Energien 3,35 %); 2) Ausschüttung der KMW für das Geschäftsjahr 2024; 3) Jahresabschluss 2024, Werte für 2025 lagen nicht vor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1243330"/>
            <a:ext cx="6350000" cy="2705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Beteiligungsstruktur</a:t>
            </a:r>
            <a:r>
              <a:rPr sz="1400" b="0" i="0">
                <a:solidFill>
                  <a:srgbClr val="A6A6A6"/>
                </a:solidFill>
                <a:latin typeface="Univers for Metzler"/>
                <a:ea typeface="Univers for Metzler"/>
                <a:cs typeface="Univers for Metzler"/>
              </a:rPr>
              <a:t> (vereinfacht)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11250" y="1498600"/>
            <a:ext cx="84709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Landeshauptstadt Wiesbaden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89735" y="1930400"/>
            <a:ext cx="731393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06560" y="1930400"/>
            <a:ext cx="10083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60" y="2413000"/>
            <a:ext cx="99364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</a:t>
            </a:r>
          </a:p>
        </p:txBody>
      </p:sp>
      <p:cxnSp>
        <p:nvCxnSpPr>
          <p:cNvPr id="18" name="Connector 17"/>
          <p:cNvCxnSpPr>
            <a:stCxn id="14" idx="2"/>
            <a:endCxn id="15" idx="0"/>
          </p:cNvCxnSpPr>
          <p:nvPr/>
        </p:nvCxnSpPr>
        <p:spPr>
          <a:xfrm>
            <a:off x="5346700" y="1803400"/>
            <a:ext cx="0" cy="1270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384800" y="1816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cxnSp>
        <p:nvCxnSpPr>
          <p:cNvPr id="20" name="Connector 19"/>
          <p:cNvCxnSpPr>
            <a:stCxn id="15" idx="2"/>
            <a:endCxn id="17" idx="0"/>
          </p:cNvCxnSpPr>
          <p:nvPr/>
        </p:nvCxnSpPr>
        <p:spPr>
          <a:xfrm>
            <a:off x="534670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384800" y="22733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50,62 %</a:t>
            </a:r>
          </a:p>
        </p:txBody>
      </p:sp>
      <p:cxnSp>
        <p:nvCxnSpPr>
          <p:cNvPr id="22" name="Connector 21"/>
          <p:cNvCxnSpPr>
            <a:stCxn id="16" idx="2"/>
          </p:cNvCxnSpPr>
          <p:nvPr/>
        </p:nvCxnSpPr>
        <p:spPr>
          <a:xfrm>
            <a:off x="981075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8890000" y="2273300"/>
            <a:ext cx="863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49,38 %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2717800"/>
            <a:ext cx="2085339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</a:t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473,8 Mio. 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3800" y="2717800"/>
            <a:ext cx="24384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Jahresüberschuss 2025: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48,9 Mio. EUR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2200" y="2717800"/>
            <a:ext cx="27686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an die WVV: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30,1 Mio. 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70800" y="2717800"/>
            <a:ext cx="264414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Ausgleichszahlung Thüga: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18,8 Mio. EUR</a:t>
            </a:r>
          </a:p>
        </p:txBody>
      </p:sp>
      <p:cxnSp>
        <p:nvCxnSpPr>
          <p:cNvPr id="28" name="Connector 27"/>
          <p:cNvCxnSpPr>
            <a:stCxn id="24" idx="2"/>
          </p:cNvCxnSpPr>
          <p:nvPr/>
        </p:nvCxnSpPr>
        <p:spPr>
          <a:xfrm>
            <a:off x="1421129" y="2946400"/>
            <a:ext cx="3925571" cy="18796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145540" y="4826000"/>
            <a:ext cx="8403590" cy="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3784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 Netz GmbH</a:t>
            </a:r>
          </a:p>
        </p:txBody>
      </p:sp>
      <p:cxnSp>
        <p:nvCxnSpPr>
          <p:cNvPr id="31" name="Connector 30"/>
          <p:cNvCxnSpPr>
            <a:endCxn id="30" idx="0"/>
          </p:cNvCxnSpPr>
          <p:nvPr/>
        </p:nvCxnSpPr>
        <p:spPr>
          <a:xfrm>
            <a:off x="11455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11836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84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 des Stromnetzes in Wiesbaden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69,6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5,4 Mio. EUR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6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cxnSp>
        <p:nvCxnSpPr>
          <p:cNvPr id="35" name="Connector 34"/>
          <p:cNvCxnSpPr>
            <a:endCxn id="34" idx="0"/>
          </p:cNvCxnSpPr>
          <p:nvPr/>
        </p:nvCxnSpPr>
        <p:spPr>
          <a:xfrm>
            <a:off x="28257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28638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86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Glasfaser und Rechenzentren (B2B und Carrier)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17,7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3,4 Mio. EUR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01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</a:p>
        </p:txBody>
      </p:sp>
      <p:cxnSp>
        <p:nvCxnSpPr>
          <p:cNvPr id="39" name="Connector 38"/>
          <p:cNvCxnSpPr>
            <a:endCxn id="38" idx="0"/>
          </p:cNvCxnSpPr>
          <p:nvPr/>
        </p:nvCxnSpPr>
        <p:spPr>
          <a:xfrm>
            <a:off x="45072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5453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01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Biomasse-Heizkraftwerk, Strom und Fernwärme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18,8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1,3 Mio. EUR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203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Mainz-Wiesbaden AG (KMW)</a:t>
            </a:r>
          </a:p>
        </p:txBody>
      </p:sp>
      <p:cxnSp>
        <p:nvCxnSpPr>
          <p:cNvPr id="43" name="Connector 42"/>
          <p:cNvCxnSpPr>
            <a:endCxn id="42" idx="0"/>
          </p:cNvCxnSpPr>
          <p:nvPr/>
        </p:nvCxnSpPr>
        <p:spPr>
          <a:xfrm>
            <a:off x="61874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2255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203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Erzeugung und Energiehub der Region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396,0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Ausschüttung: 14,0 Mio. EUR</a:t>
            </a:r>
            <a:r>
              <a:rPr sz="900" b="0" i="0" baseline="3000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005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</a:p>
        </p:txBody>
      </p:sp>
      <p:cxnSp>
        <p:nvCxnSpPr>
          <p:cNvPr id="47" name="Connector 46"/>
          <p:cNvCxnSpPr>
            <a:endCxn id="46" idx="0"/>
          </p:cNvCxnSpPr>
          <p:nvPr/>
        </p:nvCxnSpPr>
        <p:spPr>
          <a:xfrm>
            <a:off x="78676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9057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24,5 %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005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Neues Müllheizkraftwerk (Inbetriebnahme läuft)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27,4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−3,5 Mio. EUR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820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 GmbH</a:t>
            </a:r>
          </a:p>
        </p:txBody>
      </p:sp>
      <p:cxnSp>
        <p:nvCxnSpPr>
          <p:cNvPr id="51" name="Connector 50"/>
          <p:cNvCxnSpPr>
            <a:endCxn id="50" idx="0"/>
          </p:cNvCxnSpPr>
          <p:nvPr/>
        </p:nvCxnSpPr>
        <p:spPr>
          <a:xfrm>
            <a:off x="95491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95872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20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Tief- und Rohrleitungsbau (Baukapazitäten)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2024: 25 T EUR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2024: −4 T EUR</a:t>
            </a:r>
            <a:r>
              <a:rPr sz="900" b="0" i="0" baseline="3000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84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cxnSp>
        <p:nvCxnSpPr>
          <p:cNvPr id="55" name="Connector 54"/>
          <p:cNvCxnSpPr>
            <a:endCxn id="54" idx="0"/>
          </p:cNvCxnSpPr>
          <p:nvPr/>
        </p:nvCxnSpPr>
        <p:spPr>
          <a:xfrm>
            <a:off x="11455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11836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84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Windpark Hohe Wurzel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0,1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86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cxnSp>
        <p:nvCxnSpPr>
          <p:cNvPr id="59" name="Connector 58"/>
          <p:cNvCxnSpPr>
            <a:endCxn id="58" idx="0"/>
          </p:cNvCxnSpPr>
          <p:nvPr/>
        </p:nvCxnSpPr>
        <p:spPr>
          <a:xfrm>
            <a:off x="28257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28638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86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für Windenergievorhaben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25 T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01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 GmbH &amp; Co. KG</a:t>
            </a:r>
          </a:p>
        </p:txBody>
      </p:sp>
      <p:cxnSp>
        <p:nvCxnSpPr>
          <p:cNvPr id="63" name="Connector 62"/>
          <p:cNvCxnSpPr>
            <a:endCxn id="62" idx="0"/>
          </p:cNvCxnSpPr>
          <p:nvPr/>
        </p:nvCxnSpPr>
        <p:spPr>
          <a:xfrm>
            <a:off x="45072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45453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01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Uettingen in Unterfranken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−0,1 Mio. EUR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203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 GmbH &amp; Co. KG</a:t>
            </a:r>
          </a:p>
        </p:txBody>
      </p:sp>
      <p:cxnSp>
        <p:nvCxnSpPr>
          <p:cNvPr id="67" name="Connector 66"/>
          <p:cNvCxnSpPr>
            <a:endCxn id="66" idx="0"/>
          </p:cNvCxnSpPr>
          <p:nvPr/>
        </p:nvCxnSpPr>
        <p:spPr>
          <a:xfrm>
            <a:off x="61874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62255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03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Kahlenberg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−0,2 Mio. EUR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005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 GmbH &amp; Co. KG</a:t>
            </a:r>
          </a:p>
        </p:txBody>
      </p:sp>
      <p:cxnSp>
        <p:nvCxnSpPr>
          <p:cNvPr id="71" name="Connector 70"/>
          <p:cNvCxnSpPr>
            <a:endCxn id="70" idx="0"/>
          </p:cNvCxnSpPr>
          <p:nvPr/>
        </p:nvCxnSpPr>
        <p:spPr>
          <a:xfrm>
            <a:off x="78676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79057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005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Bad Camberg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−0,3 Mio. EUR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820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 Windparkbeteiligungs KG</a:t>
            </a:r>
          </a:p>
        </p:txBody>
      </p:sp>
      <p:cxnSp>
        <p:nvCxnSpPr>
          <p:cNvPr id="75" name="Connector 74"/>
          <p:cNvCxnSpPr>
            <a:endCxn id="74" idx="0"/>
          </p:cNvCxnSpPr>
          <p:nvPr/>
        </p:nvCxnSpPr>
        <p:spPr>
          <a:xfrm>
            <a:off x="95491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95872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20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 gemeinsam mit Thüga Erneuerbare Energien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11,3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−1,1 Mio. EUR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0200" y="3175000"/>
            <a:ext cx="33147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0200" y="4978400"/>
            <a:ext cx="10033000" cy="15240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13500" y="7124700"/>
            <a:ext cx="290830" cy="14986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81800" y="7068820"/>
            <a:ext cx="2794000" cy="22097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Mögliche Beteiligungsobjekte (Kapitel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none" lIns="129539" tIns="12700" rIns="25400" bIns="12700">
            <a:noAutofit/>
          </a:bodyPr>
          <a:lstStyle/>
          <a:p>
            <a:pPr algn="l"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3" name="Oval 32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34" name="Picture 33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2" name="Oval 41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3" name="Picture 42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572000" y="2800350"/>
            <a:ext cx="24638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4" name="Oval 33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0" name="Oval 39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6" name="Oval 45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2" name="Oval 51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97" name="Oval 96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03" name="Oval 102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07" name="Oval 106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11" name="Oval 110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15" name="Oval 114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9" name="Oval 11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80340" tIns="93980" rIns="1270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 deutlich über Plan)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 sanken Ende 2025 auf 2,5 Mio. EUR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 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 Photovoltaik-, Wärmepumpen- und Energiemanagementlösungen</a:t>
            </a:r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 zurückhaltende Gasnetz-Investitionen mit Prüfung einer künftigen Wasserstoffversorgung</a:t>
            </a:r>
          </a:p>
        </p:txBody>
      </p:sp>
      <p:pic>
        <p:nvPicPr>
          <p:cNvPr id="15" name="Picture 14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 regionalen EE-Portfolios gemeinsam mit Thüga und KMW</a:t>
            </a:r>
          </a:p>
        </p:txBody>
      </p:sp>
      <p:pic>
        <p:nvPicPr>
          <p:cNvPr id="17" name="Picture 1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 sowie zügiger Ausbau der Ladeinfrastruktur auf 800 öffentliche Ladepunkte bis 2030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 von 3,4 Mio. EUR im Jahr 2025</a:t>
            </a:r>
          </a:p>
        </p:txBody>
      </p:sp>
      <p:pic>
        <p:nvPicPr>
          <p:cNvPr id="21" name="Picture 20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 als Investitionsschwerpunkt 2025 (14,0 Mio. EUR)</a:t>
            </a:r>
          </a:p>
        </p:txBody>
      </p:sp>
      <p:pic>
        <p:nvPicPr>
          <p:cNvPr id="23" name="Picture 22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t" wrap="square" lIns="152400" tIns="603250" rIns="152400" bIns="152400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6" name="Picture 15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8" name="Picture 17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0" name="Picture 19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2" name="Picture 21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4" name="Picture 23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6" name="Picture 25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 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unterschiedlichen Assets beteiligt werden − ausgewählte Impulse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Ähnlich übertragbar auf weitere Geschäftsfelder, z. B. Wind-/Solarbeteiligungen oder Ladeinfrastruktur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Joint Venture Wärme/Erneuerbare Energien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57070" y="2594610"/>
            <a:ext cx="1739900" cy="169037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57070" y="2594610"/>
            <a:ext cx="1739900" cy="36068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Wärme/EE SPV</a:t>
            </a:r>
          </a:p>
          <a:p>
            <a:pPr algn="ctr">
              <a:lnSpc>
                <a:spcPts val="1100"/>
              </a:lnSpc>
              <a:spcBef>
                <a:spcPts val="0"/>
              </a:spcBef>
            </a:pPr>
            <a:r>
              <a:rPr sz="9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post Carve-Out</a:t>
            </a:r>
          </a:p>
        </p:txBody>
      </p:sp>
      <p:pic>
        <p:nvPicPr>
          <p:cNvPr id="16" name="Picture 15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3175000"/>
            <a:ext cx="330200" cy="330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40000" y="32385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</a:t>
            </a:r>
          </a:p>
        </p:txBody>
      </p:sp>
      <p:pic>
        <p:nvPicPr>
          <p:cNvPr id="18" name="Picture 17" descr="g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721100"/>
            <a:ext cx="330200" cy="330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40000" y="37846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EE-Erzeugung</a:t>
            </a:r>
          </a:p>
        </p:txBody>
      </p:sp>
      <p:pic>
        <p:nvPicPr>
          <p:cNvPr id="20" name="Picture 19" descr="esw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108200"/>
            <a:ext cx="965200" cy="40471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014470" y="213106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66800" y="2540000"/>
            <a:ext cx="0" cy="23368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6800" y="2773680"/>
            <a:ext cx="863600" cy="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76750" y="2377440"/>
            <a:ext cx="0" cy="39624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721100" y="2773680"/>
            <a:ext cx="75565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0320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9200" y="2374900"/>
            <a:ext cx="6604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213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Fernwärmenetz/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EE-Projekte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286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 EK für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und Kaufpreis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1909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t" wrap="square" tIns="165100" rIns="152400" bIns="50800">
            <a:noAutofit/>
          </a:bodyPr>
          <a:lstStyle/>
          <a:p>
            <a:pPr algn="l" marL="175260" indent="-175260">
              <a:lnSpc>
                <a:spcPts val="12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ESWE Versorgungs AG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Fernwärme-Geschäft (post Carve-out)</a:t>
            </a:r>
          </a:p>
          <a:p>
            <a:pPr algn="l" marL="175260" indent="-175260">
              <a:lnSpc>
                <a:spcPts val="1200"/>
              </a:lnSpc>
              <a:spcBef>
                <a:spcPts val="12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inkl. Projekt Hohe Wurzel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90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846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3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 und Exit-Mechanismen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Investorengerechte Schaffung einer Plattform/eines abgegrenzten Vehikels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Festlegung Budget und Investitionsplan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 (Stadt und Thüga)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1053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1909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3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Risiken und Investitionsbedarf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des Kaufpreises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von Investitionen möglich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Zusätzlicher strategischer Input</a:t>
            </a:r>
          </a:p>
          <a:p>
            <a:pPr algn="l" marL="175260" indent="-175260">
              <a:lnSpc>
                <a:spcPts val="1370"/>
              </a:lnSpc>
              <a:spcBef>
                <a:spcPts val="43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