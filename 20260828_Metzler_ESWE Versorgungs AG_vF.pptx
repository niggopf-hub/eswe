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0693908" cy="75605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605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9400" y="774700"/>
            <a:ext cx="10223500" cy="655320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128000" y="961390"/>
            <a:ext cx="218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03D7C"/>
                </a:solidFill>
                <a:latin typeface="Univers for Metzler"/>
                <a:ea typeface="Univers for Metzler"/>
                <a:cs typeface="Univers for Metzler"/>
              </a:rPr>
              <a:t>Streng vertraulich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920" y="1893570"/>
            <a:ext cx="939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Überlegungen zur Kapitalflexibilisierung durch Einbindung privater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920" y="2198370"/>
            <a:ext cx="939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Investoren</a:t>
            </a:r>
          </a:p>
        </p:txBody>
      </p:sp>
      <p:pic>
        <p:nvPicPr>
          <p:cNvPr id="8" name="Picture 7" descr="esw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87800"/>
            <a:ext cx="2374900" cy="9958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4530" y="641477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Wiesbaden / Frankfurt am Main, 28. August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mg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8460" y="474980"/>
            <a:ext cx="3810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700" y="2197100"/>
            <a:ext cx="469900" cy="3810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1700" y="2197100"/>
            <a:ext cx="469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5130" y="2283460"/>
            <a:ext cx="7620000" cy="2552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Metzler Corporate Finance – Übersicht und Referenzen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1700" y="2804160"/>
            <a:ext cx="469900" cy="3810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2804160"/>
            <a:ext cx="469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5130" y="2890520"/>
            <a:ext cx="7620000" cy="2552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ESWE Versorgungs AG – Übersicht und Herausforderungen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700" y="3411220"/>
            <a:ext cx="469900" cy="3810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700" y="3411220"/>
            <a:ext cx="469900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5130" y="3497580"/>
            <a:ext cx="7620000" cy="2552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Diskussion möglicher Handlungsoptionen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1000" y="32385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1000" y="3581400"/>
            <a:ext cx="482600" cy="4191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581400"/>
            <a:ext cx="482600" cy="419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170" y="364236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Metzler Corporate Finance – Übersicht und Referenzen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78714" y="7078853"/>
            <a:ext cx="8369935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113137" y="7078853"/>
            <a:ext cx="201549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8875522" y="7070471"/>
            <a:ext cx="1159128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875522" y="7078853"/>
            <a:ext cx="1109091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8714" y="1166622"/>
            <a:ext cx="9935972" cy="0"/>
          </a:xfrm>
          <a:prstGeom prst="line">
            <a:avLst/>
          </a:prstGeom>
          <a:ln w="19050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8714" y="1216660"/>
            <a:ext cx="4895977" cy="190500"/>
          </a:xfrm>
          <a:prstGeom prst="rect">
            <a:avLst/>
          </a:prstGeom>
          <a:solidFill>
            <a:srgbClr val="003C7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8714" y="2587244"/>
            <a:ext cx="4895977" cy="4289679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18709" y="1216660"/>
            <a:ext cx="4895976" cy="190500"/>
          </a:xfrm>
          <a:prstGeom prst="rect">
            <a:avLst/>
          </a:prstGeom>
          <a:solidFill>
            <a:srgbClr val="003C7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18709" y="2587244"/>
            <a:ext cx="4895976" cy="4289679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11" name="Picture 10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522" y="6890258"/>
            <a:ext cx="1414399" cy="360425"/>
          </a:xfrm>
          <a:prstGeom prst="rect">
            <a:avLst/>
          </a:prstGeom>
        </p:spPr>
      </p:pic>
      <p:pic>
        <p:nvPicPr>
          <p:cNvPr id="12" name="Picture 11" descr="flat_p04_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408176"/>
            <a:ext cx="931163" cy="1184148"/>
          </a:xfrm>
          <a:prstGeom prst="rect">
            <a:avLst/>
          </a:prstGeom>
        </p:spPr>
      </p:pic>
      <p:pic>
        <p:nvPicPr>
          <p:cNvPr id="13" name="Picture 12" descr="img_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14" y="1443736"/>
            <a:ext cx="809498" cy="1063625"/>
          </a:xfrm>
          <a:prstGeom prst="rect">
            <a:avLst/>
          </a:prstGeom>
        </p:spPr>
      </p:pic>
      <p:pic>
        <p:nvPicPr>
          <p:cNvPr id="14" name="Picture 13" descr="flat_p04_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768" y="1408176"/>
            <a:ext cx="932688" cy="1185672"/>
          </a:xfrm>
          <a:prstGeom prst="rect">
            <a:avLst/>
          </a:prstGeom>
        </p:spPr>
      </p:pic>
      <p:pic>
        <p:nvPicPr>
          <p:cNvPr id="15" name="Picture 14" descr="img_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709" y="1443736"/>
            <a:ext cx="812038" cy="10656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1635" y="7118604"/>
            <a:ext cx="565150" cy="1783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841" y="475234"/>
            <a:ext cx="3186176" cy="3307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4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Ihre Ansprechpartner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841" y="227965"/>
            <a:ext cx="3873500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1. Metzler Corporate Finance – Übersicht und Referenzen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2405" y="1453261"/>
            <a:ext cx="1640077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Hans Günter Wolf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2405" y="1631569"/>
            <a:ext cx="3258693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Managing Director / Co-Head Corporate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2405" y="1808352"/>
            <a:ext cx="1532127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Corporate 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5458" y="2066417"/>
            <a:ext cx="168452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T: +49 69 21 04 49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5458" y="2229485"/>
            <a:ext cx="168452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M: +49 173 9 24 99 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5458" y="2391029"/>
            <a:ext cx="2338196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E: hans.guenter.wolf@metzler.com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50" y="2653538"/>
            <a:ext cx="840994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Profil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850" y="2860294"/>
            <a:ext cx="4251071" cy="224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Über 30 Jahre Erfahrung im Bereich Energie/ M&amp;A/ Consulting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850" y="3088894"/>
            <a:ext cx="4742180" cy="224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Seit 2012 Geschäftsführer Metzler Corporate Finance; Sektor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Energy &amp;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730" y="3263519"/>
            <a:ext cx="1271143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850" y="3469894"/>
            <a:ext cx="4036441" cy="2249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Zuvor Partner bei Deloitte, PA Consulting, Arthur Andersen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850" y="3698494"/>
            <a:ext cx="3697351" cy="2249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Bei Deloitte und PA Consulting verantwortlich für die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730" y="3873119"/>
            <a:ext cx="3369309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Energiewirtschaft als Industry Leader (DE/ Europa)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850" y="4079494"/>
            <a:ext cx="2425700" cy="2249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Ausgewählte Referenzprojekte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206" y="4281424"/>
            <a:ext cx="578231" cy="217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562" y="4304411"/>
            <a:ext cx="4741545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eines börsennotierten deutschen Erneuerbare Energien Entwicklers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562" y="4456557"/>
            <a:ext cx="2272792" cy="20307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bei Kapitalmaßnahmen (laufend)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206" y="4612386"/>
            <a:ext cx="578231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562" y="4635373"/>
            <a:ext cx="4462145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der WIND-projekt beim Verkauf eines 380 MW Onshore Wind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562" y="4787773"/>
            <a:ext cx="2391918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Portfolios an Blue Elephant Energy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206" y="4943094"/>
            <a:ext cx="578231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562" y="4966081"/>
            <a:ext cx="4531233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der EWE AG beim Verkauf der WCG Wärme Contracting GmbH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206" y="5119878"/>
            <a:ext cx="578231" cy="217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562" y="5142865"/>
            <a:ext cx="4523486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beim Verkauf des Norderland 360 MW Onshore Wind Portfolios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206" y="5298186"/>
            <a:ext cx="578231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562" y="5321173"/>
            <a:ext cx="4830699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der Stadt Mannheim bei der Prüfung potenzieller Handlungsoptionen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562" y="5473573"/>
            <a:ext cx="4302887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bezüglich der Änderungen der Aktionärsstruktur der MVV Energie AG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206" y="5628894"/>
            <a:ext cx="578231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562" y="5651881"/>
            <a:ext cx="4727829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der Gesellschafter beim Verkauf eines 188 MW Windpark-Portfolios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206" y="5805678"/>
            <a:ext cx="578231" cy="217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562" y="5828665"/>
            <a:ext cx="4815586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der juwi AG bei der Aufnahme der MVV Energie AG als Aktionär und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562" y="5981065"/>
            <a:ext cx="2654935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bei der Kapitalerhöhung (Pipeline 1GW)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206" y="6136005"/>
            <a:ext cx="578485" cy="2176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562" y="6159119"/>
            <a:ext cx="4466590" cy="20307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der Steag GmbH bei der Analyse der finanziellen Situation und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562" y="6312027"/>
            <a:ext cx="2856103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Entwicklung von M&amp;A-Handlungsoptionen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206" y="6467348"/>
            <a:ext cx="578231" cy="21729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562" y="6490334"/>
            <a:ext cx="4701286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von First Sentier Investments beim Erwerb von 45,8% an der MVV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562" y="6642734"/>
            <a:ext cx="1131570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Energie 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91607" y="2653538"/>
            <a:ext cx="840993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Profil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91607" y="2860294"/>
            <a:ext cx="3391408" cy="224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30 Jahre Erfahrung in M&amp;A / Corporate Finance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91607" y="3088894"/>
            <a:ext cx="4483608" cy="22491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Umfassende Expertise in den Bereichen Energie und Infrastruktur,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74487" y="3263519"/>
            <a:ext cx="4631690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Versorgungsunternehmen und Abfallwirtschaft sowie öffentlicher Sektor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91607" y="3469894"/>
            <a:ext cx="2461133" cy="2249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Ausgewählte Referenzprojekte: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72963" y="3697732"/>
            <a:ext cx="578358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4319" y="3720719"/>
            <a:ext cx="4737100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eines börsennotierten deutschen Erneuerbare Energien Entwicklers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54319" y="3873119"/>
            <a:ext cx="2272537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bei Kapitalmaßnahmen (laufend)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72963" y="4028440"/>
            <a:ext cx="578358" cy="217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4319" y="4051427"/>
            <a:ext cx="4175505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von WIND-projekt beim Verkauf eines 380-MW-Onshore-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4319" y="4203827"/>
            <a:ext cx="2684526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Windportfolios an Blue Elephant Energy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72963" y="4357624"/>
            <a:ext cx="578358" cy="217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54319" y="4380611"/>
            <a:ext cx="4708652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beim Verkauf des Norderland Onshore-Windportfolios mit 360 MW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72963" y="4536186"/>
            <a:ext cx="578358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4319" y="4559173"/>
            <a:ext cx="4867148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der Steag GmbH bei der Analyse der Finanzsituation und Entwicklung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4319" y="4711573"/>
            <a:ext cx="1571244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von M&amp;A-Optionen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72963" y="4866894"/>
            <a:ext cx="578358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54319" y="4889881"/>
            <a:ext cx="4730241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von First Sentier Investments beim Erwerb von  45,8% an der MVV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54319" y="5042281"/>
            <a:ext cx="1131569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Energie AG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72963" y="5196078"/>
            <a:ext cx="578358" cy="217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4319" y="5219065"/>
            <a:ext cx="4799837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eines französischen Infrastrukturfonds bei der geplanten Übernahme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4319" y="5371465"/>
            <a:ext cx="3670807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einer Beteiligung an Mainova WebHouse (Rechenzentren)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72963" y="5526786"/>
            <a:ext cx="578358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4319" y="5549773"/>
            <a:ext cx="4552823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von DEW21 zur potenziellen Einbindung von privatem Kapital in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54319" y="5702173"/>
            <a:ext cx="4202557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Investitionsvorhaben, z.B. für Erneuerbare Energien und Stromnetze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2963" y="5857494"/>
            <a:ext cx="578358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54319" y="5880481"/>
            <a:ext cx="3754628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Verschiedene M&amp;A-Projekte im Bereich Versorgungs- und 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4319" y="6032881"/>
            <a:ext cx="4812283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Abfallwirtschaftsinfrastruktur, darunter kommunale Versorgungsunternehmen,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54319" y="6185027"/>
            <a:ext cx="4853051" cy="20307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EV-Charging, Abwassernetze, Energiegewinnung aus Abfall und der öffentliche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54319" y="6337935"/>
            <a:ext cx="857630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Sektor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02908" y="1453261"/>
            <a:ext cx="1664843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Christiane Stäcker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02908" y="1631569"/>
            <a:ext cx="1570355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Managing Director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02908" y="1808352"/>
            <a:ext cx="1532127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003D7C"/>
                </a:solidFill>
                <a:latin typeface="Arial"/>
                <a:ea typeface="Arial"/>
                <a:cs typeface="Arial"/>
              </a:rPr>
              <a:t>Corporate Finance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46215" y="2066417"/>
            <a:ext cx="168452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T: +49 69 21 04 49 22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46215" y="2229485"/>
            <a:ext cx="168452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M: +49 172 8 82 57 51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46215" y="2391029"/>
            <a:ext cx="236855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E: christiane.staecker@metzler.com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78714" y="7078853"/>
            <a:ext cx="8369935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113137" y="7078853"/>
            <a:ext cx="201549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8875522" y="7070471"/>
            <a:ext cx="1159128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875522" y="7078853"/>
            <a:ext cx="1109091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8714" y="1166622"/>
            <a:ext cx="9935972" cy="0"/>
          </a:xfrm>
          <a:prstGeom prst="line">
            <a:avLst/>
          </a:prstGeom>
          <a:ln w="19050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38349" y="2183638"/>
            <a:ext cx="0" cy="3460242"/>
          </a:xfrm>
          <a:prstGeom prst="line">
            <a:avLst/>
          </a:prstGeom>
          <a:ln w="1587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522" y="6890258"/>
            <a:ext cx="1414399" cy="360425"/>
          </a:xfrm>
          <a:prstGeom prst="rect">
            <a:avLst/>
          </a:prstGeom>
        </p:spPr>
      </p:pic>
      <p:pic>
        <p:nvPicPr>
          <p:cNvPr id="9" name="Picture 8" descr="flat_p05_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43" y="3757929"/>
            <a:ext cx="1661159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1635" y="7118604"/>
            <a:ext cx="565150" cy="1783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841" y="475234"/>
            <a:ext cx="8554339" cy="3307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4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Bankhaus Metzler – Innovative Privatbank, erfolgreich seit 1674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841" y="227965"/>
            <a:ext cx="3873500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1. Metzler Corporate Finance – Übersicht und Referenzen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734" y="2289429"/>
            <a:ext cx="7470394" cy="2858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Deutschlands ältestes Bankhaus seit Gründung in ununterbrochenem Familienbesitz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734" y="3036189"/>
            <a:ext cx="7418451" cy="2858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Einzigartiges Netzwerk zu Eigentümern, Unternehmen, Investoren und Institutionen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734" y="3783203"/>
            <a:ext cx="5900166" cy="2858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Unabhängigkeit als zentrales Element unseres Geschäftsmodells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734" y="4529963"/>
            <a:ext cx="5479923" cy="2858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Fokus auf nachhaltige und langfristige Kundenbeziehungen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734" y="5277104"/>
            <a:ext cx="7039991" cy="2858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Wertorientiertes Handeln geprägt durch Unternehmergeist und Menschlichkeit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78714" y="7078853"/>
            <a:ext cx="8369935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113137" y="7078853"/>
            <a:ext cx="201549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8875522" y="7070471"/>
            <a:ext cx="1159128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875522" y="7078853"/>
            <a:ext cx="1109091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8714" y="1166622"/>
            <a:ext cx="9935972" cy="0"/>
          </a:xfrm>
          <a:prstGeom prst="line">
            <a:avLst/>
          </a:prstGeom>
          <a:ln w="19050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77825" y="2128520"/>
            <a:ext cx="9937750" cy="773049"/>
          </a:xfrm>
          <a:prstGeom prst="rect">
            <a:avLst/>
          </a:prstGeom>
          <a:solidFill>
            <a:srgbClr val="003C7B"/>
          </a:solidFill>
          <a:ln w="635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7825" y="5773293"/>
            <a:ext cx="9937750" cy="820801"/>
          </a:xfrm>
          <a:prstGeom prst="rect">
            <a:avLst/>
          </a:prstGeom>
          <a:solidFill>
            <a:srgbClr val="FFFFFF"/>
          </a:solidFill>
          <a:ln w="635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609" y="2306320"/>
            <a:ext cx="2213229" cy="1129410"/>
          </a:xfrm>
          <a:prstGeom prst="rect">
            <a:avLst/>
          </a:prstGeom>
          <a:solidFill>
            <a:srgbClr val="E5E6E5"/>
          </a:solidFill>
          <a:ln w="12700">
            <a:solidFill>
              <a:srgbClr val="FFFFFF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8251" y="2750693"/>
            <a:ext cx="2100199" cy="3283204"/>
          </a:xfrm>
          <a:prstGeom prst="rect">
            <a:avLst/>
          </a:prstGeom>
          <a:solidFill>
            <a:srgbClr val="FFFFFF"/>
          </a:solidFill>
          <a:ln w="635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25821" y="2306320"/>
            <a:ext cx="2213609" cy="1129410"/>
          </a:xfrm>
          <a:prstGeom prst="rect">
            <a:avLst/>
          </a:prstGeom>
          <a:solidFill>
            <a:srgbClr val="003C7B"/>
          </a:solidFill>
          <a:ln w="12700">
            <a:solidFill>
              <a:srgbClr val="FFFFFF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2590" y="2750693"/>
            <a:ext cx="2100199" cy="3283204"/>
          </a:xfrm>
          <a:prstGeom prst="rect">
            <a:avLst/>
          </a:prstGeom>
          <a:solidFill>
            <a:srgbClr val="EBF4FF"/>
          </a:solidFill>
          <a:ln w="635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3588" y="2306320"/>
            <a:ext cx="2213610" cy="1129410"/>
          </a:xfrm>
          <a:prstGeom prst="rect">
            <a:avLst/>
          </a:prstGeom>
          <a:solidFill>
            <a:srgbClr val="E5E6E5"/>
          </a:solidFill>
          <a:ln w="12700">
            <a:solidFill>
              <a:srgbClr val="FFFFFF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10230" y="2750693"/>
            <a:ext cx="2100198" cy="3283204"/>
          </a:xfrm>
          <a:prstGeom prst="rect">
            <a:avLst/>
          </a:prstGeom>
          <a:solidFill>
            <a:srgbClr val="FFFFFF"/>
          </a:solidFill>
          <a:ln w="635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8054" y="2306320"/>
            <a:ext cx="2213610" cy="1129410"/>
          </a:xfrm>
          <a:prstGeom prst="rect">
            <a:avLst/>
          </a:prstGeom>
          <a:solidFill>
            <a:srgbClr val="E5E6E5"/>
          </a:solidFill>
          <a:ln w="12700">
            <a:solidFill>
              <a:srgbClr val="FFFFFF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4823" y="2750693"/>
            <a:ext cx="2100199" cy="3283204"/>
          </a:xfrm>
          <a:prstGeom prst="rect">
            <a:avLst/>
          </a:prstGeom>
          <a:solidFill>
            <a:srgbClr val="FFFFFF"/>
          </a:solidFill>
          <a:ln w="635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17" name="Picture 16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522" y="6890258"/>
            <a:ext cx="1414399" cy="360425"/>
          </a:xfrm>
          <a:prstGeom prst="rect">
            <a:avLst/>
          </a:prstGeom>
        </p:spPr>
      </p:pic>
      <p:pic>
        <p:nvPicPr>
          <p:cNvPr id="18" name="Picture 17" descr="img_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553" y="1803527"/>
            <a:ext cx="1336294" cy="4320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635" y="7118604"/>
            <a:ext cx="565150" cy="1783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841" y="475234"/>
            <a:ext cx="8987916" cy="3307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4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Metzler konzentriert sich auf seine Stärken in vier Geschäftsfeldern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841" y="227965"/>
            <a:ext cx="3873500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1. Metzler Corporate Finance – Übersicht und Referenzen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6118606"/>
            <a:ext cx="8513572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Rund 800 Mitarbeiter in Frankfurt am Main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– Hamburg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– Düsseldorf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–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München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–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Stuttgart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– Berlin 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302" y="6310630"/>
            <a:ext cx="3574796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Atlanta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–</a:t>
            </a:r>
            <a:r>
              <a:rPr sz="1296" b="0" i="0">
                <a:solidFill>
                  <a:srgbClr val="D1E4FD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Los Angeles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–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Seattle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–</a:t>
            </a:r>
            <a:r>
              <a:rPr sz="129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 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Tokio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074" y="2421382"/>
            <a:ext cx="2228215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0">
                <a:solidFill>
                  <a:srgbClr val="003D7C"/>
                </a:solidFill>
                <a:latin typeface="Univers for Metzler"/>
                <a:ea typeface="Univers for Metzler"/>
                <a:cs typeface="Univers for Metzler"/>
              </a:rPr>
              <a:t>Asset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455" y="2823337"/>
            <a:ext cx="1407921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Portfolio-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287" y="3043428"/>
            <a:ext cx="1567433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455" y="3402457"/>
            <a:ext cx="2005838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ESG-Strategien,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287" y="3622548"/>
            <a:ext cx="1458721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Beratung &amp;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287" y="3835908"/>
            <a:ext cx="1292860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455" y="4194683"/>
            <a:ext cx="1362837" cy="26161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Pension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287" y="4415409"/>
            <a:ext cx="1574927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455" y="4774438"/>
            <a:ext cx="2299716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Immobilienberatung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455" y="5140198"/>
            <a:ext cx="2002282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Administrations-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6287" y="5360289"/>
            <a:ext cx="1819275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dienstleistungen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0921" y="2421382"/>
            <a:ext cx="2120773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0">
                <a:solidFill>
                  <a:srgbClr val="FFFFFF"/>
                </a:solidFill>
                <a:latin typeface="Univers for Metzler"/>
                <a:ea typeface="Univers for Metzler"/>
                <a:cs typeface="Univers for Metzler"/>
              </a:rPr>
              <a:t>Corporate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1302" y="2823337"/>
            <a:ext cx="1580388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Mergers &amp;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1134" y="3043428"/>
            <a:ext cx="2052319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Acquisitions (M&amp;A)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1302" y="3402457"/>
            <a:ext cx="2085086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Neuordnung von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1134" y="3622548"/>
            <a:ext cx="1688591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Gesellschafter-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1134" y="3835908"/>
            <a:ext cx="1323720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strukturen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91302" y="4194683"/>
            <a:ext cx="2147951" cy="26161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Transaktionen mit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1134" y="4415409"/>
            <a:ext cx="1554988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Börsenbezug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91302" y="4774438"/>
            <a:ext cx="1902205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Umbruch- und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1134" y="4994529"/>
            <a:ext cx="1959483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Sondersituationen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18434" y="2421382"/>
            <a:ext cx="1905254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0">
                <a:solidFill>
                  <a:srgbClr val="003D7C"/>
                </a:solidFill>
                <a:latin typeface="Univers for Metzler"/>
                <a:ea typeface="Univers for Metzler"/>
                <a:cs typeface="Univers for Metzler"/>
              </a:rPr>
              <a:t>Capital Markets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2823337"/>
            <a:ext cx="2116836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Betreuung institu-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8520" y="3043428"/>
            <a:ext cx="2101850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tioneller Kunden im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8520" y="3256788"/>
            <a:ext cx="1669288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Direktgeschäft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18688" y="3615816"/>
            <a:ext cx="1460119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Currency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8520" y="3835908"/>
            <a:ext cx="1575053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18688" y="4194683"/>
            <a:ext cx="2104644" cy="26161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Handel in Aktien,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98520" y="4415409"/>
            <a:ext cx="2076703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Devisen und Zinsen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18688" y="4774438"/>
            <a:ext cx="2354579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Kapitalmarktfinanzie-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98520" y="4994529"/>
            <a:ext cx="2087626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rungen (ECM/DCM)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18688" y="5353558"/>
            <a:ext cx="2279777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Research in Aktien,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98520" y="5573649"/>
            <a:ext cx="2119756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Devisen und Renten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63534" y="2421382"/>
            <a:ext cx="1900428" cy="2545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0">
                <a:solidFill>
                  <a:srgbClr val="003D7C"/>
                </a:solidFill>
                <a:latin typeface="Univers for Metzler"/>
                <a:ea typeface="Univers for Metzler"/>
                <a:cs typeface="Univers for Metzler"/>
              </a:rPr>
              <a:t>Private 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63789" y="2823337"/>
            <a:ext cx="1658238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Vermögens-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44002" y="3043428"/>
            <a:ext cx="1398143" cy="2545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verwaltung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63789" y="3402457"/>
            <a:ext cx="2314575" cy="26123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404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Vermögenstreuhand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60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60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605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605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1000" y="32385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1000" y="3581400"/>
            <a:ext cx="482600" cy="4191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581400"/>
            <a:ext cx="482600" cy="419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170" y="364236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ESWE Versorgungs AG – Übersicht und Herausforderungen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8460" y="227329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2. ESWE Versorgungs AG – Übersicht und Herausforderungen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250" y="7120890"/>
            <a:ext cx="8128000" cy="1790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Quellen: Metzler-Recherche, Geschäftsbericht ESWE Versorgungs AG 2025, Unternehmenswebsite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460" y="474980"/>
            <a:ext cx="10033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Kerngesunder kommunaler Versorger mit starker Ergebnishistorie 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779780"/>
            <a:ext cx="10033000" cy="3314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am Beginn der investitionsintensivsten Phase seiner Geschichte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60" y="125095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Unser Verständnis der Ausgangslage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" y="1625600"/>
            <a:ext cx="1244600" cy="4445000"/>
          </a:xfrm>
          <a:prstGeom prst="rect">
            <a:avLst/>
          </a:prstGeom>
          <a:solidFill>
            <a:srgbClr val="003D7C"/>
          </a:solidFill>
          <a:ln>
            <a:noFill/>
          </a:ln>
          <a:effectLst>
            <a:outerShdw blurRad="63500" dist="25400" dir="2700000" rotWithShape="0">
              <a:srgbClr val="000000">
                <a:alpha val="22000"/>
              </a:srgbClr>
            </a:outerShdw>
          </a:effectLst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1625600"/>
            <a:ext cx="8547100" cy="4445000"/>
          </a:xfrm>
          <a:prstGeom prst="rect">
            <a:avLst/>
          </a:prstGeom>
          <a:solidFill>
            <a:srgbClr val="EBF4FF"/>
          </a:solidFill>
          <a:ln w="9525">
            <a:solidFill>
              <a:srgbClr val="D9D9D9"/>
            </a:solidFill>
          </a:ln>
          <a:effectLst>
            <a:outerShdw blurRad="63500" dist="25400" dir="2700000" rotWithShape="0">
              <a:srgbClr val="000000">
                <a:alpha val="22000"/>
              </a:srgbClr>
            </a:outerShdw>
          </a:effectLst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000" y="3436620"/>
            <a:ext cx="1244600" cy="209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Ausgangslage</a:t>
            </a:r>
          </a:p>
        </p:txBody>
      </p:sp>
      <p:pic>
        <p:nvPicPr>
          <p:cNvPr id="16" name="Picture 15" descr="doc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3759200"/>
            <a:ext cx="571500" cy="76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11350" y="2037080"/>
            <a:ext cx="177800" cy="1993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2030" y="2043430"/>
            <a:ext cx="8026400" cy="373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ESWE ist der zentrale Energieversorger und Energiedienstleister der hessischen Landeshauptstadt Wiesbaden und versorgt rund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200.000 Kunden mit Strom, Erdgas, Wärme sowie energienahen Dienstleistungen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350" y="2531110"/>
            <a:ext cx="177800" cy="1993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2030" y="2537460"/>
            <a:ext cx="8026400" cy="53466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Das Geschäftsmodell verbindet Vertrieb, Netzinfrastruktur, Erzeugung und Dienstleistungen: Das Stromnetz ist in der 100%igen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Tochter Stadtwerke Wiesbaden Netz GmbH (sw netz) gebündelt, Gas-, Wasser- und Wärmenetz betreibt die AG selbst; hinzu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kommen Telekommunikation (WiTCOM) und ein regionales Erzeugungsportfolio (Biomasse, Wind, 50 % KMW)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1350" y="3186430"/>
            <a:ext cx="177800" cy="1993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2030" y="3192780"/>
            <a:ext cx="8026400" cy="373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Mit einem Umsatz von 474 Mio. EUR und einem Jahresüberschuss von 49 Mio. EUR übertraf die ESWE 2025 ihr Planergebnis (33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Mio. EUR) deutlich – nach zwei sondereffektgetriebenen Rekordjahren 2023/2024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1350" y="3680460"/>
            <a:ext cx="177800" cy="1993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72030" y="3686810"/>
            <a:ext cx="8026400" cy="373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Duale Aktionärsstruktur seit 2001: 50,62 % Landeshauptstadt Wiesbaden (über die WVV Wiesbaden Holding), 49,38 % Thüga AG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als strategischer Partner; Gewinnabführung an die WVV, vertragliche Ausgleichszahlung an die Thüga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1350" y="4174490"/>
            <a:ext cx="177800" cy="1993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2030" y="4180840"/>
            <a:ext cx="8026400" cy="373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ESWE ist zentraler Umsetzungspartner der im Juni 2026 beschlossenen Kommunalen Wärmeplanung mit dem Ziel der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Klimaneutralität Wiesbadens bis 2045; für das Fernwärmenetz läuft ein Transformationsplan zur Klimaneutralität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11350" y="4668520"/>
            <a:ext cx="177800" cy="1993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72030" y="4674870"/>
            <a:ext cx="8026400" cy="53466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Das Investitionsvolumen wird sich laut Lagebericht „in den nächsten Jahren nochmals erheblich steigern" – von Ø ~22 Mio. EUR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p. a. in den letzten 20 Jahren auf bis zu 80 Mio. EUR p. a. für Strom- und Wärmenetze, MHKW-Anbindung, Windpark Hohe Wurzel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und Ladeinfrastruktur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11350" y="5323839"/>
            <a:ext cx="177800" cy="1993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2030" y="5330189"/>
            <a:ext cx="8026400" cy="373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Zur Sicherung der Ziel-Eigenkapitalquote von dauerhaft über 25 % sind bereits heute Kapitaleinlagen der Aktionäre erforderlich</a:t>
            </a:r>
          </a:p>
          <a:p>
            <a:pPr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(2025: 10 Mio. EUR in die Kapitalrücklage; weitere Zuführung für 2026 beschlossen)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6286500"/>
            <a:ext cx="9931400" cy="52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D7C"/>
            </a:solidFill>
          </a:ln>
          <a:effectLst>
            <a:outerShdw blurRad="63500" dist="25400" dir="2700000" rotWithShape="0">
              <a:srgbClr val="000000">
                <a:alpha val="22000"/>
              </a:srgbClr>
            </a:outerShdw>
          </a:effectLst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Pentagon 31"/>
          <p:cNvSpPr/>
          <p:nvPr/>
        </p:nvSpPr>
        <p:spPr>
          <a:xfrm>
            <a:off x="381000" y="6311900"/>
            <a:ext cx="184150" cy="469900"/>
          </a:xfrm>
          <a:prstGeom prst="homePlate">
            <a:avLst>
              <a:gd name="adj" fmla="val 62000"/>
            </a:avLst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260" y="640461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Die Finanzierung des von Ø ~22 auf bis zu 80 Mio. EUR p. a. wachsenden Investitionsprogramms bei zeitgleicher Wahrung finanzieller und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strategischer Flexibilität ist die zentrale Herausforderung der ESWE Versorgungs 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8460" y="227329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2. ESWE Versorgungs AG – Übersicht und Herausforderungen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250" y="7120890"/>
            <a:ext cx="8128000" cy="1790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Quellen: Metzler-Recherche, Geschäftsbericht ESWE Versorgungs AG 2025, Unternehmenswebsite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460" y="474980"/>
            <a:ext cx="10033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Die ESWE erwirtschaftet ~ 73 % des Umsatzes mit Strom- und Gasverkäufen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779780"/>
            <a:ext cx="10033000" cy="3314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und betreibt Wiesbadens zentrale Energie- und Wasserinfrastruktur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60" y="6802120"/>
            <a:ext cx="8445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1) EBITDA = Betriebliches Ergebnis zzgl. Abschreibungen, ohne Beteiligungsergebnis (2025: 25 Mio. EUR); 2) EBT = zentrale Steuerungskennzahl inkl. Beteiligungs- und Zinsergebnis;</a:t>
            </a:r>
          </a:p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3) Ø 2025 inkl. 47 Auszubildende; 4) Stromnetz der sw netz, Gasnetz der ESWE Versorgungs AG; 5) Summenabweichung rundungsbedingt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460" y="1626870"/>
            <a:ext cx="3187700" cy="413131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8460" y="174498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460" y="181038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Umsatz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460" y="196278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474 Mio. 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460" y="211518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535 Mio. EUR (2024)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8989" y="174498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8989" y="181038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EBITDA 2025</a:t>
            </a:r>
            <a:r>
              <a:rPr sz="1000" b="0" i="0" baseline="3000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8989" y="196278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45 Mio. 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8989" y="211518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89 Mio. EUR (2024)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460" y="249047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460" y="25558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EBT 2025</a:t>
            </a:r>
            <a:r>
              <a:rPr sz="1000" b="0" i="0" baseline="3000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460" y="27082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53 Mio. 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460" y="28606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84 Mio. EUR (2024)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78989" y="249047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78989" y="25558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EAT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8989" y="27082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49 Mio. 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8989" y="28606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78 Mio. EUR (2024)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8460" y="323596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460" y="330136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CapEx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460" y="345376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37 Mio. 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460" y="360616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27 Mio. EUR (2024)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8989" y="323596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8989" y="337756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Mitarbeiter</a:t>
            </a:r>
            <a:r>
              <a:rPr sz="1000" b="0" i="0" baseline="3000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78989" y="352996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644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8460" y="427609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460" y="441769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Stromkunden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8460" y="457009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207.431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8989" y="427609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8989" y="441769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Gaskunden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8989" y="457009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53.323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8460" y="501777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8460" y="51593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Stromnetz</a:t>
            </a:r>
            <a:r>
              <a:rPr sz="1000" b="0" i="0" baseline="3000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460" y="53117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~2.820 km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78989" y="5017770"/>
            <a:ext cx="1494790" cy="56261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78989" y="51593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Gasnetz</a:t>
            </a:r>
            <a:r>
              <a:rPr sz="1000" b="0" i="0" baseline="3000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78989" y="5311775"/>
            <a:ext cx="1494790" cy="158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~823 km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460" y="4005579"/>
            <a:ext cx="3175000" cy="2019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Kunden und Netzinfrastruktur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8910" y="1631950"/>
            <a:ext cx="6337300" cy="394842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6292858" y="1651000"/>
            <a:ext cx="843272" cy="1528608"/>
          </a:xfrm>
          <a:custGeom>
            <a:avLst/>
            <a:gdLst/>
            <a:ahLst/>
            <a:cxnLst/>
            <a:rect l="l" t="t" r="r" b="b"/>
            <a:pathLst>
              <a:path w="843272" h="1528608">
                <a:moveTo>
                  <a:pt x="351900" y="1528608"/>
                </a:moveTo>
                <a:lnTo>
                  <a:pt x="328855" y="1511484"/>
                </a:lnTo>
                <a:lnTo>
                  <a:pt x="306407" y="1493585"/>
                </a:lnTo>
                <a:lnTo>
                  <a:pt x="284581" y="1474933"/>
                </a:lnTo>
                <a:lnTo>
                  <a:pt x="263402" y="1455548"/>
                </a:lnTo>
                <a:lnTo>
                  <a:pt x="242896" y="1435453"/>
                </a:lnTo>
                <a:lnTo>
                  <a:pt x="223085" y="1414673"/>
                </a:lnTo>
                <a:lnTo>
                  <a:pt x="203993" y="1393229"/>
                </a:lnTo>
                <a:lnTo>
                  <a:pt x="185643" y="1371149"/>
                </a:lnTo>
                <a:lnTo>
                  <a:pt x="168055" y="1348456"/>
                </a:lnTo>
                <a:lnTo>
                  <a:pt x="151249" y="1325178"/>
                </a:lnTo>
                <a:lnTo>
                  <a:pt x="135246" y="1301341"/>
                </a:lnTo>
                <a:lnTo>
                  <a:pt x="120063" y="1276973"/>
                </a:lnTo>
                <a:lnTo>
                  <a:pt x="105718" y="1252103"/>
                </a:lnTo>
                <a:lnTo>
                  <a:pt x="92229" y="1226758"/>
                </a:lnTo>
                <a:lnTo>
                  <a:pt x="79610" y="1200970"/>
                </a:lnTo>
                <a:lnTo>
                  <a:pt x="67876" y="1174766"/>
                </a:lnTo>
                <a:lnTo>
                  <a:pt x="57041" y="1148178"/>
                </a:lnTo>
                <a:lnTo>
                  <a:pt x="47118" y="1121237"/>
                </a:lnTo>
                <a:lnTo>
                  <a:pt x="38117" y="1093974"/>
                </a:lnTo>
                <a:lnTo>
                  <a:pt x="30050" y="1066420"/>
                </a:lnTo>
                <a:lnTo>
                  <a:pt x="22925" y="1038607"/>
                </a:lnTo>
                <a:lnTo>
                  <a:pt x="16751" y="1010568"/>
                </a:lnTo>
                <a:lnTo>
                  <a:pt x="11536" y="982335"/>
                </a:lnTo>
                <a:lnTo>
                  <a:pt x="7284" y="953941"/>
                </a:lnTo>
                <a:lnTo>
                  <a:pt x="4001" y="925419"/>
                </a:lnTo>
                <a:lnTo>
                  <a:pt x="1692" y="896801"/>
                </a:lnTo>
                <a:lnTo>
                  <a:pt x="357" y="868122"/>
                </a:lnTo>
                <a:lnTo>
                  <a:pt x="0" y="839413"/>
                </a:lnTo>
                <a:lnTo>
                  <a:pt x="621" y="810709"/>
                </a:lnTo>
                <a:lnTo>
                  <a:pt x="2218" y="782043"/>
                </a:lnTo>
                <a:lnTo>
                  <a:pt x="4790" y="753448"/>
                </a:lnTo>
                <a:lnTo>
                  <a:pt x="8334" y="724957"/>
                </a:lnTo>
                <a:lnTo>
                  <a:pt x="12846" y="696603"/>
                </a:lnTo>
                <a:lnTo>
                  <a:pt x="18320" y="668419"/>
                </a:lnTo>
                <a:lnTo>
                  <a:pt x="24751" y="640437"/>
                </a:lnTo>
                <a:lnTo>
                  <a:pt x="32130" y="612691"/>
                </a:lnTo>
                <a:lnTo>
                  <a:pt x="40450" y="585213"/>
                </a:lnTo>
                <a:lnTo>
                  <a:pt x="49700" y="558033"/>
                </a:lnTo>
                <a:lnTo>
                  <a:pt x="59870" y="531184"/>
                </a:lnTo>
                <a:lnTo>
                  <a:pt x="70949" y="504697"/>
                </a:lnTo>
                <a:lnTo>
                  <a:pt x="82922" y="478602"/>
                </a:lnTo>
                <a:lnTo>
                  <a:pt x="95777" y="452930"/>
                </a:lnTo>
                <a:lnTo>
                  <a:pt x="109498" y="427710"/>
                </a:lnTo>
                <a:lnTo>
                  <a:pt x="124070" y="402972"/>
                </a:lnTo>
                <a:lnTo>
                  <a:pt x="139476" y="378745"/>
                </a:lnTo>
                <a:lnTo>
                  <a:pt x="155697" y="355056"/>
                </a:lnTo>
                <a:lnTo>
                  <a:pt x="172715" y="331933"/>
                </a:lnTo>
                <a:lnTo>
                  <a:pt x="190511" y="309402"/>
                </a:lnTo>
                <a:lnTo>
                  <a:pt x="209063" y="287491"/>
                </a:lnTo>
                <a:lnTo>
                  <a:pt x="228351" y="266223"/>
                </a:lnTo>
                <a:lnTo>
                  <a:pt x="248351" y="245625"/>
                </a:lnTo>
                <a:lnTo>
                  <a:pt x="269041" y="225719"/>
                </a:lnTo>
                <a:lnTo>
                  <a:pt x="290396" y="206530"/>
                </a:lnTo>
                <a:lnTo>
                  <a:pt x="312393" y="188078"/>
                </a:lnTo>
                <a:lnTo>
                  <a:pt x="335004" y="170386"/>
                </a:lnTo>
                <a:lnTo>
                  <a:pt x="358205" y="153474"/>
                </a:lnTo>
                <a:lnTo>
                  <a:pt x="381968" y="137361"/>
                </a:lnTo>
                <a:lnTo>
                  <a:pt x="406266" y="122067"/>
                </a:lnTo>
                <a:lnTo>
                  <a:pt x="431071" y="107609"/>
                </a:lnTo>
                <a:lnTo>
                  <a:pt x="456353" y="94003"/>
                </a:lnTo>
                <a:lnTo>
                  <a:pt x="482084" y="81266"/>
                </a:lnTo>
                <a:lnTo>
                  <a:pt x="508233" y="69412"/>
                </a:lnTo>
                <a:lnTo>
                  <a:pt x="534771" y="58456"/>
                </a:lnTo>
                <a:lnTo>
                  <a:pt x="561666" y="48409"/>
                </a:lnTo>
                <a:lnTo>
                  <a:pt x="588888" y="39283"/>
                </a:lnTo>
                <a:lnTo>
                  <a:pt x="616405" y="31089"/>
                </a:lnTo>
                <a:lnTo>
                  <a:pt x="644184" y="23837"/>
                </a:lnTo>
                <a:lnTo>
                  <a:pt x="672195" y="17535"/>
                </a:lnTo>
                <a:lnTo>
                  <a:pt x="700404" y="12190"/>
                </a:lnTo>
                <a:lnTo>
                  <a:pt x="728778" y="7808"/>
                </a:lnTo>
                <a:lnTo>
                  <a:pt x="757285" y="4395"/>
                </a:lnTo>
                <a:lnTo>
                  <a:pt x="785892" y="1954"/>
                </a:lnTo>
                <a:lnTo>
                  <a:pt x="814565" y="488"/>
                </a:lnTo>
                <a:lnTo>
                  <a:pt x="843272" y="0"/>
                </a:lnTo>
                <a:lnTo>
                  <a:pt x="843272" y="424180"/>
                </a:lnTo>
                <a:lnTo>
                  <a:pt x="829005" y="424422"/>
                </a:lnTo>
                <a:lnTo>
                  <a:pt x="814754" y="425151"/>
                </a:lnTo>
                <a:lnTo>
                  <a:pt x="800537" y="426364"/>
                </a:lnTo>
                <a:lnTo>
                  <a:pt x="786370" y="428060"/>
                </a:lnTo>
                <a:lnTo>
                  <a:pt x="772268" y="430238"/>
                </a:lnTo>
                <a:lnTo>
                  <a:pt x="758248" y="432894"/>
                </a:lnTo>
                <a:lnTo>
                  <a:pt x="744328" y="436027"/>
                </a:lnTo>
                <a:lnTo>
                  <a:pt x="730522" y="439631"/>
                </a:lnTo>
                <a:lnTo>
                  <a:pt x="716846" y="443703"/>
                </a:lnTo>
                <a:lnTo>
                  <a:pt x="703317" y="448238"/>
                </a:lnTo>
                <a:lnTo>
                  <a:pt x="689950" y="453231"/>
                </a:lnTo>
                <a:lnTo>
                  <a:pt x="676762" y="458677"/>
                </a:lnTo>
                <a:lnTo>
                  <a:pt x="663766" y="464568"/>
                </a:lnTo>
                <a:lnTo>
                  <a:pt x="650978" y="470898"/>
                </a:lnTo>
                <a:lnTo>
                  <a:pt x="638413" y="477660"/>
                </a:lnTo>
                <a:lnTo>
                  <a:pt x="626085" y="484846"/>
                </a:lnTo>
                <a:lnTo>
                  <a:pt x="614009" y="492447"/>
                </a:lnTo>
                <a:lnTo>
                  <a:pt x="602199" y="500454"/>
                </a:lnTo>
                <a:lnTo>
                  <a:pt x="590669" y="508859"/>
                </a:lnTo>
                <a:lnTo>
                  <a:pt x="579431" y="517652"/>
                </a:lnTo>
                <a:lnTo>
                  <a:pt x="568499" y="526823"/>
                </a:lnTo>
                <a:lnTo>
                  <a:pt x="557886" y="536360"/>
                </a:lnTo>
                <a:lnTo>
                  <a:pt x="547603" y="546252"/>
                </a:lnTo>
                <a:lnTo>
                  <a:pt x="537663" y="556490"/>
                </a:lnTo>
                <a:lnTo>
                  <a:pt x="528078" y="567059"/>
                </a:lnTo>
                <a:lnTo>
                  <a:pt x="518857" y="577949"/>
                </a:lnTo>
                <a:lnTo>
                  <a:pt x="510013" y="589146"/>
                </a:lnTo>
                <a:lnTo>
                  <a:pt x="501555" y="600638"/>
                </a:lnTo>
                <a:lnTo>
                  <a:pt x="493493" y="612411"/>
                </a:lnTo>
                <a:lnTo>
                  <a:pt x="485837" y="624452"/>
                </a:lnTo>
                <a:lnTo>
                  <a:pt x="478595" y="636747"/>
                </a:lnTo>
                <a:lnTo>
                  <a:pt x="471776" y="649280"/>
                </a:lnTo>
                <a:lnTo>
                  <a:pt x="465387" y="662039"/>
                </a:lnTo>
                <a:lnTo>
                  <a:pt x="459436" y="675008"/>
                </a:lnTo>
                <a:lnTo>
                  <a:pt x="453931" y="688172"/>
                </a:lnTo>
                <a:lnTo>
                  <a:pt x="448876" y="701515"/>
                </a:lnTo>
                <a:lnTo>
                  <a:pt x="444279" y="715023"/>
                </a:lnTo>
                <a:lnTo>
                  <a:pt x="440144" y="728680"/>
                </a:lnTo>
                <a:lnTo>
                  <a:pt x="436477" y="742469"/>
                </a:lnTo>
                <a:lnTo>
                  <a:pt x="433281" y="756376"/>
                </a:lnTo>
                <a:lnTo>
                  <a:pt x="430560" y="770383"/>
                </a:lnTo>
                <a:lnTo>
                  <a:pt x="428318" y="784474"/>
                </a:lnTo>
                <a:lnTo>
                  <a:pt x="426556" y="798634"/>
                </a:lnTo>
                <a:lnTo>
                  <a:pt x="425278" y="812846"/>
                </a:lnTo>
                <a:lnTo>
                  <a:pt x="424484" y="827092"/>
                </a:lnTo>
                <a:lnTo>
                  <a:pt x="424176" y="841358"/>
                </a:lnTo>
                <a:lnTo>
                  <a:pt x="424353" y="855626"/>
                </a:lnTo>
                <a:lnTo>
                  <a:pt x="425016" y="869879"/>
                </a:lnTo>
                <a:lnTo>
                  <a:pt x="426164" y="884102"/>
                </a:lnTo>
                <a:lnTo>
                  <a:pt x="427796" y="898277"/>
                </a:lnTo>
                <a:lnTo>
                  <a:pt x="429909" y="912389"/>
                </a:lnTo>
                <a:lnTo>
                  <a:pt x="432501" y="926420"/>
                </a:lnTo>
                <a:lnTo>
                  <a:pt x="435569" y="940355"/>
                </a:lnTo>
                <a:lnTo>
                  <a:pt x="439110" y="954178"/>
                </a:lnTo>
                <a:lnTo>
                  <a:pt x="443119" y="967872"/>
                </a:lnTo>
                <a:lnTo>
                  <a:pt x="447593" y="981421"/>
                </a:lnTo>
                <a:lnTo>
                  <a:pt x="452525" y="994811"/>
                </a:lnTo>
                <a:lnTo>
                  <a:pt x="457909" y="1008024"/>
                </a:lnTo>
                <a:lnTo>
                  <a:pt x="463741" y="1021047"/>
                </a:lnTo>
                <a:lnTo>
                  <a:pt x="470012" y="1033864"/>
                </a:lnTo>
                <a:lnTo>
                  <a:pt x="476716" y="1046460"/>
                </a:lnTo>
                <a:lnTo>
                  <a:pt x="483845" y="1058820"/>
                </a:lnTo>
                <a:lnTo>
                  <a:pt x="491391" y="1070931"/>
                </a:lnTo>
                <a:lnTo>
                  <a:pt x="499345" y="1082777"/>
                </a:lnTo>
                <a:lnTo>
                  <a:pt x="507697" y="1094346"/>
                </a:lnTo>
                <a:lnTo>
                  <a:pt x="516438" y="1105624"/>
                </a:lnTo>
                <a:lnTo>
                  <a:pt x="525558" y="1116598"/>
                </a:lnTo>
                <a:lnTo>
                  <a:pt x="535046" y="1127255"/>
                </a:lnTo>
                <a:lnTo>
                  <a:pt x="544892" y="1137583"/>
                </a:lnTo>
                <a:lnTo>
                  <a:pt x="555083" y="1147570"/>
                </a:lnTo>
                <a:lnTo>
                  <a:pt x="565609" y="1157204"/>
                </a:lnTo>
                <a:lnTo>
                  <a:pt x="576456" y="1166474"/>
                </a:lnTo>
                <a:lnTo>
                  <a:pt x="587613" y="1175369"/>
                </a:lnTo>
                <a:lnTo>
                  <a:pt x="599066" y="1183880"/>
                </a:lnTo>
                <a:close/>
              </a:path>
            </a:pathLst>
          </a:cu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136130" y="1651000"/>
            <a:ext cx="843219" cy="1244882"/>
          </a:xfrm>
          <a:custGeom>
            <a:avLst/>
            <a:gdLst/>
            <a:ahLst/>
            <a:cxnLst/>
            <a:rect l="l" t="t" r="r" b="b"/>
            <a:pathLst>
              <a:path w="843219" h="1244882">
                <a:moveTo>
                  <a:pt x="0" y="0"/>
                </a:moveTo>
                <a:lnTo>
                  <a:pt x="28571" y="484"/>
                </a:lnTo>
                <a:lnTo>
                  <a:pt x="57110" y="1936"/>
                </a:lnTo>
                <a:lnTo>
                  <a:pt x="85583" y="4354"/>
                </a:lnTo>
                <a:lnTo>
                  <a:pt x="113958" y="7735"/>
                </a:lnTo>
                <a:lnTo>
                  <a:pt x="142202" y="12076"/>
                </a:lnTo>
                <a:lnTo>
                  <a:pt x="170283" y="17371"/>
                </a:lnTo>
                <a:lnTo>
                  <a:pt x="198168" y="23615"/>
                </a:lnTo>
                <a:lnTo>
                  <a:pt x="225826" y="30800"/>
                </a:lnTo>
                <a:lnTo>
                  <a:pt x="253224" y="38917"/>
                </a:lnTo>
                <a:lnTo>
                  <a:pt x="280332" y="47959"/>
                </a:lnTo>
                <a:lnTo>
                  <a:pt x="307118" y="57914"/>
                </a:lnTo>
                <a:lnTo>
                  <a:pt x="333551" y="68770"/>
                </a:lnTo>
                <a:lnTo>
                  <a:pt x="359601" y="80516"/>
                </a:lnTo>
                <a:lnTo>
                  <a:pt x="385238" y="93138"/>
                </a:lnTo>
                <a:lnTo>
                  <a:pt x="410433" y="106621"/>
                </a:lnTo>
                <a:lnTo>
                  <a:pt x="435156" y="120950"/>
                </a:lnTo>
                <a:lnTo>
                  <a:pt x="459380" y="136108"/>
                </a:lnTo>
                <a:lnTo>
                  <a:pt x="483076" y="152079"/>
                </a:lnTo>
                <a:lnTo>
                  <a:pt x="506218" y="168843"/>
                </a:lnTo>
                <a:lnTo>
                  <a:pt x="528778" y="186382"/>
                </a:lnTo>
                <a:lnTo>
                  <a:pt x="550731" y="204675"/>
                </a:lnTo>
                <a:lnTo>
                  <a:pt x="572052" y="223701"/>
                </a:lnTo>
                <a:lnTo>
                  <a:pt x="592716" y="243439"/>
                </a:lnTo>
                <a:lnTo>
                  <a:pt x="612699" y="263865"/>
                </a:lnTo>
                <a:lnTo>
                  <a:pt x="631978" y="284957"/>
                </a:lnTo>
                <a:lnTo>
                  <a:pt x="650532" y="306690"/>
                </a:lnTo>
                <a:lnTo>
                  <a:pt x="668339" y="329039"/>
                </a:lnTo>
                <a:lnTo>
                  <a:pt x="685379" y="351979"/>
                </a:lnTo>
                <a:lnTo>
                  <a:pt x="701631" y="375483"/>
                </a:lnTo>
                <a:lnTo>
                  <a:pt x="717078" y="399524"/>
                </a:lnTo>
                <a:lnTo>
                  <a:pt x="731702" y="424074"/>
                </a:lnTo>
                <a:lnTo>
                  <a:pt x="745485" y="449106"/>
                </a:lnTo>
                <a:lnTo>
                  <a:pt x="758412" y="474590"/>
                </a:lnTo>
                <a:lnTo>
                  <a:pt x="770468" y="500498"/>
                </a:lnTo>
                <a:lnTo>
                  <a:pt x="781640" y="526800"/>
                </a:lnTo>
                <a:lnTo>
                  <a:pt x="791914" y="553465"/>
                </a:lnTo>
                <a:lnTo>
                  <a:pt x="801279" y="580462"/>
                </a:lnTo>
                <a:lnTo>
                  <a:pt x="809723" y="607762"/>
                </a:lnTo>
                <a:lnTo>
                  <a:pt x="817238" y="635332"/>
                </a:lnTo>
                <a:lnTo>
                  <a:pt x="823814" y="663140"/>
                </a:lnTo>
                <a:lnTo>
                  <a:pt x="829445" y="691156"/>
                </a:lnTo>
                <a:lnTo>
                  <a:pt x="834123" y="719346"/>
                </a:lnTo>
                <a:lnTo>
                  <a:pt x="837843" y="747678"/>
                </a:lnTo>
                <a:lnTo>
                  <a:pt x="840601" y="776121"/>
                </a:lnTo>
                <a:lnTo>
                  <a:pt x="842394" y="804640"/>
                </a:lnTo>
                <a:lnTo>
                  <a:pt x="843219" y="833204"/>
                </a:lnTo>
                <a:lnTo>
                  <a:pt x="843077" y="861779"/>
                </a:lnTo>
                <a:lnTo>
                  <a:pt x="841966" y="890333"/>
                </a:lnTo>
                <a:lnTo>
                  <a:pt x="839888" y="918833"/>
                </a:lnTo>
                <a:lnTo>
                  <a:pt x="836846" y="947247"/>
                </a:lnTo>
                <a:lnTo>
                  <a:pt x="832843" y="975541"/>
                </a:lnTo>
                <a:lnTo>
                  <a:pt x="827884" y="1003683"/>
                </a:lnTo>
                <a:lnTo>
                  <a:pt x="821973" y="1031641"/>
                </a:lnTo>
                <a:lnTo>
                  <a:pt x="815120" y="1059382"/>
                </a:lnTo>
                <a:lnTo>
                  <a:pt x="807330" y="1086876"/>
                </a:lnTo>
                <a:lnTo>
                  <a:pt x="798613" y="1114089"/>
                </a:lnTo>
                <a:lnTo>
                  <a:pt x="788979" y="1140992"/>
                </a:lnTo>
                <a:lnTo>
                  <a:pt x="778439" y="1167553"/>
                </a:lnTo>
                <a:lnTo>
                  <a:pt x="767005" y="1193742"/>
                </a:lnTo>
                <a:lnTo>
                  <a:pt x="754691" y="1219528"/>
                </a:lnTo>
                <a:lnTo>
                  <a:pt x="741509" y="1244882"/>
                </a:lnTo>
                <a:lnTo>
                  <a:pt x="368521" y="1042871"/>
                </a:lnTo>
                <a:lnTo>
                  <a:pt x="375072" y="1030270"/>
                </a:lnTo>
                <a:lnTo>
                  <a:pt x="381192" y="1017455"/>
                </a:lnTo>
                <a:lnTo>
                  <a:pt x="386874" y="1004440"/>
                </a:lnTo>
                <a:lnTo>
                  <a:pt x="392113" y="991239"/>
                </a:lnTo>
                <a:lnTo>
                  <a:pt x="396901" y="977869"/>
                </a:lnTo>
                <a:lnTo>
                  <a:pt x="401233" y="964344"/>
                </a:lnTo>
                <a:lnTo>
                  <a:pt x="405104" y="950680"/>
                </a:lnTo>
                <a:lnTo>
                  <a:pt x="408511" y="936893"/>
                </a:lnTo>
                <a:lnTo>
                  <a:pt x="411448" y="922998"/>
                </a:lnTo>
                <a:lnTo>
                  <a:pt x="413913" y="909012"/>
                </a:lnTo>
                <a:lnTo>
                  <a:pt x="415902" y="894950"/>
                </a:lnTo>
                <a:lnTo>
                  <a:pt x="417414" y="880829"/>
                </a:lnTo>
                <a:lnTo>
                  <a:pt x="418447" y="866665"/>
                </a:lnTo>
                <a:lnTo>
                  <a:pt x="418999" y="852474"/>
                </a:lnTo>
                <a:lnTo>
                  <a:pt x="419070" y="838272"/>
                </a:lnTo>
                <a:lnTo>
                  <a:pt x="418659" y="824076"/>
                </a:lnTo>
                <a:lnTo>
                  <a:pt x="417768" y="809902"/>
                </a:lnTo>
                <a:lnTo>
                  <a:pt x="416398" y="795767"/>
                </a:lnTo>
                <a:lnTo>
                  <a:pt x="414549" y="781686"/>
                </a:lnTo>
                <a:lnTo>
                  <a:pt x="412224" y="767676"/>
                </a:lnTo>
                <a:lnTo>
                  <a:pt x="409426" y="753752"/>
                </a:lnTo>
                <a:lnTo>
                  <a:pt x="406157" y="739932"/>
                </a:lnTo>
                <a:lnTo>
                  <a:pt x="402422" y="726230"/>
                </a:lnTo>
                <a:lnTo>
                  <a:pt x="398226" y="712662"/>
                </a:lnTo>
                <a:lnTo>
                  <a:pt x="393571" y="699245"/>
                </a:lnTo>
                <a:lnTo>
                  <a:pt x="388465" y="685993"/>
                </a:lnTo>
                <a:lnTo>
                  <a:pt x="382913" y="672921"/>
                </a:lnTo>
                <a:lnTo>
                  <a:pt x="376921" y="660045"/>
                </a:lnTo>
                <a:lnTo>
                  <a:pt x="370497" y="647380"/>
                </a:lnTo>
                <a:lnTo>
                  <a:pt x="363647" y="634939"/>
                </a:lnTo>
                <a:lnTo>
                  <a:pt x="356379" y="622738"/>
                </a:lnTo>
                <a:lnTo>
                  <a:pt x="348702" y="610790"/>
                </a:lnTo>
                <a:lnTo>
                  <a:pt x="340625" y="599109"/>
                </a:lnTo>
                <a:lnTo>
                  <a:pt x="332156" y="587708"/>
                </a:lnTo>
                <a:lnTo>
                  <a:pt x="323306" y="576601"/>
                </a:lnTo>
                <a:lnTo>
                  <a:pt x="314085" y="565800"/>
                </a:lnTo>
                <a:lnTo>
                  <a:pt x="304504" y="555318"/>
                </a:lnTo>
                <a:lnTo>
                  <a:pt x="294572" y="545166"/>
                </a:lnTo>
                <a:lnTo>
                  <a:pt x="284303" y="535356"/>
                </a:lnTo>
                <a:lnTo>
                  <a:pt x="273706" y="525901"/>
                </a:lnTo>
                <a:lnTo>
                  <a:pt x="262796" y="516809"/>
                </a:lnTo>
                <a:lnTo>
                  <a:pt x="251584" y="508093"/>
                </a:lnTo>
                <a:lnTo>
                  <a:pt x="240083" y="499761"/>
                </a:lnTo>
                <a:lnTo>
                  <a:pt x="228306" y="491824"/>
                </a:lnTo>
                <a:lnTo>
                  <a:pt x="216267" y="484290"/>
                </a:lnTo>
                <a:lnTo>
                  <a:pt x="203980" y="477169"/>
                </a:lnTo>
                <a:lnTo>
                  <a:pt x="191458" y="470468"/>
                </a:lnTo>
                <a:lnTo>
                  <a:pt x="178717" y="464195"/>
                </a:lnTo>
                <a:lnTo>
                  <a:pt x="165770" y="458358"/>
                </a:lnTo>
                <a:lnTo>
                  <a:pt x="152634" y="452962"/>
                </a:lnTo>
                <a:lnTo>
                  <a:pt x="139321" y="448015"/>
                </a:lnTo>
                <a:lnTo>
                  <a:pt x="125849" y="443521"/>
                </a:lnTo>
                <a:lnTo>
                  <a:pt x="112232" y="439487"/>
                </a:lnTo>
                <a:lnTo>
                  <a:pt x="98487" y="435916"/>
                </a:lnTo>
                <a:lnTo>
                  <a:pt x="84628" y="432813"/>
                </a:lnTo>
                <a:lnTo>
                  <a:pt x="70672" y="430181"/>
                </a:lnTo>
                <a:lnTo>
                  <a:pt x="56636" y="428024"/>
                </a:lnTo>
                <a:lnTo>
                  <a:pt x="42534" y="426343"/>
                </a:lnTo>
                <a:lnTo>
                  <a:pt x="28383" y="425142"/>
                </a:lnTo>
                <a:lnTo>
                  <a:pt x="14199" y="424420"/>
                </a:lnTo>
                <a:lnTo>
                  <a:pt x="0" y="424180"/>
                </a:lnTo>
                <a:close/>
              </a:path>
            </a:pathLst>
          </a:custGeom>
          <a:solidFill>
            <a:srgbClr val="315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307394" y="2693871"/>
            <a:ext cx="570245" cy="570063"/>
          </a:xfrm>
          <a:custGeom>
            <a:avLst/>
            <a:gdLst/>
            <a:ahLst/>
            <a:cxnLst/>
            <a:rect l="l" t="t" r="r" b="b"/>
            <a:pathLst>
              <a:path w="570245" h="570063">
                <a:moveTo>
                  <a:pt x="570245" y="202011"/>
                </a:moveTo>
                <a:lnTo>
                  <a:pt x="556731" y="226019"/>
                </a:lnTo>
                <a:lnTo>
                  <a:pt x="542439" y="249573"/>
                </a:lnTo>
                <a:lnTo>
                  <a:pt x="527385" y="272648"/>
                </a:lnTo>
                <a:lnTo>
                  <a:pt x="511586" y="295218"/>
                </a:lnTo>
                <a:lnTo>
                  <a:pt x="495057" y="317261"/>
                </a:lnTo>
                <a:lnTo>
                  <a:pt x="477818" y="338751"/>
                </a:lnTo>
                <a:lnTo>
                  <a:pt x="459886" y="359668"/>
                </a:lnTo>
                <a:lnTo>
                  <a:pt x="441280" y="379987"/>
                </a:lnTo>
                <a:lnTo>
                  <a:pt x="422020" y="399687"/>
                </a:lnTo>
                <a:lnTo>
                  <a:pt x="402127" y="418748"/>
                </a:lnTo>
                <a:lnTo>
                  <a:pt x="381621" y="437149"/>
                </a:lnTo>
                <a:lnTo>
                  <a:pt x="360526" y="454870"/>
                </a:lnTo>
                <a:lnTo>
                  <a:pt x="338863" y="471893"/>
                </a:lnTo>
                <a:lnTo>
                  <a:pt x="316656" y="488198"/>
                </a:lnTo>
                <a:lnTo>
                  <a:pt x="293927" y="503770"/>
                </a:lnTo>
                <a:lnTo>
                  <a:pt x="270703" y="518591"/>
                </a:lnTo>
                <a:lnTo>
                  <a:pt x="247006" y="532645"/>
                </a:lnTo>
                <a:lnTo>
                  <a:pt x="222863" y="545918"/>
                </a:lnTo>
                <a:lnTo>
                  <a:pt x="198299" y="558395"/>
                </a:lnTo>
                <a:lnTo>
                  <a:pt x="173341" y="570063"/>
                </a:lnTo>
                <a:lnTo>
                  <a:pt x="0" y="182918"/>
                </a:lnTo>
                <a:lnTo>
                  <a:pt x="12404" y="177119"/>
                </a:lnTo>
                <a:lnTo>
                  <a:pt x="24612" y="170918"/>
                </a:lnTo>
                <a:lnTo>
                  <a:pt x="36611" y="164321"/>
                </a:lnTo>
                <a:lnTo>
                  <a:pt x="48388" y="157337"/>
                </a:lnTo>
                <a:lnTo>
                  <a:pt x="59930" y="149971"/>
                </a:lnTo>
                <a:lnTo>
                  <a:pt x="71226" y="142232"/>
                </a:lnTo>
                <a:lnTo>
                  <a:pt x="82263" y="134128"/>
                </a:lnTo>
                <a:lnTo>
                  <a:pt x="93029" y="125668"/>
                </a:lnTo>
                <a:lnTo>
                  <a:pt x="103513" y="116861"/>
                </a:lnTo>
                <a:lnTo>
                  <a:pt x="113704" y="107716"/>
                </a:lnTo>
                <a:lnTo>
                  <a:pt x="123591" y="98243"/>
                </a:lnTo>
                <a:lnTo>
                  <a:pt x="133163" y="88452"/>
                </a:lnTo>
                <a:lnTo>
                  <a:pt x="142409" y="78354"/>
                </a:lnTo>
                <a:lnTo>
                  <a:pt x="151322" y="67958"/>
                </a:lnTo>
                <a:lnTo>
                  <a:pt x="159889" y="57278"/>
                </a:lnTo>
                <a:lnTo>
                  <a:pt x="168104" y="46323"/>
                </a:lnTo>
                <a:lnTo>
                  <a:pt x="175956" y="35106"/>
                </a:lnTo>
                <a:lnTo>
                  <a:pt x="183437" y="23638"/>
                </a:lnTo>
                <a:lnTo>
                  <a:pt x="190540" y="11932"/>
                </a:lnTo>
                <a:lnTo>
                  <a:pt x="197257" y="0"/>
                </a:lnTo>
                <a:close/>
              </a:path>
            </a:pathLst>
          </a:custGeom>
          <a:solidFill>
            <a:srgbClr val="67A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004211" y="2876789"/>
            <a:ext cx="476524" cy="460765"/>
          </a:xfrm>
          <a:custGeom>
            <a:avLst/>
            <a:gdLst/>
            <a:ahLst/>
            <a:cxnLst/>
            <a:rect l="l" t="t" r="r" b="b"/>
            <a:pathLst>
              <a:path w="476524" h="460765">
                <a:moveTo>
                  <a:pt x="476524" y="387145"/>
                </a:moveTo>
                <a:lnTo>
                  <a:pt x="451634" y="397813"/>
                </a:lnTo>
                <a:lnTo>
                  <a:pt x="426414" y="407676"/>
                </a:lnTo>
                <a:lnTo>
                  <a:pt x="400891" y="416725"/>
                </a:lnTo>
                <a:lnTo>
                  <a:pt x="375090" y="424949"/>
                </a:lnTo>
                <a:lnTo>
                  <a:pt x="349038" y="432340"/>
                </a:lnTo>
                <a:lnTo>
                  <a:pt x="322762" y="438892"/>
                </a:lnTo>
                <a:lnTo>
                  <a:pt x="296290" y="444596"/>
                </a:lnTo>
                <a:lnTo>
                  <a:pt x="269648" y="449447"/>
                </a:lnTo>
                <a:lnTo>
                  <a:pt x="242864" y="453440"/>
                </a:lnTo>
                <a:lnTo>
                  <a:pt x="215966" y="456572"/>
                </a:lnTo>
                <a:lnTo>
                  <a:pt x="188981" y="458838"/>
                </a:lnTo>
                <a:lnTo>
                  <a:pt x="161937" y="460236"/>
                </a:lnTo>
                <a:lnTo>
                  <a:pt x="134862" y="460765"/>
                </a:lnTo>
                <a:lnTo>
                  <a:pt x="107784" y="460425"/>
                </a:lnTo>
                <a:lnTo>
                  <a:pt x="80731" y="459216"/>
                </a:lnTo>
                <a:lnTo>
                  <a:pt x="53731" y="457138"/>
                </a:lnTo>
                <a:lnTo>
                  <a:pt x="26812" y="454195"/>
                </a:lnTo>
                <a:lnTo>
                  <a:pt x="0" y="450388"/>
                </a:lnTo>
                <a:lnTo>
                  <a:pt x="66357" y="31431"/>
                </a:lnTo>
                <a:lnTo>
                  <a:pt x="79682" y="33322"/>
                </a:lnTo>
                <a:lnTo>
                  <a:pt x="93060" y="34785"/>
                </a:lnTo>
                <a:lnTo>
                  <a:pt x="106479" y="35818"/>
                </a:lnTo>
                <a:lnTo>
                  <a:pt x="119924" y="36419"/>
                </a:lnTo>
                <a:lnTo>
                  <a:pt x="133381" y="36588"/>
                </a:lnTo>
                <a:lnTo>
                  <a:pt x="146837" y="36325"/>
                </a:lnTo>
                <a:lnTo>
                  <a:pt x="160278" y="35630"/>
                </a:lnTo>
                <a:lnTo>
                  <a:pt x="173689" y="34504"/>
                </a:lnTo>
                <a:lnTo>
                  <a:pt x="187057" y="32948"/>
                </a:lnTo>
                <a:lnTo>
                  <a:pt x="200368" y="30963"/>
                </a:lnTo>
                <a:lnTo>
                  <a:pt x="213609" y="28552"/>
                </a:lnTo>
                <a:lnTo>
                  <a:pt x="226766" y="25717"/>
                </a:lnTo>
                <a:lnTo>
                  <a:pt x="239824" y="22461"/>
                </a:lnTo>
                <a:lnTo>
                  <a:pt x="252772" y="18788"/>
                </a:lnTo>
                <a:lnTo>
                  <a:pt x="265594" y="14700"/>
                </a:lnTo>
                <a:lnTo>
                  <a:pt x="278279" y="10203"/>
                </a:lnTo>
                <a:lnTo>
                  <a:pt x="290813" y="5301"/>
                </a:lnTo>
                <a:lnTo>
                  <a:pt x="303183" y="0"/>
                </a:lnTo>
                <a:close/>
              </a:path>
            </a:pathLst>
          </a:custGeom>
          <a:solidFill>
            <a:srgbClr val="718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6644758" y="2834880"/>
            <a:ext cx="425810" cy="492297"/>
          </a:xfrm>
          <a:custGeom>
            <a:avLst/>
            <a:gdLst/>
            <a:ahLst/>
            <a:cxnLst/>
            <a:rect l="l" t="t" r="r" b="b"/>
            <a:pathLst>
              <a:path w="425810" h="492297">
                <a:moveTo>
                  <a:pt x="359453" y="492297"/>
                </a:moveTo>
                <a:lnTo>
                  <a:pt x="333704" y="487809"/>
                </a:lnTo>
                <a:lnTo>
                  <a:pt x="308105" y="482524"/>
                </a:lnTo>
                <a:lnTo>
                  <a:pt x="282683" y="476449"/>
                </a:lnTo>
                <a:lnTo>
                  <a:pt x="257461" y="469589"/>
                </a:lnTo>
                <a:lnTo>
                  <a:pt x="232464" y="461950"/>
                </a:lnTo>
                <a:lnTo>
                  <a:pt x="207716" y="453541"/>
                </a:lnTo>
                <a:lnTo>
                  <a:pt x="183240" y="444368"/>
                </a:lnTo>
                <a:lnTo>
                  <a:pt x="159060" y="434442"/>
                </a:lnTo>
                <a:lnTo>
                  <a:pt x="135199" y="423770"/>
                </a:lnTo>
                <a:lnTo>
                  <a:pt x="111681" y="412365"/>
                </a:lnTo>
                <a:lnTo>
                  <a:pt x="88528" y="400235"/>
                </a:lnTo>
                <a:lnTo>
                  <a:pt x="65761" y="387395"/>
                </a:lnTo>
                <a:lnTo>
                  <a:pt x="43403" y="373854"/>
                </a:lnTo>
                <a:lnTo>
                  <a:pt x="21476" y="359628"/>
                </a:lnTo>
                <a:lnTo>
                  <a:pt x="0" y="344728"/>
                </a:lnTo>
                <a:lnTo>
                  <a:pt x="247166" y="0"/>
                </a:lnTo>
                <a:lnTo>
                  <a:pt x="257839" y="7404"/>
                </a:lnTo>
                <a:lnTo>
                  <a:pt x="268737" y="14475"/>
                </a:lnTo>
                <a:lnTo>
                  <a:pt x="279848" y="21204"/>
                </a:lnTo>
                <a:lnTo>
                  <a:pt x="291163" y="27586"/>
                </a:lnTo>
                <a:lnTo>
                  <a:pt x="302670" y="33614"/>
                </a:lnTo>
                <a:lnTo>
                  <a:pt x="314358" y="39283"/>
                </a:lnTo>
                <a:lnTo>
                  <a:pt x="326217" y="44586"/>
                </a:lnTo>
                <a:lnTo>
                  <a:pt x="338234" y="49520"/>
                </a:lnTo>
                <a:lnTo>
                  <a:pt x="350398" y="54078"/>
                </a:lnTo>
                <a:lnTo>
                  <a:pt x="362698" y="58258"/>
                </a:lnTo>
                <a:lnTo>
                  <a:pt x="375121" y="62054"/>
                </a:lnTo>
                <a:lnTo>
                  <a:pt x="387656" y="65463"/>
                </a:lnTo>
                <a:lnTo>
                  <a:pt x="400290" y="68483"/>
                </a:lnTo>
                <a:lnTo>
                  <a:pt x="413012" y="71109"/>
                </a:lnTo>
                <a:lnTo>
                  <a:pt x="425810" y="73340"/>
                </a:lnTo>
                <a:close/>
              </a:path>
            </a:pathLst>
          </a:custGeom>
          <a:solidFill>
            <a:srgbClr val="A5C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17030" y="2075180"/>
            <a:ext cx="838200" cy="838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55822" y="2224918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40 %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99009" y="2095072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33 %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33745" y="3148167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10 %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87726" y="3405105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9 %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8591" y="3339160"/>
            <a:ext cx="558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7 %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4630" y="235458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100 % ≙</a:t>
            </a:r>
          </a:p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474 Mio. EUR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77970" y="2098040"/>
            <a:ext cx="1799589" cy="125984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C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9410" y="2183129"/>
            <a:ext cx="1701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Stromverkauf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9410" y="236982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9750" y="2363470"/>
            <a:ext cx="1473200" cy="586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Vertrieb an Privat- und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Geschäftskunden in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Wiesbaden und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überregional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69410" y="291846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49750" y="2912110"/>
            <a:ext cx="1473200" cy="3124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Beschaffung und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Vermarktung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17560" y="2098040"/>
            <a:ext cx="1799589" cy="1259840"/>
          </a:xfrm>
          <a:prstGeom prst="rect">
            <a:avLst/>
          </a:prstGeom>
          <a:solidFill>
            <a:srgbClr val="FFFFFF"/>
          </a:solidFill>
          <a:ln w="9525">
            <a:solidFill>
              <a:srgbClr val="3157E3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9000" y="2183129"/>
            <a:ext cx="1701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57E3"/>
                </a:solidFill>
                <a:latin typeface="Univers for Metzler 2"/>
                <a:ea typeface="Univers for Metzler 2"/>
                <a:cs typeface="Univers for Metzler 2"/>
              </a:rPr>
              <a:t>Gasverkauf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9000" y="236982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3157E3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9340" y="2363470"/>
            <a:ext cx="1473200" cy="1752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Vertrieb und Handel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9000" y="250698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3157E3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9340" y="2500630"/>
            <a:ext cx="1473200" cy="4495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Wiederaufnahme des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überregionalen Vertriebs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(+11,3 %)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77970" y="3589020"/>
            <a:ext cx="1799589" cy="1259840"/>
          </a:xfrm>
          <a:prstGeom prst="rect">
            <a:avLst/>
          </a:prstGeom>
          <a:solidFill>
            <a:srgbClr val="FFFFFF"/>
          </a:solidFill>
          <a:ln w="9525">
            <a:solidFill>
              <a:srgbClr val="A5CAFB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69410" y="3674110"/>
            <a:ext cx="1701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CAFB"/>
                </a:solidFill>
                <a:latin typeface="Univers for Metzler 2"/>
                <a:ea typeface="Univers for Metzler 2"/>
                <a:cs typeface="Univers for Metzler 2"/>
              </a:rPr>
              <a:t>Dienstleistungen &amp; Übrige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69410" y="386080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5CAFB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49750" y="3854450"/>
            <a:ext cx="1473200" cy="4495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Leistungen für verbundene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Unternehmen (u. a. sw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netz, WiTCOM)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69410" y="427228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A5CAFB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49750" y="4265930"/>
            <a:ext cx="1473200" cy="3124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E-Mobilität und kleinere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Erlösquellen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38240" y="3589020"/>
            <a:ext cx="1799589" cy="1259840"/>
          </a:xfrm>
          <a:prstGeom prst="rect">
            <a:avLst/>
          </a:prstGeom>
          <a:solidFill>
            <a:srgbClr val="FFFFFF"/>
          </a:solidFill>
          <a:ln w="9525">
            <a:solidFill>
              <a:srgbClr val="718BEB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29680" y="3674110"/>
            <a:ext cx="1701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8BEB"/>
                </a:solidFill>
                <a:latin typeface="Univers for Metzler 2"/>
                <a:ea typeface="Univers for Metzler 2"/>
                <a:cs typeface="Univers for Metzler 2"/>
              </a:rPr>
              <a:t>Wärme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29680" y="386080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18BEB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10020" y="3854450"/>
            <a:ext cx="1473200" cy="4495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Fernwärme-Verbundnetz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mit 132,9 km und 1.979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Anschlüssen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9680" y="427228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18BEB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10020" y="4265930"/>
            <a:ext cx="1473200" cy="3124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Absatz +1,0 % durch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Netzausbau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99780" y="3589020"/>
            <a:ext cx="1799589" cy="1259840"/>
          </a:xfrm>
          <a:prstGeom prst="rect">
            <a:avLst/>
          </a:prstGeom>
          <a:solidFill>
            <a:srgbClr val="FFFFFF"/>
          </a:solidFill>
          <a:ln w="9525">
            <a:solidFill>
              <a:srgbClr val="67A6F9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91220" y="3674110"/>
            <a:ext cx="1701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A6F9"/>
                </a:solidFill>
                <a:latin typeface="Univers for Metzler 2"/>
                <a:ea typeface="Univers for Metzler 2"/>
                <a:cs typeface="Univers for Metzler 2"/>
              </a:rPr>
              <a:t>Wasser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91220" y="386080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7A6F9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71560" y="3854450"/>
            <a:ext cx="1473200" cy="4495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Betriebsführung des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Wassernetzes für den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Eigenbetrieb WLW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91220" y="427228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67A6F9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71560" y="4265930"/>
            <a:ext cx="1473200" cy="3124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Wasserverkauf an die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WLW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877560" y="2766060"/>
            <a:ext cx="49657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881620" y="2776220"/>
            <a:ext cx="535940" cy="0"/>
          </a:xfrm>
          <a:prstGeom prst="line">
            <a:avLst/>
          </a:prstGeom>
          <a:ln w="9525">
            <a:solidFill>
              <a:srgbClr val="3157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977130" y="3324860"/>
            <a:ext cx="0" cy="264160"/>
          </a:xfrm>
          <a:prstGeom prst="line">
            <a:avLst/>
          </a:prstGeom>
          <a:ln w="9525">
            <a:solidFill>
              <a:srgbClr val="A5C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977130" y="3324860"/>
            <a:ext cx="1728470" cy="0"/>
          </a:xfrm>
          <a:prstGeom prst="line">
            <a:avLst/>
          </a:prstGeom>
          <a:ln w="9525">
            <a:solidFill>
              <a:srgbClr val="A5CA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137400" y="3352800"/>
            <a:ext cx="0" cy="236220"/>
          </a:xfrm>
          <a:prstGeom prst="line">
            <a:avLst/>
          </a:prstGeom>
          <a:ln w="9525">
            <a:solidFill>
              <a:srgbClr val="718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300210" y="3225800"/>
            <a:ext cx="0" cy="363220"/>
          </a:xfrm>
          <a:prstGeom prst="line">
            <a:avLst/>
          </a:prstGeom>
          <a:ln w="9525">
            <a:solidFill>
              <a:srgbClr val="67A6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7620000" y="3225800"/>
            <a:ext cx="1680210" cy="0"/>
          </a:xfrm>
          <a:prstGeom prst="line">
            <a:avLst/>
          </a:prstGeom>
          <a:ln w="9525">
            <a:solidFill>
              <a:srgbClr val="67A6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378460" y="5736590"/>
            <a:ext cx="9936480" cy="105918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2034539" y="5946140"/>
            <a:ext cx="0" cy="640080"/>
          </a:xfrm>
          <a:prstGeom prst="line">
            <a:avLst/>
          </a:prstGeom>
          <a:ln w="19050">
            <a:solidFill>
              <a:srgbClr val="1789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690620" y="5946140"/>
            <a:ext cx="0" cy="640080"/>
          </a:xfrm>
          <a:prstGeom prst="line">
            <a:avLst/>
          </a:prstGeom>
          <a:ln w="19050">
            <a:solidFill>
              <a:srgbClr val="1789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346700" y="5946140"/>
            <a:ext cx="0" cy="640080"/>
          </a:xfrm>
          <a:prstGeom prst="line">
            <a:avLst/>
          </a:prstGeom>
          <a:ln w="19050">
            <a:solidFill>
              <a:srgbClr val="1789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002780" y="5946140"/>
            <a:ext cx="0" cy="640080"/>
          </a:xfrm>
          <a:prstGeom prst="line">
            <a:avLst/>
          </a:prstGeom>
          <a:ln w="19050">
            <a:solidFill>
              <a:srgbClr val="1789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658860" y="5946140"/>
            <a:ext cx="0" cy="640080"/>
          </a:xfrm>
          <a:prstGeom prst="line">
            <a:avLst/>
          </a:prstGeom>
          <a:ln w="19050">
            <a:solidFill>
              <a:srgbClr val="1789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" name="Picture 105" descr="g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75" y="5861050"/>
            <a:ext cx="482600" cy="4826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384175" y="6436360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89FF"/>
                </a:solidFill>
                <a:latin typeface="Univers for Metzler 2"/>
                <a:ea typeface="Univers for Metzler 2"/>
                <a:cs typeface="Univers for Metzler 2"/>
              </a:rPr>
              <a:t>Energievertrieb &amp;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4175" y="6588759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89FF"/>
                </a:solidFill>
                <a:latin typeface="Univers for Metzler 2"/>
                <a:ea typeface="Univers for Metzler 2"/>
                <a:cs typeface="Univers for Metzler 2"/>
              </a:rPr>
              <a:t>-beschaffung</a:t>
            </a:r>
          </a:p>
        </p:txBody>
      </p:sp>
      <p:pic>
        <p:nvPicPr>
          <p:cNvPr id="109" name="Picture 108" descr="g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280" y="5861050"/>
            <a:ext cx="482600" cy="4826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2037080" y="6512559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89FF"/>
                </a:solidFill>
                <a:latin typeface="Univers for Metzler 2"/>
                <a:ea typeface="Univers for Metzler 2"/>
                <a:cs typeface="Univers for Metzler 2"/>
              </a:rPr>
              <a:t>Netzgeschäft</a:t>
            </a:r>
          </a:p>
        </p:txBody>
      </p:sp>
      <p:pic>
        <p:nvPicPr>
          <p:cNvPr id="111" name="Picture 110" descr="g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995" y="5861050"/>
            <a:ext cx="482600" cy="48260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3693795" y="6512559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89FF"/>
                </a:solidFill>
                <a:latin typeface="Univers for Metzler 2"/>
                <a:ea typeface="Univers for Metzler 2"/>
                <a:cs typeface="Univers for Metzler 2"/>
              </a:rPr>
              <a:t>Energieerzeugung</a:t>
            </a:r>
          </a:p>
        </p:txBody>
      </p:sp>
      <p:pic>
        <p:nvPicPr>
          <p:cNvPr id="113" name="Picture 112" descr="g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3440" y="5861050"/>
            <a:ext cx="482600" cy="4826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5349240" y="6436360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89FF"/>
                </a:solidFill>
                <a:latin typeface="Univers for Metzler 2"/>
                <a:ea typeface="Univers for Metzler 2"/>
                <a:cs typeface="Univers for Metzler 2"/>
              </a:rPr>
              <a:t>Energiedienstleistungen,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49240" y="6588759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89FF"/>
                </a:solidFill>
                <a:latin typeface="Univers for Metzler 2"/>
                <a:ea typeface="Univers for Metzler 2"/>
                <a:cs typeface="Univers for Metzler 2"/>
              </a:rPr>
              <a:t>Wärme &amp; E-Mobilität</a:t>
            </a:r>
          </a:p>
        </p:txBody>
      </p:sp>
      <p:pic>
        <p:nvPicPr>
          <p:cNvPr id="116" name="Picture 115" descr="g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7615" y="5861050"/>
            <a:ext cx="482600" cy="4826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7003415" y="6512559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89FF"/>
                </a:solidFill>
                <a:latin typeface="Univers for Metzler 2"/>
                <a:ea typeface="Univers for Metzler 2"/>
                <a:cs typeface="Univers for Metzler 2"/>
              </a:rPr>
              <a:t>Telekommunikation</a:t>
            </a:r>
          </a:p>
        </p:txBody>
      </p:sp>
      <p:pic>
        <p:nvPicPr>
          <p:cNvPr id="118" name="Picture 117" descr="g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5600" y="5861050"/>
            <a:ext cx="482600" cy="48260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8661400" y="6512559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89FF"/>
                </a:solidFill>
                <a:latin typeface="Univers for Metzler 2"/>
                <a:ea typeface="Univers for Metzler 2"/>
                <a:cs typeface="Univers for Metzler 2"/>
              </a:rPr>
              <a:t>Wasser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8460" y="227329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2. ESWE Versorgungs AG – Übersicht und Herausforderungen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250" y="7120890"/>
            <a:ext cx="8128000" cy="1790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Quellen: Metzler-Recherche, Geschäftsbericht ESWE Versorgungs AG 2025, Unternehmenswebsite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460" y="474980"/>
            <a:ext cx="10033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Netz, Telekommunikation und Erzeugung sind in zwölf Beteiligungen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779780"/>
            <a:ext cx="10033000" cy="3314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gebündelt − die Ergebnisbeiträge kommen aus sw netz, WiTCOM und der KMW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60" y="6553200"/>
            <a:ext cx="9931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1) Angaben zum Anteilsbesitz nach § 285 Nr. 11 HGB zum 31. Dezember 2025; mit der Stadtwerke Wiesbaden Netz GmbH und der WiTCOM GmbH besteht ein Ergebnisabführungsvertrag, bei der ESWE Taunuswind</a:t>
            </a:r>
          </a:p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GmbH und der ESWE Windpark GmbH erfolgt eine freiwillige Ergebnisübernahme durch die ESWE; 2) Ausschüttung der KMW für das Geschäftsjahr 2024; 3) Jahresabschluss 2024, Werte für 2025 lagen nicht vor; die</a:t>
            </a:r>
          </a:p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THEE ESWE Windparkbeteiligungs Verwaltungs GmbH (33,33 %) ist nicht dargestellt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460" y="1243330"/>
            <a:ext cx="63500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Beteiligungsstruktur</a:t>
            </a:r>
            <a:r>
              <a:rPr sz="1400" b="0" i="0">
                <a:solidFill>
                  <a:srgbClr val="A6A6A6"/>
                </a:solidFill>
                <a:latin typeface="Univers for Metzler"/>
                <a:ea typeface="Univers for Metzler"/>
                <a:cs typeface="Univers for Metzler"/>
              </a:rPr>
              <a:t> (vereinfacht)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1250" y="1498600"/>
            <a:ext cx="847090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1250" y="1593850"/>
            <a:ext cx="847090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Landeshauptstadt Wiesbaden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9735" y="1930400"/>
            <a:ext cx="731393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89735" y="2025650"/>
            <a:ext cx="731393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WVV Wiesbaden Holding GmbH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6560" y="1930400"/>
            <a:ext cx="100838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6560" y="2025650"/>
            <a:ext cx="100838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Thüga 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460" y="2413000"/>
            <a:ext cx="993648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460" y="2508250"/>
            <a:ext cx="993648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ESWE Versorgungs AG</a:t>
            </a:r>
          </a:p>
        </p:txBody>
      </p:sp>
      <p:cxnSp>
        <p:nvCxnSpPr>
          <p:cNvPr id="22" name="Connector 21"/>
          <p:cNvCxnSpPr>
            <a:stCxn id="14" idx="2"/>
            <a:endCxn id="16" idx="0"/>
          </p:cNvCxnSpPr>
          <p:nvPr/>
        </p:nvCxnSpPr>
        <p:spPr>
          <a:xfrm>
            <a:off x="5346700" y="1803400"/>
            <a:ext cx="0" cy="1270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384800" y="18161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100 %</a:t>
            </a:r>
          </a:p>
        </p:txBody>
      </p:sp>
      <p:cxnSp>
        <p:nvCxnSpPr>
          <p:cNvPr id="24" name="Connector 23"/>
          <p:cNvCxnSpPr>
            <a:stCxn id="16" idx="2"/>
            <a:endCxn id="20" idx="0"/>
          </p:cNvCxnSpPr>
          <p:nvPr/>
        </p:nvCxnSpPr>
        <p:spPr>
          <a:xfrm>
            <a:off x="5346700" y="2235200"/>
            <a:ext cx="0" cy="1778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384800" y="22733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50,62 %</a:t>
            </a:r>
          </a:p>
        </p:txBody>
      </p:sp>
      <p:cxnSp>
        <p:nvCxnSpPr>
          <p:cNvPr id="26" name="Connector 25"/>
          <p:cNvCxnSpPr>
            <a:stCxn id="18" idx="2"/>
          </p:cNvCxnSpPr>
          <p:nvPr/>
        </p:nvCxnSpPr>
        <p:spPr>
          <a:xfrm>
            <a:off x="9810750" y="2235200"/>
            <a:ext cx="0" cy="1778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8890000" y="2273300"/>
            <a:ext cx="863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49,38 %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8460" y="2717800"/>
            <a:ext cx="9936480" cy="2286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717800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marL="139700" indent="-139700">
              <a:lnSpc>
                <a:spcPts val="110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/>
            </a: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Umsatz 2025: </a:t>
            </a: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473,8 Mio. 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0000" y="2717800"/>
            <a:ext cx="233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marL="139700" indent="-139700">
              <a:lnSpc>
                <a:spcPts val="110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/>
            </a: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Jahresüberschuss 2025: </a:t>
            </a:r>
            <a:r>
              <a:rPr sz="900" b="0" i="0">
                <a:solidFill>
                  <a:srgbClr val="00B050"/>
                </a:solidFill>
                <a:latin typeface="Univers for Metzler Light"/>
                <a:ea typeface="Univers for Metzler Light"/>
                <a:cs typeface="Univers for Metzler Light"/>
              </a:rPr>
              <a:t>48,9 Mio. 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8400" y="27178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marL="139700" indent="-139700">
              <a:lnSpc>
                <a:spcPts val="110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/>
            </a: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Gewinnabführung an die WVV: </a:t>
            </a:r>
            <a:r>
              <a:rPr sz="900" b="0" i="0">
                <a:solidFill>
                  <a:srgbClr val="00B050"/>
                </a:solidFill>
                <a:latin typeface="Univers for Metzler Light"/>
                <a:ea typeface="Univers for Metzler Light"/>
                <a:cs typeface="Univers for Metzler Light"/>
              </a:rPr>
              <a:t>30,1 Mio. 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7000" y="2717800"/>
            <a:ext cx="248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marL="139700" indent="-139700">
              <a:lnSpc>
                <a:spcPts val="110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/>
            </a: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Ausgleichszahlung Thüga: </a:t>
            </a:r>
            <a:r>
              <a:rPr sz="900" b="0" i="0">
                <a:solidFill>
                  <a:srgbClr val="00B050"/>
                </a:solidFill>
                <a:latin typeface="Univers for Metzler Light"/>
                <a:ea typeface="Univers for Metzler Light"/>
                <a:cs typeface="Univers for Metzler Light"/>
              </a:rPr>
              <a:t>18,8 Mio. EUR</a:t>
            </a:r>
          </a:p>
        </p:txBody>
      </p:sp>
      <p:cxnSp>
        <p:nvCxnSpPr>
          <p:cNvPr id="33" name="Connector 32"/>
          <p:cNvCxnSpPr>
            <a:stCxn id="28" idx="2"/>
          </p:cNvCxnSpPr>
          <p:nvPr/>
        </p:nvCxnSpPr>
        <p:spPr>
          <a:xfrm>
            <a:off x="5346700" y="2946400"/>
            <a:ext cx="0" cy="18796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145540" y="4826000"/>
            <a:ext cx="8403590" cy="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378460" y="32258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8460" y="32639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Stadtwerke Wiesbaden Netz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460" y="33782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GmbH</a:t>
            </a:r>
          </a:p>
        </p:txBody>
      </p:sp>
      <p:cxnSp>
        <p:nvCxnSpPr>
          <p:cNvPr id="38" name="Connector 37"/>
          <p:cNvCxnSpPr>
            <a:endCxn id="35" idx="0"/>
          </p:cNvCxnSpPr>
          <p:nvPr/>
        </p:nvCxnSpPr>
        <p:spPr>
          <a:xfrm>
            <a:off x="1145540" y="2946400"/>
            <a:ext cx="0" cy="2794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1183640" y="29845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100 %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460" y="3556000"/>
            <a:ext cx="1534160" cy="11684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1959" y="3619500"/>
            <a:ext cx="141986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Betrieb des Stromnetzes in Wiesbaden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69,6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B050"/>
                </a:solidFill>
                <a:latin typeface="Univers for Metzler Light"/>
                <a:ea typeface="Univers for Metzler Light"/>
                <a:cs typeface="Univers for Metzler Light"/>
              </a:rPr>
              <a:t>Gewinnabführung 2025: 5,4 Mio. 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8670" y="32258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8670" y="332105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WiTCOM GmbH</a:t>
            </a:r>
          </a:p>
        </p:txBody>
      </p:sp>
      <p:cxnSp>
        <p:nvCxnSpPr>
          <p:cNvPr id="44" name="Connector 43"/>
          <p:cNvCxnSpPr>
            <a:endCxn id="42" idx="0"/>
          </p:cNvCxnSpPr>
          <p:nvPr/>
        </p:nvCxnSpPr>
        <p:spPr>
          <a:xfrm>
            <a:off x="2825750" y="2946400"/>
            <a:ext cx="0" cy="2794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2863850" y="29845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100 %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8670" y="3556000"/>
            <a:ext cx="1534160" cy="11684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22170" y="3619500"/>
            <a:ext cx="141986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Glasfaser und Rechenzentren (B2B und Carrier)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Umsatz 2025: 17,7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B050"/>
                </a:solidFill>
                <a:latin typeface="Univers for Metzler Light"/>
                <a:ea typeface="Univers for Metzler Light"/>
                <a:cs typeface="Univers for Metzler Light"/>
              </a:rPr>
              <a:t>Gewinnabführung 2025: 3,4 Mio.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0150" y="32258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0150" y="332105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ESWE BioEnergie GmbH</a:t>
            </a:r>
          </a:p>
        </p:txBody>
      </p:sp>
      <p:cxnSp>
        <p:nvCxnSpPr>
          <p:cNvPr id="50" name="Connector 49"/>
          <p:cNvCxnSpPr>
            <a:endCxn id="48" idx="0"/>
          </p:cNvCxnSpPr>
          <p:nvPr/>
        </p:nvCxnSpPr>
        <p:spPr>
          <a:xfrm>
            <a:off x="4507230" y="2946400"/>
            <a:ext cx="0" cy="2794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4545330" y="29845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90 %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0150" y="3556000"/>
            <a:ext cx="1534160" cy="11684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03650" y="3619500"/>
            <a:ext cx="141986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Biomasse-Heizkraftwerk, Strom und Fernwärme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18,8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B050"/>
                </a:solidFill>
                <a:latin typeface="Univers for Metzler Light"/>
                <a:ea typeface="Univers for Metzler Light"/>
                <a:cs typeface="Univers for Metzler Light"/>
              </a:rPr>
              <a:t>Jahresergebnis 2025: 1,3 Mio.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20360" y="32258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20360" y="32639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Kraftwerke Mainz-Wiesbaden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20360" y="33782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AG (KMW)</a:t>
            </a:r>
          </a:p>
        </p:txBody>
      </p:sp>
      <p:cxnSp>
        <p:nvCxnSpPr>
          <p:cNvPr id="57" name="Connector 56"/>
          <p:cNvCxnSpPr>
            <a:endCxn id="54" idx="0"/>
          </p:cNvCxnSpPr>
          <p:nvPr/>
        </p:nvCxnSpPr>
        <p:spPr>
          <a:xfrm>
            <a:off x="6187440" y="2946400"/>
            <a:ext cx="0" cy="2794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225540" y="29845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50 %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20360" y="3556000"/>
            <a:ext cx="1534160" cy="11684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3860" y="3619500"/>
            <a:ext cx="141986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Erzeugung und Energiehub der Region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396,0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B050"/>
                </a:solidFill>
                <a:latin typeface="Univers for Metzler Light"/>
                <a:ea typeface="Univers for Metzler Light"/>
                <a:cs typeface="Univers for Metzler Light"/>
              </a:rPr>
              <a:t>Ausschüttung: 14,0 Mio. EUR</a:t>
            </a:r>
            <a:r>
              <a:rPr sz="900" b="0" i="0" baseline="30000">
                <a:solidFill>
                  <a:srgbClr val="00B050"/>
                </a:solidFill>
                <a:latin typeface="Univers for Metzler Light"/>
                <a:ea typeface="Univers for Metzler Light"/>
                <a:cs typeface="Univers for Metzler Light"/>
              </a:rPr>
              <a:t>2)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00570" y="32258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00570" y="332105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MHKW Wiesbaden GmbH</a:t>
            </a:r>
          </a:p>
        </p:txBody>
      </p:sp>
      <p:cxnSp>
        <p:nvCxnSpPr>
          <p:cNvPr id="63" name="Connector 62"/>
          <p:cNvCxnSpPr>
            <a:endCxn id="61" idx="0"/>
          </p:cNvCxnSpPr>
          <p:nvPr/>
        </p:nvCxnSpPr>
        <p:spPr>
          <a:xfrm>
            <a:off x="7867650" y="2946400"/>
            <a:ext cx="0" cy="2794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7905750" y="29845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24,5 %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00570" y="3556000"/>
            <a:ext cx="1534160" cy="11684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64070" y="3619500"/>
            <a:ext cx="141986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Neues Müllheizkraftwerk (Inbetriebnahme läuft)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27,4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Jahresergebnis 2025: −3,5 Mio. EUR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82050" y="32258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82050" y="332105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WRT Infrastrukturbau GmbH</a:t>
            </a:r>
          </a:p>
        </p:txBody>
      </p:sp>
      <p:cxnSp>
        <p:nvCxnSpPr>
          <p:cNvPr id="69" name="Connector 68"/>
          <p:cNvCxnSpPr>
            <a:endCxn id="67" idx="0"/>
          </p:cNvCxnSpPr>
          <p:nvPr/>
        </p:nvCxnSpPr>
        <p:spPr>
          <a:xfrm>
            <a:off x="9549130" y="2946400"/>
            <a:ext cx="0" cy="2794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9587230" y="29845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49 %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82050" y="3556000"/>
            <a:ext cx="1534160" cy="11684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45550" y="3619500"/>
            <a:ext cx="141986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Tief- und Rohrleitungsbau (Baukapazitäten)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2024: 25 T EUR</a:t>
            </a:r>
            <a:r>
              <a:rPr sz="900" b="0" i="0" baseline="3000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3)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Jahresergebnis 2024: −4 T EUR</a:t>
            </a:r>
            <a:r>
              <a:rPr sz="900" b="0" i="0" baseline="3000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3)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8460" y="50292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8460" y="512445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ESWE Taunuswind GmbH</a:t>
            </a:r>
          </a:p>
        </p:txBody>
      </p:sp>
      <p:cxnSp>
        <p:nvCxnSpPr>
          <p:cNvPr id="75" name="Connector 74"/>
          <p:cNvCxnSpPr>
            <a:endCxn id="73" idx="0"/>
          </p:cNvCxnSpPr>
          <p:nvPr/>
        </p:nvCxnSpPr>
        <p:spPr>
          <a:xfrm>
            <a:off x="1145540" y="4826000"/>
            <a:ext cx="0" cy="2032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1183640" y="48641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100 %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8460" y="5359400"/>
            <a:ext cx="1534160" cy="10922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1959" y="5422900"/>
            <a:ext cx="141986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Projektgesellschaft Windpark Hohe Wurzel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0,1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Verlustübernahme durch die ESWE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8670" y="50292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58670" y="512445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ESWE Windpark GmbH</a:t>
            </a:r>
          </a:p>
        </p:txBody>
      </p:sp>
      <p:cxnSp>
        <p:nvCxnSpPr>
          <p:cNvPr id="81" name="Connector 80"/>
          <p:cNvCxnSpPr>
            <a:endCxn id="79" idx="0"/>
          </p:cNvCxnSpPr>
          <p:nvPr/>
        </p:nvCxnSpPr>
        <p:spPr>
          <a:xfrm>
            <a:off x="2825750" y="4826000"/>
            <a:ext cx="0" cy="2032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2863850" y="48641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100 %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58670" y="5359400"/>
            <a:ext cx="1534160" cy="10922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22170" y="5422900"/>
            <a:ext cx="141986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Projektgesellschaft für Windenergievorhaben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25 T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Verlustübernahme durch die ESWE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40150" y="50292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40150" y="50673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ESWE Windpark Uettingen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40150" y="51816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GmbH &amp; Co. KG</a:t>
            </a:r>
          </a:p>
        </p:txBody>
      </p:sp>
      <p:cxnSp>
        <p:nvCxnSpPr>
          <p:cNvPr id="88" name="Connector 87"/>
          <p:cNvCxnSpPr>
            <a:endCxn id="85" idx="0"/>
          </p:cNvCxnSpPr>
          <p:nvPr/>
        </p:nvCxnSpPr>
        <p:spPr>
          <a:xfrm>
            <a:off x="4507230" y="4826000"/>
            <a:ext cx="0" cy="2032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4545330" y="48641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100 %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0150" y="5359400"/>
            <a:ext cx="1534160" cy="10922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03650" y="5422900"/>
            <a:ext cx="141986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Windpark Uettingen in Unterfranken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3,6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Jahresergebnis 2025: −0,1 Mio. EUR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20360" y="50292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20360" y="50673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Windkraft Kahlenberg GmbH &amp;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20360" y="51816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Co. KG</a:t>
            </a:r>
          </a:p>
        </p:txBody>
      </p:sp>
      <p:cxnSp>
        <p:nvCxnSpPr>
          <p:cNvPr id="95" name="Connector 94"/>
          <p:cNvCxnSpPr>
            <a:endCxn id="92" idx="0"/>
          </p:cNvCxnSpPr>
          <p:nvPr/>
        </p:nvCxnSpPr>
        <p:spPr>
          <a:xfrm>
            <a:off x="6187440" y="4826000"/>
            <a:ext cx="0" cy="2032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96" name="TextBox 95"/>
          <p:cNvSpPr txBox="1"/>
          <p:nvPr/>
        </p:nvSpPr>
        <p:spPr>
          <a:xfrm>
            <a:off x="6225540" y="48641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50 %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20360" y="5359400"/>
            <a:ext cx="1534160" cy="10922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3860" y="5422900"/>
            <a:ext cx="141986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Windpark Kahlenberg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2,6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Jahresergebnis 2025: −0,2 Mio. EUR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00570" y="50292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00570" y="50673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Windpark Bad Camberg GmbH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00570" y="51816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&amp; Co. KG</a:t>
            </a:r>
          </a:p>
        </p:txBody>
      </p:sp>
      <p:cxnSp>
        <p:nvCxnSpPr>
          <p:cNvPr id="102" name="Connector 101"/>
          <p:cNvCxnSpPr>
            <a:endCxn id="99" idx="0"/>
          </p:cNvCxnSpPr>
          <p:nvPr/>
        </p:nvCxnSpPr>
        <p:spPr>
          <a:xfrm>
            <a:off x="7867650" y="4826000"/>
            <a:ext cx="0" cy="2032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7905750" y="48641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33,33 %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100570" y="5359400"/>
            <a:ext cx="1534160" cy="10922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164070" y="5422900"/>
            <a:ext cx="141986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Windpark Bad Camberg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3,1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Jahresergebnis 2025: −0,3 Mio. EUR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782050" y="5029200"/>
            <a:ext cx="153416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E7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82050" y="50673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THEE ESWE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82050" y="5181600"/>
            <a:ext cx="1534160" cy="1143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Windparkbeteiligungs KG</a:t>
            </a:r>
          </a:p>
        </p:txBody>
      </p:sp>
      <p:cxnSp>
        <p:nvCxnSpPr>
          <p:cNvPr id="109" name="Connector 108"/>
          <p:cNvCxnSpPr>
            <a:endCxn id="106" idx="0"/>
          </p:cNvCxnSpPr>
          <p:nvPr/>
        </p:nvCxnSpPr>
        <p:spPr>
          <a:xfrm>
            <a:off x="9549130" y="4826000"/>
            <a:ext cx="0" cy="203200"/>
          </a:xfrm>
          <a:prstGeom prst="bentConnector3">
            <a:avLst/>
          </a:prstGeom>
          <a:ln w="11430">
            <a:solidFill>
              <a:srgbClr val="003D7C"/>
            </a:solidFill>
          </a:ln>
        </p:spPr>
      </p:cxnSp>
      <p:sp>
        <p:nvSpPr>
          <p:cNvPr id="110" name="TextBox 109"/>
          <p:cNvSpPr txBox="1"/>
          <p:nvPr/>
        </p:nvSpPr>
        <p:spPr>
          <a:xfrm>
            <a:off x="9587230" y="48641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33,33 %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782050" y="5359400"/>
            <a:ext cx="1534160" cy="10922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45550" y="5422900"/>
            <a:ext cx="141986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127000" indent="-127000">
              <a:lnSpc>
                <a:spcPts val="1040"/>
              </a:lnSpc>
              <a:spcBef>
                <a:spcPts val="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Windportfolio gemeinsam mit Thüga Erneuerbare Energien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 2025: 11,3 Mio. EUR</a:t>
            </a:r>
          </a:p>
          <a:p>
            <a:pPr marL="127000" indent="-127000">
              <a:lnSpc>
                <a:spcPts val="1040"/>
              </a:lnSpc>
              <a:spcBef>
                <a:spcPts val="300"/>
              </a:spcBef>
              <a:buClr>
                <a:srgbClr val="003D7C"/>
              </a:buClr>
              <a:buSzPct val="75000"/>
              <a:buFont typeface="Wingdings"/>
              <a:buChar char="n"/>
            </a:pPr>
            <a:r>
              <a:rPr sz="900" b="0" i="0">
                <a:solidFill>
                  <a:srgbClr val="FF0000"/>
                </a:solidFill>
                <a:latin typeface="Univers for Metzler Light"/>
                <a:ea typeface="Univers for Metzler Light"/>
                <a:cs typeface="Univers for Metzler Light"/>
              </a:rPr>
              <a:t>Jahresergebnis 2025: −1,1 Mio. EUR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30200" y="3175000"/>
            <a:ext cx="3314700" cy="1600200"/>
          </a:xfrm>
          <a:prstGeom prst="rect">
            <a:avLst/>
          </a:prstGeom>
          <a:noFill/>
          <a:ln w="15875">
            <a:solidFill>
              <a:srgbClr val="EF664B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30200" y="4978400"/>
            <a:ext cx="10033000" cy="1524000"/>
          </a:xfrm>
          <a:prstGeom prst="rect">
            <a:avLst/>
          </a:prstGeom>
          <a:noFill/>
          <a:ln w="15875">
            <a:solidFill>
              <a:srgbClr val="EF664B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413500" y="7124700"/>
            <a:ext cx="290830" cy="149860"/>
          </a:xfrm>
          <a:prstGeom prst="rect">
            <a:avLst/>
          </a:prstGeom>
          <a:noFill/>
          <a:ln w="15875">
            <a:solidFill>
              <a:srgbClr val="EF664B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81800" y="7068820"/>
            <a:ext cx="2794000" cy="2209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Mögliche Beteiligungsobjekte (Kapitel 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8460" y="227329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2. ESWE Versorgungs AG – Übersicht und Herausforderungen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250" y="7120890"/>
            <a:ext cx="8128000" cy="1790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Quellen: Metzler-Recherche, Jahresabschlüsse ESWE Versorgungs AG 2021–2025, Unternehmenswebsite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460" y="474980"/>
            <a:ext cx="10033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Die ESWE ist finanziell solide aufgestellt − der Investitionshochlauf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779780"/>
            <a:ext cx="10033000" cy="3314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auf bis zu 80 Mio. EUR p. a. übersteigt die bisherige Größenordnung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60" y="6802120"/>
            <a:ext cx="8445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1) Anstieg von Ø ~22 Mio. EUR p. a. (letzte 20 Jahre) auf bis zu 80 Mio. EUR p. a. gemäß Interview des früheren Vorstandsvorsitzenden (zfk); keine öffentliche quantitative Aufteilung</a:t>
            </a:r>
          </a:p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nach Investitionsschwerpunkten verfügbar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460" y="1508760"/>
            <a:ext cx="9936480" cy="25272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151765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Investitionsbedarf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460" y="1790700"/>
            <a:ext cx="889000" cy="930910"/>
          </a:xfrm>
          <a:prstGeom prst="rect">
            <a:avLst/>
          </a:prstGeom>
          <a:solidFill>
            <a:srgbClr val="ADBCF4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2700" y="1790700"/>
            <a:ext cx="9025890" cy="930910"/>
          </a:xfrm>
          <a:prstGeom prst="rect">
            <a:avLst/>
          </a:prstGeom>
          <a:solidFill>
            <a:srgbClr val="D6DD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8460" y="2771140"/>
            <a:ext cx="889000" cy="462280"/>
          </a:xfrm>
          <a:prstGeom prst="rect">
            <a:avLst/>
          </a:prstGeom>
          <a:solidFill>
            <a:srgbClr val="C6D1F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2700" y="2771140"/>
            <a:ext cx="9032240" cy="462280"/>
          </a:xfrm>
          <a:prstGeom prst="rect">
            <a:avLst/>
          </a:prstGeom>
          <a:solidFill>
            <a:srgbClr val="E3E8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8460" y="3282950"/>
            <a:ext cx="889000" cy="1841500"/>
          </a:xfrm>
          <a:prstGeom prst="rect">
            <a:avLst/>
          </a:prstGeom>
          <a:solidFill>
            <a:srgbClr val="C2DBF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3970" y="3282950"/>
            <a:ext cx="9038590" cy="1841500"/>
          </a:xfrm>
          <a:prstGeom prst="rect">
            <a:avLst/>
          </a:prstGeom>
          <a:solidFill>
            <a:srgbClr val="E1E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800" y="1790700"/>
            <a:ext cx="787400" cy="9309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Investitions-</a:t>
            </a:r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schwerpunkt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00" y="2771140"/>
            <a:ext cx="787400" cy="462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CapEx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00" y="3282950"/>
            <a:ext cx="7874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Geplante</a:t>
            </a:r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Projekte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91330" y="1936750"/>
            <a:ext cx="0" cy="640080"/>
          </a:xfrm>
          <a:prstGeom prst="line">
            <a:avLst/>
          </a:prstGeom>
          <a:ln w="1905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91330" y="3517900"/>
            <a:ext cx="0" cy="1371600"/>
          </a:xfrm>
          <a:prstGeom prst="line">
            <a:avLst/>
          </a:prstGeom>
          <a:ln w="1905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98690" y="1936750"/>
            <a:ext cx="0" cy="640080"/>
          </a:xfrm>
          <a:prstGeom prst="line">
            <a:avLst/>
          </a:prstGeom>
          <a:ln w="1905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98690" y="3517900"/>
            <a:ext cx="0" cy="1371600"/>
          </a:xfrm>
          <a:prstGeom prst="line">
            <a:avLst/>
          </a:prstGeom>
          <a:ln w="1905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512060" y="1887220"/>
            <a:ext cx="548640" cy="548640"/>
          </a:xfrm>
          <a:prstGeom prst="ellipse">
            <a:avLst/>
          </a:prstGeom>
          <a:noFill/>
          <a:ln w="2540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29" name="Picture 28" descr="g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80" y="2000250"/>
            <a:ext cx="330200" cy="330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25880" y="2514600"/>
            <a:ext cx="2921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Wärmenetze &amp; Wärmewende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6370" y="336550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8770" y="3359150"/>
            <a:ext cx="2616200" cy="586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Konsequenter Fernwärmeausbau mit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Schwerpunkt Innenstadt (BEW-gefördert); neue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Pumpstation Deponiestraße (~8 Mio. EUR, seit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04/2024) als realisierter Anker des Verbundnetzes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6370" y="397129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8770" y="3964940"/>
            <a:ext cx="2616200" cy="586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Anbindung des neuen Müllheizkraftwerks (~40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MW thermisch, ~100 GWh Wärme p. a.;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Inbetriebnahmephase läuft) und sukzessive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Ablösung der erdgasbefeuerten Heizwerke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6370" y="457708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8770" y="4570730"/>
            <a:ext cx="2616200" cy="586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Transformationsplan für ein klimaneutrales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Fernwärmenetz sowie Prüfung von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Großwärmepumpen, Flusswärme und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Geothermie</a:t>
            </a:r>
          </a:p>
        </p:txBody>
      </p:sp>
      <p:sp>
        <p:nvSpPr>
          <p:cNvPr id="37" name="Oval 36"/>
          <p:cNvSpPr/>
          <p:nvPr/>
        </p:nvSpPr>
        <p:spPr>
          <a:xfrm>
            <a:off x="5520690" y="1887220"/>
            <a:ext cx="548640" cy="548640"/>
          </a:xfrm>
          <a:prstGeom prst="ellipse">
            <a:avLst/>
          </a:prstGeom>
          <a:noFill/>
          <a:ln w="2540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38" name="Picture 37" descr="g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910" y="2000250"/>
            <a:ext cx="330200" cy="3302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334510" y="2514600"/>
            <a:ext cx="2921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Strom- &amp; Gasnetze &amp; Digitalisierung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3730" y="336550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6130" y="3359150"/>
            <a:ext cx="2616200" cy="4495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Massiver Stromnetzausbau durch die sw netz –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der Energieentwicklungsplan erwartet die künftige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Wärmeversorgung großteils über Wärmepumpen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3730" y="3834129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6130" y="3827779"/>
            <a:ext cx="2616200" cy="4495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Smart-Meter-Rollout und IT-Transformation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(Thüga-Abrechnungsplattform TAP als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SAP-Ablösung)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3730" y="4302759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6130" y="4296409"/>
            <a:ext cx="2616200" cy="586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Zurückhaltende Gasnetz-Investitionen: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Erneuerung nur bei technischer Notwendigkeit,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Prüfung der H2-Tauglichkeit („Rh2ein-Main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Connect" ab 2028)</a:t>
            </a:r>
          </a:p>
        </p:txBody>
      </p:sp>
      <p:sp>
        <p:nvSpPr>
          <p:cNvPr id="46" name="Oval 45"/>
          <p:cNvSpPr/>
          <p:nvPr/>
        </p:nvSpPr>
        <p:spPr>
          <a:xfrm>
            <a:off x="8535670" y="1887220"/>
            <a:ext cx="548640" cy="548640"/>
          </a:xfrm>
          <a:prstGeom prst="ellipse">
            <a:avLst/>
          </a:prstGeom>
          <a:noFill/>
          <a:ln w="25400">
            <a:solidFill>
              <a:srgbClr val="003D7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7" name="Picture 46" descr="g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890" y="2000250"/>
            <a:ext cx="330200" cy="3302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49490" y="2514600"/>
            <a:ext cx="2921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Erneuerbare Erzeugung &amp; E-Mobilität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1090" y="336550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03490" y="3359150"/>
            <a:ext cx="2616200" cy="586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Windpark Hohe Wurzel (10 Anlagen, ~30 MW,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~85 GWh p. a.) nach erneut positivem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VGH-Entscheid (02/2026) juristisch weit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fortgeschritten – Berufung noch anhängig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1090" y="397129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03490" y="3964940"/>
            <a:ext cx="2616200" cy="4495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Ausbau des regionalen Wind-/PV-Portfolios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gemeinsam mit Thüga Erneuerbare Energien und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der KMW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1090" y="443992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03490" y="4433570"/>
            <a:ext cx="2616200" cy="3124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Ladeinfrastruktur-Konzession: 800 öffentliche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Ladepunkte bis 2030, davon bereits 446 errichtet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374900" y="2961640"/>
            <a:ext cx="6858000" cy="0"/>
          </a:xfrm>
          <a:prstGeom prst="line">
            <a:avLst/>
          </a:prstGeom>
          <a:ln w="19050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374900" y="2881630"/>
            <a:ext cx="0" cy="160020"/>
          </a:xfrm>
          <a:prstGeom prst="line">
            <a:avLst/>
          </a:prstGeom>
          <a:ln w="19050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32900" y="2881630"/>
            <a:ext cx="0" cy="160020"/>
          </a:xfrm>
          <a:prstGeom prst="line">
            <a:avLst/>
          </a:prstGeom>
          <a:ln w="19050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4648200" y="2800350"/>
            <a:ext cx="2311400" cy="317500"/>
          </a:xfrm>
          <a:prstGeom prst="rect">
            <a:avLst/>
          </a:prstGeom>
          <a:solidFill>
            <a:srgbClr val="E3E8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48200" y="2813050"/>
            <a:ext cx="2311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Anstieg auf bis zu 80 Mio. EUR p. 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2965450"/>
            <a:ext cx="2463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157E3"/>
                </a:solidFill>
                <a:latin typeface="Univers for Metzler 2"/>
                <a:ea typeface="Univers for Metzler 2"/>
                <a:cs typeface="Univers for Metzler 2"/>
              </a:rPr>
              <a:t>von Ø ~22 Mio. EUR p. a. in den letzten 20 Jahren</a:t>
            </a:r>
            <a:r>
              <a:rPr sz="900" b="1" i="0" baseline="30000">
                <a:solidFill>
                  <a:srgbClr val="3157E3"/>
                </a:solidFill>
                <a:latin typeface="Univers for Metzler 2"/>
                <a:ea typeface="Univers for Metzler 2"/>
                <a:cs typeface="Univers for Metzler 2"/>
              </a:rPr>
              <a:t>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5359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Entwicklung der Investitionen (Mio. EUR)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79730" y="6598920"/>
            <a:ext cx="609727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647700" y="6234853"/>
            <a:ext cx="685800" cy="364066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700" y="6069753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700" y="663702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71980" y="6141720"/>
            <a:ext cx="685800" cy="4572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71980" y="597662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54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71980" y="663702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96260" y="6370320"/>
            <a:ext cx="685800" cy="2286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96260" y="620522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96260" y="663702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20540" y="6370320"/>
            <a:ext cx="685800" cy="2286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20540" y="620522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20540" y="663702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44820" y="6285653"/>
            <a:ext cx="685800" cy="313266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44820" y="6120553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44820" y="663702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2025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71500" y="5921586"/>
            <a:ext cx="5778500" cy="0"/>
          </a:xfrm>
          <a:prstGeom prst="line">
            <a:avLst/>
          </a:prstGeom>
          <a:ln w="15875">
            <a:solidFill>
              <a:srgbClr val="003D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746500" y="5731086"/>
            <a:ext cx="2603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Zielniveau: bis zu 80 Mio. EUR p. a.</a:t>
            </a:r>
            <a:r>
              <a:rPr sz="900" b="1" i="0" baseline="3000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1)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7700" y="5594350"/>
            <a:ext cx="152400" cy="1143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0900" y="55499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CapEx inkl. Finanzanlagen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6604000" y="5740400"/>
            <a:ext cx="431800" cy="203200"/>
          </a:xfrm>
          <a:prstGeom prst="rightArrow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400" y="5676900"/>
            <a:ext cx="3175000" cy="5308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Bankdarlehen allein werden künftig nicht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ausreichen − schon heute sichern Bürgschaften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der Stadt und Kapitaleinlagen die Finanzierung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8460" y="227329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2. ESWE Versorgungs AG – Übersicht und Herausforderungen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250" y="7120890"/>
            <a:ext cx="8128000" cy="1790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Quellen: Metzler-Recherche, Jahresabschlüsse ESWE Versorgungs AG 2021–2025, Unternehmenswebsite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460" y="474980"/>
            <a:ext cx="10033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Robuste Ertragskraft nach zwei Sonderjahren − jedoch absorbieren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779780"/>
            <a:ext cx="10033000" cy="3314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Ausschüttungen und Investitionshochlauf die Liquidität weitgehend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460" y="6802120"/>
            <a:ext cx="84455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1) Rohertrag = Umsatzerlöse ./. Materialaufwand; 2) Abweichungen der Säulensummen von den ∑-Werten rundungsbedingt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59" y="1662430"/>
            <a:ext cx="3175000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57E3"/>
                </a:solidFill>
                <a:latin typeface="Univers for Metzler 2"/>
                <a:ea typeface="Univers for Metzler 2"/>
                <a:cs typeface="Univers for Metzler 2"/>
              </a:rPr>
              <a:t>Gewinn- und Verlustrechnung (Mio. EUR)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159" y="1922780"/>
            <a:ext cx="165100" cy="1143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060" y="187198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Umsatz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7930" y="1922780"/>
            <a:ext cx="165100" cy="1143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3830" y="1910080"/>
            <a:ext cx="11430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Rohertrag</a:t>
            </a:r>
            <a:r>
              <a:rPr sz="900" b="0" i="0" baseline="3000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1)</a:t>
            </a:r>
          </a:p>
        </p:txBody>
      </p:sp>
      <p:sp>
        <p:nvSpPr>
          <p:cNvPr id="18" name="Oval 17"/>
          <p:cNvSpPr/>
          <p:nvPr/>
        </p:nvSpPr>
        <p:spPr>
          <a:xfrm>
            <a:off x="2120900" y="1910080"/>
            <a:ext cx="279400" cy="139700"/>
          </a:xfrm>
          <a:prstGeom prst="ellipse">
            <a:avLst/>
          </a:prstGeom>
          <a:noFill/>
          <a:ln w="12700">
            <a:solidFill>
              <a:srgbClr val="FF9900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6650" y="1882139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CAGR</a:t>
            </a:r>
          </a:p>
        </p:txBody>
      </p:sp>
      <p:sp>
        <p:nvSpPr>
          <p:cNvPr id="20" name="Oval 19"/>
          <p:cNvSpPr/>
          <p:nvPr/>
        </p:nvSpPr>
        <p:spPr>
          <a:xfrm>
            <a:off x="505459" y="2103120"/>
            <a:ext cx="190500" cy="114300"/>
          </a:xfrm>
          <a:prstGeom prst="ellipse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060" y="205232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Rohertrag-Marge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1000" y="4759960"/>
            <a:ext cx="312547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71170" y="3925141"/>
            <a:ext cx="222250" cy="834818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3420" y="4535125"/>
            <a:ext cx="222250" cy="224834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870" y="3772741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470" y="4382725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170" y="4798060"/>
            <a:ext cx="444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2021</a:t>
            </a:r>
          </a:p>
        </p:txBody>
      </p:sp>
      <p:sp>
        <p:nvSpPr>
          <p:cNvPr id="28" name="Oval 27"/>
          <p:cNvSpPr/>
          <p:nvPr/>
        </p:nvSpPr>
        <p:spPr>
          <a:xfrm>
            <a:off x="385445" y="2402840"/>
            <a:ext cx="615950" cy="233679"/>
          </a:xfrm>
          <a:prstGeom prst="ellipse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270" y="2443480"/>
            <a:ext cx="622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27,0 %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6010" y="3829342"/>
            <a:ext cx="222250" cy="930617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18260" y="4527305"/>
            <a:ext cx="222250" cy="232654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710" y="3676942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0310" y="4374905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6010" y="4798060"/>
            <a:ext cx="444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2022</a:t>
            </a:r>
          </a:p>
        </p:txBody>
      </p:sp>
      <p:sp>
        <p:nvSpPr>
          <p:cNvPr id="35" name="Oval 34"/>
          <p:cNvSpPr/>
          <p:nvPr/>
        </p:nvSpPr>
        <p:spPr>
          <a:xfrm>
            <a:off x="1010285" y="2634488"/>
            <a:ext cx="615950" cy="233679"/>
          </a:xfrm>
          <a:prstGeom prst="ellipse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7110" y="2675128"/>
            <a:ext cx="622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25,1 %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20850" y="3520440"/>
            <a:ext cx="222250" cy="123952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43100" y="4466698"/>
            <a:ext cx="222250" cy="293261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6550" y="3368040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634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35150" y="4314298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20850" y="4798060"/>
            <a:ext cx="444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2023</a:t>
            </a:r>
          </a:p>
        </p:txBody>
      </p:sp>
      <p:sp>
        <p:nvSpPr>
          <p:cNvPr id="42" name="Oval 41"/>
          <p:cNvSpPr/>
          <p:nvPr/>
        </p:nvSpPr>
        <p:spPr>
          <a:xfrm>
            <a:off x="1635125" y="2805176"/>
            <a:ext cx="615950" cy="233679"/>
          </a:xfrm>
          <a:prstGeom prst="ellipse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31950" y="2845816"/>
            <a:ext cx="622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23,7 %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45690" y="3713992"/>
            <a:ext cx="222250" cy="1045967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7940" y="4472563"/>
            <a:ext cx="222250" cy="287396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31390" y="3561592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535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59990" y="4320163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147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45690" y="4798060"/>
            <a:ext cx="444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2024</a:t>
            </a:r>
          </a:p>
        </p:txBody>
      </p:sp>
      <p:sp>
        <p:nvSpPr>
          <p:cNvPr id="49" name="Oval 48"/>
          <p:cNvSpPr/>
          <p:nvPr/>
        </p:nvSpPr>
        <p:spPr>
          <a:xfrm>
            <a:off x="2259965" y="2329688"/>
            <a:ext cx="615950" cy="233679"/>
          </a:xfrm>
          <a:prstGeom prst="ellipse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56790" y="2370328"/>
            <a:ext cx="622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27,6 %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0530" y="3833252"/>
            <a:ext cx="222250" cy="926707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92780" y="4501889"/>
            <a:ext cx="222250" cy="25807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56230" y="3680852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474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84830" y="4349489"/>
            <a:ext cx="4445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0530" y="4798060"/>
            <a:ext cx="444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2025</a:t>
            </a:r>
          </a:p>
        </p:txBody>
      </p:sp>
      <p:sp>
        <p:nvSpPr>
          <p:cNvPr id="56" name="Oval 55"/>
          <p:cNvSpPr/>
          <p:nvPr/>
        </p:nvSpPr>
        <p:spPr>
          <a:xfrm>
            <a:off x="2884805" y="2293112"/>
            <a:ext cx="615950" cy="233679"/>
          </a:xfrm>
          <a:prstGeom prst="ellipse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1630" y="2333752"/>
            <a:ext cx="622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27,9 %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580390" y="3053080"/>
            <a:ext cx="2500630" cy="19177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475739" y="3063875"/>
            <a:ext cx="708660" cy="1943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9900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75740" y="3084830"/>
            <a:ext cx="711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+2,7% p.a.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00170" y="1662430"/>
            <a:ext cx="3175000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8BEB"/>
                </a:solidFill>
                <a:latin typeface="Univers for Metzler 2"/>
                <a:ea typeface="Univers for Metzler 2"/>
                <a:cs typeface="Univers for Metzler 2"/>
              </a:rPr>
              <a:t>Kapitalflussrechnung (Mio. EUR)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00170" y="1922780"/>
            <a:ext cx="165100" cy="1143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6070" y="187198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Operating Cash Flow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85740" y="1922780"/>
            <a:ext cx="165100" cy="114300"/>
          </a:xfrm>
          <a:prstGeom prst="rect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01640" y="187198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Financing Cash Flow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00170" y="2109470"/>
            <a:ext cx="165100" cy="1143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6070" y="205867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Investing Cash Flow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11140" y="2052320"/>
            <a:ext cx="1778000" cy="208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∑   Total Cash Flow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01440" y="3651250"/>
            <a:ext cx="350520" cy="31115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01440" y="3962400"/>
            <a:ext cx="350520" cy="1270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901440" y="4089400"/>
            <a:ext cx="350520" cy="184150"/>
          </a:xfrm>
          <a:prstGeom prst="rect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26280" y="3467100"/>
            <a:ext cx="350520" cy="4953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26280" y="3962400"/>
            <a:ext cx="350520" cy="2159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26280" y="4178300"/>
            <a:ext cx="350520" cy="107950"/>
          </a:xfrm>
          <a:prstGeom prst="rect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151120" y="3663950"/>
            <a:ext cx="350520" cy="29845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151120" y="3606800"/>
            <a:ext cx="350520" cy="5715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151120" y="3962400"/>
            <a:ext cx="350520" cy="266700"/>
          </a:xfrm>
          <a:prstGeom prst="rect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775960" y="3530600"/>
            <a:ext cx="350520" cy="4318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775960" y="3962400"/>
            <a:ext cx="350520" cy="3175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775960" y="3994150"/>
            <a:ext cx="350520" cy="552450"/>
          </a:xfrm>
          <a:prstGeom prst="rect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00800" y="3689350"/>
            <a:ext cx="350520" cy="27305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400800" y="3962400"/>
            <a:ext cx="350520" cy="50800"/>
          </a:xfrm>
          <a:prstGeom prst="rect">
            <a:avLst/>
          </a:prstGeom>
          <a:solidFill>
            <a:srgbClr val="3157E3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0800" y="4013200"/>
            <a:ext cx="350520" cy="336550"/>
          </a:xfrm>
          <a:prstGeom prst="rect">
            <a:avLst/>
          </a:prstGeom>
          <a:solidFill>
            <a:srgbClr val="718BE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3761740" y="3962400"/>
            <a:ext cx="312801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901440" y="373062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49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77360" y="39497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(20)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01440" y="410527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(29)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01440" y="348615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01440" y="48260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363855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78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26280" y="399415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(34)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02200" y="415607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(17)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26280" y="33020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27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26280" y="48260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51120" y="373697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47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27040" y="355917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51120" y="401955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(42)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51120" y="34417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14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51120" y="48260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75960" y="36703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68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51880" y="390207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(5)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75960" y="419417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(87)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75960" y="45720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(24)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75960" y="48260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0" y="374967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43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76720" y="39116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(8)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00800" y="4105275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Univers for Metzler Light"/>
                <a:ea typeface="Univers for Metzler Light"/>
                <a:cs typeface="Univers for Metzler Light"/>
              </a:rPr>
              <a:t>(53)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437515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Univers for Metzler 2"/>
                <a:ea typeface="Univers for Metzler 2"/>
                <a:cs typeface="Univers for Metzler 2"/>
              </a:rPr>
              <a:t>(19)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0" y="4826000"/>
            <a:ext cx="350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284720" y="1662430"/>
            <a:ext cx="3175000" cy="2171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A6F9"/>
                </a:solidFill>
                <a:latin typeface="Univers for Metzler 2"/>
                <a:ea typeface="Univers for Metzler 2"/>
                <a:cs typeface="Univers for Metzler 2"/>
              </a:rPr>
              <a:t>Bilanzpositionen (Mio. EUR)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84720" y="1922780"/>
            <a:ext cx="165100" cy="1143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500620" y="187198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Kassenbestand</a:t>
            </a:r>
          </a:p>
        </p:txBody>
      </p:sp>
      <p:sp>
        <p:nvSpPr>
          <p:cNvPr id="113" name="Oval 112"/>
          <p:cNvSpPr/>
          <p:nvPr/>
        </p:nvSpPr>
        <p:spPr>
          <a:xfrm>
            <a:off x="7272020" y="2103120"/>
            <a:ext cx="190500" cy="114300"/>
          </a:xfrm>
          <a:prstGeom prst="ellipse">
            <a:avLst/>
          </a:prstGeom>
          <a:solidFill>
            <a:srgbClr val="A5CA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00620" y="205232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Eigenkapital-Quote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7147559" y="4749800"/>
            <a:ext cx="312801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7277100" y="4648200"/>
            <a:ext cx="330200" cy="1016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213600" y="4495800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13600" y="478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2021</a:t>
            </a:r>
          </a:p>
        </p:txBody>
      </p:sp>
      <p:sp>
        <p:nvSpPr>
          <p:cNvPr id="119" name="Oval 118"/>
          <p:cNvSpPr/>
          <p:nvPr/>
        </p:nvSpPr>
        <p:spPr>
          <a:xfrm>
            <a:off x="7134225" y="2446020"/>
            <a:ext cx="615950" cy="233679"/>
          </a:xfrm>
          <a:prstGeom prst="ellipse">
            <a:avLst/>
          </a:prstGeom>
          <a:solidFill>
            <a:srgbClr val="A5CA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37400" y="2486660"/>
            <a:ext cx="615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30,3 %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901940" y="3962400"/>
            <a:ext cx="330200" cy="7874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838440" y="3810000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838440" y="478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2022</a:t>
            </a:r>
          </a:p>
        </p:txBody>
      </p:sp>
      <p:sp>
        <p:nvSpPr>
          <p:cNvPr id="124" name="Oval 123"/>
          <p:cNvSpPr/>
          <p:nvPr/>
        </p:nvSpPr>
        <p:spPr>
          <a:xfrm>
            <a:off x="7759065" y="2750820"/>
            <a:ext cx="615950" cy="233679"/>
          </a:xfrm>
          <a:prstGeom prst="ellipse">
            <a:avLst/>
          </a:prstGeom>
          <a:solidFill>
            <a:srgbClr val="A5CA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62240" y="2791460"/>
            <a:ext cx="615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27,8 %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526780" y="3606800"/>
            <a:ext cx="330200" cy="11430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463280" y="3454400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45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63280" y="478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2023</a:t>
            </a:r>
          </a:p>
        </p:txBody>
      </p:sp>
      <p:sp>
        <p:nvSpPr>
          <p:cNvPr id="129" name="Oval 128"/>
          <p:cNvSpPr/>
          <p:nvPr/>
        </p:nvSpPr>
        <p:spPr>
          <a:xfrm>
            <a:off x="8383905" y="2933700"/>
            <a:ext cx="615950" cy="233679"/>
          </a:xfrm>
          <a:prstGeom prst="ellipse">
            <a:avLst/>
          </a:prstGeom>
          <a:solidFill>
            <a:srgbClr val="A5CA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387080" y="2974340"/>
            <a:ext cx="615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26,3 %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51620" y="4191000"/>
            <a:ext cx="330200" cy="5588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088120" y="4038600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88120" y="478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2024</a:t>
            </a:r>
          </a:p>
        </p:txBody>
      </p:sp>
      <p:sp>
        <p:nvSpPr>
          <p:cNvPr id="134" name="Oval 133"/>
          <p:cNvSpPr/>
          <p:nvPr/>
        </p:nvSpPr>
        <p:spPr>
          <a:xfrm>
            <a:off x="9008745" y="2775204"/>
            <a:ext cx="615950" cy="233679"/>
          </a:xfrm>
          <a:prstGeom prst="ellipse">
            <a:avLst/>
          </a:prstGeom>
          <a:solidFill>
            <a:srgbClr val="A5CA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011920" y="2815844"/>
            <a:ext cx="615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27,6 %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776460" y="4673600"/>
            <a:ext cx="330200" cy="762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712960" y="4521200"/>
            <a:ext cx="457200" cy="139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712960" y="4787900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2025</a:t>
            </a:r>
          </a:p>
        </p:txBody>
      </p:sp>
      <p:sp>
        <p:nvSpPr>
          <p:cNvPr id="139" name="Oval 138"/>
          <p:cNvSpPr/>
          <p:nvPr/>
        </p:nvSpPr>
        <p:spPr>
          <a:xfrm>
            <a:off x="9633585" y="2665476"/>
            <a:ext cx="615950" cy="233679"/>
          </a:xfrm>
          <a:prstGeom prst="ellipse">
            <a:avLst/>
          </a:prstGeom>
          <a:solidFill>
            <a:srgbClr val="A5CA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636760" y="2706116"/>
            <a:ext cx="61595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28,5 %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78460" y="5373370"/>
            <a:ext cx="9936480" cy="1422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8800" y="5429250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Kommentar: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58800" y="567690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23900" y="5670550"/>
            <a:ext cx="9550400" cy="1752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Umsatz 2025 preisbedingt rückläufig (−11 %), Rohertragsmarge auf 27,9 % gestiegen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58800" y="585851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23900" y="5852160"/>
            <a:ext cx="9550400" cy="3124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Rekordergebnisse 2023/2024 sondereffektgetrieben (2024: Rückstellungsauflösungen von 20,6 Mio. EUR) − 2025 markiert die Normalisierung auf robustem Niveau (EBT 53 Mio. EUR,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deutlich über Plan)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8800" y="617728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23900" y="6170930"/>
            <a:ext cx="9550400" cy="3124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Der operative Cashflow (Ø ~57 Mio. EUR p. a.) wird nahezu vollständig durch die Ergebnisabführung an die Gesellschafter und den Investitionshochlauf absorbiert − die liquiden Mittel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sanken Ende 2025 auf 2,5 Mio. EUR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58800" y="6496050"/>
            <a:ext cx="101600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23900" y="6489700"/>
            <a:ext cx="9550400" cy="3124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Der geplante Investitionsanstieg auf bis zu 80 Mio. EUR p. a. scheint bei unveränderter Ausschüttungspolitik nicht aus dem operativen Cash Flow finanzierbar zu sein − bereits 2025 waren</a:t>
            </a:r>
          </a:p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Kapitaleinlagen der Aktionäre (10 Mio. EUR) zur Sicherung der Ziel-EK-Quote von über 25 % erforderlich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8460" y="227329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2. ESWE Versorgungs AG – Übersicht und Herausforderungen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250" y="7120890"/>
            <a:ext cx="8128000" cy="1790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Quellen: Metzler-Recherche, Geschäftsbericht ESWE Versorgungs AG 2025, Unternehmenswebsite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460" y="474980"/>
            <a:ext cx="10033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Die ESWE fokussiert sich auf die Wärmewende, resiliente Netze,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779780"/>
            <a:ext cx="10033000" cy="3314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regionale Erzeugung und profitable Wachstumsfelder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460" y="1508760"/>
            <a:ext cx="9903460" cy="80010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13" name="Picture 12" descr="g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1705610"/>
            <a:ext cx="406400" cy="406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25600" y="1748789"/>
            <a:ext cx="8585200" cy="370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Stabilisierung der Kundenbasis im intensiven Wettbewerb durch geschäftsfeldübergreifende Angebote, dynamische Tarife sowie Ausbau von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Photovoltaik-, Wärmepumpen- und Energiemanagementlösungen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460" y="2406650"/>
            <a:ext cx="9903460" cy="80010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16" name="Picture 15" descr="g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2603500"/>
            <a:ext cx="406400" cy="406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5600" y="2646680"/>
            <a:ext cx="8585200" cy="370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Massiver Ausbau und Digitalisierung des Stromnetzes zur Integration von Wärmepumpen, Photovoltaik und Ladeinfrastruktur sowie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zurückhaltende Gasnetz-Investitionen mit Prüfung einer künftigen Wasserstoffversorgung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460" y="3303270"/>
            <a:ext cx="9903460" cy="80010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19" name="Picture 18" descr="g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3500120"/>
            <a:ext cx="406400" cy="406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25600" y="3543300"/>
            <a:ext cx="8585200" cy="370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Dekarbonisierung der Erzeugung über Biomasse und MHKW-Abwärme sowie Realisierung des Windparks Hohe Wurzel und Ausbau des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regionalen EE-Portfolios gemeinsam mit Thüga und KMW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460" y="4201160"/>
            <a:ext cx="9903460" cy="80010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22" name="Picture 21" descr="g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4398010"/>
            <a:ext cx="406400" cy="406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25600" y="4441190"/>
            <a:ext cx="8585200" cy="370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Umsetzung der Kommunalen Wärmeplanung als zentraler Partner der Stadt durch Fernwärmeausbau, Quartierslösungen und Contracting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sowie zügiger Ausbau der Ladeinfrastruktur auf 800 öffentliche Ladepunkte bis 2030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460" y="5097780"/>
            <a:ext cx="9903460" cy="80010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25" name="Picture 24" descr="g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5294630"/>
            <a:ext cx="406400" cy="406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5600" y="5337809"/>
            <a:ext cx="8585200" cy="370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Ausbau des Glasfaser- und Rechenzentrumsgeschäfts über die WiTCOM als stabil profitables Wachstumsfeld mit einer Ergebnisabführung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von 3,4 Mio. EUR im Jahr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460" y="5995670"/>
            <a:ext cx="9903460" cy="800100"/>
          </a:xfrm>
          <a:prstGeom prst="rect">
            <a:avLst/>
          </a:prstGeom>
          <a:solidFill>
            <a:srgbClr val="EBF4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28" name="Picture 27" descr="gf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192520"/>
            <a:ext cx="406400" cy="406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25600" y="6235700"/>
            <a:ext cx="8585200" cy="370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Langfristige Sicherung der Trinkwasser-Betriebsführung für den städtischen Eigenbetrieb WLW und Modernisierung der Wasserinfrastruktur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als Investitionsschwerpunkt 2025 (14,0 Mio. EUR)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1000" y="32385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1000" y="3581400"/>
            <a:ext cx="482600" cy="41910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3581400"/>
            <a:ext cx="482600" cy="4191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170" y="364236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Diskussion möglicher Handlungsoptionen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8460" y="227329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3. Diskussion möglicher Handlungsoptionen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250" y="7120890"/>
            <a:ext cx="8128000" cy="1790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Quellen: Metzler-Recherche, Jahresabschlüsse ESWE Versorgungs AG 2024–2025, Unternehmenswebsite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460" y="474980"/>
            <a:ext cx="10033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Verschiedene Handlungsoptionen für die zukünftige Positionierung der ESWE</a:t>
            </a:r>
          </a:p>
        </p:txBody>
      </p:sp>
      <p:sp>
        <p:nvSpPr>
          <p:cNvPr id="11" name="Oval 10"/>
          <p:cNvSpPr/>
          <p:nvPr/>
        </p:nvSpPr>
        <p:spPr>
          <a:xfrm>
            <a:off x="4037329" y="2938779"/>
            <a:ext cx="2618740" cy="2617470"/>
          </a:xfrm>
          <a:prstGeom prst="ellipse">
            <a:avLst/>
          </a:prstGeom>
          <a:solidFill>
            <a:srgbClr val="E3E8F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18210" y="3244850"/>
            <a:ext cx="8856980" cy="0"/>
          </a:xfrm>
          <a:prstGeom prst="line">
            <a:avLst/>
          </a:prstGeom>
          <a:ln w="12700">
            <a:solidFill>
              <a:srgbClr val="003D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8210" y="5059680"/>
            <a:ext cx="8856980" cy="0"/>
          </a:xfrm>
          <a:prstGeom prst="line">
            <a:avLst/>
          </a:prstGeom>
          <a:ln w="12700">
            <a:solidFill>
              <a:srgbClr val="003D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76700" y="35433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Mögliche strategische</a:t>
            </a:r>
          </a:p>
          <a:p>
            <a:pPr algn="ctr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Ziele</a:t>
            </a:r>
          </a:p>
        </p:txBody>
      </p:sp>
      <p:pic>
        <p:nvPicPr>
          <p:cNvPr id="15" name="Picture 14" descr="esw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00" y="4330700"/>
            <a:ext cx="1270000" cy="5325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30350" y="1981200"/>
            <a:ext cx="2260600" cy="782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Erweiterung des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Fremdfinanzierungsspielraums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zur Umsetzung des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Investitionsprogramms</a:t>
            </a:r>
          </a:p>
        </p:txBody>
      </p:sp>
      <p:pic>
        <p:nvPicPr>
          <p:cNvPr id="17" name="Picture 16" descr="zie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0" y="2113280"/>
            <a:ext cx="523240" cy="482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8150" y="1981200"/>
            <a:ext cx="2260600" cy="782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157E3"/>
                </a:solidFill>
                <a:latin typeface="Univers for Metzler 2"/>
                <a:ea typeface="Univers for Metzler 2"/>
                <a:cs typeface="Univers for Metzler 2"/>
              </a:rPr>
              <a:t>Stärkung der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157E3"/>
                </a:solidFill>
                <a:latin typeface="Univers for Metzler 2"/>
                <a:ea typeface="Univers for Metzler 2"/>
                <a:cs typeface="Univers for Metzler 2"/>
              </a:rPr>
              <a:t>Eigenkapitalbasis zur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157E3"/>
                </a:solidFill>
                <a:latin typeface="Univers for Metzler 2"/>
                <a:ea typeface="Univers for Metzler 2"/>
                <a:cs typeface="Univers for Metzler 2"/>
              </a:rPr>
              <a:t>dauerhaften Sicherung der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157E3"/>
                </a:solidFill>
                <a:latin typeface="Univers for Metzler 2"/>
                <a:ea typeface="Univers for Metzler 2"/>
                <a:cs typeface="Univers for Metzler 2"/>
              </a:rPr>
              <a:t>Ziel-EK-Quote von über 25 %</a:t>
            </a:r>
          </a:p>
        </p:txBody>
      </p:sp>
      <p:pic>
        <p:nvPicPr>
          <p:cNvPr id="19" name="Picture 18" descr="zie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8820" y="2096770"/>
            <a:ext cx="411480" cy="514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30350" y="3878579"/>
            <a:ext cx="2260600" cy="599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Teilung von Kapitalbedarf und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Projektrisiken bei größeren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Investitionsvorhaben</a:t>
            </a:r>
          </a:p>
        </p:txBody>
      </p:sp>
      <p:pic>
        <p:nvPicPr>
          <p:cNvPr id="21" name="Picture 20" descr="ziel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3966210"/>
            <a:ext cx="551180" cy="3721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88150" y="3878579"/>
            <a:ext cx="2260600" cy="599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BEB"/>
                </a:solidFill>
                <a:latin typeface="Univers for Metzler 2"/>
                <a:ea typeface="Univers for Metzler 2"/>
                <a:cs typeface="Univers for Metzler 2"/>
              </a:rPr>
              <a:t>Freisetzung gebundenen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BEB"/>
                </a:solidFill>
                <a:latin typeface="Univers for Metzler 2"/>
                <a:ea typeface="Univers for Metzler 2"/>
                <a:cs typeface="Univers for Metzler 2"/>
              </a:rPr>
              <a:t>Kapitals aus ausgewählten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BEB"/>
                </a:solidFill>
                <a:latin typeface="Univers for Metzler 2"/>
                <a:ea typeface="Univers for Metzler 2"/>
                <a:cs typeface="Univers for Metzler 2"/>
              </a:rPr>
              <a:t>Assets und Beteiligungen</a:t>
            </a:r>
          </a:p>
        </p:txBody>
      </p:sp>
      <p:pic>
        <p:nvPicPr>
          <p:cNvPr id="23" name="Picture 22" descr="ziel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6130" y="3954779"/>
            <a:ext cx="284480" cy="3949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30350" y="5603240"/>
            <a:ext cx="2260600" cy="782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CAFB"/>
                </a:solidFill>
                <a:latin typeface="Univers for Metzler 2"/>
                <a:ea typeface="Univers for Metzler 2"/>
                <a:cs typeface="Univers for Metzler 2"/>
              </a:rPr>
              <a:t>Ausbau der regionalen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CAFB"/>
                </a:solidFill>
                <a:latin typeface="Univers for Metzler 2"/>
                <a:ea typeface="Univers for Metzler 2"/>
                <a:cs typeface="Univers for Metzler 2"/>
              </a:rPr>
              <a:t>Marktposition durch gezielte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CAFB"/>
                </a:solidFill>
                <a:latin typeface="Univers for Metzler 2"/>
                <a:ea typeface="Univers for Metzler 2"/>
                <a:cs typeface="Univers for Metzler 2"/>
              </a:rPr>
              <a:t>Akquisitionen und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5CAFB"/>
                </a:solidFill>
                <a:latin typeface="Univers for Metzler 2"/>
                <a:ea typeface="Univers for Metzler 2"/>
                <a:cs typeface="Univers for Metzler 2"/>
              </a:rPr>
              <a:t>Beteiligungen</a:t>
            </a:r>
          </a:p>
        </p:txBody>
      </p:sp>
      <p:pic>
        <p:nvPicPr>
          <p:cNvPr id="25" name="Picture 24" descr="ziel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650" y="5759450"/>
            <a:ext cx="438150" cy="41655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88150" y="5511800"/>
            <a:ext cx="22606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7A6F9"/>
                </a:solidFill>
                <a:latin typeface="Univers for Metzler 2"/>
                <a:ea typeface="Univers for Metzler 2"/>
                <a:cs typeface="Univers for Metzler 2"/>
              </a:rPr>
              <a:t>Erweiterung bestehender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7A6F9"/>
                </a:solidFill>
                <a:latin typeface="Univers for Metzler 2"/>
                <a:ea typeface="Univers for Metzler 2"/>
                <a:cs typeface="Univers for Metzler 2"/>
              </a:rPr>
              <a:t>Energie- und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7A6F9"/>
                </a:solidFill>
                <a:latin typeface="Univers for Metzler 2"/>
                <a:ea typeface="Univers for Metzler 2"/>
                <a:cs typeface="Univers for Metzler 2"/>
              </a:rPr>
              <a:t>Wärmeplattformen um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7A6F9"/>
                </a:solidFill>
                <a:latin typeface="Univers for Metzler 2"/>
                <a:ea typeface="Univers for Metzler 2"/>
                <a:cs typeface="Univers for Metzler 2"/>
              </a:rPr>
              <a:t>zusätzliche Kompetenzen und</a:t>
            </a:r>
          </a:p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7A6F9"/>
                </a:solidFill>
                <a:latin typeface="Univers for Metzler 2"/>
                <a:ea typeface="Univers for Metzler 2"/>
                <a:cs typeface="Univers for Metzler 2"/>
              </a:rPr>
              <a:t>Kunden</a:t>
            </a:r>
          </a:p>
        </p:txBody>
      </p:sp>
      <p:pic>
        <p:nvPicPr>
          <p:cNvPr id="27" name="Picture 26" descr="ziel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5950" y="5737860"/>
            <a:ext cx="466090" cy="4597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81000" y="1168400"/>
            <a:ext cx="99314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8460" y="227329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3. Diskussion möglicher Handlungsoptionen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7118350"/>
            <a:ext cx="381000" cy="179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1000" y="7073900"/>
            <a:ext cx="83693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77300" y="7073900"/>
            <a:ext cx="11049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109200" y="7073900"/>
            <a:ext cx="203200" cy="0"/>
          </a:xfrm>
          <a:prstGeom prst="line">
            <a:avLst/>
          </a:prstGeom>
          <a:ln w="9525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6896100"/>
            <a:ext cx="1409700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8460" y="474980"/>
            <a:ext cx="100330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Bei Bedarf können private Investoren in unterschiedlichen Modellen 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460" y="779780"/>
            <a:ext cx="10033000" cy="33146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bei unterschiedlichen Assets beteiligt werden − ausgewählte Impulse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460" y="6924040"/>
            <a:ext cx="844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1) Ähnlich übertragbar auf weitere Geschäftsfelder, z. B. Wind-/Solarbeteiligungen oder Ladeinfrastruktur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460" y="1620520"/>
            <a:ext cx="4895850" cy="251460"/>
          </a:xfrm>
          <a:prstGeom prst="rect">
            <a:avLst/>
          </a:prstGeom>
          <a:solidFill>
            <a:srgbClr val="67A6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460" y="1631950"/>
            <a:ext cx="48958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Joint Venture Wärme/Erneuerbare Energien</a:t>
            </a:r>
            <a:r>
              <a:rPr sz="1000" b="1" i="0" baseline="3000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460" y="1871980"/>
            <a:ext cx="4895850" cy="2899410"/>
          </a:xfrm>
          <a:prstGeom prst="rect">
            <a:avLst/>
          </a:prstGeom>
          <a:solidFill>
            <a:srgbClr val="F3F8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57070" y="2594610"/>
            <a:ext cx="1739900" cy="1690370"/>
          </a:xfrm>
          <a:prstGeom prst="rect">
            <a:avLst/>
          </a:prstGeom>
          <a:solidFill>
            <a:srgbClr val="FFFFFF"/>
          </a:solidFill>
          <a:ln w="9525">
            <a:solidFill>
              <a:srgbClr val="67A6F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57070" y="2594610"/>
            <a:ext cx="1739900" cy="360680"/>
          </a:xfrm>
          <a:prstGeom prst="rect">
            <a:avLst/>
          </a:prstGeom>
          <a:solidFill>
            <a:srgbClr val="003D7C"/>
          </a:solidFill>
          <a:ln w="9525">
            <a:solidFill>
              <a:srgbClr val="67A6F9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7070" y="2622550"/>
            <a:ext cx="1739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Wärme/EE SPV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7070" y="2762250"/>
            <a:ext cx="1739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1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post Carve-Out</a:t>
            </a:r>
          </a:p>
        </p:txBody>
      </p:sp>
      <p:pic>
        <p:nvPicPr>
          <p:cNvPr id="19" name="Picture 18" descr="g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3175000"/>
            <a:ext cx="330200" cy="330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40000" y="3238500"/>
            <a:ext cx="1143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Fernwärme</a:t>
            </a:r>
          </a:p>
        </p:txBody>
      </p:sp>
      <p:pic>
        <p:nvPicPr>
          <p:cNvPr id="21" name="Picture 20" descr="g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3721100"/>
            <a:ext cx="330200" cy="33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40000" y="3784600"/>
            <a:ext cx="1143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EE-Erzeugung</a:t>
            </a:r>
          </a:p>
        </p:txBody>
      </p:sp>
      <p:pic>
        <p:nvPicPr>
          <p:cNvPr id="23" name="Picture 22" descr="esw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" y="2108200"/>
            <a:ext cx="965200" cy="40471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14470" y="2131060"/>
            <a:ext cx="924560" cy="246379"/>
          </a:xfrm>
          <a:prstGeom prst="rect">
            <a:avLst/>
          </a:prstGeom>
          <a:solidFill>
            <a:srgbClr val="FF9900"/>
          </a:solidFill>
          <a:ln w="9525">
            <a:solidFill>
              <a:srgbClr val="FFFFFF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14470" y="2143760"/>
            <a:ext cx="924560" cy="2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Investor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66800" y="2540000"/>
            <a:ext cx="0" cy="233680"/>
          </a:xfrm>
          <a:prstGeom prst="line">
            <a:avLst/>
          </a:prstGeom>
          <a:ln w="19050">
            <a:solidFill>
              <a:srgbClr val="3157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6800" y="2773680"/>
            <a:ext cx="863600" cy="0"/>
          </a:xfrm>
          <a:prstGeom prst="line">
            <a:avLst/>
          </a:prstGeom>
          <a:ln w="19050">
            <a:solidFill>
              <a:srgbClr val="3157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76750" y="2377440"/>
            <a:ext cx="0" cy="39624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721100" y="2773680"/>
            <a:ext cx="75565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32000" y="2320290"/>
            <a:ext cx="508000" cy="2070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X%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320290"/>
            <a:ext cx="508000" cy="2070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X%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9200" y="2374900"/>
            <a:ext cx="660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9900"/>
                </a:solidFill>
                <a:latin typeface="Univers for Metzler 2"/>
                <a:ea typeface="Univers for Metzler 2"/>
                <a:cs typeface="Univers for Metzler 2"/>
              </a:rPr>
              <a:t>Minderheit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2130" y="3351529"/>
            <a:ext cx="1287780" cy="861060"/>
          </a:xfrm>
          <a:prstGeom prst="rect">
            <a:avLst/>
          </a:prstGeom>
          <a:solidFill>
            <a:srgbClr val="F2F2F2"/>
          </a:solidFill>
          <a:ln w="9525">
            <a:solidFill>
              <a:srgbClr val="3157E3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5630" y="3556000"/>
            <a:ext cx="1168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Einbringung</a:t>
            </a:r>
          </a:p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Fernwärmenetz/</a:t>
            </a:r>
          </a:p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EE-Projekte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32860" y="3351529"/>
            <a:ext cx="1287780" cy="861060"/>
          </a:xfrm>
          <a:prstGeom prst="rect">
            <a:avLst/>
          </a:prstGeom>
          <a:solidFill>
            <a:srgbClr val="F2F2F2"/>
          </a:solidFill>
          <a:ln w="9525">
            <a:solidFill>
              <a:srgbClr val="FF9900"/>
            </a:solidFill>
            <a:prstDash val="dash"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96360" y="3619500"/>
            <a:ext cx="1168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Einbringung EK für</a:t>
            </a:r>
          </a:p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Capex und Kaufpreis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19090" y="1620520"/>
            <a:ext cx="4895850" cy="251460"/>
          </a:xfrm>
          <a:prstGeom prst="rect">
            <a:avLst/>
          </a:prstGeom>
          <a:solidFill>
            <a:srgbClr val="67A6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19090" y="1631950"/>
            <a:ext cx="489585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Univers for Metzler 2"/>
                <a:ea typeface="Univers for Metzler 2"/>
                <a:cs typeface="Univers for Metzler 2"/>
              </a:rPr>
              <a:t>(private) Beteiligung an Unternehmen/Assets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19090" y="1871980"/>
            <a:ext cx="4895850" cy="2899410"/>
          </a:xfrm>
          <a:prstGeom prst="rect">
            <a:avLst/>
          </a:prstGeom>
          <a:solidFill>
            <a:srgbClr val="F3F8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10530" y="2062480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5790" y="2056130"/>
            <a:ext cx="4406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ESWE Versorgungs 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0530" y="2367280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5790" y="2360930"/>
            <a:ext cx="4406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Stadtwerke Wiesbaden Netz GmbH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0530" y="2672080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5790" y="2665730"/>
            <a:ext cx="4406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WiTCOM GmbH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0530" y="2976880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85790" y="2970530"/>
            <a:ext cx="4406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Fernwärme-Geschäft (post Carve-out)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0530" y="3281679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85790" y="3275329"/>
            <a:ext cx="44069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Windportfolio inkl. Projekt Hohe Wurzel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900" y="5010150"/>
            <a:ext cx="4826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Wesentliche Aspekte bei der Gestaltung einer Partnerschaft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8460" y="5217160"/>
            <a:ext cx="4895850" cy="137668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9900" y="529971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160" y="5293360"/>
            <a:ext cx="4559300" cy="386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Ausgewogene Governance mit definierten Reserved Matters, Dividendenpolitik</a:t>
            </a:r>
          </a:p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und Exit-Mechanismen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9900" y="571754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160" y="5711190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Investorengerechte Schaffung einer Plattform/eines abgegrenzten Vehikels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9900" y="596138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160" y="5955030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Rendite- und Rückzahlungsmechanismen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9900" y="620522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5160" y="6198870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Festlegung Budget und Investitionsplan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900" y="6449059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5160" y="6442709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Frühzeitige Einbindung beider Ankergesellschafter (Stadt und Thüga)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10530" y="5010150"/>
            <a:ext cx="4826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Vorteile für die ESWE Versorgungs AG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9090" y="5217160"/>
            <a:ext cx="4895850" cy="137668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10530" y="529971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5790" y="5293360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Teilung von Risiken und Investitionsbedarf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10530" y="554355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85790" y="5537200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Zufluss des Kaufpreises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10530" y="578739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85790" y="5781040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Schnellere Umsetzung von Investitionen möglich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10530" y="603123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85790" y="6024880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Zusätzlicher strategischer Input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10530" y="6275070"/>
            <a:ext cx="114300" cy="173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3D7C"/>
                </a:solidFill>
                <a:latin typeface="Wingdings"/>
                <a:ea typeface="Wingdings"/>
                <a:cs typeface="Wingdings"/>
              </a:rPr>
              <a:t>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85790" y="6268720"/>
            <a:ext cx="4559300" cy="2120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3D7C"/>
                </a:solidFill>
                <a:latin typeface="Univers for Metzler Light"/>
                <a:ea typeface="Univers for Metzler Light"/>
                <a:cs typeface="Univers for Metzler Light"/>
              </a:rPr>
              <a:t>Governance flexibel strukturierbar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78714" y="7078853"/>
            <a:ext cx="8369935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113137" y="7078853"/>
            <a:ext cx="201549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8875522" y="7070471"/>
            <a:ext cx="1159128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875522" y="7078853"/>
            <a:ext cx="1109091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8714" y="1166622"/>
            <a:ext cx="9935972" cy="0"/>
          </a:xfrm>
          <a:prstGeom prst="line">
            <a:avLst/>
          </a:prstGeom>
          <a:ln w="19050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95859" y="1521714"/>
            <a:ext cx="9935972" cy="5283200"/>
          </a:xfrm>
          <a:prstGeom prst="rect">
            <a:avLst/>
          </a:prstGeom>
          <a:solidFill>
            <a:srgbClr val="FBFDFE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87604" y="6028817"/>
            <a:ext cx="9935972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7604" y="5121910"/>
            <a:ext cx="9935972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7604" y="4233545"/>
            <a:ext cx="9935972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7604" y="2430907"/>
            <a:ext cx="9935972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7604" y="3320796"/>
            <a:ext cx="9935972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522" y="6890258"/>
            <a:ext cx="1414399" cy="360425"/>
          </a:xfrm>
          <a:prstGeom prst="rect">
            <a:avLst/>
          </a:prstGeom>
        </p:spPr>
      </p:pic>
      <p:pic>
        <p:nvPicPr>
          <p:cNvPr id="14" name="Picture 13" descr="flat_p21_2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97" y="1715135"/>
            <a:ext cx="519175" cy="513969"/>
          </a:xfrm>
          <a:prstGeom prst="rect">
            <a:avLst/>
          </a:prstGeom>
        </p:spPr>
      </p:pic>
      <p:pic>
        <p:nvPicPr>
          <p:cNvPr id="15" name="Picture 14" descr="flat_p21_2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93" y="2632710"/>
            <a:ext cx="447040" cy="465708"/>
          </a:xfrm>
          <a:prstGeom prst="rect">
            <a:avLst/>
          </a:prstGeom>
        </p:spPr>
      </p:pic>
      <p:pic>
        <p:nvPicPr>
          <p:cNvPr id="16" name="Picture 15" descr="flat_p21_2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687" y="4441317"/>
            <a:ext cx="379349" cy="478790"/>
          </a:xfrm>
          <a:prstGeom prst="rect">
            <a:avLst/>
          </a:prstGeom>
        </p:spPr>
      </p:pic>
      <p:pic>
        <p:nvPicPr>
          <p:cNvPr id="17" name="Picture 16" descr="flat_p21_2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56" y="6249543"/>
            <a:ext cx="627126" cy="483362"/>
          </a:xfrm>
          <a:prstGeom prst="rect">
            <a:avLst/>
          </a:prstGeom>
        </p:spPr>
      </p:pic>
      <p:pic>
        <p:nvPicPr>
          <p:cNvPr id="18" name="Picture 17" descr="flat_p21_2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97" y="3522599"/>
            <a:ext cx="464184" cy="462534"/>
          </a:xfrm>
          <a:prstGeom prst="rect">
            <a:avLst/>
          </a:prstGeom>
        </p:spPr>
      </p:pic>
      <p:pic>
        <p:nvPicPr>
          <p:cNvPr id="19" name="Picture 18" descr="flat_p21_24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835" y="5323713"/>
            <a:ext cx="531368" cy="50317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635" y="7118604"/>
            <a:ext cx="623062" cy="1783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841" y="475234"/>
            <a:ext cx="10153395" cy="3307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4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Metzler verbindet tiefes Branchen-Know-how, exzellenten Investorenzugang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841" y="780034"/>
            <a:ext cx="5523103" cy="3307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4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und unabhängige Transaktionsexpertise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7787" y="1888744"/>
            <a:ext cx="8055229" cy="2164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Umfangreiches Know-how im Energiesektor sowie bei Transaktionen mit öffentlich-rechtlichem Hintergrund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7787" y="2714117"/>
            <a:ext cx="7859267" cy="2164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Hervorragende Reputation und exzellenter Zugang zu relevanten nationalen und internationalen Projekten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7787" y="2881757"/>
            <a:ext cx="1551686" cy="2164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und Investoren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4993" y="4498721"/>
            <a:ext cx="9168384" cy="2164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Erfahrener Sparringspartner bzgl. Transaktionsprozess, -taktik und -struktur und Erfahrung mit Entscheidungsprozessen der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4993" y="4666107"/>
            <a:ext cx="1754758" cy="21666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6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öffentlichen 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7787" y="6378067"/>
            <a:ext cx="3375533" cy="2164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Unternehmerisches Denken und Handeln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4993" y="3710813"/>
            <a:ext cx="5177282" cy="2164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Qualifiziertes und erfahrenes Team mit hohem Senior-Commitment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7787" y="5449443"/>
            <a:ext cx="8050148" cy="2452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Unabhängige Beratung ohne eigene Finanzierungs- oder Beteiligungsinteressen </a:t>
            </a:r>
            <a:r>
              <a:rPr sz="1104" b="0" i="0">
                <a:solidFill>
                  <a:srgbClr val="003D7C"/>
                </a:solidFill>
                <a:latin typeface="Wingdings 3"/>
                <a:ea typeface="Wingdings 3"/>
                <a:cs typeface="Wingdings 3"/>
              </a:rPr>
              <a:t></a:t>
            </a:r>
            <a:r>
              <a:rPr sz="1104" b="1" i="0">
                <a:solidFill>
                  <a:srgbClr val="003D7C"/>
                </a:solidFill>
                <a:latin typeface="Univers for Metzler 2"/>
                <a:ea typeface="Univers for Metzler 2"/>
                <a:cs typeface="Univers for Metzler 2"/>
              </a:rPr>
              <a:t> keine Interessenkonflikte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841" y="227965"/>
            <a:ext cx="3100070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0" i="0">
                <a:solidFill>
                  <a:srgbClr val="808080"/>
                </a:solidFill>
                <a:latin typeface="Univers for Metzler"/>
                <a:ea typeface="Univers for Metzler"/>
                <a:cs typeface="Univers for Metzler"/>
              </a:rPr>
              <a:t>3. Diskussion möglicher Handlungsoptionen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78714" y="7078853"/>
            <a:ext cx="8369935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113137" y="7078853"/>
            <a:ext cx="201549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8875522" y="7070471"/>
            <a:ext cx="1159128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875522" y="7078853"/>
            <a:ext cx="1109091" cy="0"/>
          </a:xfrm>
          <a:prstGeom prst="line">
            <a:avLst/>
          </a:prstGeom>
          <a:ln w="11429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8714" y="1166622"/>
            <a:ext cx="9935972" cy="0"/>
          </a:xfrm>
          <a:prstGeom prst="line">
            <a:avLst/>
          </a:prstGeom>
          <a:ln w="19050">
            <a:solidFill>
              <a:srgbClr val="003D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522" y="6890258"/>
            <a:ext cx="1414399" cy="360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635" y="7118604"/>
            <a:ext cx="623062" cy="1783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781" y="1702054"/>
            <a:ext cx="1041019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Diese Präsentation wurde von der B. Metzler GmbH (nachfolgend Metzler Corporate Finance genannt) erstellt und basiert auf Information, die wir als verlässlich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781" y="1942845"/>
            <a:ext cx="1041019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erachten, jedoch werden keine (ausdrücklichen oder stillschweigenden) Zusicherungen über die Richtigkeit oder Vollständigkeit der in dieser Präsentation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781" y="2182114"/>
            <a:ext cx="1041019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enthaltenen Aussagen, Projektionen oder Berechnungen abgegeben. Metzler Corporate Finance ist nicht verpflichtet, Zugang zu weiteren Informationen zu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781" y="2422906"/>
            <a:ext cx="1041019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gewähren oder diese Präsentation zu aktualisieren oder zu korrigieren. Metzler Corporate Finance schließt ausdrücklich jede Haftung für eine eventuelle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781" y="2662428"/>
            <a:ext cx="1041019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Unrichtigkeit oder Unvollständigkeit dieser Präsentation sowie aller sonstigen Informationen aus, die dem Empfänger schriftlich, mündlich oder in sonstiger Weise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781" y="2903220"/>
            <a:ext cx="1041019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übermittelt oder zugänglich gemacht werden. Der Empfänger verpflichtet sich, die Präsentation und die darin enthaltenen Informationen streng vertraulich zu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781" y="3142488"/>
            <a:ext cx="7278116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6" b="0" i="0">
                <a:solidFill>
                  <a:srgbClr val="000000"/>
                </a:solidFill>
                <a:latin typeface="Univers for Metzler Light"/>
                <a:ea typeface="Univers for Metzler Light"/>
                <a:cs typeface="Univers for Metzler Light"/>
              </a:rPr>
              <a:t>behandeln. Diese Präsentation soll weder als Rechts- oder Steuerberatung dienen, noch kann sie diese ersetzen.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281" y="4877054"/>
            <a:ext cx="2171065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Metzler Corporate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281" y="5181854"/>
            <a:ext cx="1589151" cy="2026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B. Metzler GmbH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281" y="5334000"/>
            <a:ext cx="1707388" cy="20307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8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Untermainanlage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281" y="5487035"/>
            <a:ext cx="1875536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60329 Frankfurt/Main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281" y="5639435"/>
            <a:ext cx="1075563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Germany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281" y="5791835"/>
            <a:ext cx="2282063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Phone (+49 69) 21 04</a:t>
            </a:r>
            <a:r>
              <a:rPr sz="300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 </a:t>
            </a: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-</a:t>
            </a:r>
            <a:r>
              <a:rPr sz="300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 </a:t>
            </a: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44 44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281" y="5944235"/>
            <a:ext cx="2988564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E-mail Corporate_Finance@metzler.com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281" y="6096635"/>
            <a:ext cx="1678432" cy="202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6" b="1" i="0">
                <a:solidFill>
                  <a:srgbClr val="808080"/>
                </a:solidFill>
                <a:latin typeface="Univers for Metzler 2"/>
                <a:ea typeface="Univers for Metzler 2"/>
                <a:cs typeface="Univers for Metzler 2"/>
              </a:rPr>
              <a:t>www.metzler.com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841" y="475234"/>
            <a:ext cx="1842135" cy="3307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4" b="1" i="0">
                <a:solidFill>
                  <a:srgbClr val="000000"/>
                </a:solidFill>
                <a:latin typeface="Univers for Metzler"/>
                <a:ea typeface="Univers for Metzler"/>
                <a:cs typeface="Univers for Metzler"/>
              </a:rPr>
              <a:t>Disclaimer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